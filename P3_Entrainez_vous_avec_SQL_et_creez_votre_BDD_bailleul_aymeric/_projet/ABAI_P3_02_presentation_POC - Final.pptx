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78" r:id="rId8"/>
    <p:sldId id="279" r:id="rId9"/>
    <p:sldId id="261" r:id="rId10"/>
    <p:sldId id="262" r:id="rId11"/>
    <p:sldId id="264" r:id="rId12"/>
    <p:sldId id="265" r:id="rId13"/>
    <p:sldId id="267" r:id="rId14"/>
    <p:sldId id="277" r:id="rId15"/>
    <p:sldId id="276" r:id="rId16"/>
    <p:sldId id="275" r:id="rId17"/>
    <p:sldId id="268" r:id="rId18"/>
    <p:sldId id="274" r:id="rId19"/>
    <p:sldId id="269" r:id="rId20"/>
    <p:sldId id="273" r:id="rId21"/>
    <p:sldId id="272" r:id="rId22"/>
    <p:sldId id="271" r:id="rId23"/>
    <p:sldId id="270" r:id="rId24"/>
    <p:sldId id="266" r:id="rId25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4" d="100"/>
          <a:sy n="194" d="100"/>
        </p:scale>
        <p:origin x="756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5A04864E-86EC-CB7B-18DB-54401DED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>
            <a:extLst>
              <a:ext uri="{FF2B5EF4-FFF2-40B4-BE49-F238E27FC236}">
                <a16:creationId xmlns:a16="http://schemas.microsoft.com/office/drawing/2014/main" id="{B1354E7F-5E09-6826-CEA2-FF2B31B15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>
            <a:extLst>
              <a:ext uri="{FF2B5EF4-FFF2-40B4-BE49-F238E27FC236}">
                <a16:creationId xmlns:a16="http://schemas.microsoft.com/office/drawing/2014/main" id="{EC911DD8-C28B-4C13-9038-8365BC458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>
            <a:extLst>
              <a:ext uri="{FF2B5EF4-FFF2-40B4-BE49-F238E27FC236}">
                <a16:creationId xmlns:a16="http://schemas.microsoft.com/office/drawing/2014/main" id="{9E90D4F2-E511-8EE7-9630-E35B6F5724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4297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F98F784B-34DB-7A41-0E57-474356586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>
            <a:extLst>
              <a:ext uri="{FF2B5EF4-FFF2-40B4-BE49-F238E27FC236}">
                <a16:creationId xmlns:a16="http://schemas.microsoft.com/office/drawing/2014/main" id="{01E14130-D24A-93A5-F4EC-5A526CEAA8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>
            <a:extLst>
              <a:ext uri="{FF2B5EF4-FFF2-40B4-BE49-F238E27FC236}">
                <a16:creationId xmlns:a16="http://schemas.microsoft.com/office/drawing/2014/main" id="{DF2D76CA-0EEC-6018-ABB5-BA0CB33DE0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>
            <a:extLst>
              <a:ext uri="{FF2B5EF4-FFF2-40B4-BE49-F238E27FC236}">
                <a16:creationId xmlns:a16="http://schemas.microsoft.com/office/drawing/2014/main" id="{ED220D9F-765B-27E3-CE7A-A8E8377480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9293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618B2525-47DD-6D04-4D3B-C3CBB2E2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FEACA9D-A55B-7053-EACB-72A311F635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34E8B5B7-C430-F113-95B4-0F186F7DCE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FB49BD55-B6BB-BDE1-BCCE-A7BAE2BCF1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889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0A313C59-6055-5C04-EED7-D1B73B2E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3B86C064-E976-F956-95B6-A62CF06C0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5BB69848-2C80-F2E8-F7B1-430500DE88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F7A2ECA2-4FE1-DF2F-9E12-6CECB5E055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2339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83FF1293-CDE1-CCB8-CAFA-24B19B3E4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3AC1BF4E-4574-2405-7C9E-1EF060D15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F7D7C0B1-4D92-1817-F77E-038E557C57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FAEEB495-2CA0-BBD9-02AA-1C62741122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690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3FF46688-3C6A-3267-8AFE-41B032CC6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FF549151-3C2F-E8DF-A756-B8274BA1C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CA617FF-EFFC-989F-A454-1C2D329B82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760F8CB1-D981-BD8A-0C24-57E5D4DF34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6322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76AAE28-7272-4AB0-41D6-AEF09977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5F4B3BB-EC01-5F87-5683-FD519DE07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B99F1A3D-C6B4-5513-F9EC-D29872EC12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FDFF0553-962B-7E91-86FB-41074D5095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3582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2BDB0857-E3DB-4454-0081-6B9545BB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F517EE02-D94D-7B48-3405-15E4ACBDF6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5C997ED8-7A7A-78F5-D4E9-87DF0D6C30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53987DF8-F0A4-948C-FADC-51001D52D8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16625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338FE7E-4579-9541-B73D-A85F8250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49933574-53B5-CB28-4C6D-346A3A251B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35888A8C-DD9B-23F3-1584-49E0310E35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C5A1F3AB-4E73-A782-82B3-830068F54C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2079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E712DC14-D6E2-518F-D388-BA777F3BA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140D554F-D646-4123-897F-624680E63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A8EC6A3A-4CA4-E076-B5E1-7E33D4935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DBEC091D-9146-E8BB-DF2A-14EC021BB9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28845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5E29C111-0F48-2E59-40BF-542CFBAE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4D8C1BA-02F1-B410-D714-54772881CD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07D4C8B-33CB-6CBF-8385-553BC5024E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A4F0DAFE-385A-95AC-92EF-93419EF896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5045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58DC6675-33B7-002D-5161-EA654D40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1C256FB1-0440-9823-3369-14D103BB5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76C8D849-5987-07FB-B0C6-37ADD36CE1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6CFA500E-AA3C-7AC8-911C-CDD7BC1A9B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54802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6F20353B-13DA-87C6-805A-045E1A09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3D7E4EAB-9DEE-88FC-47E1-E42CA910F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460873D1-4DFA-F414-ECB4-0E4EE19AA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FDBD556A-C818-95D2-5355-95A79C32EA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13565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dirty="0"/>
              <a:t>Création et utilisation de la base de données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103564" y="267230"/>
            <a:ext cx="5506967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dirty="0"/>
              <a:t>Contexte du projet</a:t>
            </a:r>
            <a:endParaRPr dirty="0"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xfrm>
            <a:off x="556147" y="1180574"/>
            <a:ext cx="959211" cy="2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sz="1800" dirty="0"/>
              <a:t>Objectif</a:t>
            </a:r>
            <a:endParaRPr dirty="0"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103565" y="1437748"/>
            <a:ext cx="4468434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sz="1200" b="1" dirty="0"/>
              <a:t>Réaliser</a:t>
            </a:r>
            <a:r>
              <a:rPr lang="fr-FR" sz="1200" dirty="0"/>
              <a:t> un </a:t>
            </a:r>
            <a:r>
              <a:rPr lang="fr-FR" sz="1200" b="1" dirty="0"/>
              <a:t>POC</a:t>
            </a:r>
            <a:r>
              <a:rPr lang="fr-FR" sz="1200" dirty="0"/>
              <a:t> pour la </a:t>
            </a:r>
            <a:r>
              <a:rPr lang="fr-FR" sz="1200" b="1" dirty="0"/>
              <a:t>création d'une base de données </a:t>
            </a:r>
            <a:r>
              <a:rPr lang="fr-FR" sz="1200" dirty="0"/>
              <a:t>des </a:t>
            </a:r>
            <a:r>
              <a:rPr lang="fr-FR" sz="1200" b="1" dirty="0"/>
              <a:t>transactions immobilières </a:t>
            </a:r>
            <a:r>
              <a:rPr lang="fr-FR" sz="1200" dirty="0"/>
              <a:t>en France.</a:t>
            </a:r>
            <a:endParaRPr sz="1200" dirty="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sp>
        <p:nvSpPr>
          <p:cNvPr id="2" name="Google Shape;266;p34">
            <a:extLst>
              <a:ext uri="{FF2B5EF4-FFF2-40B4-BE49-F238E27FC236}">
                <a16:creationId xmlns:a16="http://schemas.microsoft.com/office/drawing/2014/main" id="{60809B2B-D5EC-A9AD-ACD8-C7CEBA54A540}"/>
              </a:ext>
            </a:extLst>
          </p:cNvPr>
          <p:cNvSpPr txBox="1">
            <a:spLocks/>
          </p:cNvSpPr>
          <p:nvPr/>
        </p:nvSpPr>
        <p:spPr>
          <a:xfrm>
            <a:off x="556147" y="1894420"/>
            <a:ext cx="1531271" cy="2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fr-FR" sz="1800" dirty="0"/>
              <a:t>Problématique</a:t>
            </a:r>
            <a:endParaRPr lang="fr-FR" dirty="0"/>
          </a:p>
        </p:txBody>
      </p:sp>
      <p:sp>
        <p:nvSpPr>
          <p:cNvPr id="3" name="Google Shape;267;p34">
            <a:extLst>
              <a:ext uri="{FF2B5EF4-FFF2-40B4-BE49-F238E27FC236}">
                <a16:creationId xmlns:a16="http://schemas.microsoft.com/office/drawing/2014/main" id="{4BA6E829-0847-8BB6-4D3C-BA0D1EAC4AB1}"/>
              </a:ext>
            </a:extLst>
          </p:cNvPr>
          <p:cNvSpPr txBox="1">
            <a:spLocks/>
          </p:cNvSpPr>
          <p:nvPr/>
        </p:nvSpPr>
        <p:spPr>
          <a:xfrm>
            <a:off x="103564" y="2151594"/>
            <a:ext cx="4468435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ts val="0"/>
              </a:spcBef>
            </a:pPr>
            <a:r>
              <a:rPr lang="fr-FR" sz="1200" b="1" dirty="0"/>
              <a:t>Laplace </a:t>
            </a:r>
            <a:r>
              <a:rPr lang="fr-FR" sz="1200" b="1" dirty="0" err="1"/>
              <a:t>Immo</a:t>
            </a:r>
            <a:r>
              <a:rPr lang="fr-FR" sz="1200" b="1" dirty="0"/>
              <a:t> </a:t>
            </a:r>
            <a:r>
              <a:rPr lang="fr-FR" sz="1200" dirty="0"/>
              <a:t>souhaite utiliser les données pour mieux </a:t>
            </a:r>
            <a:r>
              <a:rPr lang="fr-FR" sz="1200" b="1" dirty="0"/>
              <a:t>comprendre le marché</a:t>
            </a:r>
            <a:r>
              <a:rPr lang="fr-FR" sz="1200" dirty="0"/>
              <a:t> et se démarquer de la concurrence.</a:t>
            </a:r>
          </a:p>
        </p:txBody>
      </p:sp>
      <p:sp>
        <p:nvSpPr>
          <p:cNvPr id="4" name="Google Shape;266;p34">
            <a:extLst>
              <a:ext uri="{FF2B5EF4-FFF2-40B4-BE49-F238E27FC236}">
                <a16:creationId xmlns:a16="http://schemas.microsoft.com/office/drawing/2014/main" id="{EA389447-08CE-A327-11DA-9C3B9E77804F}"/>
              </a:ext>
            </a:extLst>
          </p:cNvPr>
          <p:cNvSpPr txBox="1">
            <a:spLocks/>
          </p:cNvSpPr>
          <p:nvPr/>
        </p:nvSpPr>
        <p:spPr>
          <a:xfrm>
            <a:off x="556147" y="2608266"/>
            <a:ext cx="1531271" cy="2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fr-FR" sz="1800" dirty="0"/>
              <a:t>Enjeux</a:t>
            </a:r>
            <a:endParaRPr lang="fr-FR" dirty="0"/>
          </a:p>
        </p:txBody>
      </p:sp>
      <p:sp>
        <p:nvSpPr>
          <p:cNvPr id="5" name="Google Shape;267;p34">
            <a:extLst>
              <a:ext uri="{FF2B5EF4-FFF2-40B4-BE49-F238E27FC236}">
                <a16:creationId xmlns:a16="http://schemas.microsoft.com/office/drawing/2014/main" id="{83DE8A3B-E363-B00D-6D97-41F2FBE12F3D}"/>
              </a:ext>
            </a:extLst>
          </p:cNvPr>
          <p:cNvSpPr txBox="1">
            <a:spLocks/>
          </p:cNvSpPr>
          <p:nvPr/>
        </p:nvSpPr>
        <p:spPr>
          <a:xfrm>
            <a:off x="103564" y="2865439"/>
            <a:ext cx="4468435" cy="1097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200" b="1" dirty="0"/>
              <a:t>Suivre</a:t>
            </a:r>
            <a:r>
              <a:rPr lang="fr-FR" sz="1200" dirty="0"/>
              <a:t> </a:t>
            </a:r>
            <a:r>
              <a:rPr lang="fr-FR" sz="1200" b="1" dirty="0"/>
              <a:t>l'évolution</a:t>
            </a:r>
            <a:r>
              <a:rPr lang="fr-FR" sz="1200" dirty="0"/>
              <a:t> du </a:t>
            </a:r>
            <a:r>
              <a:rPr lang="fr-FR" sz="1200" b="1" dirty="0"/>
              <a:t>prix</a:t>
            </a:r>
            <a:r>
              <a:rPr lang="fr-FR" sz="1200" dirty="0"/>
              <a:t> au </a:t>
            </a:r>
            <a:r>
              <a:rPr lang="fr-FR" sz="1200" b="1" dirty="0"/>
              <a:t>mètre carré</a:t>
            </a:r>
            <a:r>
              <a:rPr lang="fr-FR" sz="12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FR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200" b="1" dirty="0"/>
              <a:t>Identifier</a:t>
            </a:r>
            <a:r>
              <a:rPr lang="fr-FR" sz="1200" dirty="0"/>
              <a:t> les </a:t>
            </a:r>
            <a:r>
              <a:rPr lang="fr-FR" sz="1200" b="1" dirty="0"/>
              <a:t>régions</a:t>
            </a:r>
            <a:r>
              <a:rPr lang="fr-FR" sz="1200" dirty="0"/>
              <a:t> les plus </a:t>
            </a:r>
            <a:r>
              <a:rPr lang="fr-FR" sz="1200" b="1" dirty="0"/>
              <a:t>dynamiques</a:t>
            </a:r>
            <a:r>
              <a:rPr lang="fr-FR" sz="12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FR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200" b="1" dirty="0"/>
              <a:t>Fournir</a:t>
            </a:r>
            <a:r>
              <a:rPr lang="fr-FR" sz="1200" dirty="0"/>
              <a:t> des </a:t>
            </a:r>
            <a:r>
              <a:rPr lang="fr-FR" sz="1200" b="1" dirty="0"/>
              <a:t>analyses précises </a:t>
            </a:r>
            <a:r>
              <a:rPr lang="fr-FR" sz="1200" dirty="0"/>
              <a:t>pour guider les </a:t>
            </a:r>
            <a:r>
              <a:rPr lang="fr-FR" sz="1200" b="1" dirty="0"/>
              <a:t>décisions stratégiques.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259D9B-D214-05AA-37A4-96A6FE087B57}"/>
              </a:ext>
            </a:extLst>
          </p:cNvPr>
          <p:cNvSpPr txBox="1"/>
          <p:nvPr/>
        </p:nvSpPr>
        <p:spPr>
          <a:xfrm>
            <a:off x="554885" y="4120932"/>
            <a:ext cx="4017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 </a:t>
            </a:r>
            <a:r>
              <a:rPr lang="fr-F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</a:t>
            </a:r>
            <a:r>
              <a:rPr lang="fr-F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 la </a:t>
            </a:r>
            <a:r>
              <a:rPr lang="fr-F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première étape </a:t>
            </a:r>
            <a:r>
              <a:rPr lang="fr-F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développer une </a:t>
            </a:r>
            <a:r>
              <a:rPr lang="fr-F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expertise data </a:t>
            </a:r>
            <a:r>
              <a:rPr lang="fr-F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 placera </a:t>
            </a:r>
            <a:r>
              <a:rPr lang="fr-F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Laplace </a:t>
            </a:r>
            <a:r>
              <a:rPr lang="fr-FR" sz="1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Immo</a:t>
            </a:r>
            <a:r>
              <a:rPr lang="fr-F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comme </a:t>
            </a:r>
            <a:r>
              <a:rPr lang="fr-F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leader</a:t>
            </a:r>
            <a:r>
              <a:rPr lang="fr-F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sur le marché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stratégie de sauvegarde et la conformité RGPD</a:t>
            </a:r>
            <a:endParaRPr b="0" dirty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389008" y="1766192"/>
            <a:ext cx="7488095" cy="2252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Finalité et Minimisation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FR" sz="1200" dirty="0"/>
              <a:t>Le POC doit traiter uniquement les données nécessaires à son objectif, tout en respectant le principe de minimisation.</a:t>
            </a:r>
          </a:p>
          <a:p>
            <a:pPr marL="177800" lvl="0" indent="-177800">
              <a:spcBef>
                <a:spcPts val="0"/>
              </a:spcBef>
            </a:pPr>
            <a:endParaRPr lang="fr-FR" sz="1600" dirty="0"/>
          </a:p>
          <a:p>
            <a:pPr marL="177800" lvl="0" indent="-17780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Sécurité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FR" sz="1200" dirty="0"/>
              <a:t>L'intégrité et la confidentialité des données seront assurées par une stratégie de sauvegarde et de chiffrement dès la conception (</a:t>
            </a:r>
            <a:r>
              <a:rPr lang="fr-FR" sz="1200" dirty="0" err="1"/>
              <a:t>Privacy</a:t>
            </a:r>
            <a:r>
              <a:rPr lang="fr-FR" sz="1200" dirty="0"/>
              <a:t> by Design).</a:t>
            </a:r>
          </a:p>
          <a:p>
            <a:pPr marL="177800" lvl="0" indent="-177800">
              <a:spcBef>
                <a:spcPts val="0"/>
              </a:spcBef>
            </a:pPr>
            <a:endParaRPr lang="fr-FR" sz="1600" dirty="0"/>
          </a:p>
          <a:p>
            <a:pPr marL="177800" indent="-17780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Droits des personnes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FR" sz="1200" dirty="0"/>
              <a:t>Le projet doit anticiper la gestion des droits d'accès, de rectification et d'effacement, même dans la phase de test.</a:t>
            </a:r>
            <a:endParaRPr sz="1200" dirty="0"/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 dirty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 dirty="0"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490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Les données initiales</a:t>
            </a:r>
            <a:endParaRPr b="0" dirty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389008" y="1551370"/>
            <a:ext cx="6978592" cy="253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data_donnees_communes.xlsx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FR" dirty="0"/>
              <a:t>Jeux de donnée contenant les </a:t>
            </a:r>
            <a:r>
              <a:rPr lang="fr-FR" b="1" dirty="0"/>
              <a:t>liens vers plusieurs autres tables </a:t>
            </a:r>
            <a:r>
              <a:rPr lang="fr-FR" dirty="0"/>
              <a:t>ainsi que les </a:t>
            </a:r>
            <a:r>
              <a:rPr lang="fr-FR" b="1" dirty="0"/>
              <a:t>codes communs </a:t>
            </a:r>
            <a:r>
              <a:rPr lang="fr-FR" dirty="0"/>
              <a:t>et </a:t>
            </a:r>
            <a:r>
              <a:rPr lang="fr-FR" b="1" dirty="0"/>
              <a:t>régions</a:t>
            </a:r>
            <a:r>
              <a:rPr lang="fr-FR" dirty="0"/>
              <a:t> et les </a:t>
            </a:r>
            <a:r>
              <a:rPr lang="fr-FR" b="1" dirty="0"/>
              <a:t>quantités de population par type</a:t>
            </a:r>
          </a:p>
          <a:p>
            <a:pPr marL="457200" lvl="1" indent="0">
              <a:spcBef>
                <a:spcPts val="0"/>
              </a:spcBef>
              <a:buNone/>
            </a:pPr>
            <a:endParaRPr lang="fr-FR" dirty="0"/>
          </a:p>
          <a:p>
            <a:pPr marL="177800" indent="-17780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data_fr_esr_referentiel_geographique.xlsx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FR" dirty="0"/>
              <a:t>Jeux de données contenant notamment les </a:t>
            </a:r>
            <a:r>
              <a:rPr lang="fr-FR" b="1" dirty="0"/>
              <a:t>toutes les communes</a:t>
            </a:r>
            <a:r>
              <a:rPr lang="fr-FR" dirty="0"/>
              <a:t> avec pour </a:t>
            </a:r>
            <a:r>
              <a:rPr lang="fr-FR" b="1" dirty="0"/>
              <a:t>chaque la région associée</a:t>
            </a:r>
            <a:r>
              <a:rPr lang="fr-FR" dirty="0"/>
              <a:t>, et la </a:t>
            </a:r>
            <a:r>
              <a:rPr lang="fr-FR" b="1" dirty="0"/>
              <a:t>géolocalisation</a:t>
            </a:r>
            <a:r>
              <a:rPr lang="fr-FR" dirty="0"/>
              <a:t>.</a:t>
            </a:r>
          </a:p>
          <a:p>
            <a:pPr marL="457200" lvl="1" indent="0">
              <a:spcBef>
                <a:spcPts val="0"/>
              </a:spcBef>
              <a:buNone/>
            </a:pPr>
            <a:endParaRPr lang="fr-FR" dirty="0"/>
          </a:p>
          <a:p>
            <a:pPr marL="177800" lvl="0" indent="-17780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data_valeurs_foncieres.xlsx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FR" dirty="0"/>
              <a:t>Jeux de données contenant </a:t>
            </a:r>
            <a:r>
              <a:rPr lang="fr-FR" b="1" dirty="0"/>
              <a:t>l’historique des transactions </a:t>
            </a:r>
            <a:r>
              <a:rPr lang="fr-FR" dirty="0"/>
              <a:t>en fonction du </a:t>
            </a:r>
            <a:r>
              <a:rPr lang="fr-FR" b="1" dirty="0"/>
              <a:t>type de bien</a:t>
            </a:r>
            <a:r>
              <a:rPr lang="fr-FR" dirty="0"/>
              <a:t> (surface, nombre de pièces, </a:t>
            </a:r>
            <a:r>
              <a:rPr lang="fr-FR" dirty="0" err="1"/>
              <a:t>etc</a:t>
            </a:r>
            <a:r>
              <a:rPr lang="fr-FR" dirty="0"/>
              <a:t>).</a:t>
            </a:r>
            <a:endParaRPr dirty="0"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L’extrait du dictionnaire des données</a:t>
            </a:r>
            <a:endParaRPr b="0"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2468EC7C-2219-2AE6-BB03-0B2B0F3E4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289094"/>
              </p:ext>
            </p:extLst>
          </p:nvPr>
        </p:nvGraphicFramePr>
        <p:xfrm>
          <a:off x="389008" y="1810326"/>
          <a:ext cx="6691850" cy="2831873"/>
        </p:xfrm>
        <a:graphic>
          <a:graphicData uri="http://schemas.openxmlformats.org/drawingml/2006/table">
            <a:tbl>
              <a:tblPr/>
              <a:tblGrid>
                <a:gridCol w="669185">
                  <a:extLst>
                    <a:ext uri="{9D8B030D-6E8A-4147-A177-3AD203B41FA5}">
                      <a16:colId xmlns:a16="http://schemas.microsoft.com/office/drawing/2014/main" val="1847132503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7169664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3124389799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3848582409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2435994441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1267616625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1254089377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1570263865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2603790071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156374458"/>
                    </a:ext>
                  </a:extLst>
                </a:gridCol>
              </a:tblGrid>
              <a:tr h="19605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fr-FR" sz="600">
                        <a:effectLst/>
                      </a:endParaRP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CODREG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CODDEP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CODARR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CODCAN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CODCOM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>
                          <a:effectLst/>
                        </a:rPr>
                        <a:t>COM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>
                          <a:effectLst/>
                        </a:rPr>
                        <a:t>PMUN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PCAP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PTOT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773851"/>
                  </a:ext>
                </a:extLst>
              </a:tr>
              <a:tr h="36240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08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L'Abergement-Clémenciat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779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19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798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301991"/>
                  </a:ext>
                </a:extLst>
              </a:tr>
              <a:tr h="36240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2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L'Abergement-de-Varey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256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257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783085"/>
                  </a:ext>
                </a:extLst>
              </a:tr>
              <a:tr h="28910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2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Ambérieu-en-Bugey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14134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380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14514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904330"/>
                  </a:ext>
                </a:extLst>
              </a:tr>
              <a:tr h="36240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 dirty="0">
                          <a:effectLst/>
                        </a:rPr>
                        <a:t>3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22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Ambérieux-en-Dombes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1751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1776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618564"/>
                  </a:ext>
                </a:extLst>
              </a:tr>
              <a:tr h="19605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6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Ambléon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112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6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118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404012"/>
                  </a:ext>
                </a:extLst>
              </a:tr>
              <a:tr h="19605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7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Ambronay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2800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2915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91236"/>
                  </a:ext>
                </a:extLst>
              </a:tr>
              <a:tr h="19605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6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Ambutrix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762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777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787282"/>
                  </a:ext>
                </a:extLst>
              </a:tr>
              <a:tr h="27922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7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9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Andert-et-Condon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326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9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335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060361"/>
                  </a:ext>
                </a:extLst>
              </a:tr>
              <a:tr h="19605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8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Anglefort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1105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17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1122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430241"/>
                  </a:ext>
                </a:extLst>
              </a:tr>
              <a:tr h="19605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9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4.0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Apremont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368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379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48049"/>
                  </a:ext>
                </a:extLst>
              </a:tr>
            </a:tbl>
          </a:graphicData>
        </a:graphic>
      </p:graphicFrame>
      <p:sp>
        <p:nvSpPr>
          <p:cNvPr id="8" name="Google Shape;266;p34">
            <a:extLst>
              <a:ext uri="{FF2B5EF4-FFF2-40B4-BE49-F238E27FC236}">
                <a16:creationId xmlns:a16="http://schemas.microsoft.com/office/drawing/2014/main" id="{0F2B769C-EB0A-1B93-660B-5312D285F020}"/>
              </a:ext>
            </a:extLst>
          </p:cNvPr>
          <p:cNvSpPr txBox="1">
            <a:spLocks/>
          </p:cNvSpPr>
          <p:nvPr/>
        </p:nvSpPr>
        <p:spPr>
          <a:xfrm>
            <a:off x="389008" y="1285450"/>
            <a:ext cx="3130047" cy="2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 Données communes</a:t>
            </a:r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>
          <a:extLst>
            <a:ext uri="{FF2B5EF4-FFF2-40B4-BE49-F238E27FC236}">
              <a16:creationId xmlns:a16="http://schemas.microsoft.com/office/drawing/2014/main" id="{E8C20228-1364-B605-DE32-F3EC9D80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>
            <a:extLst>
              <a:ext uri="{FF2B5EF4-FFF2-40B4-BE49-F238E27FC236}">
                <a16:creationId xmlns:a16="http://schemas.microsoft.com/office/drawing/2014/main" id="{ADDABA30-22C6-9630-EDD5-4999CBA9FB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L’extrait du dictionnaire des données</a:t>
            </a:r>
            <a:endParaRPr b="0"/>
          </a:p>
        </p:txBody>
      </p:sp>
      <p:sp>
        <p:nvSpPr>
          <p:cNvPr id="297" name="Google Shape;297;p37">
            <a:extLst>
              <a:ext uri="{FF2B5EF4-FFF2-40B4-BE49-F238E27FC236}">
                <a16:creationId xmlns:a16="http://schemas.microsoft.com/office/drawing/2014/main" id="{045760EB-430E-EF57-7016-320D7D45A1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66;p34">
            <a:extLst>
              <a:ext uri="{FF2B5EF4-FFF2-40B4-BE49-F238E27FC236}">
                <a16:creationId xmlns:a16="http://schemas.microsoft.com/office/drawing/2014/main" id="{3BCA1B1B-B57D-E124-A0A6-9025308DDAEA}"/>
              </a:ext>
            </a:extLst>
          </p:cNvPr>
          <p:cNvSpPr txBox="1">
            <a:spLocks/>
          </p:cNvSpPr>
          <p:nvPr/>
        </p:nvSpPr>
        <p:spPr>
          <a:xfrm>
            <a:off x="389008" y="1285450"/>
            <a:ext cx="3130047" cy="2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 Référentiel Géographique</a:t>
            </a:r>
            <a:endParaRPr lang="fr-FR"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E48461B-FCF4-5262-9019-8337FB717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84373"/>
              </p:ext>
            </p:extLst>
          </p:nvPr>
        </p:nvGraphicFramePr>
        <p:xfrm>
          <a:off x="0" y="1653540"/>
          <a:ext cx="9143992" cy="2978784"/>
        </p:xfrm>
        <a:graphic>
          <a:graphicData uri="http://schemas.openxmlformats.org/drawingml/2006/table">
            <a:tbl>
              <a:tblPr/>
              <a:tblGrid>
                <a:gridCol w="182880">
                  <a:extLst>
                    <a:ext uri="{9D8B030D-6E8A-4147-A177-3AD203B41FA5}">
                      <a16:colId xmlns:a16="http://schemas.microsoft.com/office/drawing/2014/main" val="1617104314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435750708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177928513"/>
                    </a:ext>
                  </a:extLst>
                </a:gridCol>
                <a:gridCol w="496684">
                  <a:extLst>
                    <a:ext uri="{9D8B030D-6E8A-4147-A177-3AD203B41FA5}">
                      <a16:colId xmlns:a16="http://schemas.microsoft.com/office/drawing/2014/main" val="3510716644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292547403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763769840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2365912918"/>
                    </a:ext>
                  </a:extLst>
                </a:gridCol>
                <a:gridCol w="435728">
                  <a:extLst>
                    <a:ext uri="{9D8B030D-6E8A-4147-A177-3AD203B41FA5}">
                      <a16:colId xmlns:a16="http://schemas.microsoft.com/office/drawing/2014/main" val="390735855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36855767"/>
                    </a:ext>
                  </a:extLst>
                </a:gridCol>
                <a:gridCol w="353980">
                  <a:extLst>
                    <a:ext uri="{9D8B030D-6E8A-4147-A177-3AD203B41FA5}">
                      <a16:colId xmlns:a16="http://schemas.microsoft.com/office/drawing/2014/main" val="3155071374"/>
                    </a:ext>
                  </a:extLst>
                </a:gridCol>
                <a:gridCol w="667100">
                  <a:extLst>
                    <a:ext uri="{9D8B030D-6E8A-4147-A177-3AD203B41FA5}">
                      <a16:colId xmlns:a16="http://schemas.microsoft.com/office/drawing/2014/main" val="2792185680"/>
                    </a:ext>
                  </a:extLst>
                </a:gridCol>
                <a:gridCol w="164172">
                  <a:extLst>
                    <a:ext uri="{9D8B030D-6E8A-4147-A177-3AD203B41FA5}">
                      <a16:colId xmlns:a16="http://schemas.microsoft.com/office/drawing/2014/main" val="872104878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2477863331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515444537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720946142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2217841282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774766519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569693016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2020876287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4145042286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322039552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861924833"/>
                    </a:ext>
                  </a:extLst>
                </a:gridCol>
              </a:tblGrid>
              <a:tr h="2076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fr-FR" sz="500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regrgp_nom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reg_nom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reg_nom_old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aca_nom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dep_nom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com_code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com_code1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>
                          <a:effectLst/>
                        </a:rPr>
                        <a:t>com_code2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com_id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com_nom_maj_court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fd_id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fr_id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fe_id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uu_id_99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au_code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au_id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auc_id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auc_nom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uu_id_10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geolocalisation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066839"/>
                  </a:ext>
                </a:extLst>
              </a:tr>
              <a:tr h="3721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 ABERGEMENT CLEMENCIAT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AU997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L'Abergement-Clémenciat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46.1534255214,4.92611354223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909292"/>
                  </a:ext>
                </a:extLst>
              </a:tr>
              <a:tr h="33561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L ABERGEMENT DE VAREY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46.0091878776,5.42801696363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33326"/>
                  </a:ext>
                </a:extLst>
              </a:tr>
              <a:tr h="2259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AMAREINS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346372"/>
                  </a:ext>
                </a:extLst>
              </a:tr>
              <a:tr h="2624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AMBERIEU EN BUGEY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UU01303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UU01302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45.9608475114,5.3729257777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704506"/>
                  </a:ext>
                </a:extLst>
              </a:tr>
              <a:tr h="29905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01005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1005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1005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C01005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AMBERIEUX EN DOMBES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45.9961799872,4.91227250796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269097"/>
                  </a:ext>
                </a:extLst>
              </a:tr>
              <a:tr h="2624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5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AMBLEON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AU998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Ambléon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45.7494989044,5.59432017366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11541"/>
                  </a:ext>
                </a:extLst>
              </a:tr>
              <a:tr h="2624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AMBRONAY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46.0055913782,5.35760660735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690851"/>
                  </a:ext>
                </a:extLst>
              </a:tr>
              <a:tr h="24420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AMBUTRIX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UU01302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45.9367134524,5.3328092349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756165"/>
                  </a:ext>
                </a:extLst>
              </a:tr>
              <a:tr h="2624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1009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ANDERT ET CONDON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294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AU294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AU294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Belley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45.7873565333,5.65788307924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268972"/>
                  </a:ext>
                </a:extLst>
              </a:tr>
              <a:tr h="24420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01010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1010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1010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C01010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ANGLEFORT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AU998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C01010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Anglefort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45.9093715116,5.7951600567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8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910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>
          <a:extLst>
            <a:ext uri="{FF2B5EF4-FFF2-40B4-BE49-F238E27FC236}">
              <a16:creationId xmlns:a16="http://schemas.microsoft.com/office/drawing/2014/main" id="{6C530792-1056-2153-6B20-3D64978C7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>
            <a:extLst>
              <a:ext uri="{FF2B5EF4-FFF2-40B4-BE49-F238E27FC236}">
                <a16:creationId xmlns:a16="http://schemas.microsoft.com/office/drawing/2014/main" id="{FEB6A303-5F9E-602B-5A3B-79DD5B32B0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17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L’extrait du dictionnaire des données</a:t>
            </a:r>
            <a:endParaRPr b="0"/>
          </a:p>
        </p:txBody>
      </p:sp>
      <p:sp>
        <p:nvSpPr>
          <p:cNvPr id="297" name="Google Shape;297;p37">
            <a:extLst>
              <a:ext uri="{FF2B5EF4-FFF2-40B4-BE49-F238E27FC236}">
                <a16:creationId xmlns:a16="http://schemas.microsoft.com/office/drawing/2014/main" id="{0B1D426A-6FB3-7BA8-BA56-B8A610A56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37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66;p34">
            <a:extLst>
              <a:ext uri="{FF2B5EF4-FFF2-40B4-BE49-F238E27FC236}">
                <a16:creationId xmlns:a16="http://schemas.microsoft.com/office/drawing/2014/main" id="{9A347379-41F6-057F-17BF-BC997BB3C104}"/>
              </a:ext>
            </a:extLst>
          </p:cNvPr>
          <p:cNvSpPr txBox="1">
            <a:spLocks/>
          </p:cNvSpPr>
          <p:nvPr/>
        </p:nvSpPr>
        <p:spPr>
          <a:xfrm>
            <a:off x="389017" y="1285450"/>
            <a:ext cx="3130047" cy="2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 Valeurs Foncières</a:t>
            </a:r>
            <a:endParaRPr lang="fr-FR"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8B328AD-F863-309C-620D-8B0E67D05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830491"/>
              </p:ext>
            </p:extLst>
          </p:nvPr>
        </p:nvGraphicFramePr>
        <p:xfrm>
          <a:off x="0" y="1691640"/>
          <a:ext cx="9144009" cy="2856123"/>
        </p:xfrm>
        <a:graphic>
          <a:graphicData uri="http://schemas.openxmlformats.org/drawingml/2006/table">
            <a:tbl>
              <a:tblPr/>
              <a:tblGrid>
                <a:gridCol w="198120">
                  <a:extLst>
                    <a:ext uri="{9D8B030D-6E8A-4147-A177-3AD203B41FA5}">
                      <a16:colId xmlns:a16="http://schemas.microsoft.com/office/drawing/2014/main" val="3781254372"/>
                    </a:ext>
                  </a:extLst>
                </a:gridCol>
                <a:gridCol w="672738">
                  <a:extLst>
                    <a:ext uri="{9D8B030D-6E8A-4147-A177-3AD203B41FA5}">
                      <a16:colId xmlns:a16="http://schemas.microsoft.com/office/drawing/2014/main" val="2891425163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798702210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316894256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954577900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382117313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3390580136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746303328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1865530643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178818370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649733350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1082285388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1799114746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3308576225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01000641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299181049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472239904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1266654308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1563668200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3585921620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363330608"/>
                    </a:ext>
                  </a:extLst>
                </a:gridCol>
              </a:tblGrid>
              <a:tr h="305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500" b="1" dirty="0">
                        <a:effectLst/>
                      </a:endParaRP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No disposition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Date mutation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Nature mutation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Valeur </a:t>
                      </a:r>
                      <a:r>
                        <a:rPr lang="fr-FR" sz="500" b="1" dirty="0" err="1">
                          <a:effectLst/>
                        </a:rPr>
                        <a:t>fonciere</a:t>
                      </a:r>
                      <a:endParaRPr lang="fr-FR" sz="500" b="1" dirty="0">
                        <a:effectLst/>
                      </a:endParaRP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No voie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B/T/Q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Code type de voie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Type de voie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Code voie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Voie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Surface Carrez du 1er lot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Nombre de lots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Code type local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Type local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Surface </a:t>
                      </a:r>
                      <a:r>
                        <a:rPr lang="fr-FR" sz="500" b="1" dirty="0" err="1">
                          <a:effectLst/>
                        </a:rPr>
                        <a:t>reelle</a:t>
                      </a:r>
                      <a:r>
                        <a:rPr lang="fr-FR" sz="500" b="1" dirty="0">
                          <a:effectLst/>
                        </a:rPr>
                        <a:t> </a:t>
                      </a:r>
                      <a:r>
                        <a:rPr lang="fr-FR" sz="500" b="1" dirty="0" err="1">
                          <a:effectLst/>
                        </a:rPr>
                        <a:t>bati</a:t>
                      </a:r>
                      <a:endParaRPr lang="fr-FR" sz="500" b="1" dirty="0">
                        <a:effectLst/>
                      </a:endParaRP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Nombre </a:t>
                      </a:r>
                      <a:r>
                        <a:rPr lang="fr-FR" sz="500" b="1" dirty="0" err="1">
                          <a:effectLst/>
                        </a:rPr>
                        <a:t>pieces</a:t>
                      </a:r>
                      <a:r>
                        <a:rPr lang="fr-FR" sz="500" b="1" dirty="0">
                          <a:effectLst/>
                        </a:rPr>
                        <a:t> principales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Nature culture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Nature culture </a:t>
                      </a:r>
                      <a:r>
                        <a:rPr lang="fr-FR" sz="500" b="1" dirty="0" err="1">
                          <a:effectLst/>
                        </a:rPr>
                        <a:t>speciale</a:t>
                      </a:r>
                      <a:endParaRPr lang="fr-FR" sz="500" b="1" dirty="0">
                        <a:effectLst/>
                      </a:endParaRP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Surface terrain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32377"/>
                  </a:ext>
                </a:extLst>
              </a:tr>
              <a:tr h="2139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165000.0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347.0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RUE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DU CHATEAU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48.22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48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199159"/>
                  </a:ext>
                </a:extLst>
              </a:tr>
              <a:tr h="30537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355680.0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15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BD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EDOUARD BAUDOIN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39.11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826843"/>
                  </a:ext>
                </a:extLst>
              </a:tr>
              <a:tr h="16819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229500.0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B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RUE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3975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MARCEAU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80.25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82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985779"/>
                  </a:ext>
                </a:extLst>
              </a:tr>
              <a:tr h="2825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125000.0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550.0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1011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DES VESPINS RN7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27.51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27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394449"/>
                  </a:ext>
                </a:extLst>
              </a:tr>
              <a:tr h="41968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4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90000.0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9300.0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18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RES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A084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LES ARPEGES BD DES ABA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47.33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47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346603"/>
                  </a:ext>
                </a:extLst>
              </a:tr>
              <a:tr h="2825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5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93000.0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27.0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RUE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791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DU GRAND MADIER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25.31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24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057384"/>
                  </a:ext>
                </a:extLst>
              </a:tr>
              <a:tr h="19106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6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298100.0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360.0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AV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7515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DU PRADO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70.84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70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795821"/>
                  </a:ext>
                </a:extLst>
              </a:tr>
              <a:tr h="19106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7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163500.0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5076.0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25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PARC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A312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DESSUARD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67.19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66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89344"/>
                  </a:ext>
                </a:extLst>
              </a:tr>
              <a:tr h="2367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8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53000.0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1194.0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RUE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1090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DE NORMANDIE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18.89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19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047712"/>
                  </a:ext>
                </a:extLst>
              </a:tr>
              <a:tr h="25964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9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136000.0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ALL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1037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DES NOISETIERS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105.37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Maison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99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268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344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5905112" cy="45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Le schéma relationnel normalisé</a:t>
            </a:r>
            <a:endParaRPr b="0" dirty="0"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2B29A43-6EC2-89AE-FEFC-AB4EC9F4E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910" y="865239"/>
            <a:ext cx="3682180" cy="38654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5859392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519E43A-D668-4951-EE2C-192FAE6E5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214113"/>
            <a:ext cx="2015869" cy="355315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9AA7C13-9436-DC8D-9609-1102FB858202}"/>
              </a:ext>
            </a:extLst>
          </p:cNvPr>
          <p:cNvSpPr txBox="1"/>
          <p:nvPr/>
        </p:nvSpPr>
        <p:spPr>
          <a:xfrm>
            <a:off x="2591242" y="1314794"/>
            <a:ext cx="4188099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SELECT 'region' as </a:t>
            </a:r>
            <a:r>
              <a:rPr lang="en-US" sz="1050" dirty="0" err="1"/>
              <a:t>table_name</a:t>
            </a:r>
            <a:r>
              <a:rPr lang="en-US" sz="1050" dirty="0"/>
              <a:t>, COUNT(*) as count FROM region</a:t>
            </a:r>
          </a:p>
          <a:p>
            <a:r>
              <a:rPr lang="en-US" sz="1050" dirty="0"/>
              <a:t>UNION ALL</a:t>
            </a:r>
          </a:p>
          <a:p>
            <a:r>
              <a:rPr lang="en-US" sz="1050" dirty="0"/>
              <a:t>SELECT '</a:t>
            </a:r>
            <a:r>
              <a:rPr lang="en-US" sz="1050" dirty="0" err="1"/>
              <a:t>departement</a:t>
            </a:r>
            <a:r>
              <a:rPr lang="en-US" sz="1050" dirty="0"/>
              <a:t>', COUNT(*) FROM </a:t>
            </a:r>
            <a:r>
              <a:rPr lang="en-US" sz="1050" dirty="0" err="1"/>
              <a:t>departement</a:t>
            </a:r>
            <a:r>
              <a:rPr lang="en-US" sz="1050" dirty="0"/>
              <a:t> </a:t>
            </a:r>
          </a:p>
          <a:p>
            <a:r>
              <a:rPr lang="en-US" sz="1050" dirty="0"/>
              <a:t>UNION ALL</a:t>
            </a:r>
          </a:p>
          <a:p>
            <a:r>
              <a:rPr lang="en-US" sz="1050" dirty="0"/>
              <a:t>SELECT 'commune', COUNT(*) FROM commune</a:t>
            </a:r>
          </a:p>
          <a:p>
            <a:r>
              <a:rPr lang="en-US" sz="1050" dirty="0"/>
              <a:t>UNION ALL</a:t>
            </a:r>
          </a:p>
          <a:p>
            <a:r>
              <a:rPr lang="en-US" sz="1050" dirty="0"/>
              <a:t>SELECT '</a:t>
            </a:r>
            <a:r>
              <a:rPr lang="en-US" sz="1050" dirty="0" err="1"/>
              <a:t>type_voie</a:t>
            </a:r>
            <a:r>
              <a:rPr lang="en-US" sz="1050" dirty="0"/>
              <a:t>', COUNT(*) FROM </a:t>
            </a:r>
            <a:r>
              <a:rPr lang="en-US" sz="1050" dirty="0" err="1"/>
              <a:t>type_voie</a:t>
            </a:r>
            <a:endParaRPr lang="en-US" sz="1050" dirty="0"/>
          </a:p>
          <a:p>
            <a:r>
              <a:rPr lang="en-US" sz="1050" dirty="0"/>
              <a:t>UNION ALL</a:t>
            </a:r>
          </a:p>
          <a:p>
            <a:r>
              <a:rPr lang="en-US" sz="1050" dirty="0"/>
              <a:t>SELECT '</a:t>
            </a:r>
            <a:r>
              <a:rPr lang="en-US" sz="1050" dirty="0" err="1"/>
              <a:t>type_local</a:t>
            </a:r>
            <a:r>
              <a:rPr lang="en-US" sz="1050" dirty="0"/>
              <a:t>', COUNT(*) FROM </a:t>
            </a:r>
            <a:r>
              <a:rPr lang="en-US" sz="1050" dirty="0" err="1"/>
              <a:t>type_local</a:t>
            </a:r>
            <a:endParaRPr lang="en-US" sz="1050" dirty="0"/>
          </a:p>
          <a:p>
            <a:r>
              <a:rPr lang="en-US" sz="1050" dirty="0"/>
              <a:t>UNION ALL</a:t>
            </a:r>
          </a:p>
          <a:p>
            <a:r>
              <a:rPr lang="en-US" sz="1050" dirty="0"/>
              <a:t>SELECT 'mutation', COUNT(*) FROM mutation</a:t>
            </a:r>
          </a:p>
          <a:p>
            <a:r>
              <a:rPr lang="en-US" sz="1050" dirty="0"/>
              <a:t>UNION ALL</a:t>
            </a:r>
          </a:p>
          <a:p>
            <a:r>
              <a:rPr lang="en-US" sz="1050" dirty="0"/>
              <a:t>SELECT 'bien', COUNT(*) FROM bien;</a:t>
            </a:r>
            <a:endParaRPr lang="fr-FR" sz="105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40FF485-E446-48CA-86C7-8CE99D61A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5" y="2937426"/>
            <a:ext cx="1476581" cy="16480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4202518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 dirty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 dirty="0"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7421492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1- Nombre total d’appartements vendus au 1er semestre 2020.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2E5BB15-59D6-D85C-389A-FD21BAB1BCDF}"/>
              </a:ext>
            </a:extLst>
          </p:cNvPr>
          <p:cNvSpPr txBox="1"/>
          <p:nvPr/>
        </p:nvSpPr>
        <p:spPr>
          <a:xfrm>
            <a:off x="389008" y="2191702"/>
            <a:ext cx="55349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80975" algn="l"/>
              </a:tabLst>
            </a:pPr>
            <a:r>
              <a:rPr lang="fr-FR" sz="1200" dirty="0">
                <a:latin typeface="Arial" panose="020B0604020202020204" pitchFamily="34" charset="0"/>
              </a:rPr>
              <a:t>SELECT</a:t>
            </a:r>
          </a:p>
          <a:p>
            <a:pPr>
              <a:tabLst>
                <a:tab pos="180975" algn="l"/>
              </a:tabLst>
            </a:pPr>
            <a:r>
              <a:rPr lang="fr-FR" sz="1200" dirty="0">
                <a:latin typeface="Arial" panose="020B0604020202020204" pitchFamily="34" charset="0"/>
              </a:rPr>
              <a:t>  COUNT(*) as </a:t>
            </a:r>
            <a:r>
              <a:rPr lang="fr-FR" sz="1200" dirty="0" err="1">
                <a:latin typeface="Arial" panose="020B0604020202020204" pitchFamily="34" charset="0"/>
              </a:rPr>
              <a:t>nombre_total_appartements_vendus</a:t>
            </a:r>
            <a:endParaRPr lang="fr-FR" sz="1200" dirty="0">
              <a:latin typeface="Arial" panose="020B0604020202020204" pitchFamily="34" charset="0"/>
            </a:endParaRPr>
          </a:p>
          <a:p>
            <a:pPr>
              <a:tabLst>
                <a:tab pos="180975" algn="l"/>
              </a:tabLst>
            </a:pPr>
            <a:r>
              <a:rPr lang="fr-FR" sz="1200" dirty="0">
                <a:latin typeface="Arial" panose="020B0604020202020204" pitchFamily="34" charset="0"/>
              </a:rPr>
              <a:t>FROM bien AS b</a:t>
            </a:r>
          </a:p>
          <a:p>
            <a:pPr>
              <a:tabLst>
                <a:tab pos="180975" algn="l"/>
              </a:tabLst>
            </a:pPr>
            <a:r>
              <a:rPr lang="fr-FR" sz="1200" dirty="0">
                <a:latin typeface="Arial" panose="020B0604020202020204" pitchFamily="34" charset="0"/>
              </a:rPr>
              <a:t>JOIN mutation AS m</a:t>
            </a:r>
          </a:p>
          <a:p>
            <a:pPr>
              <a:tabLst>
                <a:tab pos="180975" algn="l"/>
              </a:tabLst>
            </a:pPr>
            <a:r>
              <a:rPr lang="fr-FR" sz="1200" dirty="0">
                <a:latin typeface="Arial" panose="020B0604020202020204" pitchFamily="34" charset="0"/>
              </a:rPr>
              <a:t>  ON </a:t>
            </a:r>
            <a:r>
              <a:rPr lang="fr-FR" sz="1200" dirty="0" err="1">
                <a:latin typeface="Arial" panose="020B0604020202020204" pitchFamily="34" charset="0"/>
              </a:rPr>
              <a:t>b.id_mutation</a:t>
            </a:r>
            <a:r>
              <a:rPr lang="fr-FR" sz="1200" dirty="0">
                <a:latin typeface="Arial" panose="020B0604020202020204" pitchFamily="34" charset="0"/>
              </a:rPr>
              <a:t> = </a:t>
            </a:r>
            <a:r>
              <a:rPr lang="fr-FR" sz="1200" dirty="0" err="1">
                <a:latin typeface="Arial" panose="020B0604020202020204" pitchFamily="34" charset="0"/>
              </a:rPr>
              <a:t>m.id_mutation</a:t>
            </a:r>
            <a:endParaRPr lang="fr-FR" sz="1200" dirty="0">
              <a:latin typeface="Arial" panose="020B0604020202020204" pitchFamily="34" charset="0"/>
            </a:endParaRPr>
          </a:p>
          <a:p>
            <a:pPr>
              <a:tabLst>
                <a:tab pos="180975" algn="l"/>
              </a:tabLst>
            </a:pPr>
            <a:r>
              <a:rPr lang="fr-FR" sz="1200" dirty="0">
                <a:latin typeface="Arial" panose="020B0604020202020204" pitchFamily="34" charset="0"/>
              </a:rPr>
              <a:t>WHERE</a:t>
            </a:r>
          </a:p>
          <a:p>
            <a:pPr>
              <a:tabLst>
                <a:tab pos="180975" algn="l"/>
              </a:tabLst>
            </a:pPr>
            <a:r>
              <a:rPr lang="fr-FR" sz="1200" dirty="0">
                <a:latin typeface="Arial" panose="020B0604020202020204" pitchFamily="34" charset="0"/>
              </a:rPr>
              <a:t>  </a:t>
            </a:r>
            <a:r>
              <a:rPr lang="fr-FR" sz="1200" dirty="0" err="1">
                <a:latin typeface="Arial" panose="020B0604020202020204" pitchFamily="34" charset="0"/>
              </a:rPr>
              <a:t>b.code_type_local</a:t>
            </a:r>
            <a:r>
              <a:rPr lang="fr-FR" sz="1200" dirty="0">
                <a:latin typeface="Arial" panose="020B0604020202020204" pitchFamily="34" charset="0"/>
              </a:rPr>
              <a:t> = 2 </a:t>
            </a:r>
          </a:p>
          <a:p>
            <a:pPr>
              <a:tabLst>
                <a:tab pos="180975" algn="l"/>
              </a:tabLst>
            </a:pPr>
            <a:r>
              <a:rPr lang="fr-FR" sz="1200" dirty="0">
                <a:latin typeface="Arial" panose="020B0604020202020204" pitchFamily="34" charset="0"/>
              </a:rPr>
              <a:t>  AND </a:t>
            </a:r>
            <a:r>
              <a:rPr lang="fr-FR" sz="1200" dirty="0" err="1">
                <a:latin typeface="Arial" panose="020B0604020202020204" pitchFamily="34" charset="0"/>
              </a:rPr>
              <a:t>m.date_mutation</a:t>
            </a:r>
            <a:r>
              <a:rPr lang="fr-FR" sz="1200" dirty="0">
                <a:latin typeface="Arial" panose="020B0604020202020204" pitchFamily="34" charset="0"/>
              </a:rPr>
              <a:t> BETWEEN '2020/01/01' AND '2020/06/30';</a:t>
            </a:r>
            <a:endParaRPr lang="fr-FR" sz="1200" b="0" dirty="0">
              <a:effectLst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6AF2324-0EFD-0572-8E63-C49B009A3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83" y="2976532"/>
            <a:ext cx="2114845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12B748F-E4DD-CB3F-D020-EF8472955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32824AA2-860B-FC73-B8DE-264308DBF2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2- Le nombre de ventes d’appartement par région pour le 1er semestre 2020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946F2439-2660-F354-4E6C-51AF4B26CF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ABB44C0-1373-1D82-19D6-D7552273A2C8}"/>
              </a:ext>
            </a:extLst>
          </p:cNvPr>
          <p:cNvSpPr txBox="1"/>
          <p:nvPr/>
        </p:nvSpPr>
        <p:spPr>
          <a:xfrm>
            <a:off x="389008" y="1166277"/>
            <a:ext cx="482116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SELECT</a:t>
            </a:r>
          </a:p>
          <a:p>
            <a:r>
              <a:rPr lang="fr-FR" sz="1200" dirty="0"/>
              <a:t>  </a:t>
            </a:r>
            <a:r>
              <a:rPr lang="fr-FR" sz="1200" dirty="0" err="1"/>
              <a:t>r.nom_reg</a:t>
            </a:r>
            <a:r>
              <a:rPr lang="fr-FR" sz="1200" dirty="0"/>
              <a:t>,</a:t>
            </a:r>
          </a:p>
          <a:p>
            <a:r>
              <a:rPr lang="fr-FR" sz="1200" dirty="0"/>
              <a:t>  COUNT(</a:t>
            </a:r>
            <a:r>
              <a:rPr lang="fr-FR" sz="1200" dirty="0" err="1"/>
              <a:t>b.code_type_local</a:t>
            </a:r>
            <a:r>
              <a:rPr lang="fr-FR" sz="1200" dirty="0"/>
              <a:t>) AS </a:t>
            </a:r>
            <a:r>
              <a:rPr lang="fr-FR" sz="1200" dirty="0" err="1"/>
              <a:t>nombre_ventes_appartement</a:t>
            </a:r>
            <a:endParaRPr lang="fr-FR" sz="1200" dirty="0"/>
          </a:p>
          <a:p>
            <a:r>
              <a:rPr lang="fr-FR" sz="1200" dirty="0"/>
              <a:t>FROM bien AS b</a:t>
            </a:r>
          </a:p>
          <a:p>
            <a:r>
              <a:rPr lang="fr-FR" sz="1200" dirty="0"/>
              <a:t>JOIN mutation AS m</a:t>
            </a:r>
          </a:p>
          <a:p>
            <a:r>
              <a:rPr lang="fr-FR" sz="1200" dirty="0"/>
              <a:t>  ON </a:t>
            </a:r>
            <a:r>
              <a:rPr lang="fr-FR" sz="1200" dirty="0" err="1"/>
              <a:t>b.id_mutation</a:t>
            </a:r>
            <a:r>
              <a:rPr lang="fr-FR" sz="1200" dirty="0"/>
              <a:t> = </a:t>
            </a:r>
            <a:r>
              <a:rPr lang="fr-FR" sz="1200" dirty="0" err="1"/>
              <a:t>m.id_mutation</a:t>
            </a:r>
            <a:endParaRPr lang="fr-FR" sz="1200" dirty="0"/>
          </a:p>
          <a:p>
            <a:r>
              <a:rPr lang="fr-FR" sz="1200" dirty="0"/>
              <a:t>JOIN commune AS c</a:t>
            </a:r>
          </a:p>
          <a:p>
            <a:r>
              <a:rPr lang="fr-FR" sz="1200" dirty="0"/>
              <a:t>  ON </a:t>
            </a:r>
            <a:r>
              <a:rPr lang="fr-FR" sz="1200" dirty="0" err="1"/>
              <a:t>b.code_com</a:t>
            </a:r>
            <a:r>
              <a:rPr lang="fr-FR" sz="1200" dirty="0"/>
              <a:t> = </a:t>
            </a:r>
            <a:r>
              <a:rPr lang="fr-FR" sz="1200" dirty="0" err="1"/>
              <a:t>c.code_com</a:t>
            </a:r>
            <a:endParaRPr lang="fr-FR" sz="1200" dirty="0"/>
          </a:p>
          <a:p>
            <a:r>
              <a:rPr lang="fr-FR" sz="1200" dirty="0"/>
              <a:t>JOIN </a:t>
            </a:r>
            <a:r>
              <a:rPr lang="fr-FR" sz="1200" dirty="0" err="1"/>
              <a:t>departement</a:t>
            </a:r>
            <a:r>
              <a:rPr lang="fr-FR" sz="1200" dirty="0"/>
              <a:t> AS d</a:t>
            </a:r>
          </a:p>
          <a:p>
            <a:r>
              <a:rPr lang="fr-FR" sz="1200" dirty="0"/>
              <a:t>  ON </a:t>
            </a:r>
            <a:r>
              <a:rPr lang="fr-FR" sz="1200" dirty="0" err="1"/>
              <a:t>c.code_dep</a:t>
            </a:r>
            <a:r>
              <a:rPr lang="fr-FR" sz="1200" dirty="0"/>
              <a:t> = </a:t>
            </a:r>
            <a:r>
              <a:rPr lang="fr-FR" sz="1200" dirty="0" err="1"/>
              <a:t>d.code_dep</a:t>
            </a:r>
            <a:endParaRPr lang="fr-FR" sz="1200" dirty="0"/>
          </a:p>
          <a:p>
            <a:r>
              <a:rPr lang="fr-FR" sz="1200" dirty="0"/>
              <a:t>JOIN </a:t>
            </a:r>
            <a:r>
              <a:rPr lang="fr-FR" sz="1200" dirty="0" err="1"/>
              <a:t>region</a:t>
            </a:r>
            <a:r>
              <a:rPr lang="fr-FR" sz="1200" dirty="0"/>
              <a:t> AS r</a:t>
            </a:r>
          </a:p>
          <a:p>
            <a:r>
              <a:rPr lang="fr-FR" sz="1200" dirty="0"/>
              <a:t>  ON </a:t>
            </a:r>
            <a:r>
              <a:rPr lang="fr-FR" sz="1200" dirty="0" err="1"/>
              <a:t>d.code_reg</a:t>
            </a:r>
            <a:r>
              <a:rPr lang="fr-FR" sz="1200" dirty="0"/>
              <a:t> = </a:t>
            </a:r>
            <a:r>
              <a:rPr lang="fr-FR" sz="1200" dirty="0" err="1"/>
              <a:t>r.code_reg</a:t>
            </a:r>
            <a:endParaRPr lang="fr-FR" sz="1200" dirty="0"/>
          </a:p>
          <a:p>
            <a:r>
              <a:rPr lang="fr-FR" sz="1200" dirty="0"/>
              <a:t>WHERE</a:t>
            </a:r>
          </a:p>
          <a:p>
            <a:r>
              <a:rPr lang="fr-FR" sz="1200" dirty="0"/>
              <a:t>  </a:t>
            </a:r>
            <a:r>
              <a:rPr lang="fr-FR" sz="1200" dirty="0" err="1"/>
              <a:t>b.code_type_local</a:t>
            </a:r>
            <a:r>
              <a:rPr lang="fr-FR" sz="1200" dirty="0"/>
              <a:t> = 2 AND </a:t>
            </a:r>
            <a:r>
              <a:rPr lang="fr-FR" sz="1200" dirty="0" err="1"/>
              <a:t>m.date_mutation</a:t>
            </a:r>
            <a:r>
              <a:rPr lang="fr-FR" sz="1200" dirty="0"/>
              <a:t> BETWEEN '2020/01/01' AND '2020/06/30'</a:t>
            </a:r>
          </a:p>
          <a:p>
            <a:r>
              <a:rPr lang="fr-FR" sz="1200" dirty="0"/>
              <a:t>GROUP BY</a:t>
            </a:r>
          </a:p>
          <a:p>
            <a:r>
              <a:rPr lang="fr-FR" sz="1200" dirty="0"/>
              <a:t>  </a:t>
            </a:r>
            <a:r>
              <a:rPr lang="fr-FR" sz="1200" dirty="0" err="1"/>
              <a:t>r.nom_reg</a:t>
            </a:r>
            <a:endParaRPr lang="fr-FR" sz="1200" dirty="0"/>
          </a:p>
          <a:p>
            <a:r>
              <a:rPr lang="fr-FR" sz="1200" dirty="0"/>
              <a:t>ORDER BY</a:t>
            </a:r>
          </a:p>
          <a:p>
            <a:r>
              <a:rPr lang="fr-FR" sz="1200" dirty="0"/>
              <a:t>  </a:t>
            </a:r>
            <a:r>
              <a:rPr lang="fr-FR" sz="1200" dirty="0" err="1"/>
              <a:t>nombre_ventes_appartement</a:t>
            </a:r>
            <a:r>
              <a:rPr lang="fr-FR" sz="1200" dirty="0"/>
              <a:t> DESC;</a:t>
            </a:r>
            <a:endParaRPr lang="fr-FR" sz="105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002A399-6229-DE53-6A24-CA54FA71A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513" y="1152004"/>
            <a:ext cx="3429479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48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F16332F-5BCC-04F5-88ED-D3E6B790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AC53BA11-0553-CC12-B751-3FE1CC8627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3- Proportion des ventes d’appartements par le nombre de pièces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05EC58EE-48DD-55F3-97BE-6DF63AE084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FE8190A-FD8B-C559-CEDA-F0EB0D085FA6}"/>
              </a:ext>
            </a:extLst>
          </p:cNvPr>
          <p:cNvSpPr txBox="1"/>
          <p:nvPr/>
        </p:nvSpPr>
        <p:spPr>
          <a:xfrm>
            <a:off x="389008" y="1396601"/>
            <a:ext cx="418299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SELECT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  </a:t>
            </a:r>
            <a:r>
              <a:rPr lang="fr-FR" sz="1200" dirty="0" err="1"/>
              <a:t>b.nombre_pieces_principales</a:t>
            </a:r>
            <a:r>
              <a:rPr lang="fr-FR" sz="1200" dirty="0"/>
              <a:t>,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  COUNT(</a:t>
            </a:r>
            <a:r>
              <a:rPr lang="fr-FR" sz="1200" dirty="0" err="1"/>
              <a:t>b.id_bien</a:t>
            </a:r>
            <a:r>
              <a:rPr lang="fr-FR" sz="1200" dirty="0"/>
              <a:t>) AS </a:t>
            </a:r>
            <a:r>
              <a:rPr lang="fr-FR" sz="1200" dirty="0" err="1"/>
              <a:t>nombre_ventes</a:t>
            </a:r>
            <a:r>
              <a:rPr lang="fr-FR" sz="1200" dirty="0"/>
              <a:t>,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  ROUND(CAST(COUNT(</a:t>
            </a:r>
            <a:r>
              <a:rPr lang="fr-FR" sz="1200" dirty="0" err="1"/>
              <a:t>b.id_bien</a:t>
            </a:r>
            <a:r>
              <a:rPr lang="fr-FR" sz="1200" dirty="0"/>
              <a:t>) AS REAL) * 100 / (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    SELECT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      COUNT(</a:t>
            </a:r>
            <a:r>
              <a:rPr lang="fr-FR" sz="1200" dirty="0" err="1"/>
              <a:t>id_bien</a:t>
            </a:r>
            <a:r>
              <a:rPr lang="fr-FR" sz="1200" dirty="0"/>
              <a:t>)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    FROM bien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    WHERE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      </a:t>
            </a:r>
            <a:r>
              <a:rPr lang="fr-FR" sz="1200" dirty="0" err="1"/>
              <a:t>code_type_local</a:t>
            </a:r>
            <a:r>
              <a:rPr lang="fr-FR" sz="1200" dirty="0"/>
              <a:t> = 2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  ), 2) AS </a:t>
            </a:r>
            <a:r>
              <a:rPr lang="fr-FR" sz="1200" dirty="0" err="1"/>
              <a:t>proportion_pourcentage</a:t>
            </a:r>
            <a:endParaRPr lang="fr-FR" sz="1200" dirty="0"/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FROM bien AS b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WHERE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  </a:t>
            </a:r>
            <a:r>
              <a:rPr lang="fr-FR" sz="1200" dirty="0" err="1"/>
              <a:t>b.code_type_local</a:t>
            </a:r>
            <a:r>
              <a:rPr lang="fr-FR" sz="1200" dirty="0"/>
              <a:t> = 2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GROUP BY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  </a:t>
            </a:r>
            <a:r>
              <a:rPr lang="fr-FR" sz="1200" dirty="0" err="1"/>
              <a:t>b.nombre_pieces_principales</a:t>
            </a:r>
            <a:endParaRPr lang="fr-FR" sz="1200" dirty="0"/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ORDER BY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  </a:t>
            </a:r>
            <a:r>
              <a:rPr lang="fr-FR" sz="1200" dirty="0" err="1"/>
              <a:t>b.nombre_pieces_principales</a:t>
            </a:r>
            <a:r>
              <a:rPr lang="fr-FR" sz="1200" dirty="0"/>
              <a:t>;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E57AC5B-93FB-12E2-CA08-04188755C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618" y="1702557"/>
            <a:ext cx="4115374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69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52F0749-E6C3-17FC-59E8-5BB872D1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85AD66C1-E005-92A7-5FEA-C8E3814F2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r>
              <a:rPr lang="fr-FR" b="0" dirty="0"/>
              <a:t>4- Liste des 10 départements où le prix du mètre carré est le plus élevé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6208E241-8E4E-BA90-7007-5F63AC7189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FFD2517-354B-E238-ACFF-2740E97A4AC7}"/>
              </a:ext>
            </a:extLst>
          </p:cNvPr>
          <p:cNvSpPr txBox="1"/>
          <p:nvPr/>
        </p:nvSpPr>
        <p:spPr>
          <a:xfrm>
            <a:off x="389008" y="1448851"/>
            <a:ext cx="5033481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SELECT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  </a:t>
            </a:r>
            <a:r>
              <a:rPr lang="fr-FR" sz="1100" dirty="0" err="1"/>
              <a:t>d.nom_dep</a:t>
            </a:r>
            <a:r>
              <a:rPr lang="fr-FR" sz="1100" dirty="0"/>
              <a:t>,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  ROUND(AVG(</a:t>
            </a:r>
            <a:r>
              <a:rPr lang="fr-FR" sz="1100" dirty="0" err="1"/>
              <a:t>m.valeur_fonciere</a:t>
            </a:r>
            <a:r>
              <a:rPr lang="fr-FR" sz="1100" dirty="0"/>
              <a:t> / </a:t>
            </a:r>
            <a:r>
              <a:rPr lang="fr-FR" sz="1100" dirty="0" err="1"/>
              <a:t>b.surf_reelle_bati</a:t>
            </a:r>
            <a:r>
              <a:rPr lang="fr-FR" sz="1100" dirty="0"/>
              <a:t>), 2) AS prix_m2_moyen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FROM mutation AS m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JOIN bien AS b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  ON </a:t>
            </a:r>
            <a:r>
              <a:rPr lang="fr-FR" sz="1100" dirty="0" err="1"/>
              <a:t>m.id_mutation</a:t>
            </a:r>
            <a:r>
              <a:rPr lang="fr-FR" sz="1100" dirty="0"/>
              <a:t> = </a:t>
            </a:r>
            <a:r>
              <a:rPr lang="fr-FR" sz="1100" dirty="0" err="1"/>
              <a:t>b.id_mutation</a:t>
            </a:r>
            <a:endParaRPr lang="fr-FR" sz="1100" dirty="0"/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JOIN commune AS c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  ON </a:t>
            </a:r>
            <a:r>
              <a:rPr lang="fr-FR" sz="1100" dirty="0" err="1"/>
              <a:t>b.code_com</a:t>
            </a:r>
            <a:r>
              <a:rPr lang="fr-FR" sz="1100" dirty="0"/>
              <a:t> = </a:t>
            </a:r>
            <a:r>
              <a:rPr lang="fr-FR" sz="1100" dirty="0" err="1"/>
              <a:t>c.code_com</a:t>
            </a:r>
            <a:endParaRPr lang="fr-FR" sz="1100" dirty="0"/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JOIN </a:t>
            </a:r>
            <a:r>
              <a:rPr lang="fr-FR" sz="1100" dirty="0" err="1"/>
              <a:t>departement</a:t>
            </a:r>
            <a:r>
              <a:rPr lang="fr-FR" sz="1100" dirty="0"/>
              <a:t> AS d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  ON </a:t>
            </a:r>
            <a:r>
              <a:rPr lang="fr-FR" sz="1100" dirty="0" err="1"/>
              <a:t>c.code_dep</a:t>
            </a:r>
            <a:r>
              <a:rPr lang="fr-FR" sz="1100" dirty="0"/>
              <a:t> = </a:t>
            </a:r>
            <a:r>
              <a:rPr lang="fr-FR" sz="1100" dirty="0" err="1"/>
              <a:t>d.code_dep</a:t>
            </a:r>
            <a:endParaRPr lang="fr-FR" sz="1100" dirty="0"/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WHERE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  </a:t>
            </a:r>
            <a:r>
              <a:rPr lang="fr-FR" sz="1100" dirty="0" err="1"/>
              <a:t>b.code_type_local</a:t>
            </a:r>
            <a:r>
              <a:rPr lang="fr-FR" sz="1100" dirty="0"/>
              <a:t> = 2 AND </a:t>
            </a:r>
            <a:r>
              <a:rPr lang="fr-FR" sz="1100" dirty="0" err="1"/>
              <a:t>b.surf_reelle_bati</a:t>
            </a:r>
            <a:r>
              <a:rPr lang="fr-FR" sz="1100" dirty="0"/>
              <a:t> &gt; 0 AND </a:t>
            </a:r>
            <a:r>
              <a:rPr lang="fr-FR" sz="1100" dirty="0" err="1"/>
              <a:t>m.valeur_fonciere</a:t>
            </a:r>
            <a:r>
              <a:rPr lang="fr-FR" sz="1100" dirty="0"/>
              <a:t> &gt; 0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GROUP BY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  </a:t>
            </a:r>
            <a:r>
              <a:rPr lang="fr-FR" sz="1100" dirty="0" err="1"/>
              <a:t>d.nom_dep</a:t>
            </a:r>
            <a:endParaRPr lang="fr-FR" sz="1100" dirty="0"/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ORDER BY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  prix_m2_moyen DESC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/>
              <a:t>LIMIT 10;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59AFE90-3D52-E5E4-54E2-DEC8DB779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389" y="1824055"/>
            <a:ext cx="2143424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68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74E51574-4E05-F695-9712-D9D81E582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7344E6BE-6AC0-6665-52FE-50E2A7EC7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7345292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5- Prix moyen du mètre carré d’une maison en Île-de-France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F0161F14-679A-ECB3-BB72-7DFAE1AA4F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A8E54D2-304F-FEBB-E83F-4B5EDAB99CB6}"/>
              </a:ext>
            </a:extLst>
          </p:cNvPr>
          <p:cNvSpPr txBox="1"/>
          <p:nvPr/>
        </p:nvSpPr>
        <p:spPr>
          <a:xfrm>
            <a:off x="389008" y="1725960"/>
            <a:ext cx="785042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SELECT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ROUND(AVG(</a:t>
            </a:r>
            <a:r>
              <a:rPr lang="fr-FR" sz="1200" dirty="0" err="1"/>
              <a:t>m.valeur_fonciere</a:t>
            </a:r>
            <a:r>
              <a:rPr lang="fr-FR" sz="1200" dirty="0"/>
              <a:t> / </a:t>
            </a:r>
            <a:r>
              <a:rPr lang="fr-FR" sz="1200" dirty="0" err="1"/>
              <a:t>b.surf_reelle_bati</a:t>
            </a:r>
            <a:r>
              <a:rPr lang="fr-FR" sz="1200" dirty="0"/>
              <a:t>), 2) AS prix_m2_moyen_maison_idf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FROM mutation AS m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JOIN bien AS b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ON </a:t>
            </a:r>
            <a:r>
              <a:rPr lang="fr-FR" sz="1200" dirty="0" err="1"/>
              <a:t>m.id_mutation</a:t>
            </a:r>
            <a:r>
              <a:rPr lang="fr-FR" sz="1200" dirty="0"/>
              <a:t> = </a:t>
            </a:r>
            <a:r>
              <a:rPr lang="fr-FR" sz="1200" dirty="0" err="1"/>
              <a:t>b.id_mutation</a:t>
            </a:r>
            <a:endParaRPr lang="fr-FR" sz="1200" dirty="0"/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JOIN commune AS c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ON </a:t>
            </a:r>
            <a:r>
              <a:rPr lang="fr-FR" sz="1200" dirty="0" err="1"/>
              <a:t>b.code_com</a:t>
            </a:r>
            <a:r>
              <a:rPr lang="fr-FR" sz="1200" dirty="0"/>
              <a:t> = </a:t>
            </a:r>
            <a:r>
              <a:rPr lang="fr-FR" sz="1200" dirty="0" err="1"/>
              <a:t>c.code_com</a:t>
            </a:r>
            <a:endParaRPr lang="fr-FR" sz="1200" dirty="0"/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JOIN </a:t>
            </a:r>
            <a:r>
              <a:rPr lang="fr-FR" sz="1200" dirty="0" err="1"/>
              <a:t>departement</a:t>
            </a:r>
            <a:r>
              <a:rPr lang="fr-FR" sz="1200" dirty="0"/>
              <a:t> AS d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ON </a:t>
            </a:r>
            <a:r>
              <a:rPr lang="fr-FR" sz="1200" dirty="0" err="1"/>
              <a:t>c.code_dep</a:t>
            </a:r>
            <a:r>
              <a:rPr lang="fr-FR" sz="1200" dirty="0"/>
              <a:t> = </a:t>
            </a:r>
            <a:r>
              <a:rPr lang="fr-FR" sz="1200" dirty="0" err="1"/>
              <a:t>d.code_dep</a:t>
            </a:r>
            <a:endParaRPr lang="fr-FR" sz="1200" dirty="0"/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JOIN </a:t>
            </a:r>
            <a:r>
              <a:rPr lang="fr-FR" sz="1200" dirty="0" err="1"/>
              <a:t>region</a:t>
            </a:r>
            <a:r>
              <a:rPr lang="fr-FR" sz="1200" dirty="0"/>
              <a:t> AS r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ON </a:t>
            </a:r>
            <a:r>
              <a:rPr lang="fr-FR" sz="1200" dirty="0" err="1"/>
              <a:t>d.code_reg</a:t>
            </a:r>
            <a:r>
              <a:rPr lang="fr-FR" sz="1200" dirty="0"/>
              <a:t> = </a:t>
            </a:r>
            <a:r>
              <a:rPr lang="fr-FR" sz="1200" dirty="0" err="1"/>
              <a:t>r.code_reg</a:t>
            </a:r>
            <a:endParaRPr lang="fr-FR" sz="1200" dirty="0"/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WHERE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</a:t>
            </a:r>
            <a:r>
              <a:rPr lang="fr-FR" sz="1200" dirty="0" err="1"/>
              <a:t>b.code_type_local</a:t>
            </a:r>
            <a:r>
              <a:rPr lang="fr-FR" sz="1200" dirty="0"/>
              <a:t> = 1 AND </a:t>
            </a:r>
            <a:r>
              <a:rPr lang="fr-FR" sz="1200" dirty="0" err="1"/>
              <a:t>r.code_reg</a:t>
            </a:r>
            <a:r>
              <a:rPr lang="fr-FR" sz="1200" dirty="0"/>
              <a:t> = 11 AND </a:t>
            </a:r>
            <a:r>
              <a:rPr lang="fr-FR" sz="1200" dirty="0" err="1"/>
              <a:t>b.surf_reelle_bati</a:t>
            </a:r>
            <a:r>
              <a:rPr lang="fr-FR" sz="1200" dirty="0"/>
              <a:t> &gt; 0 AND </a:t>
            </a:r>
            <a:r>
              <a:rPr lang="fr-FR" sz="1200" dirty="0" err="1"/>
              <a:t>m.valeur_fonciere</a:t>
            </a:r>
            <a:r>
              <a:rPr lang="fr-FR" sz="1200" dirty="0"/>
              <a:t> &gt; 0;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F654714-4FE7-86A5-B984-4D731AD31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164" y="2762876"/>
            <a:ext cx="1790950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23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4F8BBCE-D075-B1C7-FDDE-26085A1B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6E5A880C-947E-C51A-AD5E-E5CB70DC89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6- Liste des 10 appartements les plus chers avec la région et le nombre de mètres carrés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79DAA2BB-664F-A30B-44DC-1EE801389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B9E6675-E1AD-75EE-F048-10BCAC55D7E1}"/>
              </a:ext>
            </a:extLst>
          </p:cNvPr>
          <p:cNvSpPr txBox="1"/>
          <p:nvPr/>
        </p:nvSpPr>
        <p:spPr>
          <a:xfrm>
            <a:off x="389008" y="1184345"/>
            <a:ext cx="830762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dirty="0"/>
              <a:t>WITH </a:t>
            </a:r>
            <a:r>
              <a:rPr lang="fr-FR" sz="800" dirty="0" err="1"/>
              <a:t>AppartementsClassees</a:t>
            </a:r>
            <a:r>
              <a:rPr lang="fr-FR" sz="800" dirty="0"/>
              <a:t> AS (</a:t>
            </a:r>
          </a:p>
          <a:p>
            <a:r>
              <a:rPr lang="fr-FR" sz="800" dirty="0"/>
              <a:t>  SELECT</a:t>
            </a:r>
          </a:p>
          <a:p>
            <a:r>
              <a:rPr lang="fr-FR" sz="800" dirty="0"/>
              <a:t>    </a:t>
            </a:r>
            <a:r>
              <a:rPr lang="fr-FR" sz="800" dirty="0" err="1"/>
              <a:t>b.id_bien</a:t>
            </a:r>
            <a:r>
              <a:rPr lang="fr-FR" sz="800" dirty="0"/>
              <a:t>,</a:t>
            </a:r>
          </a:p>
          <a:p>
            <a:r>
              <a:rPr lang="fr-FR" sz="800" dirty="0"/>
              <a:t>    </a:t>
            </a:r>
            <a:r>
              <a:rPr lang="fr-FR" sz="800" dirty="0" err="1"/>
              <a:t>r.nom_reg</a:t>
            </a:r>
            <a:r>
              <a:rPr lang="fr-FR" sz="800" dirty="0"/>
              <a:t>,</a:t>
            </a:r>
          </a:p>
          <a:p>
            <a:r>
              <a:rPr lang="fr-FR" sz="800" dirty="0"/>
              <a:t>    </a:t>
            </a:r>
            <a:r>
              <a:rPr lang="fr-FR" sz="800" dirty="0" err="1"/>
              <a:t>m.valeur_fonciere</a:t>
            </a:r>
            <a:r>
              <a:rPr lang="fr-FR" sz="800" dirty="0"/>
              <a:t>,</a:t>
            </a:r>
          </a:p>
          <a:p>
            <a:r>
              <a:rPr lang="fr-FR" sz="800" dirty="0"/>
              <a:t>    </a:t>
            </a:r>
            <a:r>
              <a:rPr lang="fr-FR" sz="800" dirty="0" err="1"/>
              <a:t>b.surf_reelle_bati</a:t>
            </a:r>
            <a:r>
              <a:rPr lang="fr-FR" sz="800" dirty="0"/>
              <a:t>,</a:t>
            </a:r>
          </a:p>
          <a:p>
            <a:r>
              <a:rPr lang="fr-FR" sz="800" dirty="0"/>
              <a:t>    ROW_NUMBER() OVER (PARTITION BY </a:t>
            </a:r>
            <a:r>
              <a:rPr lang="fr-FR" sz="800" dirty="0" err="1"/>
              <a:t>r.nom_reg</a:t>
            </a:r>
            <a:r>
              <a:rPr lang="fr-FR" sz="800" dirty="0"/>
              <a:t> ORDER BY </a:t>
            </a:r>
            <a:r>
              <a:rPr lang="fr-FR" sz="800" dirty="0" err="1"/>
              <a:t>m.valeur_fonciere</a:t>
            </a:r>
            <a:r>
              <a:rPr lang="fr-FR" sz="800" dirty="0"/>
              <a:t> DESC) AS rang</a:t>
            </a:r>
          </a:p>
          <a:p>
            <a:r>
              <a:rPr lang="fr-FR" sz="800" dirty="0"/>
              <a:t>  FROM bien AS b</a:t>
            </a:r>
          </a:p>
          <a:p>
            <a:r>
              <a:rPr lang="fr-FR" sz="800" dirty="0"/>
              <a:t>  JOIN mutation AS m</a:t>
            </a:r>
          </a:p>
          <a:p>
            <a:r>
              <a:rPr lang="fr-FR" sz="800" dirty="0"/>
              <a:t>    ON </a:t>
            </a:r>
            <a:r>
              <a:rPr lang="fr-FR" sz="800" dirty="0" err="1"/>
              <a:t>b.id_mutation</a:t>
            </a:r>
            <a:r>
              <a:rPr lang="fr-FR" sz="800" dirty="0"/>
              <a:t> = </a:t>
            </a:r>
            <a:r>
              <a:rPr lang="fr-FR" sz="800" dirty="0" err="1"/>
              <a:t>m.id_mutation</a:t>
            </a:r>
            <a:endParaRPr lang="fr-FR" sz="800" dirty="0"/>
          </a:p>
          <a:p>
            <a:r>
              <a:rPr lang="fr-FR" sz="800" dirty="0"/>
              <a:t>  JOIN commune AS c</a:t>
            </a:r>
          </a:p>
          <a:p>
            <a:r>
              <a:rPr lang="fr-FR" sz="800" dirty="0"/>
              <a:t>    ON </a:t>
            </a:r>
            <a:r>
              <a:rPr lang="fr-FR" sz="800" dirty="0" err="1"/>
              <a:t>b.code_com</a:t>
            </a:r>
            <a:r>
              <a:rPr lang="fr-FR" sz="800" dirty="0"/>
              <a:t> = </a:t>
            </a:r>
            <a:r>
              <a:rPr lang="fr-FR" sz="800" dirty="0" err="1"/>
              <a:t>c.code_com</a:t>
            </a:r>
            <a:endParaRPr lang="fr-FR" sz="800" dirty="0"/>
          </a:p>
          <a:p>
            <a:r>
              <a:rPr lang="fr-FR" sz="800" dirty="0"/>
              <a:t>  JOIN </a:t>
            </a:r>
            <a:r>
              <a:rPr lang="fr-FR" sz="800" dirty="0" err="1"/>
              <a:t>departement</a:t>
            </a:r>
            <a:r>
              <a:rPr lang="fr-FR" sz="800" dirty="0"/>
              <a:t> AS d</a:t>
            </a:r>
          </a:p>
          <a:p>
            <a:r>
              <a:rPr lang="fr-FR" sz="800" dirty="0"/>
              <a:t>    ON </a:t>
            </a:r>
            <a:r>
              <a:rPr lang="fr-FR" sz="800" dirty="0" err="1"/>
              <a:t>c.code_dep</a:t>
            </a:r>
            <a:r>
              <a:rPr lang="fr-FR" sz="800" dirty="0"/>
              <a:t> = </a:t>
            </a:r>
            <a:r>
              <a:rPr lang="fr-FR" sz="800" dirty="0" err="1"/>
              <a:t>d.code_dep</a:t>
            </a:r>
            <a:endParaRPr lang="fr-FR" sz="800" dirty="0"/>
          </a:p>
          <a:p>
            <a:r>
              <a:rPr lang="fr-FR" sz="800" dirty="0"/>
              <a:t>  JOIN </a:t>
            </a:r>
            <a:r>
              <a:rPr lang="fr-FR" sz="800" dirty="0" err="1"/>
              <a:t>region</a:t>
            </a:r>
            <a:r>
              <a:rPr lang="fr-FR" sz="800" dirty="0"/>
              <a:t> AS r</a:t>
            </a:r>
          </a:p>
          <a:p>
            <a:r>
              <a:rPr lang="fr-FR" sz="800" dirty="0"/>
              <a:t>    ON </a:t>
            </a:r>
            <a:r>
              <a:rPr lang="fr-FR" sz="800" dirty="0" err="1"/>
              <a:t>d.code_reg</a:t>
            </a:r>
            <a:r>
              <a:rPr lang="fr-FR" sz="800" dirty="0"/>
              <a:t> = </a:t>
            </a:r>
            <a:r>
              <a:rPr lang="fr-FR" sz="800" dirty="0" err="1"/>
              <a:t>r.code_reg</a:t>
            </a:r>
            <a:endParaRPr lang="fr-FR" sz="800" dirty="0"/>
          </a:p>
          <a:p>
            <a:r>
              <a:rPr lang="fr-FR" sz="800" dirty="0"/>
              <a:t>  WHERE</a:t>
            </a:r>
          </a:p>
          <a:p>
            <a:r>
              <a:rPr lang="fr-FR" sz="800" dirty="0"/>
              <a:t>    </a:t>
            </a:r>
            <a:r>
              <a:rPr lang="fr-FR" sz="800" dirty="0" err="1"/>
              <a:t>b.code_type_local</a:t>
            </a:r>
            <a:r>
              <a:rPr lang="fr-FR" sz="800" dirty="0"/>
              <a:t> = 2 AND </a:t>
            </a:r>
            <a:r>
              <a:rPr lang="fr-FR" sz="800" dirty="0" err="1"/>
              <a:t>m.valeur_fonciere</a:t>
            </a:r>
            <a:r>
              <a:rPr lang="fr-FR" sz="800" dirty="0"/>
              <a:t> &gt; 0 AND </a:t>
            </a:r>
            <a:r>
              <a:rPr lang="fr-FR" sz="800" dirty="0" err="1"/>
              <a:t>b.surf_reelle_bati</a:t>
            </a:r>
            <a:r>
              <a:rPr lang="fr-FR" sz="800" dirty="0"/>
              <a:t> &gt; 0</a:t>
            </a:r>
          </a:p>
          <a:p>
            <a:r>
              <a:rPr lang="fr-FR" sz="800" dirty="0"/>
              <a:t>)</a:t>
            </a:r>
          </a:p>
          <a:p>
            <a:r>
              <a:rPr lang="fr-FR" sz="800" dirty="0"/>
              <a:t>SELECT</a:t>
            </a:r>
          </a:p>
          <a:p>
            <a:r>
              <a:rPr lang="fr-FR" sz="800" dirty="0"/>
              <a:t>  </a:t>
            </a:r>
            <a:r>
              <a:rPr lang="fr-FR" sz="800" dirty="0" err="1"/>
              <a:t>id_bien</a:t>
            </a:r>
            <a:r>
              <a:rPr lang="fr-FR" sz="800" dirty="0"/>
              <a:t>,</a:t>
            </a:r>
          </a:p>
          <a:p>
            <a:r>
              <a:rPr lang="fr-FR" sz="800" dirty="0"/>
              <a:t>  </a:t>
            </a:r>
            <a:r>
              <a:rPr lang="fr-FR" sz="800" dirty="0" err="1"/>
              <a:t>nom_reg</a:t>
            </a:r>
            <a:r>
              <a:rPr lang="fr-FR" sz="800" dirty="0"/>
              <a:t>,</a:t>
            </a:r>
          </a:p>
          <a:p>
            <a:r>
              <a:rPr lang="fr-FR" sz="800" dirty="0"/>
              <a:t>  </a:t>
            </a:r>
            <a:r>
              <a:rPr lang="fr-FR" sz="800" dirty="0" err="1"/>
              <a:t>surf_reelle_bati</a:t>
            </a:r>
            <a:endParaRPr lang="fr-FR" sz="800" dirty="0"/>
          </a:p>
          <a:p>
            <a:r>
              <a:rPr lang="fr-FR" sz="800" dirty="0"/>
              <a:t>FROM </a:t>
            </a:r>
            <a:r>
              <a:rPr lang="fr-FR" sz="800" dirty="0" err="1"/>
              <a:t>AppartementsClassees</a:t>
            </a:r>
            <a:endParaRPr lang="fr-FR" sz="800" dirty="0"/>
          </a:p>
          <a:p>
            <a:r>
              <a:rPr lang="fr-FR" sz="800" dirty="0"/>
              <a:t>WHERE</a:t>
            </a:r>
          </a:p>
          <a:p>
            <a:r>
              <a:rPr lang="fr-FR" sz="800" dirty="0"/>
              <a:t>  rang = 1</a:t>
            </a:r>
          </a:p>
          <a:p>
            <a:r>
              <a:rPr lang="fr-FR" sz="800" dirty="0"/>
              <a:t>ORDER BY</a:t>
            </a:r>
          </a:p>
          <a:p>
            <a:r>
              <a:rPr lang="fr-FR" sz="800" dirty="0"/>
              <a:t>  </a:t>
            </a:r>
            <a:r>
              <a:rPr lang="fr-FR" sz="800" dirty="0" err="1"/>
              <a:t>valeur_fonciere</a:t>
            </a:r>
            <a:r>
              <a:rPr lang="fr-FR" sz="800" dirty="0"/>
              <a:t> DESC</a:t>
            </a:r>
          </a:p>
          <a:p>
            <a:r>
              <a:rPr lang="fr-FR" sz="800" dirty="0"/>
              <a:t>LIMIT 10;</a:t>
            </a:r>
            <a:endParaRPr lang="fr-FR" sz="800" dirty="0">
              <a:effectLst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6DAF020-B157-8BE1-5D84-C4AC47C0B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566" y="1901034"/>
            <a:ext cx="3229426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57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3F36605-0045-E255-E561-315E179A1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004F2FA3-FDEE-F06A-8CC5-5C4498C52E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7– Taux d’évolution du nombre de ventes entre le premier et le second trimestre de 2020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D38897E9-4198-EFAB-CB36-AC2EEB64BD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1A45C60-9D6E-A188-0600-8E571BA9C809}"/>
              </a:ext>
            </a:extLst>
          </p:cNvPr>
          <p:cNvSpPr txBox="1"/>
          <p:nvPr/>
        </p:nvSpPr>
        <p:spPr>
          <a:xfrm>
            <a:off x="103239" y="1903183"/>
            <a:ext cx="8962644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WITH </a:t>
            </a:r>
            <a:r>
              <a:rPr lang="en-US" sz="1100" dirty="0" err="1"/>
              <a:t>VentesTrimestrielles</a:t>
            </a:r>
            <a:r>
              <a:rPr lang="en-US" sz="1100" dirty="0"/>
              <a:t> AS (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  SELECT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    COUNT(CASE WHEN </a:t>
            </a:r>
            <a:r>
              <a:rPr lang="en-US" sz="1100" dirty="0" err="1"/>
              <a:t>m.date_mutation</a:t>
            </a:r>
            <a:r>
              <a:rPr lang="en-US" sz="1100" dirty="0"/>
              <a:t> BETWEEN '2020/01/01' AND '2020/03/31' THEN </a:t>
            </a:r>
            <a:r>
              <a:rPr lang="en-US" sz="1100" dirty="0" err="1"/>
              <a:t>m.id_mutation</a:t>
            </a:r>
            <a:r>
              <a:rPr lang="en-US" sz="1100" dirty="0"/>
              <a:t> ELSE NULL END) AS ventes_T1,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    COUNT(CASE WHEN </a:t>
            </a:r>
            <a:r>
              <a:rPr lang="en-US" sz="1100" dirty="0" err="1"/>
              <a:t>m.date_mutation</a:t>
            </a:r>
            <a:r>
              <a:rPr lang="en-US" sz="1100" dirty="0"/>
              <a:t> BETWEEN '2020/04/01' AND '2020/06/30' THEN </a:t>
            </a:r>
            <a:r>
              <a:rPr lang="en-US" sz="1100" dirty="0" err="1"/>
              <a:t>m.id_mutation</a:t>
            </a:r>
            <a:r>
              <a:rPr lang="en-US" sz="1100" dirty="0"/>
              <a:t> ELSE NULL END) AS ventes_T2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  FROM mutation AS m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)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SELECT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  ventes_T1,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  ventes_T2,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  ROUND(CAST((ventes_T2 - ventes_T1) AS REAL) * 100 / ventes_T1, 2) AS </a:t>
            </a:r>
            <a:r>
              <a:rPr lang="en-US" sz="1100" dirty="0" err="1"/>
              <a:t>taux_evolution_pourcentage</a:t>
            </a:r>
            <a:endParaRPr lang="en-US" sz="1100" dirty="0"/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FROM </a:t>
            </a:r>
            <a:r>
              <a:rPr lang="en-US" sz="1100" dirty="0" err="1"/>
              <a:t>VentesTrimestrielles</a:t>
            </a:r>
            <a:r>
              <a:rPr lang="en-US" sz="1100" dirty="0"/>
              <a:t>;</a:t>
            </a:r>
            <a:endParaRPr lang="en-US" sz="1100" dirty="0">
              <a:effectLst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32C7D3A-0C43-9EAE-BA88-C2C1655D9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772" y="4047625"/>
            <a:ext cx="3115110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56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97098C25-46E6-1BFE-C0FE-9A5DFF8D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9AAA628C-D938-E3EB-94B0-2CC5F4E7FB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8- Le classement des régions par rapport au prix au mètre carré des appartement de plus de 4 pièces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090E2321-3246-B6CC-FE4C-8C2BDD095A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EFBCD7-754A-483F-3C05-E5A329C3F277}"/>
              </a:ext>
            </a:extLst>
          </p:cNvPr>
          <p:cNvSpPr txBox="1"/>
          <p:nvPr/>
        </p:nvSpPr>
        <p:spPr>
          <a:xfrm>
            <a:off x="389008" y="1118533"/>
            <a:ext cx="640016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SELECT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</a:t>
            </a:r>
            <a:r>
              <a:rPr lang="fr-FR" sz="1200" dirty="0" err="1"/>
              <a:t>r.nom_reg</a:t>
            </a:r>
            <a:r>
              <a:rPr lang="fr-FR" sz="1200" dirty="0"/>
              <a:t>,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ROUND(AVG(</a:t>
            </a:r>
            <a:r>
              <a:rPr lang="fr-FR" sz="1200" dirty="0" err="1"/>
              <a:t>m.valeur_fonciere</a:t>
            </a:r>
            <a:r>
              <a:rPr lang="fr-FR" sz="1200" dirty="0"/>
              <a:t> / </a:t>
            </a:r>
            <a:r>
              <a:rPr lang="fr-FR" sz="1200" dirty="0" err="1"/>
              <a:t>b.surf_reelle_bati</a:t>
            </a:r>
            <a:r>
              <a:rPr lang="fr-FR" sz="1200" dirty="0"/>
              <a:t>), 2) AS prix_m2_moyen_appartement_4_pieces_et_plus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FROM bien AS b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JOIN mutation AS m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ON </a:t>
            </a:r>
            <a:r>
              <a:rPr lang="fr-FR" sz="1200" dirty="0" err="1"/>
              <a:t>b.id_mutation</a:t>
            </a:r>
            <a:r>
              <a:rPr lang="fr-FR" sz="1200" dirty="0"/>
              <a:t> = </a:t>
            </a:r>
            <a:r>
              <a:rPr lang="fr-FR" sz="1200" dirty="0" err="1"/>
              <a:t>m.id_mutation</a:t>
            </a:r>
            <a:endParaRPr lang="fr-FR" sz="1200" dirty="0"/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JOIN commune AS c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ON </a:t>
            </a:r>
            <a:r>
              <a:rPr lang="fr-FR" sz="1200" dirty="0" err="1"/>
              <a:t>b.code_com</a:t>
            </a:r>
            <a:r>
              <a:rPr lang="fr-FR" sz="1200" dirty="0"/>
              <a:t> = </a:t>
            </a:r>
            <a:r>
              <a:rPr lang="fr-FR" sz="1200" dirty="0" err="1"/>
              <a:t>c.code_com</a:t>
            </a:r>
            <a:endParaRPr lang="fr-FR" sz="1200" dirty="0"/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JOIN </a:t>
            </a:r>
            <a:r>
              <a:rPr lang="fr-FR" sz="1200" dirty="0" err="1"/>
              <a:t>departement</a:t>
            </a:r>
            <a:r>
              <a:rPr lang="fr-FR" sz="1200" dirty="0"/>
              <a:t> AS d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ON </a:t>
            </a:r>
            <a:r>
              <a:rPr lang="fr-FR" sz="1200" dirty="0" err="1"/>
              <a:t>c.code_dep</a:t>
            </a:r>
            <a:r>
              <a:rPr lang="fr-FR" sz="1200" dirty="0"/>
              <a:t> = </a:t>
            </a:r>
            <a:r>
              <a:rPr lang="fr-FR" sz="1200" dirty="0" err="1"/>
              <a:t>d.code_dep</a:t>
            </a:r>
            <a:endParaRPr lang="fr-FR" sz="1200" dirty="0"/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JOIN </a:t>
            </a:r>
            <a:r>
              <a:rPr lang="fr-FR" sz="1200" dirty="0" err="1"/>
              <a:t>region</a:t>
            </a:r>
            <a:r>
              <a:rPr lang="fr-FR" sz="1200" dirty="0"/>
              <a:t> AS r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ON </a:t>
            </a:r>
            <a:r>
              <a:rPr lang="fr-FR" sz="1200" dirty="0" err="1"/>
              <a:t>d.code_reg</a:t>
            </a:r>
            <a:r>
              <a:rPr lang="fr-FR" sz="1200" dirty="0"/>
              <a:t> = </a:t>
            </a:r>
            <a:r>
              <a:rPr lang="fr-FR" sz="1200" dirty="0" err="1"/>
              <a:t>r.code_reg</a:t>
            </a:r>
            <a:endParaRPr lang="fr-FR" sz="1200" dirty="0"/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WHERE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</a:t>
            </a:r>
            <a:r>
              <a:rPr lang="fr-FR" sz="1200" dirty="0" err="1"/>
              <a:t>b.code_type_local</a:t>
            </a:r>
            <a:r>
              <a:rPr lang="fr-FR" sz="1200" dirty="0"/>
              <a:t> = 2 AND </a:t>
            </a:r>
            <a:r>
              <a:rPr lang="fr-FR" sz="1200" dirty="0" err="1"/>
              <a:t>b.nombre_pieces_principales</a:t>
            </a:r>
            <a:r>
              <a:rPr lang="fr-FR" sz="1200" dirty="0"/>
              <a:t> &gt;= 4 AND </a:t>
            </a:r>
            <a:r>
              <a:rPr lang="fr-FR" sz="1200" dirty="0" err="1"/>
              <a:t>b.surf_reelle_bati</a:t>
            </a:r>
            <a:r>
              <a:rPr lang="fr-FR" sz="1200" dirty="0"/>
              <a:t> &gt; 0  AND </a:t>
            </a:r>
            <a:r>
              <a:rPr lang="fr-FR" sz="1200" dirty="0" err="1"/>
              <a:t>m.valeur_fonciere</a:t>
            </a:r>
            <a:r>
              <a:rPr lang="fr-FR" sz="1200" dirty="0"/>
              <a:t> &gt; 0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GROUP BY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</a:t>
            </a:r>
            <a:r>
              <a:rPr lang="fr-FR" sz="1200" dirty="0" err="1"/>
              <a:t>r.nom_reg</a:t>
            </a:r>
            <a:endParaRPr lang="fr-FR" sz="1200" dirty="0"/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ORDER BY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/>
              <a:t>  prix_m2_moyen_appartement_4_pieces_et_plus DESC;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B7FA35F-87D5-8456-679D-B3B68844C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147" y="1530025"/>
            <a:ext cx="2725845" cy="208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58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B6CB7D9-34FA-7EC3-FA61-A89A78F2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66B12A64-F2D8-EFAF-E14F-BAFEF71F1C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450192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r>
              <a:rPr lang="fr-FR" b="0" dirty="0"/>
              <a:t>9- Liste des communes ayant eu au moins 50 ventes au 1er trimestre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F1EB303D-2307-FBFD-B4D7-35B388487E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49628C3-A225-23E3-296A-69112549DC45}"/>
              </a:ext>
            </a:extLst>
          </p:cNvPr>
          <p:cNvSpPr txBox="1"/>
          <p:nvPr/>
        </p:nvSpPr>
        <p:spPr>
          <a:xfrm>
            <a:off x="389008" y="1369011"/>
            <a:ext cx="45767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SELECT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  </a:t>
            </a:r>
            <a:r>
              <a:rPr lang="fr-FR" sz="1200" dirty="0" err="1"/>
              <a:t>c.nom_com</a:t>
            </a:r>
            <a:r>
              <a:rPr lang="fr-FR" sz="1200" dirty="0"/>
              <a:t>,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  COUNT(</a:t>
            </a:r>
            <a:r>
              <a:rPr lang="fr-FR" sz="1200" dirty="0" err="1"/>
              <a:t>b.id_bien</a:t>
            </a:r>
            <a:r>
              <a:rPr lang="fr-FR" sz="1200" dirty="0"/>
              <a:t>) AS </a:t>
            </a:r>
            <a:r>
              <a:rPr lang="fr-FR" sz="1200" dirty="0" err="1"/>
              <a:t>nombre_ventes</a:t>
            </a:r>
            <a:endParaRPr lang="fr-FR" sz="1200" dirty="0"/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FROM bien AS b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JOIN mutation AS m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  ON </a:t>
            </a:r>
            <a:r>
              <a:rPr lang="fr-FR" sz="1200" dirty="0" err="1"/>
              <a:t>b.id_mutation</a:t>
            </a:r>
            <a:r>
              <a:rPr lang="fr-FR" sz="1200" dirty="0"/>
              <a:t> = </a:t>
            </a:r>
            <a:r>
              <a:rPr lang="fr-FR" sz="1200" dirty="0" err="1"/>
              <a:t>m.id_mutation</a:t>
            </a:r>
            <a:endParaRPr lang="fr-FR" sz="1200" dirty="0"/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JOIN commune AS c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  ON </a:t>
            </a:r>
            <a:r>
              <a:rPr lang="fr-FR" sz="1200" dirty="0" err="1"/>
              <a:t>b.code_com</a:t>
            </a:r>
            <a:r>
              <a:rPr lang="fr-FR" sz="1200" dirty="0"/>
              <a:t> = </a:t>
            </a:r>
            <a:r>
              <a:rPr lang="fr-FR" sz="1200" dirty="0" err="1"/>
              <a:t>c.code_com</a:t>
            </a:r>
            <a:endParaRPr lang="fr-FR" sz="1200" dirty="0"/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WHERE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  </a:t>
            </a:r>
            <a:r>
              <a:rPr lang="fr-FR" sz="1200" dirty="0" err="1"/>
              <a:t>m.date_mutation</a:t>
            </a:r>
            <a:r>
              <a:rPr lang="fr-FR" sz="1200" dirty="0"/>
              <a:t> BETWEEN '2020/01/01' AND '2020/03/31'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GROUP BY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  </a:t>
            </a:r>
            <a:r>
              <a:rPr lang="fr-FR" sz="1200" dirty="0" err="1"/>
              <a:t>c.nom_com</a:t>
            </a:r>
            <a:endParaRPr lang="fr-FR" sz="1200" dirty="0"/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HAVING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  COUNT(</a:t>
            </a:r>
            <a:r>
              <a:rPr lang="fr-FR" sz="1200" dirty="0" err="1"/>
              <a:t>b.id_bien</a:t>
            </a:r>
            <a:r>
              <a:rPr lang="fr-FR" sz="1200" dirty="0"/>
              <a:t>) &gt;= 50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ORDER BY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/>
              <a:t>  </a:t>
            </a:r>
            <a:r>
              <a:rPr lang="fr-FR" sz="1200" dirty="0" err="1"/>
              <a:t>nombre_ventes</a:t>
            </a:r>
            <a:r>
              <a:rPr lang="fr-FR" sz="1200" dirty="0"/>
              <a:t> DESC;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FEF8EFE-6265-E8F7-30CA-279D5C9A6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775" y="1446564"/>
            <a:ext cx="1475898" cy="296943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CD9D051-5073-9B32-5616-6CCAC260C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431" y="1446564"/>
            <a:ext cx="1405382" cy="296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06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3CEDEA1C-D130-BF95-438E-5D4BE4B3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323C0A08-7880-DE6B-EAA9-7AA886FECA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602592" cy="662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lvl="0"/>
            <a:r>
              <a:rPr lang="fr-FR" sz="2400" b="0" dirty="0"/>
              <a:t>10- Différence en pourcentage du prix au mètre carré entre un appartement de 2 pièces et un appartement de 3 pièces.</a:t>
            </a:r>
            <a:endParaRPr sz="2400"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0656EC75-CA92-D9F8-D5B6-84EB8254AC9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3CD45FC3-83CA-00EB-2D25-EEE1CF0257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4613C25-7EC3-5943-6388-2A46CEBB4266}"/>
              </a:ext>
            </a:extLst>
          </p:cNvPr>
          <p:cNvSpPr txBox="1"/>
          <p:nvPr/>
        </p:nvSpPr>
        <p:spPr>
          <a:xfrm>
            <a:off x="138881" y="1269712"/>
            <a:ext cx="88662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/>
              <a:t>SELECT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/>
              <a:t>  ROUND(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/>
              <a:t>    (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/>
              <a:t>      AVG(CASE WHEN </a:t>
            </a:r>
            <a:r>
              <a:rPr lang="fr-FR" sz="1200" dirty="0" err="1"/>
              <a:t>b.nombre_pieces_principales</a:t>
            </a:r>
            <a:r>
              <a:rPr lang="fr-FR" sz="1200" dirty="0"/>
              <a:t> = 3 THEN </a:t>
            </a:r>
            <a:r>
              <a:rPr lang="fr-FR" sz="1200" dirty="0" err="1"/>
              <a:t>m.valeur_fonciere</a:t>
            </a:r>
            <a:r>
              <a:rPr lang="fr-FR" sz="1200" dirty="0"/>
              <a:t> / </a:t>
            </a:r>
            <a:r>
              <a:rPr lang="fr-FR" sz="1200" dirty="0" err="1"/>
              <a:t>b.surf_reelle_bati</a:t>
            </a:r>
            <a:r>
              <a:rPr lang="fr-FR" sz="1200" dirty="0"/>
              <a:t> ELSE NULL END) -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/>
              <a:t>      AVG(CASE WHEN </a:t>
            </a:r>
            <a:r>
              <a:rPr lang="fr-FR" sz="1200" dirty="0" err="1"/>
              <a:t>b.nombre_pieces_principales</a:t>
            </a:r>
            <a:r>
              <a:rPr lang="fr-FR" sz="1200" dirty="0"/>
              <a:t> = 2 THEN </a:t>
            </a:r>
            <a:r>
              <a:rPr lang="fr-FR" sz="1200" dirty="0" err="1"/>
              <a:t>m.valeur_fonciere</a:t>
            </a:r>
            <a:r>
              <a:rPr lang="fr-FR" sz="1200" dirty="0"/>
              <a:t> / </a:t>
            </a:r>
            <a:r>
              <a:rPr lang="fr-FR" sz="1200" dirty="0" err="1"/>
              <a:t>b.surf_reelle_bati</a:t>
            </a:r>
            <a:r>
              <a:rPr lang="fr-FR" sz="1200" dirty="0"/>
              <a:t> ELSE NULL END)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/>
              <a:t>    ) * 100 / AVG(CASE WHEN </a:t>
            </a:r>
            <a:r>
              <a:rPr lang="fr-FR" sz="1200" dirty="0" err="1"/>
              <a:t>b.nombre_pieces_principales</a:t>
            </a:r>
            <a:r>
              <a:rPr lang="fr-FR" sz="1200" dirty="0"/>
              <a:t> = 2 THEN </a:t>
            </a:r>
            <a:r>
              <a:rPr lang="fr-FR" sz="1200" dirty="0" err="1"/>
              <a:t>m.valeur_fonciere</a:t>
            </a:r>
            <a:r>
              <a:rPr lang="fr-FR" sz="1200" dirty="0"/>
              <a:t> / </a:t>
            </a:r>
            <a:r>
              <a:rPr lang="fr-FR" sz="1200" dirty="0" err="1"/>
              <a:t>b.surf_reelle_bati</a:t>
            </a:r>
            <a:r>
              <a:rPr lang="fr-FR" sz="1200" dirty="0"/>
              <a:t> ELSE NULL END),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/>
              <a:t>  2) AS </a:t>
            </a:r>
            <a:r>
              <a:rPr lang="fr-FR" sz="1200" dirty="0" err="1"/>
              <a:t>difference_pourcentage</a:t>
            </a:r>
            <a:endParaRPr lang="fr-FR" sz="1200" dirty="0"/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/>
              <a:t>FROM bien AS b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/>
              <a:t>JOIN mutation AS m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/>
              <a:t>  ON </a:t>
            </a:r>
            <a:r>
              <a:rPr lang="fr-FR" sz="1200" dirty="0" err="1"/>
              <a:t>b.id_mutation</a:t>
            </a:r>
            <a:r>
              <a:rPr lang="fr-FR" sz="1200" dirty="0"/>
              <a:t> = </a:t>
            </a:r>
            <a:r>
              <a:rPr lang="fr-FR" sz="1200" dirty="0" err="1"/>
              <a:t>m.id_mutation</a:t>
            </a:r>
            <a:endParaRPr lang="fr-FR" sz="1200" dirty="0"/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/>
              <a:t>WHERE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/>
              <a:t>  </a:t>
            </a:r>
            <a:r>
              <a:rPr lang="fr-FR" sz="1200" dirty="0" err="1"/>
              <a:t>b.code_type_local</a:t>
            </a:r>
            <a:r>
              <a:rPr lang="fr-FR" sz="1200" dirty="0"/>
              <a:t> = 2 AND </a:t>
            </a:r>
            <a:r>
              <a:rPr lang="fr-FR" sz="1200" dirty="0" err="1"/>
              <a:t>b.nombre_pieces_principales</a:t>
            </a:r>
            <a:r>
              <a:rPr lang="fr-FR" sz="1200" dirty="0"/>
              <a:t> IN (2, 3) AND </a:t>
            </a:r>
            <a:r>
              <a:rPr lang="fr-FR" sz="1200" dirty="0" err="1"/>
              <a:t>b.surf_reelle_bati</a:t>
            </a:r>
            <a:r>
              <a:rPr lang="fr-FR" sz="1200" dirty="0"/>
              <a:t> &gt; 0 AND </a:t>
            </a:r>
            <a:r>
              <a:rPr lang="fr-FR" sz="1200" dirty="0" err="1"/>
              <a:t>m.valeur_fonciere</a:t>
            </a:r>
            <a:r>
              <a:rPr lang="fr-FR" sz="1200" dirty="0"/>
              <a:t> &gt; 0;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6B679D5-5C41-06EE-8640-F54C66B9D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765" y="3763127"/>
            <a:ext cx="1562318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93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23A77DF-D8D7-13F0-AB77-0DA84C7F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7785F58A-1446-E4C0-00D5-E2A177C602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11- Les moyennes de valeurs foncières pour le top 3 des communes des départements 6, 13, 33, 59 et 69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7E52E85D-C7A6-AD1B-A30D-8C33697133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76B4F1C-4EDC-13EB-1730-0FD19BCD6532}"/>
              </a:ext>
            </a:extLst>
          </p:cNvPr>
          <p:cNvSpPr txBox="1"/>
          <p:nvPr/>
        </p:nvSpPr>
        <p:spPr>
          <a:xfrm>
            <a:off x="389007" y="1134007"/>
            <a:ext cx="7054011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WITH </a:t>
            </a:r>
            <a:r>
              <a:rPr lang="fr-FR" sz="800" dirty="0" err="1"/>
              <a:t>CommunesClassees</a:t>
            </a:r>
            <a:r>
              <a:rPr lang="fr-FR" sz="800" dirty="0"/>
              <a:t> AS (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SELECT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  </a:t>
            </a:r>
            <a:r>
              <a:rPr lang="fr-FR" sz="800" dirty="0" err="1"/>
              <a:t>d.code_dep</a:t>
            </a:r>
            <a:r>
              <a:rPr lang="fr-FR" sz="800" dirty="0"/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  </a:t>
            </a:r>
            <a:r>
              <a:rPr lang="fr-FR" sz="800" dirty="0" err="1"/>
              <a:t>c.nom_com</a:t>
            </a:r>
            <a:r>
              <a:rPr lang="fr-FR" sz="800" dirty="0"/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  AVG(</a:t>
            </a:r>
            <a:r>
              <a:rPr lang="fr-FR" sz="800" dirty="0" err="1"/>
              <a:t>m.valeur_fonciere</a:t>
            </a:r>
            <a:r>
              <a:rPr lang="fr-FR" sz="800" dirty="0"/>
              <a:t>) AS </a:t>
            </a:r>
            <a:r>
              <a:rPr lang="fr-FR" sz="800" dirty="0" err="1"/>
              <a:t>valeur_fonciere_moyenne</a:t>
            </a:r>
            <a:r>
              <a:rPr lang="fr-FR" sz="800" dirty="0"/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  ROW_NUMBER() OVER (PARTITION BY </a:t>
            </a:r>
            <a:r>
              <a:rPr lang="fr-FR" sz="800" dirty="0" err="1"/>
              <a:t>d.code_dep</a:t>
            </a:r>
            <a:r>
              <a:rPr lang="fr-FR" sz="800" dirty="0"/>
              <a:t> ORDER BY AVG(</a:t>
            </a:r>
            <a:r>
              <a:rPr lang="fr-FR" sz="800" dirty="0" err="1"/>
              <a:t>m.valeur_fonciere</a:t>
            </a:r>
            <a:r>
              <a:rPr lang="fr-FR" sz="800" dirty="0"/>
              <a:t>) DESC) AS rang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FROM mutation AS m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JOIN bien AS b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  ON </a:t>
            </a:r>
            <a:r>
              <a:rPr lang="fr-FR" sz="800" dirty="0" err="1"/>
              <a:t>m.id_mutation</a:t>
            </a:r>
            <a:r>
              <a:rPr lang="fr-FR" sz="800" dirty="0"/>
              <a:t> = </a:t>
            </a:r>
            <a:r>
              <a:rPr lang="fr-FR" sz="800" dirty="0" err="1"/>
              <a:t>b.id_mutation</a:t>
            </a:r>
            <a:endParaRPr lang="fr-FR" sz="800" dirty="0"/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JOIN commune AS c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  ON </a:t>
            </a:r>
            <a:r>
              <a:rPr lang="fr-FR" sz="800" dirty="0" err="1"/>
              <a:t>b.code_com</a:t>
            </a:r>
            <a:r>
              <a:rPr lang="fr-FR" sz="800" dirty="0"/>
              <a:t> = </a:t>
            </a:r>
            <a:r>
              <a:rPr lang="fr-FR" sz="800" dirty="0" err="1"/>
              <a:t>c.code_com</a:t>
            </a:r>
            <a:endParaRPr lang="fr-FR" sz="800" dirty="0"/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JOIN </a:t>
            </a:r>
            <a:r>
              <a:rPr lang="fr-FR" sz="800" dirty="0" err="1"/>
              <a:t>departement</a:t>
            </a:r>
            <a:r>
              <a:rPr lang="fr-FR" sz="800" dirty="0"/>
              <a:t> AS d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  ON </a:t>
            </a:r>
            <a:r>
              <a:rPr lang="fr-FR" sz="800" dirty="0" err="1"/>
              <a:t>c.code_dep</a:t>
            </a:r>
            <a:r>
              <a:rPr lang="fr-FR" sz="800" dirty="0"/>
              <a:t> = </a:t>
            </a:r>
            <a:r>
              <a:rPr lang="fr-FR" sz="800" dirty="0" err="1"/>
              <a:t>d.code_dep</a:t>
            </a:r>
            <a:endParaRPr lang="fr-FR" sz="800" dirty="0"/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WHERE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  </a:t>
            </a:r>
            <a:r>
              <a:rPr lang="fr-FR" sz="800" dirty="0" err="1"/>
              <a:t>d.code_dep</a:t>
            </a:r>
            <a:r>
              <a:rPr lang="fr-FR" sz="800" dirty="0"/>
              <a:t> IN ('6', '13', '33', '59', '69') AND </a:t>
            </a:r>
            <a:r>
              <a:rPr lang="fr-FR" sz="800" dirty="0" err="1"/>
              <a:t>m.valeur_fonciere</a:t>
            </a:r>
            <a:r>
              <a:rPr lang="fr-FR" sz="800" dirty="0"/>
              <a:t> &gt; 0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GROUP BY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  </a:t>
            </a:r>
            <a:r>
              <a:rPr lang="fr-FR" sz="800" dirty="0" err="1"/>
              <a:t>d.code_dep</a:t>
            </a:r>
            <a:r>
              <a:rPr lang="fr-FR" sz="800" dirty="0"/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  </a:t>
            </a:r>
            <a:r>
              <a:rPr lang="fr-FR" sz="800" dirty="0" err="1"/>
              <a:t>c.nom_com</a:t>
            </a:r>
            <a:endParaRPr lang="fr-FR" sz="800" dirty="0"/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)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SELECT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</a:t>
            </a:r>
            <a:r>
              <a:rPr lang="fr-FR" sz="800" dirty="0" err="1"/>
              <a:t>code_dep</a:t>
            </a:r>
            <a:r>
              <a:rPr lang="fr-FR" sz="800" dirty="0"/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</a:t>
            </a:r>
            <a:r>
              <a:rPr lang="fr-FR" sz="800" dirty="0" err="1"/>
              <a:t>nom_com</a:t>
            </a:r>
            <a:r>
              <a:rPr lang="fr-FR" sz="800" dirty="0"/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</a:t>
            </a:r>
            <a:r>
              <a:rPr lang="fr-FR" sz="800" dirty="0" err="1"/>
              <a:t>valeur_fonciere_moyenne</a:t>
            </a:r>
            <a:endParaRPr lang="fr-FR" sz="800" dirty="0"/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FROM </a:t>
            </a:r>
            <a:r>
              <a:rPr lang="fr-FR" sz="800" dirty="0" err="1"/>
              <a:t>CommunesClassees</a:t>
            </a:r>
            <a:endParaRPr lang="fr-FR" sz="800" dirty="0"/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WHERE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rang &lt;= 3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ORDER BY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</a:t>
            </a:r>
            <a:r>
              <a:rPr lang="fr-FR" sz="800" dirty="0" err="1"/>
              <a:t>code_dep</a:t>
            </a:r>
            <a:r>
              <a:rPr lang="fr-FR" sz="800" dirty="0"/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800" dirty="0"/>
              <a:t>  </a:t>
            </a:r>
            <a:r>
              <a:rPr lang="fr-FR" sz="800" dirty="0" err="1"/>
              <a:t>valeur_fonciere_moyenne</a:t>
            </a:r>
            <a:r>
              <a:rPr lang="fr-FR" sz="800" dirty="0"/>
              <a:t> DESC;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B4090BB-BB2C-7FEE-F68B-5DA01C473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068" y="1606930"/>
            <a:ext cx="2941745" cy="271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823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55F86968-0F57-DBE7-2824-794CF77D1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38579615-77D3-EBD4-624D-6C6AB70B25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690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lvl="0"/>
            <a:r>
              <a:rPr lang="fr-FR" sz="2400" b="0" dirty="0"/>
              <a:t>12- Les 20 communes avec le plus de transactions pour 1000 habitants pour les communes qui dépassent les 10 000 habitants</a:t>
            </a:r>
            <a:endParaRPr sz="2400"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A2100428-7D2F-608A-CADF-9629947EA5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C0526EC-DB3B-1278-FADB-7D328B8B5D68}"/>
              </a:ext>
            </a:extLst>
          </p:cNvPr>
          <p:cNvSpPr txBox="1"/>
          <p:nvPr/>
        </p:nvSpPr>
        <p:spPr>
          <a:xfrm>
            <a:off x="389007" y="981432"/>
            <a:ext cx="6051121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WITH </a:t>
            </a:r>
            <a:r>
              <a:rPr lang="fr-FR" sz="1100" dirty="0" err="1"/>
              <a:t>CommunesTriees</a:t>
            </a:r>
            <a:r>
              <a:rPr lang="fr-FR" sz="1100" dirty="0"/>
              <a:t> AS (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SELECT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  </a:t>
            </a:r>
            <a:r>
              <a:rPr lang="fr-FR" sz="1100" dirty="0" err="1"/>
              <a:t>c.nom_com</a:t>
            </a:r>
            <a:r>
              <a:rPr lang="fr-FR" sz="1100" dirty="0"/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  </a:t>
            </a:r>
            <a:r>
              <a:rPr lang="fr-FR" sz="1100" dirty="0" err="1"/>
              <a:t>c.pop_total</a:t>
            </a:r>
            <a:r>
              <a:rPr lang="fr-FR" sz="1100" dirty="0"/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  COUNT(</a:t>
            </a:r>
            <a:r>
              <a:rPr lang="fr-FR" sz="1100" dirty="0" err="1"/>
              <a:t>b.id_bien</a:t>
            </a:r>
            <a:r>
              <a:rPr lang="fr-FR" sz="1100" dirty="0"/>
              <a:t>) AS </a:t>
            </a:r>
            <a:r>
              <a:rPr lang="fr-FR" sz="1100" dirty="0" err="1"/>
              <a:t>nombre_transactions</a:t>
            </a:r>
            <a:endParaRPr lang="fr-FR" sz="1100" dirty="0"/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FROM bien AS b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JOIN commune AS c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  ON </a:t>
            </a:r>
            <a:r>
              <a:rPr lang="fr-FR" sz="1100" dirty="0" err="1"/>
              <a:t>b.code_com</a:t>
            </a:r>
            <a:r>
              <a:rPr lang="fr-FR" sz="1100" dirty="0"/>
              <a:t> = </a:t>
            </a:r>
            <a:r>
              <a:rPr lang="fr-FR" sz="1100" dirty="0" err="1"/>
              <a:t>c.code_com</a:t>
            </a:r>
            <a:endParaRPr lang="fr-FR" sz="1100" dirty="0"/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GROUP BY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  </a:t>
            </a:r>
            <a:r>
              <a:rPr lang="fr-FR" sz="1100" dirty="0" err="1"/>
              <a:t>c.nom_com</a:t>
            </a:r>
            <a:r>
              <a:rPr lang="fr-FR" sz="1100" dirty="0"/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  </a:t>
            </a:r>
            <a:r>
              <a:rPr lang="fr-FR" sz="1100" dirty="0" err="1"/>
              <a:t>c.pop_total</a:t>
            </a:r>
            <a:endParaRPr lang="fr-FR" sz="1100" dirty="0"/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HAVING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  </a:t>
            </a:r>
            <a:r>
              <a:rPr lang="fr-FR" sz="1100" dirty="0" err="1"/>
              <a:t>c.pop_total</a:t>
            </a:r>
            <a:r>
              <a:rPr lang="fr-FR" sz="1100" dirty="0"/>
              <a:t> &gt;= 10000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)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SELECT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</a:t>
            </a:r>
            <a:r>
              <a:rPr lang="fr-FR" sz="1100" dirty="0" err="1"/>
              <a:t>nom_com</a:t>
            </a:r>
            <a:r>
              <a:rPr lang="fr-FR" sz="1100" dirty="0"/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</a:t>
            </a:r>
            <a:r>
              <a:rPr lang="fr-FR" sz="1100" dirty="0" err="1"/>
              <a:t>nombre_transactions</a:t>
            </a:r>
            <a:r>
              <a:rPr lang="fr-FR" sz="1100" dirty="0"/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ROUND(CAST(</a:t>
            </a:r>
            <a:r>
              <a:rPr lang="fr-FR" sz="1100" dirty="0" err="1"/>
              <a:t>nombre_transactions</a:t>
            </a:r>
            <a:r>
              <a:rPr lang="fr-FR" sz="1100" dirty="0"/>
              <a:t> AS REAL) * 1000 / </a:t>
            </a:r>
            <a:r>
              <a:rPr lang="fr-FR" sz="1100" dirty="0" err="1"/>
              <a:t>pop_total</a:t>
            </a:r>
            <a:r>
              <a:rPr lang="fr-FR" sz="1100" dirty="0"/>
              <a:t>, 2) AS transactions_pour_1000_habitants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FROM </a:t>
            </a:r>
            <a:r>
              <a:rPr lang="fr-FR" sz="1100" dirty="0" err="1"/>
              <a:t>CommunesTriees</a:t>
            </a:r>
            <a:endParaRPr lang="fr-FR" sz="1100" dirty="0"/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ORDER BY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  transactions_pour_1000_habitants DESC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/>
              <a:t>LIMIT 20;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A48401F-A529-B676-B10E-DDCE44CD6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123" y="1448883"/>
            <a:ext cx="3427870" cy="305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30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3033</Words>
  <Application>Microsoft Office PowerPoint</Application>
  <PresentationFormat>Affichage à l'écran (16:9)</PresentationFormat>
  <Paragraphs>901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Calibri</vt:lpstr>
      <vt:lpstr>Arial</vt:lpstr>
      <vt:lpstr>Arial Black</vt:lpstr>
      <vt:lpstr>Simple Light</vt:lpstr>
      <vt:lpstr>Thème Office</vt:lpstr>
      <vt:lpstr>Création et utilisation de la base de données</vt:lpstr>
      <vt:lpstr>Contexte du projet</vt:lpstr>
      <vt:lpstr>La stratégie de sauvegarde et la conformité RGPD</vt:lpstr>
      <vt:lpstr>Les données initiales</vt:lpstr>
      <vt:lpstr>L’extrait du dictionnaire des données</vt:lpstr>
      <vt:lpstr>L’extrait du dictionnaire des données</vt:lpstr>
      <vt:lpstr>L’extrait du dictionnaire des données</vt:lpstr>
      <vt:lpstr>Le schéma relationnel normalisé</vt:lpstr>
      <vt:lpstr>La base de données avec les tables créées et les données chargées</vt:lpstr>
      <vt:lpstr>Requêtes SQL et résultats</vt:lpstr>
      <vt:lpstr>1- Nombre total d’appartements vendus au 1er semestre 2020.</vt:lpstr>
      <vt:lpstr>2- Le nombre de ventes d’appartement par région pour le 1er semestre 2020</vt:lpstr>
      <vt:lpstr>3- Proportion des ventes d’appartements par le nombre de pièces</vt:lpstr>
      <vt:lpstr>4- Liste des 10 départements où le prix du mètre carré est le plus élevé</vt:lpstr>
      <vt:lpstr>5- Prix moyen du mètre carré d’une maison en Île-de-France</vt:lpstr>
      <vt:lpstr>6- Liste des 10 appartements les plus chers avec la région et le nombre de mètres carrés</vt:lpstr>
      <vt:lpstr>7– Taux d’évolution du nombre de ventes entre le premier et le second trimestre de 2020</vt:lpstr>
      <vt:lpstr>8- Le classement des régions par rapport au prix au mètre carré des appartement de plus de 4 pièces</vt:lpstr>
      <vt:lpstr>9- Liste des communes ayant eu au moins 50 ventes au 1er trimestre</vt:lpstr>
      <vt:lpstr>10- Différence en pourcentage du prix au mètre carré entre un appartement de 2 pièces et un appartement de 3 pièces.</vt:lpstr>
      <vt:lpstr>11- Les moyennes de valeurs foncières pour le top 3 des communes des départements 6, 13, 33, 59 et 69</vt:lpstr>
      <vt:lpstr>12- Les 20 communes avec le plus de transactions pour 1000 habitants pour les communes qui dépassent les 10 000 habitants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Aymeric Bailleul</dc:creator>
  <cp:lastModifiedBy>Aymeric Bailleul</cp:lastModifiedBy>
  <cp:revision>4</cp:revision>
  <dcterms:modified xsi:type="dcterms:W3CDTF">2025-09-17T15:16:52Z</dcterms:modified>
</cp:coreProperties>
</file>