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7" r:id="rId2"/>
    <p:sldId id="256" r:id="rId3"/>
    <p:sldId id="266" r:id="rId4"/>
    <p:sldId id="265" r:id="rId5"/>
    <p:sldId id="258" r:id="rId6"/>
    <p:sldId id="259" r:id="rId7"/>
    <p:sldId id="260" r:id="rId8"/>
    <p:sldId id="264" r:id="rId9"/>
    <p:sldId id="267" r:id="rId10"/>
    <p:sldId id="261" r:id="rId11"/>
    <p:sldId id="262" r:id="rId12"/>
    <p:sldId id="268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Style à thème 2 - Accentuation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Style à thème 2 - Accentuation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0718" autoAdjust="0"/>
  </p:normalViewPr>
  <p:slideViewPr>
    <p:cSldViewPr snapToGrid="0">
      <p:cViewPr varScale="1">
        <p:scale>
          <a:sx n="140" d="100"/>
          <a:sy n="140" d="100"/>
        </p:scale>
        <p:origin x="94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35E28-6121-47BC-A77B-DB5D9C99DE05}" type="datetimeFigureOut">
              <a:rPr lang="fr-FR" smtClean="0"/>
              <a:t>20/10/2025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930F0-8761-4254-87D6-65C83D59F2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1687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930F0-8761-4254-87D6-65C83D59F2D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8752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930F0-8761-4254-87D6-65C83D59F2D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9782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91100-885F-6770-B1C4-F894D9BA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6C5D2F-1BE1-C6B1-61D2-629359983D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038" y="2379590"/>
            <a:ext cx="7766936" cy="2098819"/>
          </a:xfrm>
        </p:spPr>
        <p:txBody>
          <a:bodyPr/>
          <a:lstStyle/>
          <a:p>
            <a:pPr algn="ctr"/>
            <a: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Migration des Données Médicales : </a:t>
            </a:r>
            <a:br>
              <a:rPr lang="fr-F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 la Scalabilité Big Data</a:t>
            </a:r>
            <a:endParaRPr lang="fr-FR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82967FF-15CC-BB6A-6F58-2D93434CB0F4}"/>
              </a:ext>
            </a:extLst>
          </p:cNvPr>
          <p:cNvSpPr txBox="1"/>
          <p:nvPr/>
        </p:nvSpPr>
        <p:spPr>
          <a:xfrm>
            <a:off x="0" y="-1"/>
            <a:ext cx="1611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DataSoluTech</a:t>
            </a:r>
            <a:r>
              <a:rPr lang="fr-FR" i="1" dirty="0"/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CCA53CB-1F85-BBEA-B132-2E5BF4DAF1B7}"/>
              </a:ext>
            </a:extLst>
          </p:cNvPr>
          <p:cNvSpPr txBox="1"/>
          <p:nvPr/>
        </p:nvSpPr>
        <p:spPr>
          <a:xfrm>
            <a:off x="9388027" y="6611779"/>
            <a:ext cx="2803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Présenté par : </a:t>
            </a:r>
            <a:r>
              <a:rPr lang="fr-FR" sz="1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ABAI, Stagiaire Data </a:t>
            </a:r>
            <a:r>
              <a:rPr lang="fr-FR" sz="10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Engineer</a:t>
            </a:r>
            <a:endParaRPr lang="fr-FR" sz="10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33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B66588D-3E55-492B-84B0-0A8569489230}"/>
              </a:ext>
            </a:extLst>
          </p:cNvPr>
          <p:cNvSpPr txBox="1"/>
          <p:nvPr/>
        </p:nvSpPr>
        <p:spPr>
          <a:xfrm>
            <a:off x="4796606" y="0"/>
            <a:ext cx="25987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Contexte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CCFC3D-38BA-8BEE-D1D9-EE266B88877F}"/>
              </a:ext>
            </a:extLst>
          </p:cNvPr>
          <p:cNvSpPr txBox="1"/>
          <p:nvPr/>
        </p:nvSpPr>
        <p:spPr>
          <a:xfrm>
            <a:off x="758645" y="1719558"/>
            <a:ext cx="2154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 Principal</a:t>
            </a:r>
            <a:r>
              <a:rPr lang="fr-FR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962FB6F-D2B4-0570-4AEE-452254E5696B}"/>
              </a:ext>
            </a:extLst>
          </p:cNvPr>
          <p:cNvSpPr txBox="1"/>
          <p:nvPr/>
        </p:nvSpPr>
        <p:spPr>
          <a:xfrm>
            <a:off x="758645" y="2088890"/>
            <a:ext cx="8450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Assister le client, confronté à des problèmes de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scalabilité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avec son système actuel, en proposant une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Big Data horizontalement scalable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A1F6D9C-6F82-00FF-EB30-41FCCC41C726}"/>
              </a:ext>
            </a:extLst>
          </p:cNvPr>
          <p:cNvSpPr txBox="1"/>
          <p:nvPr/>
        </p:nvSpPr>
        <p:spPr>
          <a:xfrm>
            <a:off x="758645" y="2918238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Problème Client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DB30D38-21CB-78FC-2C8D-968EEBA523EF}"/>
              </a:ext>
            </a:extLst>
          </p:cNvPr>
          <p:cNvSpPr txBox="1"/>
          <p:nvPr/>
        </p:nvSpPr>
        <p:spPr>
          <a:xfrm>
            <a:off x="758645" y="3287570"/>
            <a:ext cx="8450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Difficultés croissantes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 gérer les tâches quotidiennes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dues à l'augmentation du volume de données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médicales.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3B1424B-0402-5B33-6983-B3FFAAACA42E}"/>
              </a:ext>
            </a:extLst>
          </p:cNvPr>
          <p:cNvSpPr txBox="1"/>
          <p:nvPr/>
        </p:nvSpPr>
        <p:spPr>
          <a:xfrm>
            <a:off x="758645" y="4241677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Proposée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44329C8-F61B-EAA9-7810-27D305E9F4E0}"/>
              </a:ext>
            </a:extLst>
          </p:cNvPr>
          <p:cNvSpPr txBox="1"/>
          <p:nvPr/>
        </p:nvSpPr>
        <p:spPr>
          <a:xfrm>
            <a:off x="758645" y="4611009"/>
            <a:ext cx="84500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Migration des données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vers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une base de données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NoSQL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orientée document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idéale pour les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données non structurées ou semi-structurées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pour la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scalabilité horizontale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477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64DB6-336F-2D4E-B15D-079197B9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642FE83-C7DE-1284-8EE7-F59FACCD2F56}"/>
              </a:ext>
            </a:extLst>
          </p:cNvPr>
          <p:cNvSpPr txBox="1"/>
          <p:nvPr/>
        </p:nvSpPr>
        <p:spPr>
          <a:xfrm>
            <a:off x="3695343" y="0"/>
            <a:ext cx="48013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Choix Technique	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5AAD72A-6CD9-627B-26BE-42EBCEA614F3}"/>
              </a:ext>
            </a:extLst>
          </p:cNvPr>
          <p:cNvSpPr txBox="1"/>
          <p:nvPr/>
        </p:nvSpPr>
        <p:spPr>
          <a:xfrm>
            <a:off x="758645" y="122079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8B880B0-1B65-D62E-4320-D4A6A1A063FA}"/>
              </a:ext>
            </a:extLst>
          </p:cNvPr>
          <p:cNvSpPr txBox="1"/>
          <p:nvPr/>
        </p:nvSpPr>
        <p:spPr>
          <a:xfrm>
            <a:off x="758645" y="1590126"/>
            <a:ext cx="104358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Versionnement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Suivi des modifications, historique et capacité de retour arrière.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Collaboration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Facilite le travail d'équipe et la révision par Boris.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Documentation Centralisée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Point d'accès unique pour la documentation 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(README)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FA26D7E3-7E96-53C3-199F-2F0170E2C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044" y="1046227"/>
            <a:ext cx="966931" cy="54389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0D54E20-507A-963A-3240-47C8BD077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132" y="2777429"/>
            <a:ext cx="9800853" cy="3034344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1CD58D7-F810-A3FF-5C20-78BCB9D37846}"/>
              </a:ext>
            </a:extLst>
          </p:cNvPr>
          <p:cNvSpPr txBox="1"/>
          <p:nvPr/>
        </p:nvSpPr>
        <p:spPr>
          <a:xfrm>
            <a:off x="1018790" y="5811773"/>
            <a:ext cx="48667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u="sng" dirty="0" err="1">
                <a:solidFill>
                  <a:srgbClr val="00B0F0"/>
                </a:solidFill>
              </a:rPr>
              <a:t>Legende</a:t>
            </a:r>
            <a:r>
              <a:rPr lang="fr-FR" sz="1000" u="sng" dirty="0">
                <a:solidFill>
                  <a:srgbClr val="00B0F0"/>
                </a:solidFill>
              </a:rPr>
              <a:t> :</a:t>
            </a:r>
          </a:p>
          <a:p>
            <a:r>
              <a:rPr lang="fr-FR" sz="1000" dirty="0">
                <a:solidFill>
                  <a:srgbClr val="00B0F0"/>
                </a:solidFill>
              </a:rPr>
              <a:t>git clone : Copie de la branche </a:t>
            </a:r>
            <a:r>
              <a:rPr lang="fr-FR" sz="1000" dirty="0" err="1">
                <a:solidFill>
                  <a:srgbClr val="00B0F0"/>
                </a:solidFill>
              </a:rPr>
              <a:t>prinçipale</a:t>
            </a:r>
            <a:r>
              <a:rPr lang="fr-FR" sz="1000" dirty="0">
                <a:solidFill>
                  <a:srgbClr val="00B0F0"/>
                </a:solidFill>
              </a:rPr>
              <a:t> en local.</a:t>
            </a:r>
          </a:p>
          <a:p>
            <a:r>
              <a:rPr lang="fr-FR" sz="1000" dirty="0">
                <a:solidFill>
                  <a:srgbClr val="00B0F0"/>
                </a:solidFill>
              </a:rPr>
              <a:t>git commit : Enregistrement en local (permet le retour en arrière : </a:t>
            </a:r>
            <a:r>
              <a:rPr lang="fr-FR" sz="1000" dirty="0" err="1">
                <a:solidFill>
                  <a:srgbClr val="00B0F0"/>
                </a:solidFill>
              </a:rPr>
              <a:t>versionning</a:t>
            </a:r>
            <a:r>
              <a:rPr lang="fr-FR" sz="1000" dirty="0">
                <a:solidFill>
                  <a:srgbClr val="00B0F0"/>
                </a:solidFill>
              </a:rPr>
              <a:t>).</a:t>
            </a:r>
          </a:p>
          <a:p>
            <a:r>
              <a:rPr lang="fr-FR" sz="1000" dirty="0">
                <a:solidFill>
                  <a:srgbClr val="00B0F0"/>
                </a:solidFill>
              </a:rPr>
              <a:t>git pull : envoie les modifications locales sur la branche </a:t>
            </a:r>
            <a:r>
              <a:rPr lang="fr-FR" sz="1000" dirty="0" err="1">
                <a:solidFill>
                  <a:srgbClr val="00B0F0"/>
                </a:solidFill>
              </a:rPr>
              <a:t>prinçipale</a:t>
            </a:r>
            <a:r>
              <a:rPr lang="fr-FR" sz="1000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691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69925-7417-8436-BDBB-F87E8C91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E54568A-A84E-0FB0-1E3C-81E67777F547}"/>
              </a:ext>
            </a:extLst>
          </p:cNvPr>
          <p:cNvSpPr txBox="1"/>
          <p:nvPr/>
        </p:nvSpPr>
        <p:spPr>
          <a:xfrm>
            <a:off x="3695343" y="0"/>
            <a:ext cx="48013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Choix Technique	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BFCCE6B-12A2-B274-615D-3185E79BB889}"/>
              </a:ext>
            </a:extLst>
          </p:cNvPr>
          <p:cNvSpPr txBox="1"/>
          <p:nvPr/>
        </p:nvSpPr>
        <p:spPr>
          <a:xfrm>
            <a:off x="758645" y="1220794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40C6B8-A24A-76EF-13BB-DE8DA8D4608D}"/>
              </a:ext>
            </a:extLst>
          </p:cNvPr>
          <p:cNvSpPr txBox="1"/>
          <p:nvPr/>
        </p:nvSpPr>
        <p:spPr>
          <a:xfrm>
            <a:off x="758645" y="1590126"/>
            <a:ext cx="104358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Portabilité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Assure que l'environnement de développement 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(MongoDB, scripts)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fonctionne de manière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identique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production et sur différentes machines.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Isolation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Évite les conflits de dépendances.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Déploiement Facilité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Simplifie le déploiement sur des services cloud comme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ECS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1600" i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Elastic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Container Service)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43FA4F17-4269-845F-3C9C-FD4AFB2CD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4142" y="897629"/>
            <a:ext cx="784832" cy="784832"/>
          </a:xfrm>
          <a:prstGeom prst="rect">
            <a:avLst/>
          </a:prstGeom>
        </p:spPr>
      </p:pic>
      <p:pic>
        <p:nvPicPr>
          <p:cNvPr id="5122" name="Picture 2" descr="Todo en una caja. Docker y Galaxy · Curso de formación sobre Galaxy para  desarrolladores de herramientas bioinformáticas">
            <a:extLst>
              <a:ext uri="{FF2B5EF4-FFF2-40B4-BE49-F238E27FC236}">
                <a16:creationId xmlns:a16="http://schemas.microsoft.com/office/drawing/2014/main" id="{D4530A99-6658-D0E8-EAA4-F077E9199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227" y="3282897"/>
            <a:ext cx="5146307" cy="285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00B6BA7-045A-9233-ABF8-BA2A2B5D56B7}"/>
              </a:ext>
            </a:extLst>
          </p:cNvPr>
          <p:cNvSpPr txBox="1"/>
          <p:nvPr/>
        </p:nvSpPr>
        <p:spPr>
          <a:xfrm>
            <a:off x="6933334" y="3734250"/>
            <a:ext cx="40812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Docker, plus léger et rapide, utilise le noyau hôte, permettant un déploiement et une mise à l'échelle très efficaces des applications avec moins de ressources.</a:t>
            </a:r>
          </a:p>
        </p:txBody>
      </p:sp>
    </p:spTree>
    <p:extLst>
      <p:ext uri="{BB962C8B-B14F-4D97-AF65-F5344CB8AC3E}">
        <p14:creationId xmlns:p14="http://schemas.microsoft.com/office/powerpoint/2010/main" val="3904143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BDAF0-0166-DD01-FF2F-B555B5459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C2C8ED78-ACE3-4E36-D303-7193DE784A29}"/>
              </a:ext>
            </a:extLst>
          </p:cNvPr>
          <p:cNvSpPr txBox="1"/>
          <p:nvPr/>
        </p:nvSpPr>
        <p:spPr>
          <a:xfrm>
            <a:off x="3695343" y="0"/>
            <a:ext cx="48013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Choix Technique	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6CB737D-5549-5258-B151-FD4C4FD75C34}"/>
              </a:ext>
            </a:extLst>
          </p:cNvPr>
          <p:cNvSpPr txBox="1"/>
          <p:nvPr/>
        </p:nvSpPr>
        <p:spPr>
          <a:xfrm>
            <a:off x="758645" y="1220794"/>
            <a:ext cx="3604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 (NoSQL - Document)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69A457D-C336-D576-06B5-CA4B65E8CB93}"/>
              </a:ext>
            </a:extLst>
          </p:cNvPr>
          <p:cNvSpPr txBox="1"/>
          <p:nvPr/>
        </p:nvSpPr>
        <p:spPr>
          <a:xfrm>
            <a:off x="758645" y="1590126"/>
            <a:ext cx="104358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données médicales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sont souvent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variées et évolutives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MongoDB offre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Flexibilité du Schéma :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Facile à adapter aux nouveaux types de données patient.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Haute Scalabilité Horizontale 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(via le </a:t>
            </a:r>
            <a:r>
              <a:rPr lang="fr-FR" sz="1600" i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fr-FR" sz="16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Répond directement au besoin de scalabilité du client.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Requêtes rapides pour de grands volumes.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6B69DB1C-F904-17D4-FFB8-6CC239E0E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4143" y="805295"/>
            <a:ext cx="784831" cy="784831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D0B1116C-E359-3780-03C5-5FECDB5C0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276245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41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38D79-A2FA-4302-7BDD-938F47B68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B3C342A-9D5F-3449-97FF-01DE1724CE03}"/>
              </a:ext>
            </a:extLst>
          </p:cNvPr>
          <p:cNvSpPr txBox="1"/>
          <p:nvPr/>
        </p:nvSpPr>
        <p:spPr>
          <a:xfrm>
            <a:off x="3070171" y="0"/>
            <a:ext cx="60516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Démarche Technique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808CEFB0-EF8A-7B52-2A42-0E687E13E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780177"/>
              </p:ext>
            </p:extLst>
          </p:nvPr>
        </p:nvGraphicFramePr>
        <p:xfrm>
          <a:off x="816262" y="1244839"/>
          <a:ext cx="10661505" cy="4733936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889105">
                  <a:extLst>
                    <a:ext uri="{9D8B030D-6E8A-4147-A177-3AD203B41FA5}">
                      <a16:colId xmlns:a16="http://schemas.microsoft.com/office/drawing/2014/main" val="307809651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521061932"/>
                    </a:ext>
                  </a:extLst>
                </a:gridCol>
              </a:tblGrid>
              <a:tr h="697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solidFill>
                            <a:srgbClr val="0070C0"/>
                          </a:solidFill>
                        </a:rPr>
                        <a:t>1. Préparation</a:t>
                      </a:r>
                      <a:endParaRPr lang="fr-FR" sz="1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Nettoyage initial du </a:t>
                      </a:r>
                      <a:r>
                        <a:rPr lang="fr-FR" sz="1100" dirty="0" err="1">
                          <a:solidFill>
                            <a:srgbClr val="0070C0"/>
                          </a:solidFill>
                        </a:rPr>
                        <a:t>dataset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médical 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Validation des formats de date.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Vérification des doublons.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Vérification des cellules vide.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Création d’un dictionnaire de données.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857684"/>
                  </a:ext>
                </a:extLst>
              </a:tr>
              <a:tr h="697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2. Le script de Création des rôles utilisateurs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Développement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 d'un script de création des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rôles utilisateurs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: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Création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 des différents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rôles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 pour la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sécurisation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 de la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base de données 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(Admin, </a:t>
                      </a:r>
                      <a:r>
                        <a:rPr lang="fr-FR" sz="1100" b="0" i="1" dirty="0" err="1">
                          <a:solidFill>
                            <a:srgbClr val="0070C0"/>
                          </a:solidFill>
                        </a:rPr>
                        <a:t>read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/</a:t>
                      </a:r>
                      <a:r>
                        <a:rPr lang="fr-FR" sz="1100" b="0" i="1" dirty="0" err="1">
                          <a:solidFill>
                            <a:srgbClr val="0070C0"/>
                          </a:solidFill>
                        </a:rPr>
                        <a:t>write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 et </a:t>
                      </a:r>
                      <a:r>
                        <a:rPr lang="fr-FR" sz="1100" b="0" i="1" dirty="0" err="1">
                          <a:solidFill>
                            <a:srgbClr val="0070C0"/>
                          </a:solidFill>
                        </a:rPr>
                        <a:t>read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fr-FR" sz="1100" b="0" i="1" dirty="0" err="1">
                          <a:solidFill>
                            <a:srgbClr val="0070C0"/>
                          </a:solidFill>
                        </a:rPr>
                        <a:t>only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932785"/>
                  </a:ext>
                </a:extLst>
              </a:tr>
              <a:tr h="75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solidFill>
                            <a:srgbClr val="0070C0"/>
                          </a:solidFill>
                        </a:rPr>
                        <a:t>3. Le Script de Migration</a:t>
                      </a:r>
                      <a:endParaRPr lang="fr-FR" sz="1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Développement d'un script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Python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utilisant le driver MongoDB </a:t>
                      </a:r>
                      <a:r>
                        <a:rPr lang="fr-FR" sz="1100" i="1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fr-FR" sz="1100" i="1" dirty="0" err="1">
                          <a:solidFill>
                            <a:srgbClr val="0070C0"/>
                          </a:solidFill>
                        </a:rPr>
                        <a:t>pymongo</a:t>
                      </a:r>
                      <a:r>
                        <a:rPr lang="fr-FR" sz="1100" i="1" dirty="0">
                          <a:solidFill>
                            <a:srgbClr val="0070C0"/>
                          </a:solidFill>
                        </a:rPr>
                        <a:t>) 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pour :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Se connecter à la base de données.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Lire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le </a:t>
                      </a:r>
                      <a:r>
                        <a:rPr lang="fr-FR" sz="1100" dirty="0" err="1">
                          <a:solidFill>
                            <a:srgbClr val="0070C0"/>
                          </a:solidFill>
                        </a:rPr>
                        <a:t>dataset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source.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Mapper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et transformer les données dans la structure de document MongoDB souhaitée.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Insérer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les documents dans la collection cible.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122068"/>
                  </a:ext>
                </a:extLst>
              </a:tr>
              <a:tr h="649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solidFill>
                            <a:srgbClr val="0070C0"/>
                          </a:solidFill>
                        </a:rPr>
                        <a:t>4. Le Script de Validation de la base de données</a:t>
                      </a:r>
                      <a:endParaRPr lang="fr-FR" sz="1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Développement d'un script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Python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 utilisant le driver MongoDB 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fr-FR" sz="1100" b="0" i="1" dirty="0" err="1">
                          <a:solidFill>
                            <a:srgbClr val="0070C0"/>
                          </a:solidFill>
                        </a:rPr>
                        <a:t>pymongo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) 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pour :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Se connecter à la base de données.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Vérification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 que les commandes de base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CRUD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fr-FR" sz="1100" b="0" i="1" dirty="0" err="1">
                          <a:solidFill>
                            <a:srgbClr val="0070C0"/>
                          </a:solidFill>
                        </a:rPr>
                        <a:t>Create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, Read, Update, </a:t>
                      </a:r>
                      <a:r>
                        <a:rPr lang="fr-FR" sz="1100" b="0" i="1" dirty="0" err="1">
                          <a:solidFill>
                            <a:srgbClr val="0070C0"/>
                          </a:solidFill>
                        </a:rPr>
                        <a:t>Delete</a:t>
                      </a:r>
                      <a:r>
                        <a:rPr lang="fr-FR" sz="1100" b="0" i="1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fr-FR" sz="1100" b="0" dirty="0">
                          <a:solidFill>
                            <a:srgbClr val="0070C0"/>
                          </a:solidFill>
                        </a:rPr>
                        <a:t> fonctionne correctement.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214794"/>
                  </a:ext>
                </a:extLst>
              </a:tr>
              <a:tr h="47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solidFill>
                            <a:srgbClr val="0070C0"/>
                          </a:solidFill>
                        </a:rPr>
                        <a:t>5. Conteneurisation (Docker)</a:t>
                      </a:r>
                      <a:endParaRPr lang="fr-FR" sz="1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Création de deux images Docker 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Une image pour le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service MongoDB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fr-FR" sz="1100" i="1" dirty="0">
                          <a:solidFill>
                            <a:srgbClr val="0070C0"/>
                          </a:solidFill>
                        </a:rPr>
                        <a:t>(basé sur l'image officielle mongo)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Une image pour le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script de migration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fr-FR" sz="1100" i="1" dirty="0">
                          <a:solidFill>
                            <a:srgbClr val="0070C0"/>
                          </a:solidFill>
                        </a:rPr>
                        <a:t>(basé sur Python et incluant les scripts)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Une image pour les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testes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fr-FR" sz="1100" i="1" dirty="0">
                          <a:solidFill>
                            <a:srgbClr val="0070C0"/>
                          </a:solidFill>
                        </a:rPr>
                        <a:t>(basé sur </a:t>
                      </a:r>
                      <a:r>
                        <a:rPr lang="fr-FR" sz="1100" i="1" dirty="0" err="1">
                          <a:solidFill>
                            <a:srgbClr val="0070C0"/>
                          </a:solidFill>
                        </a:rPr>
                        <a:t>pytest</a:t>
                      </a:r>
                      <a:r>
                        <a:rPr lang="fr-FR" sz="1100" i="1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813725"/>
                  </a:ext>
                </a:extLst>
              </a:tr>
              <a:tr h="338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solidFill>
                            <a:srgbClr val="0070C0"/>
                          </a:solidFill>
                        </a:rPr>
                        <a:t>6. Orchestration</a:t>
                      </a:r>
                      <a:endParaRPr lang="fr-FR" sz="1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Utilisation de </a:t>
                      </a:r>
                      <a:r>
                        <a:rPr lang="fr-FR" sz="1100" b="1" dirty="0">
                          <a:solidFill>
                            <a:srgbClr val="0070C0"/>
                          </a:solidFill>
                        </a:rPr>
                        <a:t>Docker Compose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pour définir et exécuter l'application multi-conteneurs : la base de données le conteneur de migration et le conteneur de tests.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958382"/>
                  </a:ext>
                </a:extLst>
              </a:tr>
              <a:tr h="338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solidFill>
                            <a:srgbClr val="0070C0"/>
                          </a:solidFill>
                        </a:rPr>
                        <a:t>7. Validation</a:t>
                      </a:r>
                      <a:endParaRPr lang="fr-FR" sz="1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Vérification de l'intégrité et de la cohérence des données migrées grâce au script Python </a:t>
                      </a:r>
                      <a:r>
                        <a:rPr lang="fr-FR" sz="1100" i="1" dirty="0">
                          <a:solidFill>
                            <a:srgbClr val="0070C0"/>
                          </a:solidFill>
                        </a:rPr>
                        <a:t>(via </a:t>
                      </a:r>
                      <a:r>
                        <a:rPr lang="fr-FR" sz="1100" i="1" dirty="0" err="1">
                          <a:solidFill>
                            <a:srgbClr val="0070C0"/>
                          </a:solidFill>
                        </a:rPr>
                        <a:t>pytest</a:t>
                      </a:r>
                      <a:r>
                        <a:rPr lang="fr-FR" sz="1100" i="1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fr-FR" sz="1100" dirty="0">
                          <a:solidFill>
                            <a:srgbClr val="0070C0"/>
                          </a:solidFill>
                        </a:rPr>
                        <a:t> de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298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7594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44AEC-61CD-6584-3DF5-3A64C9C94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C6DA3DD-AB03-EC87-ACE6-8A8AE0A8EA83}"/>
              </a:ext>
            </a:extLst>
          </p:cNvPr>
          <p:cNvSpPr txBox="1"/>
          <p:nvPr/>
        </p:nvSpPr>
        <p:spPr>
          <a:xfrm>
            <a:off x="1766930" y="0"/>
            <a:ext cx="86581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Schéma de la Base de Données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754F78F-5162-D2CA-D4AA-5A0F7EC74404}"/>
              </a:ext>
            </a:extLst>
          </p:cNvPr>
          <p:cNvSpPr txBox="1"/>
          <p:nvPr/>
        </p:nvSpPr>
        <p:spPr>
          <a:xfrm>
            <a:off x="758645" y="1719558"/>
            <a:ext cx="3223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 de la base de données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8BA2DDA-625F-C37D-D474-00642722B97C}"/>
              </a:ext>
            </a:extLst>
          </p:cNvPr>
          <p:cNvSpPr txBox="1"/>
          <p:nvPr/>
        </p:nvSpPr>
        <p:spPr>
          <a:xfrm>
            <a:off x="6095999" y="1734947"/>
            <a:ext cx="3277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healthcare_db</a:t>
            </a:r>
            <a:endParaRPr lang="fr-FR"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4396E59-53DF-68EC-5EF7-58E53DC81DB5}"/>
              </a:ext>
            </a:extLst>
          </p:cNvPr>
          <p:cNvSpPr txBox="1"/>
          <p:nvPr/>
        </p:nvSpPr>
        <p:spPr>
          <a:xfrm>
            <a:off x="758645" y="2088890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 de la collection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22B25C9-5902-EDA4-D610-2F9F116C73FC}"/>
              </a:ext>
            </a:extLst>
          </p:cNvPr>
          <p:cNvSpPr txBox="1"/>
          <p:nvPr/>
        </p:nvSpPr>
        <p:spPr>
          <a:xfrm>
            <a:off x="6095999" y="2104279"/>
            <a:ext cx="1219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E4F82F7-607E-C99E-0BDF-94E606561848}"/>
              </a:ext>
            </a:extLst>
          </p:cNvPr>
          <p:cNvSpPr txBox="1"/>
          <p:nvPr/>
        </p:nvSpPr>
        <p:spPr>
          <a:xfrm>
            <a:off x="758645" y="2473611"/>
            <a:ext cx="3959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du Document ‘patients’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B7F88B2-63E4-2E98-5057-C675AECDE664}"/>
              </a:ext>
            </a:extLst>
          </p:cNvPr>
          <p:cNvSpPr txBox="1"/>
          <p:nvPr/>
        </p:nvSpPr>
        <p:spPr>
          <a:xfrm>
            <a:off x="6098189" y="2490212"/>
            <a:ext cx="374072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176213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'_id':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ObjectId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xxxxxxxxxxxxxxxxxxxxxxxx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’),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id_patient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’: x,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'Name': ‘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'Age': 30,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Gender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'Male’,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'Blood Type': 'B-’,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Medical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Condition': 'Cancer’,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'Date of Admission': '2024-01-31’,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Doctor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’: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'Hospital': 'Sons and Miller’,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Insurance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Provider': 'Blue Cross’,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Billing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Amount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18856.281305978155,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'Room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328,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'Admission Type': 'Urgent’,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Discharge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Date': '2024-02-02’,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Medication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'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Paracetamol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’,</a:t>
            </a:r>
          </a:p>
          <a:p>
            <a:pPr marL="176213" lvl="1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'Test </a:t>
            </a:r>
            <a:r>
              <a:rPr lang="fr-FR" sz="1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'Normal’</a:t>
            </a:r>
          </a:p>
          <a:p>
            <a:pPr marL="176213" indent="-176213"/>
            <a:r>
              <a:rPr lang="fr-FR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276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3A837-FB8C-36B2-5A2C-EFFC82F1A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89E63F-E4B6-4836-75EC-067536E6CDF0}"/>
              </a:ext>
            </a:extLst>
          </p:cNvPr>
          <p:cNvSpPr txBox="1"/>
          <p:nvPr/>
        </p:nvSpPr>
        <p:spPr>
          <a:xfrm>
            <a:off x="1766930" y="0"/>
            <a:ext cx="86581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Schéma de la Base de Données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3653CF8-CEF1-99A5-DCFD-5C4A628F3DC5}"/>
              </a:ext>
            </a:extLst>
          </p:cNvPr>
          <p:cNvSpPr txBox="1"/>
          <p:nvPr/>
        </p:nvSpPr>
        <p:spPr>
          <a:xfrm>
            <a:off x="758645" y="1719558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des fichiers: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42283E5-AA14-BC4E-7622-B89660B64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152" y="2259383"/>
            <a:ext cx="7125694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42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3B3E6-1395-D748-48C9-5D64129C1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87A5DB4-609B-CC16-0586-AE9228C0C60C}"/>
              </a:ext>
            </a:extLst>
          </p:cNvPr>
          <p:cNvSpPr txBox="1"/>
          <p:nvPr/>
        </p:nvSpPr>
        <p:spPr>
          <a:xfrm>
            <a:off x="872850" y="0"/>
            <a:ext cx="85956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Sécurité de la base de données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73A5D2-B32E-E575-D5CB-DB0E6E9F74AD}"/>
              </a:ext>
            </a:extLst>
          </p:cNvPr>
          <p:cNvSpPr txBox="1"/>
          <p:nvPr/>
        </p:nvSpPr>
        <p:spPr>
          <a:xfrm>
            <a:off x="872850" y="2333708"/>
            <a:ext cx="6755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Rôles des utilisateurs </a:t>
            </a:r>
            <a:r>
              <a:rPr lang="fr-FR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(système d'authentification à 3 niveaux)</a:t>
            </a:r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E35EEB2-2331-4170-CA45-F69653A58207}"/>
              </a:ext>
            </a:extLst>
          </p:cNvPr>
          <p:cNvSpPr txBox="1"/>
          <p:nvPr/>
        </p:nvSpPr>
        <p:spPr>
          <a:xfrm>
            <a:off x="872850" y="2975995"/>
            <a:ext cx="746390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Administrateur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buFontTx/>
              <a:buChar char="-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utilisateurs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buFontTx/>
              <a:buChar char="-"/>
            </a:pPr>
            <a:endParaRPr lang="fr-FR"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de données et opérations CRUD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FR" sz="16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app_user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buFontTx/>
              <a:buChar char="-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Utilisation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 base de données en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écriture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(et modification).</a:t>
            </a:r>
          </a:p>
          <a:p>
            <a:pPr marL="628650" lvl="1" indent="-171450">
              <a:buFontTx/>
              <a:buChar char="-"/>
            </a:pPr>
            <a:endParaRPr lang="fr-FR" sz="1600" i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Consultation et </a:t>
            </a:r>
            <a:r>
              <a:rPr lang="fr-FR" sz="1600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reportin</a:t>
            </a:r>
            <a:r>
              <a:rPr lang="fr-FR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readonly_user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buFontTx/>
              <a:buChar char="-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Utilisation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 base de données en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 seul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9086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7029E-5ECB-2034-8AEA-AF9E810B4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FC433E4-75F4-0493-887C-5C27BA2BD00B}"/>
              </a:ext>
            </a:extLst>
          </p:cNvPr>
          <p:cNvSpPr txBox="1"/>
          <p:nvPr/>
        </p:nvSpPr>
        <p:spPr>
          <a:xfrm>
            <a:off x="2721935" y="0"/>
            <a:ext cx="67481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Déploiement Cloud AWS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B4A2589-3F4B-F0C2-03A7-E50C96907986}"/>
              </a:ext>
            </a:extLst>
          </p:cNvPr>
          <p:cNvSpPr txBox="1"/>
          <p:nvPr/>
        </p:nvSpPr>
        <p:spPr>
          <a:xfrm>
            <a:off x="758645" y="1475531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</a:t>
            </a:r>
            <a:r>
              <a:rPr lang="fr-FR" b="1" i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DocumentDB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94D485D-D2E2-9A84-CDB4-D1D44CD9CE71}"/>
              </a:ext>
            </a:extLst>
          </p:cNvPr>
          <p:cNvSpPr txBox="1"/>
          <p:nvPr/>
        </p:nvSpPr>
        <p:spPr>
          <a:xfrm>
            <a:off x="758645" y="1844863"/>
            <a:ext cx="96692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compatible MongoDB entièrement géré par AWS.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Simplicité &amp; Maintenance Zéro :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s'occupe du </a:t>
            </a:r>
            <a:r>
              <a:rPr lang="fr-FR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patching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de la sauvegarde, de la scalabilité.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Haute Disponibilité :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 distribuée sur plusieurs zones de disponibilité.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E6B1774-3AD7-9B12-C3A9-0F18054F8B80}"/>
              </a:ext>
            </a:extLst>
          </p:cNvPr>
          <p:cNvSpPr txBox="1"/>
          <p:nvPr/>
        </p:nvSpPr>
        <p:spPr>
          <a:xfrm>
            <a:off x="758645" y="2873949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 sur EC2 + Auto Scaling Group	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129CC6A-0716-AE8C-8D7A-4363CDC76B03}"/>
              </a:ext>
            </a:extLst>
          </p:cNvPr>
          <p:cNvSpPr txBox="1"/>
          <p:nvPr/>
        </p:nvSpPr>
        <p:spPr>
          <a:xfrm>
            <a:off x="758645" y="3243281"/>
            <a:ext cx="96692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Déploiement manuel de la communauté MongoDB ou de MongoDB Enterprise sur des instances Amazon EC2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(machines virtuelles)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Contrôle Total :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Flexibilité maximale sur la configuration et la version de MongoDB.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Optimisation des Coûts </a:t>
            </a:r>
            <a:r>
              <a:rPr lang="fr-FR" sz="1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 bien géré)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Choix précis du matériel.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8876D4-3AD5-EC87-D1CD-128665B4AFBB}"/>
              </a:ext>
            </a:extLst>
          </p:cNvPr>
          <p:cNvSpPr txBox="1"/>
          <p:nvPr/>
        </p:nvSpPr>
        <p:spPr>
          <a:xfrm>
            <a:off x="758646" y="4518588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 Atlas sur AWS	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FCE2993-2150-6FF2-9D6A-A56116FCCFDB}"/>
              </a:ext>
            </a:extLst>
          </p:cNvPr>
          <p:cNvSpPr txBox="1"/>
          <p:nvPr/>
        </p:nvSpPr>
        <p:spPr>
          <a:xfrm>
            <a:off x="758645" y="4887920"/>
            <a:ext cx="98631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cloud de MongoDB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(éditeur)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hébergé sur l'infrastructure AWS.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Fonctionnalités MongoDB Avancées :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Accès direct aux outils d'analyse et de déploiement de l'éditeur.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Déploiement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Multi-Cloud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facilité.</a:t>
            </a:r>
          </a:p>
        </p:txBody>
      </p:sp>
    </p:spTree>
    <p:extLst>
      <p:ext uri="{BB962C8B-B14F-4D97-AF65-F5344CB8AC3E}">
        <p14:creationId xmlns:p14="http://schemas.microsoft.com/office/powerpoint/2010/main" val="1055830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DB9B1-03D0-BF23-6559-D65A2CFF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297FF2A-DACC-1A4F-DBAA-4B0F9AE2C19D}"/>
              </a:ext>
            </a:extLst>
          </p:cNvPr>
          <p:cNvSpPr txBox="1"/>
          <p:nvPr/>
        </p:nvSpPr>
        <p:spPr>
          <a:xfrm>
            <a:off x="1837077" y="0"/>
            <a:ext cx="85178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Synergie AWS pour l’efficacité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D96D579-5B3C-0BE6-6D5E-C8E3C73570C3}"/>
              </a:ext>
            </a:extLst>
          </p:cNvPr>
          <p:cNvSpPr txBox="1"/>
          <p:nvPr/>
        </p:nvSpPr>
        <p:spPr>
          <a:xfrm>
            <a:off x="758645" y="2334512"/>
            <a:ext cx="4608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ECS (</a:t>
            </a:r>
            <a:r>
              <a:rPr lang="fr-FR" b="1" i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Elastic</a:t>
            </a:r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Container Service)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6834BA7-A209-DEB2-8CFD-C087281F73F6}"/>
              </a:ext>
            </a:extLst>
          </p:cNvPr>
          <p:cNvSpPr txBox="1"/>
          <p:nvPr/>
        </p:nvSpPr>
        <p:spPr>
          <a:xfrm>
            <a:off x="758644" y="2703844"/>
            <a:ext cx="10241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le déploiement de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l'application conteneurisée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(via Docker)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 interagit avec MongoDB.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Permet d'exécuter facilement nos conteneurs Docker de manière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fiable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sur l'infrastructure AWS.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AC4F356-E4B4-BDB4-015F-630ABE19731D}"/>
              </a:ext>
            </a:extLst>
          </p:cNvPr>
          <p:cNvSpPr txBox="1"/>
          <p:nvPr/>
        </p:nvSpPr>
        <p:spPr>
          <a:xfrm>
            <a:off x="758644" y="3657951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S3 (Simple Storage Service)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57269EA-989D-3B4A-6F94-AEC93FA23129}"/>
              </a:ext>
            </a:extLst>
          </p:cNvPr>
          <p:cNvSpPr txBox="1"/>
          <p:nvPr/>
        </p:nvSpPr>
        <p:spPr>
          <a:xfrm>
            <a:off x="758644" y="4027283"/>
            <a:ext cx="96692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Sauvegarde :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Stockage sécurisé et durable des sauvegardes de la base de données.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 de Données </a:t>
            </a:r>
            <a:r>
              <a:rPr lang="fr-FR" sz="1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(Data Lake)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Stocker le </a:t>
            </a:r>
            <a:r>
              <a:rPr lang="fr-FR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brut initial et les données d'archives à faible coût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1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Coût Faible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le stockage froid et l'archivage)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Durabilité Élevée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(99.999999999% de durabilité).</a:t>
            </a:r>
          </a:p>
        </p:txBody>
      </p:sp>
    </p:spTree>
    <p:extLst>
      <p:ext uri="{BB962C8B-B14F-4D97-AF65-F5344CB8AC3E}">
        <p14:creationId xmlns:p14="http://schemas.microsoft.com/office/powerpoint/2010/main" val="407264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EE27B-96AC-231D-7709-8291C75F7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EE42F86-57A2-09FE-B9EC-ED47CA50CC69}"/>
              </a:ext>
            </a:extLst>
          </p:cNvPr>
          <p:cNvSpPr txBox="1"/>
          <p:nvPr/>
        </p:nvSpPr>
        <p:spPr>
          <a:xfrm>
            <a:off x="2696886" y="9555"/>
            <a:ext cx="50754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Comparatif Cloud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E2DF268C-CA4A-57B8-CFD0-E7A0F1B09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964829"/>
              </p:ext>
            </p:extLst>
          </p:nvPr>
        </p:nvGraphicFramePr>
        <p:xfrm>
          <a:off x="814316" y="2205961"/>
          <a:ext cx="10563368" cy="2623500"/>
        </p:xfrm>
        <a:graphic>
          <a:graphicData uri="http://schemas.openxmlformats.org/drawingml/2006/table">
            <a:tbl>
              <a:tblPr/>
              <a:tblGrid>
                <a:gridCol w="2616241">
                  <a:extLst>
                    <a:ext uri="{9D8B030D-6E8A-4147-A177-3AD203B41FA5}">
                      <a16:colId xmlns:a16="http://schemas.microsoft.com/office/drawing/2014/main" val="3408119983"/>
                    </a:ext>
                  </a:extLst>
                </a:gridCol>
                <a:gridCol w="2669687">
                  <a:extLst>
                    <a:ext uri="{9D8B030D-6E8A-4147-A177-3AD203B41FA5}">
                      <a16:colId xmlns:a16="http://schemas.microsoft.com/office/drawing/2014/main" val="1068661959"/>
                    </a:ext>
                  </a:extLst>
                </a:gridCol>
                <a:gridCol w="2638720">
                  <a:extLst>
                    <a:ext uri="{9D8B030D-6E8A-4147-A177-3AD203B41FA5}">
                      <a16:colId xmlns:a16="http://schemas.microsoft.com/office/drawing/2014/main" val="3969677928"/>
                    </a:ext>
                  </a:extLst>
                </a:gridCol>
                <a:gridCol w="2638720">
                  <a:extLst>
                    <a:ext uri="{9D8B030D-6E8A-4147-A177-3AD203B41FA5}">
                      <a16:colId xmlns:a16="http://schemas.microsoft.com/office/drawing/2014/main" val="2783681333"/>
                    </a:ext>
                  </a:extLst>
                </a:gridCol>
              </a:tblGrid>
              <a:tr h="4435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2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Catégorie de Service</a:t>
                      </a:r>
                      <a:endParaRPr lang="fr-FR" sz="12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2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Web Services (AWS)</a:t>
                      </a:r>
                      <a:endParaRPr lang="fr-FR" sz="12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2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Cloud Platform (GCP)</a:t>
                      </a:r>
                      <a:endParaRPr lang="fr-FR" sz="12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2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Microsoft Azure</a:t>
                      </a:r>
                      <a:endParaRPr lang="fr-FR" sz="12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77278"/>
                  </a:ext>
                </a:extLst>
              </a:tr>
              <a:tr h="71650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2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 de Données NoSQL (compatible MongoDB)</a:t>
                      </a:r>
                      <a:endParaRPr lang="fr-FR" sz="12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</a:t>
                      </a:r>
                      <a:r>
                        <a:rPr lang="fr-FR" sz="1000" b="1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DocumentDB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(compatible MongoDB) </a:t>
                      </a:r>
                      <a:r>
                        <a:rPr lang="fr-FR" sz="1000" i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Alternative: MongoDB Atlas sur AWS</a:t>
                      </a:r>
                      <a:endParaRPr lang="fr-FR" sz="1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MongoDB Atlas sur GCP</a:t>
                      </a:r>
                      <a:r>
                        <a:rPr lang="fr-FR" sz="100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000" i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Alternative: MongoDB installé sur Compute Engine</a:t>
                      </a:r>
                      <a:endParaRPr lang="fr-FR" sz="100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Cosmos DB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(API pour MongoDB) </a:t>
                      </a:r>
                      <a:r>
                        <a:rPr lang="fr-FR" sz="1000" i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Alternative: MongoDB Atlas sur Azure</a:t>
                      </a:r>
                      <a:endParaRPr lang="fr-FR" sz="1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80322"/>
                  </a:ext>
                </a:extLst>
              </a:tr>
              <a:tr h="6414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2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Orchestration de Conteneurs</a:t>
                      </a:r>
                      <a:endParaRPr lang="fr-FR" sz="12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ECS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fr-FR" sz="1000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Elastic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Container Service) </a:t>
                      </a: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EKS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fr-FR" sz="1000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Elastic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000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Kubernetes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Service)</a:t>
                      </a: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</a:t>
                      </a:r>
                      <a:r>
                        <a:rPr lang="fr-FR" sz="1000" b="1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Kubernetes</a:t>
                      </a: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Engine (GKE)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 Run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(pour les conteneurs sans serveur)</a:t>
                      </a: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Kubernetes Service (AKS)</a:t>
                      </a:r>
                      <a:r>
                        <a:rPr lang="fr-FR" sz="100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000" b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Container Instances (ACI)</a:t>
                      </a:r>
                      <a:endParaRPr lang="fr-FR" sz="100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205552"/>
                  </a:ext>
                </a:extLst>
              </a:tr>
              <a:tr h="3138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2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Stockage d'Objets (Data Lake, Sauvegardes)</a:t>
                      </a:r>
                      <a:endParaRPr lang="fr-FR" sz="12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S3</a:t>
                      </a:r>
                      <a:r>
                        <a:rPr lang="fr-FR" sz="1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(Simple Storage Service)</a:t>
                      </a: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Cloud Storage</a:t>
                      </a:r>
                      <a:endParaRPr lang="fr-FR" sz="1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Blob Storage</a:t>
                      </a:r>
                      <a:endParaRPr lang="fr-FR" sz="1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599647"/>
                  </a:ext>
                </a:extLst>
              </a:tr>
              <a:tr h="3605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2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 de Calcul (Machines Virtuelles)</a:t>
                      </a:r>
                      <a:endParaRPr lang="fr-FR" sz="12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EC2</a:t>
                      </a:r>
                      <a:r>
                        <a:rPr lang="fr-FR" sz="100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(Elastic Compute Cloud)</a:t>
                      </a: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</a:t>
                      </a:r>
                      <a:r>
                        <a:rPr lang="fr-FR" sz="1000" b="1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Compute</a:t>
                      </a: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Engine</a:t>
                      </a:r>
                      <a:endParaRPr lang="fr-FR" sz="1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Virtual Machines</a:t>
                      </a:r>
                      <a:endParaRPr lang="fr-FR" sz="1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3929" marR="33929" marT="22619" marB="22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922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4041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2C379-C757-7143-BC4F-6886B8BC3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3452DAC-76A7-3B41-FF39-8C2FBC58E6AA}"/>
              </a:ext>
            </a:extLst>
          </p:cNvPr>
          <p:cNvSpPr txBox="1"/>
          <p:nvPr/>
        </p:nvSpPr>
        <p:spPr>
          <a:xfrm>
            <a:off x="1532892" y="0"/>
            <a:ext cx="91262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Conclusion et Prochaines Étapes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2CDB500-DF31-7EDF-7980-BFC9E38FA603}"/>
              </a:ext>
            </a:extLst>
          </p:cNvPr>
          <p:cNvSpPr txBox="1"/>
          <p:nvPr/>
        </p:nvSpPr>
        <p:spPr>
          <a:xfrm>
            <a:off x="758645" y="1965061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Synthèse du Travail	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9B3810F-F0E6-8F45-F491-AC3B2F92E00B}"/>
              </a:ext>
            </a:extLst>
          </p:cNvPr>
          <p:cNvSpPr txBox="1"/>
          <p:nvPr/>
        </p:nvSpPr>
        <p:spPr>
          <a:xfrm>
            <a:off x="758644" y="2334393"/>
            <a:ext cx="1024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Migration du </a:t>
            </a:r>
            <a:r>
              <a:rPr lang="fr-FR" sz="16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médical vers un schéma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conteneurisée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(Docker)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versionnée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(GitHub)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pour une </a:t>
            </a: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portabilité maximale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claire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BB4A2F6-02DE-304F-3175-FC89106BA3F6}"/>
              </a:ext>
            </a:extLst>
          </p:cNvPr>
          <p:cNvSpPr txBox="1"/>
          <p:nvPr/>
        </p:nvSpPr>
        <p:spPr>
          <a:xfrm>
            <a:off x="758644" y="3288500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Recommandation</a:t>
            </a:r>
            <a:r>
              <a:rPr lang="en-US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Cloud 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7A122C6-D678-78B1-ADB4-6071C29ED4ED}"/>
              </a:ext>
            </a:extLst>
          </p:cNvPr>
          <p:cNvSpPr txBox="1"/>
          <p:nvPr/>
        </p:nvSpPr>
        <p:spPr>
          <a:xfrm>
            <a:off x="758644" y="3657832"/>
            <a:ext cx="96692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service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</a:t>
            </a:r>
            <a:r>
              <a:rPr lang="fr-FR" sz="16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DocumentDB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 la solution la plus recommandée, car elle combine la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compatibilité MongoDB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avec la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simplicité de gestion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d'un service AWS entièrement managé, assurant la scalabilité souhaitée.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BC8FED6-969E-F8EC-5FF0-00C93902EF0F}"/>
              </a:ext>
            </a:extLst>
          </p:cNvPr>
          <p:cNvSpPr txBox="1"/>
          <p:nvPr/>
        </p:nvSpPr>
        <p:spPr>
          <a:xfrm>
            <a:off x="758644" y="4611939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Prochaines</a:t>
            </a:r>
            <a:r>
              <a:rPr lang="en-US" b="1" i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Étapes</a:t>
            </a:r>
            <a:endParaRPr lang="fr-FR" i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95A576C-FEDE-E6B7-273A-25AE0CCFB38A}"/>
              </a:ext>
            </a:extLst>
          </p:cNvPr>
          <p:cNvSpPr txBox="1"/>
          <p:nvPr/>
        </p:nvSpPr>
        <p:spPr>
          <a:xfrm>
            <a:off x="758644" y="4981271"/>
            <a:ext cx="96692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schéma de la collection patients. </a:t>
            </a:r>
          </a:p>
          <a:p>
            <a:pPr marL="342900" indent="-342900">
              <a:buAutoNum type="arabicPeriod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Déploiement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d'un environnement de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POC </a:t>
            </a:r>
            <a:r>
              <a:rPr lang="fr-FR" sz="1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(Proof of Concept)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fr-FR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DocumentDB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sur AWS.</a:t>
            </a:r>
          </a:p>
          <a:p>
            <a:pPr marL="342900" indent="-342900">
              <a:buAutoNum type="arabicPeriod"/>
            </a:pP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Finalisation du script de migration 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l'environnement de production </a:t>
            </a:r>
            <a:r>
              <a:rPr lang="fr-F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fr-F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793624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</TotalTime>
  <Words>1308</Words>
  <Application>Microsoft Office PowerPoint</Application>
  <PresentationFormat>Grand écran</PresentationFormat>
  <Paragraphs>152</Paragraphs>
  <Slides>13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Facette</vt:lpstr>
      <vt:lpstr>Migration des Données Médicales :  Vers la Scalabilité Big Data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Bailleul</dc:creator>
  <cp:lastModifiedBy>Aymeric Bailleul</cp:lastModifiedBy>
  <cp:revision>10</cp:revision>
  <dcterms:created xsi:type="dcterms:W3CDTF">2025-10-08T07:03:58Z</dcterms:created>
  <dcterms:modified xsi:type="dcterms:W3CDTF">2025-10-20T06:42:46Z</dcterms:modified>
</cp:coreProperties>
</file>