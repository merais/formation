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3"/>
  </p:notesMasterIdLst>
  <p:sldIdLst>
    <p:sldId id="257" r:id="rId2"/>
    <p:sldId id="256" r:id="rId3"/>
    <p:sldId id="266" r:id="rId4"/>
    <p:sldId id="265" r:id="rId5"/>
    <p:sldId id="258" r:id="rId6"/>
    <p:sldId id="259" r:id="rId7"/>
    <p:sldId id="260" r:id="rId8"/>
    <p:sldId id="264" r:id="rId9"/>
    <p:sldId id="261" r:id="rId10"/>
    <p:sldId id="262" r:id="rId11"/>
    <p:sldId id="263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Style léger 1 - Accentuation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113A9D2-9D6B-4929-AA2D-F23B5EE8CBE7}" styleName="Style à thème 2 - Accentuation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Style à thème 2 - Accentuation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0718" autoAdjust="0"/>
  </p:normalViewPr>
  <p:slideViewPr>
    <p:cSldViewPr snapToGrid="0">
      <p:cViewPr varScale="1">
        <p:scale>
          <a:sx n="94" d="100"/>
          <a:sy n="94" d="100"/>
        </p:scale>
        <p:origin x="105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A35E28-6121-47BC-A77B-DB5D9C99DE05}" type="datetimeFigureOut">
              <a:rPr lang="fr-FR" smtClean="0"/>
              <a:t>15/10/2025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4930F0-8761-4254-87D6-65C83D59F2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1687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4930F0-8761-4254-87D6-65C83D59F2D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87524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4930F0-8761-4254-87D6-65C83D59F2DE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97826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10/15/2025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10/15/2025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10/15/2025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10/15/2025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10/15/2025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10/15/2025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dirty="0"/>
              <a:t>10/15/2025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5" r:id="rId2"/>
    <p:sldLayoutId id="2147483651" r:id="rId3"/>
    <p:sldLayoutId id="2147483666" r:id="rId4"/>
    <p:sldLayoutId id="2147483653" r:id="rId5"/>
    <p:sldLayoutId id="2147483654" r:id="rId6"/>
    <p:sldLayoutId id="2147483655" r:id="rId7"/>
    <p:sldLayoutId id="2147483667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8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91100-885F-6770-B1C4-F894D9BAA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6C5D2F-1BE1-C6B1-61D2-629359983D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1038" y="2379590"/>
            <a:ext cx="7766936" cy="2098819"/>
          </a:xfrm>
        </p:spPr>
        <p:txBody>
          <a:bodyPr/>
          <a:lstStyle/>
          <a:p>
            <a:pPr algn="ctr"/>
            <a:r>
              <a:rPr lang="fr-FR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Migration des Données Médicales : </a:t>
            </a:r>
            <a:br>
              <a:rPr lang="fr-FR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fr-FR" sz="28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Vers la Scalabilité Big Data</a:t>
            </a:r>
            <a:endParaRPr lang="fr-FR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82967FF-15CC-BB6A-6F58-2D93434CB0F4}"/>
              </a:ext>
            </a:extLst>
          </p:cNvPr>
          <p:cNvSpPr txBox="1"/>
          <p:nvPr/>
        </p:nvSpPr>
        <p:spPr>
          <a:xfrm>
            <a:off x="0" y="-1"/>
            <a:ext cx="16117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i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DataSoluTech</a:t>
            </a:r>
            <a:r>
              <a:rPr lang="fr-FR" i="1" dirty="0"/>
              <a:t> 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CCA53CB-1F85-BBEA-B132-2E5BF4DAF1B7}"/>
              </a:ext>
            </a:extLst>
          </p:cNvPr>
          <p:cNvSpPr txBox="1"/>
          <p:nvPr/>
        </p:nvSpPr>
        <p:spPr>
          <a:xfrm>
            <a:off x="9388027" y="6611779"/>
            <a:ext cx="28039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Présenté par : </a:t>
            </a:r>
            <a:r>
              <a:rPr lang="fr-FR" sz="1000" b="1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ABAI, Stagiaire Data </a:t>
            </a:r>
            <a:r>
              <a:rPr lang="fr-FR" sz="1000" b="1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Engineer</a:t>
            </a:r>
            <a:endParaRPr lang="fr-FR" sz="1000" b="1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5336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AB66588D-3E55-492B-84B0-0A8569489230}"/>
              </a:ext>
            </a:extLst>
          </p:cNvPr>
          <p:cNvSpPr txBox="1"/>
          <p:nvPr/>
        </p:nvSpPr>
        <p:spPr>
          <a:xfrm>
            <a:off x="4796606" y="0"/>
            <a:ext cx="259878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400" b="1" dirty="0"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Contexte</a:t>
            </a:r>
            <a:endParaRPr lang="fr-FR" sz="3200" b="1" dirty="0">
              <a:solidFill>
                <a:srgbClr val="0070C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7CCFC3D-38BA-8BEE-D1D9-EE266B88877F}"/>
              </a:ext>
            </a:extLst>
          </p:cNvPr>
          <p:cNvSpPr txBox="1"/>
          <p:nvPr/>
        </p:nvSpPr>
        <p:spPr>
          <a:xfrm>
            <a:off x="758645" y="1719558"/>
            <a:ext cx="21547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i="1" u="sng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Objectif Principal</a:t>
            </a:r>
            <a:r>
              <a:rPr lang="fr-FR" i="1" u="sng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962FB6F-D2B4-0570-4AEE-452254E5696B}"/>
              </a:ext>
            </a:extLst>
          </p:cNvPr>
          <p:cNvSpPr txBox="1"/>
          <p:nvPr/>
        </p:nvSpPr>
        <p:spPr>
          <a:xfrm>
            <a:off x="758645" y="2088890"/>
            <a:ext cx="84500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Assister le client, confronté à des problèmes de </a:t>
            </a: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scalabilité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avec son système actuel, en proposant une </a:t>
            </a: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solution Big Data horizontalement scalable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FA1F6D9C-6F82-00FF-EB30-41FCCC41C726}"/>
              </a:ext>
            </a:extLst>
          </p:cNvPr>
          <p:cNvSpPr txBox="1"/>
          <p:nvPr/>
        </p:nvSpPr>
        <p:spPr>
          <a:xfrm>
            <a:off x="758645" y="2918238"/>
            <a:ext cx="2274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i="1" u="sng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 Problème Client</a:t>
            </a:r>
            <a:endParaRPr lang="fr-FR" i="1" u="sng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DB30D38-21CB-78FC-2C8D-968EEBA523EF}"/>
              </a:ext>
            </a:extLst>
          </p:cNvPr>
          <p:cNvSpPr txBox="1"/>
          <p:nvPr/>
        </p:nvSpPr>
        <p:spPr>
          <a:xfrm>
            <a:off x="758645" y="3287570"/>
            <a:ext cx="84500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Difficultés croissantes 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à gérer les tâches quotidiennes</a:t>
            </a: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dues à l'augmentation du volume de données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médicales.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B3B1424B-0402-5B33-6983-B3FFAAACA42E}"/>
              </a:ext>
            </a:extLst>
          </p:cNvPr>
          <p:cNvSpPr txBox="1"/>
          <p:nvPr/>
        </p:nvSpPr>
        <p:spPr>
          <a:xfrm>
            <a:off x="758645" y="4241677"/>
            <a:ext cx="2223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i="1" u="sng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Solution Proposée</a:t>
            </a:r>
            <a:endParaRPr lang="fr-FR" i="1" u="sng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44329C8-F61B-EAA9-7810-27D305E9F4E0}"/>
              </a:ext>
            </a:extLst>
          </p:cNvPr>
          <p:cNvSpPr txBox="1"/>
          <p:nvPr/>
        </p:nvSpPr>
        <p:spPr>
          <a:xfrm>
            <a:off x="758645" y="4611009"/>
            <a:ext cx="845000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Migration des données 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patient vers </a:t>
            </a: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MongoDB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une base de données </a:t>
            </a: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NoSQL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orientée document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idéale pour les </a:t>
            </a: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données non structurées ou semi-structurées 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et pour la </a:t>
            </a: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scalabilité horizontale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94775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64DB6-336F-2D4E-B15D-079197B9B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0642FE83-C7DE-1284-8EE7-F59FACCD2F56}"/>
              </a:ext>
            </a:extLst>
          </p:cNvPr>
          <p:cNvSpPr txBox="1"/>
          <p:nvPr/>
        </p:nvSpPr>
        <p:spPr>
          <a:xfrm>
            <a:off x="3695343" y="0"/>
            <a:ext cx="480131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400" b="1" dirty="0"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Choix Technique	</a:t>
            </a:r>
            <a:endParaRPr lang="fr-FR" sz="3200" b="1" dirty="0">
              <a:solidFill>
                <a:srgbClr val="0070C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5AAD72A-6CD9-627B-26BE-42EBCEA614F3}"/>
              </a:ext>
            </a:extLst>
          </p:cNvPr>
          <p:cNvSpPr txBox="1"/>
          <p:nvPr/>
        </p:nvSpPr>
        <p:spPr>
          <a:xfrm>
            <a:off x="758645" y="1220794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i="1" u="sng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</a:t>
            </a:r>
            <a:endParaRPr lang="fr-FR" i="1" u="sng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8B880B0-1B65-D62E-4320-D4A6A1A063FA}"/>
              </a:ext>
            </a:extLst>
          </p:cNvPr>
          <p:cNvSpPr txBox="1"/>
          <p:nvPr/>
        </p:nvSpPr>
        <p:spPr>
          <a:xfrm>
            <a:off x="758645" y="1590126"/>
            <a:ext cx="104358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Versionnement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: Suivi des modifications, historique et capacité de retour arrière.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Collaboration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: Facilite le travail d'équipe et la révision par Boris.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Documentation Centralisée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: Point d'accès unique pour la documentation </a:t>
            </a:r>
            <a:r>
              <a:rPr lang="fr-FR" sz="1600" i="1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(README)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FA26D7E3-7E96-53C3-199F-2F0170E2C6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2044" y="1046227"/>
            <a:ext cx="966931" cy="543899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90D54E20-507A-963A-3240-47C8BD0772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6132" y="2777429"/>
            <a:ext cx="9800853" cy="3034344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21CD58D7-F810-A3FF-5C20-78BCB9D37846}"/>
              </a:ext>
            </a:extLst>
          </p:cNvPr>
          <p:cNvSpPr txBox="1"/>
          <p:nvPr/>
        </p:nvSpPr>
        <p:spPr>
          <a:xfrm>
            <a:off x="1018790" y="5811773"/>
            <a:ext cx="48667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u="sng" dirty="0" err="1">
                <a:solidFill>
                  <a:srgbClr val="00B0F0"/>
                </a:solidFill>
              </a:rPr>
              <a:t>Legende</a:t>
            </a:r>
            <a:r>
              <a:rPr lang="fr-FR" sz="1000" u="sng" dirty="0">
                <a:solidFill>
                  <a:srgbClr val="00B0F0"/>
                </a:solidFill>
              </a:rPr>
              <a:t> :</a:t>
            </a:r>
          </a:p>
          <a:p>
            <a:r>
              <a:rPr lang="fr-FR" sz="1000" b="1" dirty="0">
                <a:solidFill>
                  <a:srgbClr val="00B0F0"/>
                </a:solidFill>
              </a:rPr>
              <a:t>git clone </a:t>
            </a:r>
            <a:r>
              <a:rPr lang="fr-FR" sz="1000" dirty="0">
                <a:solidFill>
                  <a:srgbClr val="00B0F0"/>
                </a:solidFill>
              </a:rPr>
              <a:t>: Copie de la branche </a:t>
            </a:r>
            <a:r>
              <a:rPr lang="fr-FR" sz="1000" dirty="0" err="1">
                <a:solidFill>
                  <a:srgbClr val="00B0F0"/>
                </a:solidFill>
              </a:rPr>
              <a:t>prinçipale</a:t>
            </a:r>
            <a:r>
              <a:rPr lang="fr-FR" sz="1000" dirty="0">
                <a:solidFill>
                  <a:srgbClr val="00B0F0"/>
                </a:solidFill>
              </a:rPr>
              <a:t> en local.</a:t>
            </a:r>
          </a:p>
          <a:p>
            <a:r>
              <a:rPr lang="fr-FR" sz="1000" b="1" dirty="0">
                <a:solidFill>
                  <a:srgbClr val="00B0F0"/>
                </a:solidFill>
              </a:rPr>
              <a:t>git commit </a:t>
            </a:r>
            <a:r>
              <a:rPr lang="fr-FR" sz="1000" dirty="0">
                <a:solidFill>
                  <a:srgbClr val="00B0F0"/>
                </a:solidFill>
              </a:rPr>
              <a:t>: Enregistrement en local (permet le retour en arrière : </a:t>
            </a:r>
            <a:r>
              <a:rPr lang="fr-FR" sz="1000" dirty="0" err="1">
                <a:solidFill>
                  <a:srgbClr val="00B0F0"/>
                </a:solidFill>
              </a:rPr>
              <a:t>versionning</a:t>
            </a:r>
            <a:r>
              <a:rPr lang="fr-FR" sz="1000" dirty="0">
                <a:solidFill>
                  <a:srgbClr val="00B0F0"/>
                </a:solidFill>
              </a:rPr>
              <a:t>).</a:t>
            </a:r>
          </a:p>
          <a:p>
            <a:r>
              <a:rPr lang="fr-FR" sz="1000" b="1" dirty="0">
                <a:solidFill>
                  <a:srgbClr val="00B0F0"/>
                </a:solidFill>
              </a:rPr>
              <a:t>git pull </a:t>
            </a:r>
            <a:r>
              <a:rPr lang="fr-FR" sz="1000" dirty="0">
                <a:solidFill>
                  <a:srgbClr val="00B0F0"/>
                </a:solidFill>
              </a:rPr>
              <a:t>: envoie les modifications locales sur la branche </a:t>
            </a:r>
            <a:r>
              <a:rPr lang="fr-FR" sz="1000" dirty="0" err="1">
                <a:solidFill>
                  <a:srgbClr val="00B0F0"/>
                </a:solidFill>
              </a:rPr>
              <a:t>prinçipale</a:t>
            </a:r>
            <a:r>
              <a:rPr lang="fr-FR" sz="1000" dirty="0">
                <a:solidFill>
                  <a:srgbClr val="00B0F0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26913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69925-7417-8436-BDBB-F87E8C915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0E54568A-A84E-0FB0-1E3C-81E67777F547}"/>
              </a:ext>
            </a:extLst>
          </p:cNvPr>
          <p:cNvSpPr txBox="1"/>
          <p:nvPr/>
        </p:nvSpPr>
        <p:spPr>
          <a:xfrm>
            <a:off x="3695343" y="0"/>
            <a:ext cx="480131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400" b="1" dirty="0"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Choix Technique	</a:t>
            </a:r>
            <a:endParaRPr lang="fr-FR" sz="3200" b="1" dirty="0">
              <a:solidFill>
                <a:srgbClr val="0070C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BFCCE6B-12A2-B274-615D-3185E79BB889}"/>
              </a:ext>
            </a:extLst>
          </p:cNvPr>
          <p:cNvSpPr txBox="1"/>
          <p:nvPr/>
        </p:nvSpPr>
        <p:spPr>
          <a:xfrm>
            <a:off x="758645" y="1220794"/>
            <a:ext cx="3296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i="1" u="sng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Docker (NoSQL - Document)</a:t>
            </a:r>
            <a:endParaRPr lang="fr-FR" i="1" u="sng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740C6B8-A24A-76EF-13BB-DE8DA8D4608D}"/>
              </a:ext>
            </a:extLst>
          </p:cNvPr>
          <p:cNvSpPr txBox="1"/>
          <p:nvPr/>
        </p:nvSpPr>
        <p:spPr>
          <a:xfrm>
            <a:off x="758645" y="1590126"/>
            <a:ext cx="1043582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Portabilité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: Assure que l'environnement de développement </a:t>
            </a:r>
            <a:r>
              <a:rPr lang="fr-FR" sz="1600" i="1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(MongoDB, scripts) 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fonctionne de manière </a:t>
            </a: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identique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en production et sur différentes machines.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Isolation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: Évite les conflits de dépendances.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Déploiement Facilité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: Simplifie le déploiement sur des services cloud comme </a:t>
            </a: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Amazon ECS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600" i="1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fr-FR" sz="1600" i="1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Elastic</a:t>
            </a:r>
            <a:r>
              <a:rPr lang="fr-FR" sz="1600" i="1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Container Service)</a:t>
            </a:r>
            <a:r>
              <a:rPr lang="fr-FR" sz="1600" i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6" name="Graphique 15">
            <a:extLst>
              <a:ext uri="{FF2B5EF4-FFF2-40B4-BE49-F238E27FC236}">
                <a16:creationId xmlns:a16="http://schemas.microsoft.com/office/drawing/2014/main" id="{43FA4F17-4269-845F-3C9C-FD4AFB2CD1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84142" y="897629"/>
            <a:ext cx="784832" cy="784832"/>
          </a:xfrm>
          <a:prstGeom prst="rect">
            <a:avLst/>
          </a:prstGeom>
        </p:spPr>
      </p:pic>
      <p:pic>
        <p:nvPicPr>
          <p:cNvPr id="5122" name="Picture 2" descr="Todo en una caja. Docker y Galaxy · Curso de formación sobre Galaxy para  desarrolladores de herramientas bioinformáticas">
            <a:extLst>
              <a:ext uri="{FF2B5EF4-FFF2-40B4-BE49-F238E27FC236}">
                <a16:creationId xmlns:a16="http://schemas.microsoft.com/office/drawing/2014/main" id="{D4530A99-6658-D0E8-EAA4-F077E9199E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2227" y="3282897"/>
            <a:ext cx="5146307" cy="2858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B00B6BA7-045A-9233-ABF8-BA2A2B5D56B7}"/>
              </a:ext>
            </a:extLst>
          </p:cNvPr>
          <p:cNvSpPr txBox="1"/>
          <p:nvPr/>
        </p:nvSpPr>
        <p:spPr>
          <a:xfrm>
            <a:off x="6933334" y="3734250"/>
            <a:ext cx="408123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Docker, plus léger et rapide, utilise le noyau hôte, permettant un déploiement et une mise à l'échelle très efficaces des applications avec moins de ressources.</a:t>
            </a:r>
          </a:p>
        </p:txBody>
      </p:sp>
    </p:spTree>
    <p:extLst>
      <p:ext uri="{BB962C8B-B14F-4D97-AF65-F5344CB8AC3E}">
        <p14:creationId xmlns:p14="http://schemas.microsoft.com/office/powerpoint/2010/main" val="39041431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1BDAF0-0166-DD01-FF2F-B555B5459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C2C8ED78-ACE3-4E36-D303-7193DE784A29}"/>
              </a:ext>
            </a:extLst>
          </p:cNvPr>
          <p:cNvSpPr txBox="1"/>
          <p:nvPr/>
        </p:nvSpPr>
        <p:spPr>
          <a:xfrm>
            <a:off x="3695343" y="0"/>
            <a:ext cx="480131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400" b="1" dirty="0"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Choix Technique	</a:t>
            </a:r>
            <a:endParaRPr lang="fr-FR" sz="3200" b="1" dirty="0">
              <a:solidFill>
                <a:srgbClr val="0070C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6CB737D-5549-5258-B151-FD4C4FD75C34}"/>
              </a:ext>
            </a:extLst>
          </p:cNvPr>
          <p:cNvSpPr txBox="1"/>
          <p:nvPr/>
        </p:nvSpPr>
        <p:spPr>
          <a:xfrm>
            <a:off x="758645" y="1220794"/>
            <a:ext cx="36045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i="1" u="sng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MongoDB (NoSQL - Document)</a:t>
            </a:r>
            <a:endParaRPr lang="fr-FR" i="1" u="sng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69A457D-C336-D576-06B5-CA4B65E8CB93}"/>
              </a:ext>
            </a:extLst>
          </p:cNvPr>
          <p:cNvSpPr txBox="1"/>
          <p:nvPr/>
        </p:nvSpPr>
        <p:spPr>
          <a:xfrm>
            <a:off x="758645" y="1590126"/>
            <a:ext cx="1043582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Les </a:t>
            </a: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données médicales 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sont souvent </a:t>
            </a: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variées et évolutives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MongoDB offre 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Flexibilité du Schéma :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Facile à adapter aux nouveaux types de données patient.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Haute Scalabilité Horizontale </a:t>
            </a:r>
            <a:r>
              <a:rPr lang="fr-FR" sz="1600" i="1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(via le </a:t>
            </a:r>
            <a:r>
              <a:rPr lang="fr-FR" sz="1600" i="1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sharding</a:t>
            </a:r>
            <a:r>
              <a:rPr lang="fr-FR" sz="1600" i="1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Répond directement au besoin de scalabilité du client.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Performance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: Requêtes rapides pour de grands volumes.</a:t>
            </a:r>
          </a:p>
        </p:txBody>
      </p:sp>
      <p:pic>
        <p:nvPicPr>
          <p:cNvPr id="14" name="Graphique 13">
            <a:extLst>
              <a:ext uri="{FF2B5EF4-FFF2-40B4-BE49-F238E27FC236}">
                <a16:creationId xmlns:a16="http://schemas.microsoft.com/office/drawing/2014/main" id="{6B69DB1C-F904-17D4-FFB8-6CC239E0E0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84143" y="805295"/>
            <a:ext cx="784831" cy="784831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D0B1116C-E359-3780-03C5-5FECDB5C0F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7000" y="2762451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25417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38D79-A2FA-4302-7BDD-938F47B68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EB3C342A-9D5F-3449-97FF-01DE1724CE03}"/>
              </a:ext>
            </a:extLst>
          </p:cNvPr>
          <p:cNvSpPr txBox="1"/>
          <p:nvPr/>
        </p:nvSpPr>
        <p:spPr>
          <a:xfrm>
            <a:off x="3070171" y="0"/>
            <a:ext cx="605165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400" b="1" dirty="0"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Démarche Technique</a:t>
            </a:r>
            <a:endParaRPr lang="fr-FR" sz="3200" b="1" dirty="0">
              <a:solidFill>
                <a:srgbClr val="0070C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9" name="Tableau 8">
            <a:extLst>
              <a:ext uri="{FF2B5EF4-FFF2-40B4-BE49-F238E27FC236}">
                <a16:creationId xmlns:a16="http://schemas.microsoft.com/office/drawing/2014/main" id="{808CEFB0-EF8A-7B52-2A42-0E687E13E5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5151311"/>
              </p:ext>
            </p:extLst>
          </p:nvPr>
        </p:nvGraphicFramePr>
        <p:xfrm>
          <a:off x="816262" y="1244839"/>
          <a:ext cx="10559474" cy="5029200"/>
        </p:xfrm>
        <a:graphic>
          <a:graphicData uri="http://schemas.openxmlformats.org/drawingml/2006/table">
            <a:tbl>
              <a:tblPr firstRow="1" bandRow="1">
                <a:tableStyleId>{18603FDC-E32A-4AB5-989C-0864C3EAD2B8}</a:tableStyleId>
              </a:tblPr>
              <a:tblGrid>
                <a:gridCol w="2911765">
                  <a:extLst>
                    <a:ext uri="{9D8B030D-6E8A-4147-A177-3AD203B41FA5}">
                      <a16:colId xmlns:a16="http://schemas.microsoft.com/office/drawing/2014/main" val="3078096510"/>
                    </a:ext>
                  </a:extLst>
                </a:gridCol>
                <a:gridCol w="7647709">
                  <a:extLst>
                    <a:ext uri="{9D8B030D-6E8A-4147-A177-3AD203B41FA5}">
                      <a16:colId xmlns:a16="http://schemas.microsoft.com/office/drawing/2014/main" val="521061932"/>
                    </a:ext>
                  </a:extLst>
                </a:gridCol>
              </a:tblGrid>
              <a:tr h="6974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>
                          <a:solidFill>
                            <a:schemeClr val="bg1"/>
                          </a:solidFill>
                        </a:rPr>
                        <a:t>1. Préparation</a:t>
                      </a:r>
                      <a:endParaRPr lang="fr-FR" sz="18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solidFill>
                            <a:schemeClr val="bg1"/>
                          </a:solidFill>
                        </a:rPr>
                        <a:t>Nettoyage initial du </a:t>
                      </a:r>
                      <a:r>
                        <a:rPr lang="fr-FR" sz="1400" dirty="0" err="1">
                          <a:solidFill>
                            <a:schemeClr val="bg1"/>
                          </a:solidFill>
                        </a:rPr>
                        <a:t>dataset</a:t>
                      </a:r>
                      <a:r>
                        <a:rPr lang="fr-FR" sz="1400" dirty="0">
                          <a:solidFill>
                            <a:schemeClr val="bg1"/>
                          </a:solidFill>
                        </a:rPr>
                        <a:t> médical :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400" dirty="0">
                          <a:solidFill>
                            <a:schemeClr val="bg1"/>
                          </a:solidFill>
                        </a:rPr>
                        <a:t>Validation des formats de date.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400" dirty="0">
                          <a:solidFill>
                            <a:schemeClr val="bg1"/>
                          </a:solidFill>
                        </a:rPr>
                        <a:t>Vérification des doublons.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400" dirty="0">
                          <a:solidFill>
                            <a:schemeClr val="bg1"/>
                          </a:solidFill>
                        </a:rPr>
                        <a:t>Vérification des cellules vide.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fr-FR" sz="1400" dirty="0">
                          <a:solidFill>
                            <a:schemeClr val="bg1"/>
                          </a:solidFill>
                        </a:rPr>
                        <a:t>Création d’un dictionnaire de données.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09857684"/>
                  </a:ext>
                </a:extLst>
              </a:tr>
              <a:tr h="7574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>
                          <a:solidFill>
                            <a:schemeClr val="bg1"/>
                          </a:solidFill>
                        </a:rPr>
                        <a:t>2. Le Script de Migration</a:t>
                      </a:r>
                      <a:endParaRPr lang="fr-FR" sz="18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solidFill>
                            <a:schemeClr val="bg1"/>
                          </a:solidFill>
                        </a:rPr>
                        <a:t>Développement d'un script </a:t>
                      </a:r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Python</a:t>
                      </a:r>
                      <a:r>
                        <a:rPr lang="fr-FR" sz="1400" dirty="0">
                          <a:solidFill>
                            <a:schemeClr val="bg1"/>
                          </a:solidFill>
                        </a:rPr>
                        <a:t> utilisant le driver MongoDB </a:t>
                      </a:r>
                      <a:r>
                        <a:rPr lang="fr-FR" sz="1400" i="1" dirty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fr-FR" sz="1400" i="1" dirty="0" err="1">
                          <a:solidFill>
                            <a:schemeClr val="bg1"/>
                          </a:solidFill>
                        </a:rPr>
                        <a:t>pymongo</a:t>
                      </a:r>
                      <a:r>
                        <a:rPr lang="fr-FR" sz="1400" i="1" dirty="0">
                          <a:solidFill>
                            <a:schemeClr val="bg1"/>
                          </a:solidFill>
                        </a:rPr>
                        <a:t>) </a:t>
                      </a:r>
                      <a:r>
                        <a:rPr lang="fr-FR" sz="1400" dirty="0">
                          <a:solidFill>
                            <a:schemeClr val="bg1"/>
                          </a:solidFill>
                        </a:rPr>
                        <a:t>pour : 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400" dirty="0">
                          <a:solidFill>
                            <a:schemeClr val="bg1"/>
                          </a:solidFill>
                        </a:rPr>
                        <a:t>Se connecter à la base de données.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Lire</a:t>
                      </a:r>
                      <a:r>
                        <a:rPr lang="fr-FR" sz="1400" dirty="0">
                          <a:solidFill>
                            <a:schemeClr val="bg1"/>
                          </a:solidFill>
                        </a:rPr>
                        <a:t> le </a:t>
                      </a:r>
                      <a:r>
                        <a:rPr lang="fr-FR" sz="1400" dirty="0" err="1">
                          <a:solidFill>
                            <a:schemeClr val="bg1"/>
                          </a:solidFill>
                        </a:rPr>
                        <a:t>dataset</a:t>
                      </a:r>
                      <a:r>
                        <a:rPr lang="fr-FR" sz="1400" dirty="0">
                          <a:solidFill>
                            <a:schemeClr val="bg1"/>
                          </a:solidFill>
                        </a:rPr>
                        <a:t> source. 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Mapper</a:t>
                      </a:r>
                      <a:r>
                        <a:rPr lang="fr-FR" sz="1400" dirty="0">
                          <a:solidFill>
                            <a:schemeClr val="bg1"/>
                          </a:solidFill>
                        </a:rPr>
                        <a:t> et transformer les données dans la structure de document MongoDB souhaitée.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Insérer</a:t>
                      </a:r>
                      <a:r>
                        <a:rPr lang="fr-FR" sz="1400" dirty="0">
                          <a:solidFill>
                            <a:schemeClr val="bg1"/>
                          </a:solidFill>
                        </a:rPr>
                        <a:t> les documents dans la collection cible.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4122068"/>
                  </a:ext>
                </a:extLst>
              </a:tr>
              <a:tr h="6496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>
                          <a:solidFill>
                            <a:schemeClr val="bg1"/>
                          </a:solidFill>
                        </a:rPr>
                        <a:t>3. Le Script de Validation de la base de données</a:t>
                      </a:r>
                      <a:endParaRPr lang="fr-FR" sz="18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0" dirty="0">
                          <a:solidFill>
                            <a:schemeClr val="bg1"/>
                          </a:solidFill>
                        </a:rPr>
                        <a:t>Développement d'un script </a:t>
                      </a:r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Python</a:t>
                      </a:r>
                      <a:r>
                        <a:rPr lang="fr-FR" sz="1400" b="0" dirty="0">
                          <a:solidFill>
                            <a:schemeClr val="bg1"/>
                          </a:solidFill>
                        </a:rPr>
                        <a:t> utilisant le driver MongoDB </a:t>
                      </a:r>
                      <a:r>
                        <a:rPr lang="fr-FR" sz="1400" b="0" i="1" dirty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fr-FR" sz="1400" b="0" i="1" dirty="0" err="1">
                          <a:solidFill>
                            <a:schemeClr val="bg1"/>
                          </a:solidFill>
                        </a:rPr>
                        <a:t>pymongo</a:t>
                      </a:r>
                      <a:r>
                        <a:rPr lang="fr-FR" sz="1400" b="0" i="1" dirty="0">
                          <a:solidFill>
                            <a:schemeClr val="bg1"/>
                          </a:solidFill>
                        </a:rPr>
                        <a:t>) </a:t>
                      </a:r>
                      <a:r>
                        <a:rPr lang="fr-FR" sz="1400" b="0" dirty="0">
                          <a:solidFill>
                            <a:schemeClr val="bg1"/>
                          </a:solidFill>
                        </a:rPr>
                        <a:t>pour : 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400" b="0" dirty="0">
                          <a:solidFill>
                            <a:schemeClr val="bg1"/>
                          </a:solidFill>
                        </a:rPr>
                        <a:t>Se connecter à la base de données.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Vérification</a:t>
                      </a:r>
                      <a:r>
                        <a:rPr lang="fr-FR" sz="1400" b="0" dirty="0">
                          <a:solidFill>
                            <a:schemeClr val="bg1"/>
                          </a:solidFill>
                        </a:rPr>
                        <a:t> que les commandes de base </a:t>
                      </a:r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CRUD</a:t>
                      </a:r>
                      <a:r>
                        <a:rPr lang="fr-FR" sz="1400" b="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fr-FR" sz="1400" b="0" i="1" dirty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fr-FR" sz="1400" b="0" i="1" dirty="0" err="1">
                          <a:solidFill>
                            <a:schemeClr val="bg1"/>
                          </a:solidFill>
                        </a:rPr>
                        <a:t>Create</a:t>
                      </a:r>
                      <a:r>
                        <a:rPr lang="fr-FR" sz="1400" b="0" i="1" dirty="0">
                          <a:solidFill>
                            <a:schemeClr val="bg1"/>
                          </a:solidFill>
                        </a:rPr>
                        <a:t>, Read, Update, </a:t>
                      </a:r>
                      <a:r>
                        <a:rPr lang="fr-FR" sz="1400" b="0" i="1" dirty="0" err="1">
                          <a:solidFill>
                            <a:schemeClr val="bg1"/>
                          </a:solidFill>
                        </a:rPr>
                        <a:t>Delete</a:t>
                      </a:r>
                      <a:r>
                        <a:rPr lang="fr-FR" sz="1400" b="0" i="1" dirty="0">
                          <a:solidFill>
                            <a:schemeClr val="bg1"/>
                          </a:solidFill>
                        </a:rPr>
                        <a:t>)</a:t>
                      </a:r>
                      <a:r>
                        <a:rPr lang="fr-FR" sz="1400" b="0" dirty="0">
                          <a:solidFill>
                            <a:schemeClr val="bg1"/>
                          </a:solidFill>
                        </a:rPr>
                        <a:t> fonctionne correctement.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03214794"/>
                  </a:ext>
                </a:extLst>
              </a:tr>
              <a:tr h="47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>
                          <a:solidFill>
                            <a:schemeClr val="bg1"/>
                          </a:solidFill>
                        </a:rPr>
                        <a:t>3. Conteneurisation (Docker)</a:t>
                      </a:r>
                      <a:endParaRPr lang="fr-FR" sz="18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solidFill>
                            <a:schemeClr val="bg1"/>
                          </a:solidFill>
                        </a:rPr>
                        <a:t>Création de deux images Docker :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400" dirty="0">
                          <a:solidFill>
                            <a:schemeClr val="bg1"/>
                          </a:solidFill>
                        </a:rPr>
                        <a:t>Une image pour le </a:t>
                      </a:r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service MongoDB</a:t>
                      </a:r>
                      <a:r>
                        <a:rPr lang="fr-FR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fr-FR" sz="1400" i="1" dirty="0">
                          <a:solidFill>
                            <a:schemeClr val="bg1"/>
                          </a:solidFill>
                        </a:rPr>
                        <a:t>(basé sur l'image officielle mongo)</a:t>
                      </a:r>
                      <a:r>
                        <a:rPr lang="fr-FR" sz="1400" dirty="0">
                          <a:solidFill>
                            <a:schemeClr val="bg1"/>
                          </a:solidFill>
                        </a:rPr>
                        <a:t>.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400" dirty="0">
                          <a:solidFill>
                            <a:schemeClr val="bg1"/>
                          </a:solidFill>
                        </a:rPr>
                        <a:t>Une image pour le </a:t>
                      </a:r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script de migration</a:t>
                      </a:r>
                      <a:r>
                        <a:rPr lang="fr-FR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fr-FR" sz="1400" i="1" dirty="0">
                          <a:solidFill>
                            <a:schemeClr val="bg1"/>
                          </a:solidFill>
                        </a:rPr>
                        <a:t>(basé sur Python et incluant les scripts)</a:t>
                      </a:r>
                      <a:r>
                        <a:rPr lang="fr-FR" sz="1400" dirty="0">
                          <a:solidFill>
                            <a:schemeClr val="bg1"/>
                          </a:solidFill>
                        </a:rPr>
                        <a:t>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6813725"/>
                  </a:ext>
                </a:extLst>
              </a:tr>
              <a:tr h="338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>
                          <a:solidFill>
                            <a:schemeClr val="bg1"/>
                          </a:solidFill>
                        </a:rPr>
                        <a:t>4. Orchestration</a:t>
                      </a:r>
                      <a:endParaRPr lang="fr-FR" sz="18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solidFill>
                            <a:schemeClr val="bg1"/>
                          </a:solidFill>
                        </a:rPr>
                        <a:t>Utilisation de </a:t>
                      </a:r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Docker Compose</a:t>
                      </a:r>
                      <a:r>
                        <a:rPr lang="fr-FR" sz="1400" dirty="0">
                          <a:solidFill>
                            <a:schemeClr val="bg1"/>
                          </a:solidFill>
                        </a:rPr>
                        <a:t> pour définir et exécuter l'application multi-conteneurs : la base de données et le conteneur de migration.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45958382"/>
                  </a:ext>
                </a:extLst>
              </a:tr>
              <a:tr h="338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>
                          <a:solidFill>
                            <a:schemeClr val="bg1"/>
                          </a:solidFill>
                        </a:rPr>
                        <a:t>5. Validation</a:t>
                      </a:r>
                      <a:endParaRPr lang="fr-FR" sz="18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solidFill>
                            <a:schemeClr val="bg1"/>
                          </a:solidFill>
                        </a:rPr>
                        <a:t>Vérification de l'intégrité et de la cohérence des données migrées grâce au script Python de validation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572982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7594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44AEC-61CD-6584-3DF5-3A64C9C94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9C6DA3DD-AB03-EC87-ACE6-8A8AE0A8EA83}"/>
              </a:ext>
            </a:extLst>
          </p:cNvPr>
          <p:cNvSpPr txBox="1"/>
          <p:nvPr/>
        </p:nvSpPr>
        <p:spPr>
          <a:xfrm>
            <a:off x="1766930" y="0"/>
            <a:ext cx="865813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400" b="1" dirty="0"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Schéma de la Base de Données</a:t>
            </a:r>
            <a:endParaRPr lang="fr-FR" sz="3200" b="1" dirty="0">
              <a:solidFill>
                <a:srgbClr val="0070C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754F78F-5162-D2CA-D4AA-5A0F7EC74404}"/>
              </a:ext>
            </a:extLst>
          </p:cNvPr>
          <p:cNvSpPr txBox="1"/>
          <p:nvPr/>
        </p:nvSpPr>
        <p:spPr>
          <a:xfrm>
            <a:off x="758645" y="1719558"/>
            <a:ext cx="3223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i="1" u="sng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 de la base de données</a:t>
            </a:r>
            <a:endParaRPr lang="fr-FR" i="1" u="sng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8BA2DDA-625F-C37D-D474-00642722B97C}"/>
              </a:ext>
            </a:extLst>
          </p:cNvPr>
          <p:cNvSpPr txBox="1"/>
          <p:nvPr/>
        </p:nvSpPr>
        <p:spPr>
          <a:xfrm>
            <a:off x="6095999" y="1734947"/>
            <a:ext cx="32776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healthcare_db</a:t>
            </a:r>
            <a:endParaRPr lang="fr-FR" sz="1600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64396E59-53DF-68EC-5EF7-58E53DC81DB5}"/>
              </a:ext>
            </a:extLst>
          </p:cNvPr>
          <p:cNvSpPr txBox="1"/>
          <p:nvPr/>
        </p:nvSpPr>
        <p:spPr>
          <a:xfrm>
            <a:off x="758645" y="2088890"/>
            <a:ext cx="2428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i="1" u="sng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 de la collection</a:t>
            </a:r>
            <a:endParaRPr lang="fr-FR" i="1" u="sng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22B25C9-5902-EDA4-D610-2F9F116C73FC}"/>
              </a:ext>
            </a:extLst>
          </p:cNvPr>
          <p:cNvSpPr txBox="1"/>
          <p:nvPr/>
        </p:nvSpPr>
        <p:spPr>
          <a:xfrm>
            <a:off x="6095999" y="2104279"/>
            <a:ext cx="12192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patients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1E4F82F7-607E-C99E-0BDF-94E606561848}"/>
              </a:ext>
            </a:extLst>
          </p:cNvPr>
          <p:cNvSpPr txBox="1"/>
          <p:nvPr/>
        </p:nvSpPr>
        <p:spPr>
          <a:xfrm>
            <a:off x="758645" y="2473611"/>
            <a:ext cx="39591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i="1" u="sng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Structure du Document ‘patients’</a:t>
            </a:r>
            <a:endParaRPr lang="fr-FR" i="1" u="sng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BB7F88B2-63E4-2E98-5057-C675AECDE664}"/>
              </a:ext>
            </a:extLst>
          </p:cNvPr>
          <p:cNvSpPr txBox="1"/>
          <p:nvPr/>
        </p:nvSpPr>
        <p:spPr>
          <a:xfrm>
            <a:off x="6098189" y="2490212"/>
            <a:ext cx="374072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6213" indent="-176213"/>
            <a:r>
              <a:rPr lang="fr-FR" sz="1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</a:t>
            </a:r>
          </a:p>
          <a:p>
            <a:pPr marL="176213" indent="-176213"/>
            <a:r>
              <a:rPr lang="fr-FR" sz="1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'_id': </a:t>
            </a:r>
            <a:r>
              <a:rPr lang="fr-FR" sz="1200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ObjectId</a:t>
            </a:r>
            <a:r>
              <a:rPr lang="fr-FR" sz="1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(‘</a:t>
            </a:r>
            <a:r>
              <a:rPr lang="fr-FR" sz="1200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xxxxxxxxxxxxxxxxxxxxxxxx</a:t>
            </a:r>
            <a:r>
              <a:rPr lang="fr-FR" sz="1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’),</a:t>
            </a:r>
          </a:p>
          <a:p>
            <a:pPr marL="176213" lvl="1" indent="-176213"/>
            <a:r>
              <a:rPr lang="fr-FR" sz="1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'</a:t>
            </a:r>
            <a:r>
              <a:rPr lang="fr-FR" sz="1200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id_patient</a:t>
            </a:r>
            <a:r>
              <a:rPr lang="fr-FR" sz="1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’: x,</a:t>
            </a:r>
          </a:p>
          <a:p>
            <a:pPr marL="176213" lvl="1" indent="-176213"/>
            <a:r>
              <a:rPr lang="fr-FR" sz="1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'Name': ‘</a:t>
            </a:r>
            <a:r>
              <a:rPr lang="fr-FR" sz="1200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xxxxx</a:t>
            </a:r>
            <a:r>
              <a:rPr lang="fr-FR" sz="1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xxxxx</a:t>
            </a:r>
            <a:r>
              <a:rPr lang="fr-FR" sz="1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’,</a:t>
            </a:r>
          </a:p>
          <a:p>
            <a:pPr marL="176213" lvl="1" indent="-176213"/>
            <a:r>
              <a:rPr lang="fr-FR" sz="1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'Age': 30,</a:t>
            </a:r>
          </a:p>
          <a:p>
            <a:pPr marL="176213" lvl="1" indent="-176213"/>
            <a:r>
              <a:rPr lang="fr-FR" sz="1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'</a:t>
            </a:r>
            <a:r>
              <a:rPr lang="fr-FR" sz="1200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Gender</a:t>
            </a:r>
            <a:r>
              <a:rPr lang="fr-FR" sz="1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': 'Male’,</a:t>
            </a:r>
          </a:p>
          <a:p>
            <a:pPr marL="176213" lvl="1" indent="-176213"/>
            <a:r>
              <a:rPr lang="fr-FR" sz="1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'Blood Type': 'B-’,</a:t>
            </a:r>
          </a:p>
          <a:p>
            <a:pPr marL="176213" lvl="1" indent="-176213"/>
            <a:r>
              <a:rPr lang="fr-FR" sz="1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'</a:t>
            </a:r>
            <a:r>
              <a:rPr lang="fr-FR" sz="1200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Medical</a:t>
            </a:r>
            <a:r>
              <a:rPr lang="fr-FR" sz="1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Condition': 'Cancer’,</a:t>
            </a:r>
          </a:p>
          <a:p>
            <a:pPr marL="176213" lvl="1" indent="-176213"/>
            <a:r>
              <a:rPr lang="fr-FR" sz="1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'Date of Admission': '2024-01-31’,</a:t>
            </a:r>
          </a:p>
          <a:p>
            <a:pPr marL="176213" lvl="1" indent="-176213"/>
            <a:r>
              <a:rPr lang="fr-FR" sz="1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'</a:t>
            </a:r>
            <a:r>
              <a:rPr lang="fr-FR" sz="1200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Doctor</a:t>
            </a:r>
            <a:r>
              <a:rPr lang="fr-FR" sz="1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’: </a:t>
            </a:r>
            <a:r>
              <a:rPr lang="fr-FR" sz="1200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xxxxx</a:t>
            </a:r>
            <a:r>
              <a:rPr lang="fr-FR" sz="1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xxxxx</a:t>
            </a:r>
            <a:r>
              <a:rPr lang="fr-FR" sz="1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’,</a:t>
            </a:r>
          </a:p>
          <a:p>
            <a:pPr marL="176213" lvl="1" indent="-176213"/>
            <a:r>
              <a:rPr lang="fr-FR" sz="1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'Hospital': 'Sons and Miller’,</a:t>
            </a:r>
          </a:p>
          <a:p>
            <a:pPr marL="176213" lvl="1" indent="-176213"/>
            <a:r>
              <a:rPr lang="fr-FR" sz="1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'</a:t>
            </a:r>
            <a:r>
              <a:rPr lang="fr-FR" sz="1200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Insurance</a:t>
            </a:r>
            <a:r>
              <a:rPr lang="fr-FR" sz="1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Provider': 'Blue Cross’,</a:t>
            </a:r>
          </a:p>
          <a:p>
            <a:pPr marL="176213" lvl="1" indent="-176213"/>
            <a:r>
              <a:rPr lang="fr-FR" sz="1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'</a:t>
            </a:r>
            <a:r>
              <a:rPr lang="fr-FR" sz="1200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Billing</a:t>
            </a:r>
            <a:r>
              <a:rPr lang="fr-FR" sz="1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Amount</a:t>
            </a:r>
            <a:r>
              <a:rPr lang="fr-FR" sz="1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': 18856.281305978155,</a:t>
            </a:r>
          </a:p>
          <a:p>
            <a:pPr marL="176213" lvl="1" indent="-176213"/>
            <a:r>
              <a:rPr lang="fr-FR" sz="1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'Room </a:t>
            </a:r>
            <a:r>
              <a:rPr lang="fr-FR" sz="1200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Number</a:t>
            </a:r>
            <a:r>
              <a:rPr lang="fr-FR" sz="1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': 328,</a:t>
            </a:r>
          </a:p>
          <a:p>
            <a:pPr marL="176213" lvl="1" indent="-176213"/>
            <a:r>
              <a:rPr lang="fr-FR" sz="1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'Admission Type': 'Urgent’,</a:t>
            </a:r>
          </a:p>
          <a:p>
            <a:pPr marL="176213" lvl="1" indent="-176213"/>
            <a:r>
              <a:rPr lang="fr-FR" sz="1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'</a:t>
            </a:r>
            <a:r>
              <a:rPr lang="fr-FR" sz="1200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Discharge</a:t>
            </a:r>
            <a:r>
              <a:rPr lang="fr-FR" sz="1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Date': '2024-02-02’,</a:t>
            </a:r>
          </a:p>
          <a:p>
            <a:pPr marL="176213" lvl="1" indent="-176213"/>
            <a:r>
              <a:rPr lang="fr-FR" sz="1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'</a:t>
            </a:r>
            <a:r>
              <a:rPr lang="fr-FR" sz="1200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Medication</a:t>
            </a:r>
            <a:r>
              <a:rPr lang="fr-FR" sz="1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': '</a:t>
            </a:r>
            <a:r>
              <a:rPr lang="fr-FR" sz="1200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Paracetamol</a:t>
            </a:r>
            <a:r>
              <a:rPr lang="fr-FR" sz="1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’,</a:t>
            </a:r>
          </a:p>
          <a:p>
            <a:pPr marL="176213" lvl="1" indent="-176213"/>
            <a:r>
              <a:rPr lang="fr-FR" sz="1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'Test </a:t>
            </a:r>
            <a:r>
              <a:rPr lang="fr-FR" sz="1200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r>
              <a:rPr lang="fr-FR" sz="1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': 'Normal’</a:t>
            </a:r>
          </a:p>
          <a:p>
            <a:pPr marL="176213" indent="-176213"/>
            <a:r>
              <a:rPr lang="fr-FR" sz="1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172767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03A837-FB8C-36B2-5A2C-EFFC82F1A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1D89E63F-E4B6-4836-75EC-067536E6CDF0}"/>
              </a:ext>
            </a:extLst>
          </p:cNvPr>
          <p:cNvSpPr txBox="1"/>
          <p:nvPr/>
        </p:nvSpPr>
        <p:spPr>
          <a:xfrm>
            <a:off x="1766930" y="0"/>
            <a:ext cx="865813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400" b="1" dirty="0"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Schéma de la Base de Données</a:t>
            </a:r>
            <a:endParaRPr lang="fr-FR" sz="3200" b="1" dirty="0">
              <a:solidFill>
                <a:srgbClr val="0070C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3653CF8-CEF1-99A5-DCFD-5C4A628F3DC5}"/>
              </a:ext>
            </a:extLst>
          </p:cNvPr>
          <p:cNvSpPr txBox="1"/>
          <p:nvPr/>
        </p:nvSpPr>
        <p:spPr>
          <a:xfrm>
            <a:off x="758645" y="1719558"/>
            <a:ext cx="2634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i="1" u="sng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Structure des fichiers:</a:t>
            </a:r>
            <a:endParaRPr lang="fr-FR" i="1" u="sng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69C6A159-20C4-AA6E-EA29-B38B3E088D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1757" y="2088890"/>
            <a:ext cx="6868484" cy="4201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73427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7029E-5ECB-2034-8AEA-AF9E810B4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4FC433E4-75F4-0493-887C-5C27BA2BD00B}"/>
              </a:ext>
            </a:extLst>
          </p:cNvPr>
          <p:cNvSpPr txBox="1"/>
          <p:nvPr/>
        </p:nvSpPr>
        <p:spPr>
          <a:xfrm>
            <a:off x="2721935" y="0"/>
            <a:ext cx="674812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400" b="1" dirty="0"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Déploiement Cloud AWS</a:t>
            </a:r>
            <a:endParaRPr lang="fr-FR" sz="3200" b="1" dirty="0">
              <a:solidFill>
                <a:srgbClr val="0070C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B4A2589-3F4B-F0C2-03A7-E50C96907986}"/>
              </a:ext>
            </a:extLst>
          </p:cNvPr>
          <p:cNvSpPr txBox="1"/>
          <p:nvPr/>
        </p:nvSpPr>
        <p:spPr>
          <a:xfrm>
            <a:off x="758645" y="1475531"/>
            <a:ext cx="2608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i="1" u="sng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Amazon </a:t>
            </a:r>
            <a:r>
              <a:rPr lang="fr-FR" b="1" i="1" u="sng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DocumentDB</a:t>
            </a:r>
            <a:endParaRPr lang="fr-FR" i="1" u="sng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94D485D-D2E2-9A84-CDB4-D1D44CD9CE71}"/>
              </a:ext>
            </a:extLst>
          </p:cNvPr>
          <p:cNvSpPr txBox="1"/>
          <p:nvPr/>
        </p:nvSpPr>
        <p:spPr>
          <a:xfrm>
            <a:off x="758645" y="1844863"/>
            <a:ext cx="96692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Service compatible MongoDB entièrement géré par AWS.	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Simplicité &amp; Maintenance Zéro : 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AWS s'occupe du </a:t>
            </a:r>
            <a:r>
              <a:rPr lang="fr-FR" sz="1600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patching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de la sauvegarde, de la scalabilité.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Haute Disponibilité : 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Architecture distribuée sur plusieurs zones de disponibilité.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E6B1774-3AD7-9B12-C3A9-0F18054F8B80}"/>
              </a:ext>
            </a:extLst>
          </p:cNvPr>
          <p:cNvSpPr txBox="1"/>
          <p:nvPr/>
        </p:nvSpPr>
        <p:spPr>
          <a:xfrm>
            <a:off x="758645" y="2873949"/>
            <a:ext cx="4801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u="sng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MongoDB sur EC2 + Auto Scaling Group	</a:t>
            </a:r>
            <a:endParaRPr lang="fr-FR" i="1" u="sng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A129CC6A-0716-AE8C-8D7A-4363CDC76B03}"/>
              </a:ext>
            </a:extLst>
          </p:cNvPr>
          <p:cNvSpPr txBox="1"/>
          <p:nvPr/>
        </p:nvSpPr>
        <p:spPr>
          <a:xfrm>
            <a:off x="758645" y="3243281"/>
            <a:ext cx="966921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Déploiement manuel de la communauté MongoDB ou de MongoDB Enterprise sur des instances Amazon EC2 </a:t>
            </a:r>
            <a:r>
              <a:rPr lang="fr-FR" sz="1600" i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(machines virtuelles)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Contrôle Total : 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Flexibilité maximale sur la configuration et la version de MongoDB.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Optimisation des Coûts </a:t>
            </a:r>
            <a:r>
              <a:rPr lang="fr-FR" sz="1600" b="1" i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(si bien géré) </a:t>
            </a: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Choix précis du matériel.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08876D4-3AD5-EC87-D1CD-128665B4AFBB}"/>
              </a:ext>
            </a:extLst>
          </p:cNvPr>
          <p:cNvSpPr txBox="1"/>
          <p:nvPr/>
        </p:nvSpPr>
        <p:spPr>
          <a:xfrm>
            <a:off x="758646" y="4518588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u="sng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MongoDB Atlas sur AWS	</a:t>
            </a:r>
            <a:endParaRPr lang="fr-FR" i="1" u="sng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3FCE2993-2150-6FF2-9D6A-A56116FCCFDB}"/>
              </a:ext>
            </a:extLst>
          </p:cNvPr>
          <p:cNvSpPr txBox="1"/>
          <p:nvPr/>
        </p:nvSpPr>
        <p:spPr>
          <a:xfrm>
            <a:off x="758645" y="4887920"/>
            <a:ext cx="98631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Service cloud de MongoDB </a:t>
            </a:r>
            <a:r>
              <a:rPr lang="fr-FR" sz="1600" i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(éditeur)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hébergé sur l'infrastructure AWS.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Fonctionnalités MongoDB Avancées :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Accès direct aux outils d'analyse et de déploiement de l'éditeur.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Déploiement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6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Multi-Cloud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facilité.</a:t>
            </a:r>
          </a:p>
        </p:txBody>
      </p:sp>
    </p:spTree>
    <p:extLst>
      <p:ext uri="{BB962C8B-B14F-4D97-AF65-F5344CB8AC3E}">
        <p14:creationId xmlns:p14="http://schemas.microsoft.com/office/powerpoint/2010/main" val="10558308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DB9B1-03D0-BF23-6559-D65A2CFF3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B297FF2A-DACC-1A4F-DBAA-4B0F9AE2C19D}"/>
              </a:ext>
            </a:extLst>
          </p:cNvPr>
          <p:cNvSpPr txBox="1"/>
          <p:nvPr/>
        </p:nvSpPr>
        <p:spPr>
          <a:xfrm>
            <a:off x="1837077" y="0"/>
            <a:ext cx="851784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400" b="1" dirty="0"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Synergie AWS pour l’efficacité</a:t>
            </a:r>
            <a:endParaRPr lang="fr-FR" sz="3200" b="1" dirty="0">
              <a:solidFill>
                <a:srgbClr val="0070C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D96D579-5B3C-0BE6-6D5E-C8E3C73570C3}"/>
              </a:ext>
            </a:extLst>
          </p:cNvPr>
          <p:cNvSpPr txBox="1"/>
          <p:nvPr/>
        </p:nvSpPr>
        <p:spPr>
          <a:xfrm>
            <a:off x="758645" y="2334512"/>
            <a:ext cx="46089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i="1" u="sng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Amazon ECS (</a:t>
            </a:r>
            <a:r>
              <a:rPr lang="fr-FR" b="1" i="1" u="sng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Elastic</a:t>
            </a:r>
            <a:r>
              <a:rPr lang="fr-FR" b="1" i="1" u="sng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Container Service)</a:t>
            </a:r>
            <a:endParaRPr lang="fr-FR" i="1" u="sng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6834BA7-A209-DEB2-8CFD-C087281F73F6}"/>
              </a:ext>
            </a:extLst>
          </p:cNvPr>
          <p:cNvSpPr txBox="1"/>
          <p:nvPr/>
        </p:nvSpPr>
        <p:spPr>
          <a:xfrm>
            <a:off x="758644" y="2703844"/>
            <a:ext cx="102418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Pour le déploiement de </a:t>
            </a: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l'application conteneurisée </a:t>
            </a:r>
            <a:r>
              <a:rPr lang="fr-FR" sz="1600" i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(via Docker) 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qui interagit avec MongoDB.	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Permet d'exécuter facilement nos conteneurs Docker de manière </a:t>
            </a: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scalable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et </a:t>
            </a: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fiable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sur l'infrastructure AWS.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AC4F356-E4B4-BDB4-015F-630ABE19731D}"/>
              </a:ext>
            </a:extLst>
          </p:cNvPr>
          <p:cNvSpPr txBox="1"/>
          <p:nvPr/>
        </p:nvSpPr>
        <p:spPr>
          <a:xfrm>
            <a:off x="758644" y="3657951"/>
            <a:ext cx="42114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u="sng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Amazon S3 (Simple Storage Service)</a:t>
            </a:r>
            <a:endParaRPr lang="fr-FR" i="1" u="sng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357269EA-989D-3B4A-6F94-AEC93FA23129}"/>
              </a:ext>
            </a:extLst>
          </p:cNvPr>
          <p:cNvSpPr txBox="1"/>
          <p:nvPr/>
        </p:nvSpPr>
        <p:spPr>
          <a:xfrm>
            <a:off x="758644" y="4027283"/>
            <a:ext cx="966921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Sauvegarde :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Stockage sécurisé et durable des sauvegardes de la base de données.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Lac de Données </a:t>
            </a:r>
            <a:r>
              <a:rPr lang="fr-FR" sz="1600" b="1" i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(Data Lake)</a:t>
            </a: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: 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Stocker le </a:t>
            </a:r>
            <a:r>
              <a:rPr lang="fr-FR" sz="1600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dataset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brut initial et les données d'archives à faible coût </a:t>
            </a:r>
            <a:r>
              <a:rPr lang="fr-FR" sz="1600" i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fr-FR" sz="1600" b="1" i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Coût Faible </a:t>
            </a:r>
            <a:r>
              <a:rPr lang="fr-FR" sz="1600" i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pour le stockage froid et l'archivage)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Durabilité Élevée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(99.999999999% de durabilité).</a:t>
            </a:r>
          </a:p>
        </p:txBody>
      </p:sp>
    </p:spTree>
    <p:extLst>
      <p:ext uri="{BB962C8B-B14F-4D97-AF65-F5344CB8AC3E}">
        <p14:creationId xmlns:p14="http://schemas.microsoft.com/office/powerpoint/2010/main" val="4072649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2C379-C757-7143-BC4F-6886B8BC3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B3452DAC-76A7-3B41-FF39-8C2FBC58E6AA}"/>
              </a:ext>
            </a:extLst>
          </p:cNvPr>
          <p:cNvSpPr txBox="1"/>
          <p:nvPr/>
        </p:nvSpPr>
        <p:spPr>
          <a:xfrm>
            <a:off x="1532892" y="0"/>
            <a:ext cx="912621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400" b="1" dirty="0"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Conclusion et Prochaines Étapes</a:t>
            </a:r>
            <a:endParaRPr lang="fr-FR" sz="3200" b="1" dirty="0">
              <a:solidFill>
                <a:srgbClr val="0070C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2CDB500-DF31-7EDF-7980-BFC9E38FA603}"/>
              </a:ext>
            </a:extLst>
          </p:cNvPr>
          <p:cNvSpPr txBox="1"/>
          <p:nvPr/>
        </p:nvSpPr>
        <p:spPr>
          <a:xfrm>
            <a:off x="758645" y="1965061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i="1" u="sng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Synthèse du Travail	</a:t>
            </a:r>
            <a:endParaRPr lang="fr-FR" i="1" u="sng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9B3810F-F0E6-8F45-F491-AC3B2F92E00B}"/>
              </a:ext>
            </a:extLst>
          </p:cNvPr>
          <p:cNvSpPr txBox="1"/>
          <p:nvPr/>
        </p:nvSpPr>
        <p:spPr>
          <a:xfrm>
            <a:off x="758644" y="2334393"/>
            <a:ext cx="102418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Migration du </a:t>
            </a:r>
            <a:r>
              <a:rPr lang="fr-FR" sz="16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dataset</a:t>
            </a: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médical vers un schéma </a:t>
            </a: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MongoDB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600" u="sng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flexible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et </a:t>
            </a:r>
            <a:r>
              <a:rPr lang="fr-FR" sz="1600" u="sng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performant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Solution conteneurisée </a:t>
            </a:r>
            <a:r>
              <a:rPr lang="fr-FR" sz="1600" i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(Docker)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et </a:t>
            </a: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versionnée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600" i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(GitHub)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pour une </a:t>
            </a:r>
            <a:r>
              <a:rPr lang="fr-FR" sz="1600" u="sng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portabilité maximale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Documentation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600" u="sng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claire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BB4A2F6-02DE-304F-3175-FC89106BA3F6}"/>
              </a:ext>
            </a:extLst>
          </p:cNvPr>
          <p:cNvSpPr txBox="1"/>
          <p:nvPr/>
        </p:nvSpPr>
        <p:spPr>
          <a:xfrm>
            <a:off x="758644" y="3288500"/>
            <a:ext cx="2903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u="sng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Recommandation</a:t>
            </a:r>
            <a:r>
              <a:rPr lang="en-US" b="1" i="1" u="sng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Cloud </a:t>
            </a:r>
            <a:endParaRPr lang="fr-FR" i="1" u="sng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7A122C6-D678-78B1-ADB4-6071C29ED4ED}"/>
              </a:ext>
            </a:extLst>
          </p:cNvPr>
          <p:cNvSpPr txBox="1"/>
          <p:nvPr/>
        </p:nvSpPr>
        <p:spPr>
          <a:xfrm>
            <a:off x="758644" y="3657832"/>
            <a:ext cx="96692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 service </a:t>
            </a: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Amazon </a:t>
            </a:r>
            <a:r>
              <a:rPr lang="fr-FR" sz="16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DocumentDB</a:t>
            </a: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 la solution la plus recommandée, car elle combine la </a:t>
            </a: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compatibilité MongoDB 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avec la </a:t>
            </a: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simplicité de gestion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d'un service AWS entièrement managé, assurant la scalabilité souhaitée.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BC8FED6-969E-F8EC-5FF0-00C93902EF0F}"/>
              </a:ext>
            </a:extLst>
          </p:cNvPr>
          <p:cNvSpPr txBox="1"/>
          <p:nvPr/>
        </p:nvSpPr>
        <p:spPr>
          <a:xfrm>
            <a:off x="758644" y="4611939"/>
            <a:ext cx="2249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u="sng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Prochaines</a:t>
            </a:r>
            <a:r>
              <a:rPr lang="en-US" b="1" i="1" u="sng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Étapes</a:t>
            </a:r>
            <a:endParaRPr lang="fr-FR" i="1" u="sng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795A576C-FEDE-E6B7-273A-25AE0CCFB38A}"/>
              </a:ext>
            </a:extLst>
          </p:cNvPr>
          <p:cNvSpPr txBox="1"/>
          <p:nvPr/>
        </p:nvSpPr>
        <p:spPr>
          <a:xfrm>
            <a:off x="758644" y="4981271"/>
            <a:ext cx="966921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Validation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du schéma de la collection patients. </a:t>
            </a:r>
          </a:p>
          <a:p>
            <a:pPr marL="342900" indent="-342900">
              <a:buAutoNum type="arabicPeriod"/>
            </a:pP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Déploiement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d'un environnement de </a:t>
            </a: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POC </a:t>
            </a:r>
            <a:r>
              <a:rPr lang="fr-FR" sz="1600" i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(Proof of Concept)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fr-FR" sz="1600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DocumentDB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sur AWS.</a:t>
            </a:r>
          </a:p>
          <a:p>
            <a:pPr marL="342900" indent="-342900">
              <a:buAutoNum type="arabicPeriod"/>
            </a:pP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Finalisation du script de migration 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pour l'environnement de production </a:t>
            </a:r>
            <a:r>
              <a:rPr lang="fr-FR" sz="16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AWS</a:t>
            </a:r>
            <a:r>
              <a:rPr lang="fr-FR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47936245"/>
      </p:ext>
    </p:extLst>
  </p:cSld>
  <p:clrMapOvr>
    <a:masterClrMapping/>
  </p:clrMapOvr>
</p:sld>
</file>

<file path=ppt/theme/theme1.xml><?xml version="1.0" encoding="utf-8"?>
<a:theme xmlns:a="http://schemas.openxmlformats.org/drawingml/2006/main" name="Facette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397</TotalTime>
  <Words>1038</Words>
  <Application>Microsoft Office PowerPoint</Application>
  <PresentationFormat>Grand écran</PresentationFormat>
  <Paragraphs>117</Paragraphs>
  <Slides>11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6" baseType="lpstr">
      <vt:lpstr>Arial</vt:lpstr>
      <vt:lpstr>Calibri</vt:lpstr>
      <vt:lpstr>Trebuchet MS</vt:lpstr>
      <vt:lpstr>Wingdings 3</vt:lpstr>
      <vt:lpstr>Facette</vt:lpstr>
      <vt:lpstr>Migration des Données Médicales :  Vers la Scalabilité Big Data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Aymeric Bailleul</dc:creator>
  <cp:lastModifiedBy>Aymeric Bailleul</cp:lastModifiedBy>
  <cp:revision>5</cp:revision>
  <dcterms:created xsi:type="dcterms:W3CDTF">2025-10-08T07:03:58Z</dcterms:created>
  <dcterms:modified xsi:type="dcterms:W3CDTF">2025-10-15T06:37:39Z</dcterms:modified>
</cp:coreProperties>
</file>