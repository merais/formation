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60" r:id="rId8"/>
    <p:sldId id="259" r:id="rId9"/>
    <p:sldId id="262" r:id="rId10"/>
    <p:sldId id="263" r:id="rId11"/>
    <p:sldId id="265" r:id="rId12"/>
    <p:sldId id="266" r:id="rId13"/>
    <p:sldId id="264" r:id="rId14"/>
    <p:sldId id="267" r:id="rId15"/>
    <p:sldId id="268" r:id="rId16"/>
    <p:sldId id="270" r:id="rId17"/>
    <p:sldId id="269" r:id="rId18"/>
    <p:sldId id="271" r:id="rId19"/>
    <p:sldId id="273" r:id="rId20"/>
  </p:sldIdLst>
  <p:sldSz cx="9906000" cy="6858000" type="A4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8196" autoAdjust="0"/>
  </p:normalViewPr>
  <p:slideViewPr>
    <p:cSldViewPr>
      <p:cViewPr varScale="1">
        <p:scale>
          <a:sx n="136" d="100"/>
          <a:sy n="136" d="100"/>
        </p:scale>
        <p:origin x="1200" y="13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33D2F5D-18A2-4407-3606-1467630EE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FE0393-F5A7-DF91-8C55-220DD0893B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104EB-64CC-414E-BB25-648E13EC7A03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B24EA7-78B1-B420-61C8-CA5FBAB00A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DB317E-6353-E051-B316-74BFDEEE2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73FF7-7262-490C-BD3E-CC07F7EAFC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2696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BB235-7BC9-423D-81A4-4F1BB8787BD1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EFA24-06D6-4906-AB5F-5B39F3AF8AD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Bonjour, je vais vous présenter mon pipeline d'orchestration pour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une entreprise viticole.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FF55-375A-DF1B-AB3D-49D82792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91157D-110D-CAE8-9D6E-E7A35E436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AFBAD3B-63BA-6F31-B12A-2BCF01AD8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doit réconcilier manuellement 3 sources chaque mois. Mon objectif : automatiser ce processus.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F94CE2-30C2-620E-B3E2-9BC1FA99A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00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CE57-ACC8-C793-3C46-E44D00B3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FD5787-D69A-9CC5-2F0E-A571D3FE1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6D08C5D-0999-2AF7-65D1-1AEB34E55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50E028-0239-AEF8-B03E-8CF36D75D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95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0D78-9BA7-9F60-E420-05411108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9BD831-2639-9738-A7CE-12BBFB262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298482-D956-929B-ED77-19A55374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outil open-source créé par Airbnb (2014) pour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orchestrer et planifier des workflows de données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python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L'ancien standard du marché</a:t>
            </a:r>
            <a:br>
              <a:rPr lang="fr-FR" dirty="0"/>
            </a:b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Alternative moderne plus simple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Gratuit, Évolutif, Indépendant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Coût 0, communauté mondiale, liberté totale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YAML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Simple, lisible, accessible à tous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chemeClr val="bg1">
                    <a:lumMod val="85000"/>
                  </a:schemeClr>
                </a:solidFill>
              </a:rPr>
              <a:t>Configuration YAML déclarative </a:t>
            </a:r>
            <a:r>
              <a:rPr lang="fr-FR" sz="1200" i="0" dirty="0">
                <a:solidFill>
                  <a:schemeClr val="bg1">
                    <a:lumMod val="85000"/>
                  </a:schemeClr>
                </a:solidFill>
              </a:rPr>
              <a:t>vous décrivez CE QUE vous voulez, </a:t>
            </a:r>
            <a:r>
              <a:rPr lang="fr-FR" sz="1200" i="0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r>
              <a:rPr lang="fr-FR" sz="1200" i="0" dirty="0">
                <a:solidFill>
                  <a:schemeClr val="bg1">
                    <a:lumMod val="85000"/>
                  </a:schemeClr>
                </a:solidFill>
              </a:rPr>
              <a:t> gère le reste</a:t>
            </a:r>
            <a:endParaRPr lang="fr-FR" sz="1800" i="0" dirty="0">
              <a:solidFill>
                <a:schemeClr val="bg1">
                  <a:lumMod val="85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05EB9E-C049-219E-036A-4BDF31FEA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160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5466-1A41-9291-BE24-82EE39C5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2F5C99-61D2-009F-3350-69B465284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A42F5C8-4F49-9D31-7983-14817E4E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le flux complet : téléchargement S3, nettoyage parallèle des 3 sources, fusion, calculs, validation, exports parallèles, puis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upload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</a:t>
            </a:r>
          </a:p>
          <a:p>
            <a:pPr lvl="0"/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Entrée : 3 fichiers Excel (S3/RAW)</a:t>
            </a:r>
          </a:p>
          <a:p>
            <a:pPr lvl="0"/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Transformation : 12 tâches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Parallélisme : 2 groupes (nettoyage + exports)</a:t>
            </a:r>
          </a:p>
          <a:p>
            <a:pPr lvl="0"/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Validations : 9 points de contrôle</a:t>
            </a:r>
          </a:p>
          <a:p>
            <a:pPr lvl="0"/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Sortie : 3 fichiers (S3/EXPORTS)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D89DB9-54B8-8AE8-CBBF-FFA206449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6042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2B569-B309-E10E-A10F-2CC82770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F74CE0-2C6A-E590-1940-EA6D30B4D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60ECAFA-3ED3-EF85-965D-45D43428D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2 - Clean ERP (fichier Stock/Prix)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Suppression valeurs manquantes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Retire les lignes où il manque des infos essentielles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Dédoublonnage sur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Si un produit apparaît 2 fois, on garde une seule ligne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Vérifie qu'on obtient exactement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825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(sinon erreur → arrêt)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Fichier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erp_clean.parquet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(format optimisé)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3 - Clean LIAISON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Particularité importante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Conservation des NULL sur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id_web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On ne supprime PAS les lignes où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id_web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 vide</a:t>
            </a:r>
          </a:p>
          <a:p>
            <a:pPr lvl="2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?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Certains produits ERP n'ont pas encore de fiche web. On filtrera ces NULL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après la jointure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avec ERP (Task 5)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Dédoublonnage uniquement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Retire les lignes en double sans toucher aux NULL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Vérifie qu'on obtient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825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(sinon erreur → arrêt)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Fichier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liaison_clean.parquet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4 - Clean WEB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Suppression des NULL sur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(identifiant produit)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Fichier initial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1513 lignes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Après suppression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1428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(85 lignes sans SKU → inutilisables)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intermédiaire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Vérifie qu'on a bien 1428 lignes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Tri par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post_type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(tri descendant)</a:t>
            </a:r>
          </a:p>
          <a:p>
            <a:pPr lvl="1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?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WordPress stocke 2 types de lignes :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 : Vrais produits (à garder)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product_variation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 : Variantes (tailles, couleurs...) (à supprimer)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Le tri met les 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 en premier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Dédoublonnage sur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='first')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même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peut apparaître plusieurs fois (produit + variantes)</a:t>
            </a:r>
          </a:p>
          <a:p>
            <a:pPr lvl="1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='first' : Garde la 1ère occurrence = le vrai produit (grâce au tri précédent)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Résultat final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714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(uniquement des vrais produits, 0 variantes)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finale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Vérifie 714 lignes exactement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Sortie : Fichier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web_clean.parquet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Parallélisme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les 3 tâches s'exécutent simultanément (gain 40% de temps)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validations bloquantes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si les nombres de lignes ne correspondent pas → arrêt immédiat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sys.exit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Parquet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plus performant que Excel/CSV pour les étapes suivantes</a:t>
            </a:r>
          </a:p>
          <a:p>
            <a:pPr lvl="1"/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A2DE84-78DD-D053-7DA1-B5D39252A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67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13DC-2C33-5DCF-8BE3-A7E0052B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CCCD80-634C-8D5C-331A-BD7662818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659E68D-5626-76ED-1E7F-492883C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Étape 1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connecte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LIAISON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grâce à leur point commun : le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(l'identifiant du produit dans l'ERP). Ça me donne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825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Étape 2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retire les produits qui n'ont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 de correspondance web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(id_web vide). Pourquoi ? Parce qu'ils n'ont jamais été vendus en ligne. Ça me fait descendre à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734 lignes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Étape 3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fusionne avec le fichier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 connectant id_web (du fichier liaison) avec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(du fichier web). Résultat final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714 produits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qui existent partout (ERP + Web + Ventes).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résumé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J'ai réconcilié 3 sources de données différentes pour obtenir une vue unifiée de 714 produits avec toutes leurs informations (stock, prix, ventes)."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30B36B-1CF1-D288-676E-7E8508CB5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204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BA78-291B-932E-A91E-41E474A5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F5949B-C577-706B-3A86-6B36217CA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682399-2A62-99B9-5B04-8271A434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JOIN sur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 les produits du fichier ERP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(tableau de gauche)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Ajoute les colonnes du fichier LIAISON quand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correspond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un produit ERP n'a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 de correspondance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dans LIAISON → met NULL dans les colonnes LIAISON</a:t>
            </a: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dropna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id_web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Supprime toutes les lignes où id_web est vide (NULL)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 touche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aux autres colonnes avec NULL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produits sans id_web n'ont jamais été mis en ligne → impossible de les joindre avec le fichier WEB → inutiles pour la suite.</a:t>
            </a: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 JOIN sur id_web =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les lignes où id_web (du tableau ERP+LIAISON) correspond à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(du tableau WEB)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pas de correspondance → ligne supprimée des deux côtés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 strict que LEFT JOIN</a:t>
            </a: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C10EBA-813F-D5D8-7174-AC5DC882B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840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7C3B-DCF4-4331-78AC-A1453BA4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A6F9BB-A03C-B387-F6C8-578C6802B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CC09212-EC9B-4D6A-831F-E9E0ECBE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Écart-type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Mesure la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dispersion des valeurs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autour de la moyenne. Plus il est grand, plus les valeurs sont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variées et éloignées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Z-score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Indique à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combien d'écarts-types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une valeur est de la moyenne. Plus z est grand plus la valeur est loin de la moyenne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F1AD1F-7BC1-401E-BB7A-67E6E1EFE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135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83FD-26ED-EA61-BC2E-268EDECC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977B09-CC0B-0608-4B0A-C46F2E01F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1A53EA-2456-0664-7B28-2CB436771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Graphique à barres qui affiche la fréquence réelle de vos 714 vins selon leur prix, permettant de visualiser concrètement combien de produits se trouvent dans chaque tranche de prix.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58BDED-DF1E-E6F5-6556-B74BCD23D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615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A872-90BB-E184-0575-A4B72A23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386E94-0A77-9C2D-4145-F66556B45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F88EBB8-2BE7-964A-1786-5FA59091E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462947-0AC3-3E88-E4F2-185269855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127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6125-FB43-F459-001F-C455B95A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B00E27-8E50-BA0D-2B45-D2D9C48A3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46D9A3E-B257-FD66-81B3-080AD2B64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973A1E-1051-9C18-8F33-477B68C06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273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4CB94-0141-CB63-667B-25FD3050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85CDCD-262C-58FA-7B2E-514B512C2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AAF4BA6-F6EA-EF40-276E-8F064E4F8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exponentiel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augmente progressivement le délai entre les tentatives : 30s → 60s → 120s (au lieu de 30s fixes), ce qui évite de surcharger un service temporairement indisponible.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8F016C-EBE7-667E-AD74-D8BE6EFE8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852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5DF8-2A34-ED8C-AEB1-B41E41C6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103453-EF10-0D13-E5EE-41C001F59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EDE43C-C175-621C-F7C7-36CC9959B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FB480C-0D69-140D-710A-4632F639B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708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A15F-EEF1-4779-CDF2-C373132D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B5B538-6AC8-80A2-2A41-61C98CD34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381DC9E-2764-AC38-5B0E-8EBA57948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tests intermédiaires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(nettoyage des sources)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 : 825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LIAISON : 825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étape 1 : 1428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étape 2 : 714 lignes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tests globaux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(validation finale)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Cardinalité finale : 714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 total : 70 568,60 €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 premium : 30 vins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 ordinaire : 684 vins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Intégrité NULL : 0 valeur manquante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1FFF92-D533-07BF-F34E-3AEB06C0A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633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7EA3-4FB5-CD78-294A-1128CE38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EC9FFA-EF5A-4524-287B-D6511F72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394922A-CF6A-2A7E-141E-3326F6745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tests intermédiaires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(nettoyage des sources)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 : 825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LIAISON : 825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étape 1 : 1428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étape 2 : 714 lignes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tests globaux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(validation finale)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Cardinalité finale : 714 lignes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 total : 70 568,60 €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 premium : 30 vins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 ordinaire : 684 vins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Intégrité NULL : 0 valeur manquante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2C9FF4-80B7-AA29-793D-02E2DB680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77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9528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81D2E-AC76-4E53-938B-CABEA8435F19}" type="datetimeFigureOut">
              <a:rPr lang="fr-FR" smtClean="0"/>
              <a:pPr/>
              <a:t>27/01/2026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0570" rtl="0" eaLnBrk="1" latinLnBrk="0" hangingPunct="1"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64" indent="-371464" algn="l" defTabSz="990570" rtl="0" eaLnBrk="1" latinLnBrk="0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defTabSz="990570" rtl="0" eaLnBrk="1" latinLnBrk="0" hangingPunct="1">
        <a:spcBef>
          <a:spcPct val="20000"/>
        </a:spcBef>
        <a:buFont typeface="Arial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1905EAD-6140-34D1-5894-53F6A9830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3437" y="2542590"/>
            <a:ext cx="8339126" cy="1772819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</a:rPr>
              <a:t>PIPELINE D'ORCHESTRATION DES FLUX DE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83438" y="4315409"/>
            <a:ext cx="8339125" cy="366876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fr-FR" sz="1800" dirty="0">
                <a:solidFill>
                  <a:schemeClr val="bg1">
                    <a:lumMod val="85000"/>
                  </a:schemeClr>
                </a:solidFill>
              </a:rPr>
              <a:t>Projet </a:t>
            </a:r>
            <a:r>
              <a:rPr lang="fr-FR" sz="1800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1800" dirty="0">
                <a:solidFill>
                  <a:schemeClr val="bg1">
                    <a:lumMod val="85000"/>
                  </a:schemeClr>
                </a:solidFill>
              </a:rPr>
              <a:t> - Réconciliation multi-sources</a:t>
            </a:r>
          </a:p>
          <a:p>
            <a:endParaRPr lang="fr-FR" sz="1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ED8D-007B-2333-1C3A-B4CE2C6F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97FA1EF-7B42-6249-53F4-34F55393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55F03D09-983A-9241-4CB4-9590688F4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LE DÉFI BOTTLENECK</a:t>
            </a:r>
            <a:endParaRPr lang="fr-FR" sz="2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F0B38DB-3E66-C49F-00D7-391B5D25CC68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4FA0C36-9B74-3757-B61D-057FEF5C42A2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Contexte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est une entreprise viticole gérant ces vins via un ERP et une boutique en ligne, 	nécessitant une réconciliation mensuelle de 3 sources de données.</a:t>
            </a:r>
          </a:p>
          <a:p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Problème métier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2 sources de données isolées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(ERP, Web)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et un fichier de liaison :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Processus manuel mensuel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(15 de chaque mois)</a:t>
            </a:r>
            <a:endParaRPr lang="fr-FR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Risques d'erreurs et temps perdu</a:t>
            </a: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Pas de traçabilité, ni d’automatisation</a:t>
            </a: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	</a:t>
            </a: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" name="Graphique 9" descr="Base de données avec un remplissage uni">
            <a:extLst>
              <a:ext uri="{FF2B5EF4-FFF2-40B4-BE49-F238E27FC236}">
                <a16:creationId xmlns:a16="http://schemas.microsoft.com/office/drawing/2014/main" id="{AFC0E2CE-ABB3-14F6-EDFB-A03AB92A3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694" y="3717032"/>
            <a:ext cx="2808644" cy="2808644"/>
          </a:xfrm>
          <a:prstGeom prst="rect">
            <a:avLst/>
          </a:prstGeom>
        </p:spPr>
      </p:pic>
      <p:pic>
        <p:nvPicPr>
          <p:cNvPr id="11" name="Graphique 10" descr="Base de données avec un remplissage uni">
            <a:extLst>
              <a:ext uri="{FF2B5EF4-FFF2-40B4-BE49-F238E27FC236}">
                <a16:creationId xmlns:a16="http://schemas.microsoft.com/office/drawing/2014/main" id="{AAC31660-059F-08A3-FCAB-8BCB9C611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0100" y="3717032"/>
            <a:ext cx="2808644" cy="280864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BCCFFF5-BFF3-AF6A-185C-26771DAADE13}"/>
              </a:ext>
            </a:extLst>
          </p:cNvPr>
          <p:cNvSpPr txBox="1"/>
          <p:nvPr/>
        </p:nvSpPr>
        <p:spPr>
          <a:xfrm>
            <a:off x="1829290" y="4077072"/>
            <a:ext cx="591450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ERP</a:t>
            </a:r>
            <a:endParaRPr lang="fr-F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56186B-1CB7-FD55-832C-316D2DAD2676}"/>
              </a:ext>
            </a:extLst>
          </p:cNvPr>
          <p:cNvSpPr txBox="1"/>
          <p:nvPr/>
        </p:nvSpPr>
        <p:spPr>
          <a:xfrm>
            <a:off x="7495921" y="4077072"/>
            <a:ext cx="696998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WEB</a:t>
            </a:r>
            <a:endParaRPr lang="fr-F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CB0A5C-3E66-31CE-4A94-BE96D0B76FC2}"/>
              </a:ext>
            </a:extLst>
          </p:cNvPr>
          <p:cNvSpPr txBox="1"/>
          <p:nvPr/>
        </p:nvSpPr>
        <p:spPr>
          <a:xfrm>
            <a:off x="1493195" y="4690824"/>
            <a:ext cx="1263641" cy="1431374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825 produits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(stock, prix)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F97541-B15B-E835-A061-AB01F3E998F4}"/>
              </a:ext>
            </a:extLst>
          </p:cNvPr>
          <p:cNvSpPr txBox="1"/>
          <p:nvPr/>
        </p:nvSpPr>
        <p:spPr>
          <a:xfrm>
            <a:off x="7212600" y="4690824"/>
            <a:ext cx="1263641" cy="1431374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1428 entrées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(ventes, SKU)</a:t>
            </a:r>
          </a:p>
        </p:txBody>
      </p:sp>
      <p:sp>
        <p:nvSpPr>
          <p:cNvPr id="16" name="Flèche : double flèche horizontale 15">
            <a:extLst>
              <a:ext uri="{FF2B5EF4-FFF2-40B4-BE49-F238E27FC236}">
                <a16:creationId xmlns:a16="http://schemas.microsoft.com/office/drawing/2014/main" id="{A30E8E96-1CCB-8943-9FC9-67F1CFCB2601}"/>
              </a:ext>
            </a:extLst>
          </p:cNvPr>
          <p:cNvSpPr/>
          <p:nvPr/>
        </p:nvSpPr>
        <p:spPr>
          <a:xfrm>
            <a:off x="3284920" y="4509120"/>
            <a:ext cx="3399596" cy="612234"/>
          </a:xfrm>
          <a:prstGeom prst="leftRightArrow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Graphique 17" descr="Document avec un remplissage uni">
            <a:extLst>
              <a:ext uri="{FF2B5EF4-FFF2-40B4-BE49-F238E27FC236}">
                <a16:creationId xmlns:a16="http://schemas.microsoft.com/office/drawing/2014/main" id="{393FF4A1-0D73-FE1C-702C-AC2DCC80B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5029" y="5087736"/>
            <a:ext cx="1025020" cy="102502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0D6A12F-6E99-53B5-9B6D-27AADB931C42}"/>
              </a:ext>
            </a:extLst>
          </p:cNvPr>
          <p:cNvSpPr txBox="1"/>
          <p:nvPr/>
        </p:nvSpPr>
        <p:spPr>
          <a:xfrm>
            <a:off x="3937347" y="4683024"/>
            <a:ext cx="2100815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Fichier de liaison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C13398-B58F-166F-2623-C189548F8265}"/>
              </a:ext>
            </a:extLst>
          </p:cNvPr>
          <p:cNvSpPr txBox="1"/>
          <p:nvPr/>
        </p:nvSpPr>
        <p:spPr>
          <a:xfrm>
            <a:off x="4429255" y="5161424"/>
            <a:ext cx="2010842" cy="926891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825 correspondances 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dirty="0" err="1">
                <a:solidFill>
                  <a:schemeClr val="bg1">
                    <a:lumMod val="85000"/>
                  </a:schemeClr>
                </a:solidFill>
              </a:rPr>
              <a:t>id_erp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↔ id_web)</a:t>
            </a:r>
          </a:p>
        </p:txBody>
      </p:sp>
    </p:spTree>
    <p:extLst>
      <p:ext uri="{BB962C8B-B14F-4D97-AF65-F5344CB8AC3E}">
        <p14:creationId xmlns:p14="http://schemas.microsoft.com/office/powerpoint/2010/main" val="7173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E553-BE64-A551-7644-13801159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83A2D4B7-4D7A-4B43-75F3-F0FDABC08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E0404627-3C54-4AF2-332D-3B22B6911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OBJECTIFS DU PIPELINE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A7C0C38F-7D83-55EA-5AE2-DCE04372AF68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665025-7E8D-D3B6-EF3A-595BCF83AD54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Objectifs</a:t>
            </a:r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fr-FR" sz="1000" b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Réconciliation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des 3 sources de données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Automatisation complète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du processus mensuel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Calcul du CA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par produit et total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(70 568,60 €)  </a:t>
            </a:r>
            <a:endParaRPr lang="fr-FR" sz="24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Classification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des vins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(premium vs ordinaires, z-score &gt; 2)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Exports automatisés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Excel + 2 CSV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Validation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9 tests automatiques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Résilience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</a:t>
            </a:r>
            <a:r>
              <a:rPr lang="fr-FR" sz="2400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+ gestion d'erreurs + alertes </a:t>
            </a:r>
          </a:p>
          <a:p>
            <a:pPr marL="457200" lvl="3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KPI* attendu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914400" lvl="3" indent="-4572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714 produits réconciliés</a:t>
            </a:r>
          </a:p>
          <a:p>
            <a:pPr marL="914400" lvl="3" indent="-4572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30 vins premium identifiés</a:t>
            </a: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434C9F7-212F-3F1C-4F6D-0D1D156E9832}"/>
              </a:ext>
            </a:extLst>
          </p:cNvPr>
          <p:cNvSpPr txBox="1"/>
          <p:nvPr/>
        </p:nvSpPr>
        <p:spPr>
          <a:xfrm>
            <a:off x="5817096" y="6482268"/>
            <a:ext cx="3882300" cy="216024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*KPI : Key Performance Indicator : Indicateurs de performance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6650DE-44CA-8145-085B-D49086108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92" y="3566139"/>
            <a:ext cx="2893875" cy="286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7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0167-ECD8-4193-51AF-E7325B81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567AE74-0FE0-E636-2F59-061B77F3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F2C0D27D-FEEF-AC1D-F4D0-902710F34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POURQUOI KESTRA ?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00B84B9-4B17-E31D-C7F9-143545969EF7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pic>
        <p:nvPicPr>
          <p:cNvPr id="2" name="Picture 2" descr="Kestra, Open Source Declarative Data Orchestration">
            <a:extLst>
              <a:ext uri="{FF2B5EF4-FFF2-40B4-BE49-F238E27FC236}">
                <a16:creationId xmlns:a16="http://schemas.microsoft.com/office/drawing/2014/main" id="{7F5505E2-4E2A-FCF6-21CA-398028E18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99" y="999535"/>
            <a:ext cx="5585314" cy="556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3836D2B-AB0D-C491-415F-40347B5245F7}"/>
              </a:ext>
            </a:extLst>
          </p:cNvPr>
          <p:cNvSpPr txBox="1"/>
          <p:nvPr/>
        </p:nvSpPr>
        <p:spPr>
          <a:xfrm>
            <a:off x="128464" y="843628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Qu'est-ce que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 ?</a:t>
            </a:r>
          </a:p>
          <a:p>
            <a:pPr marL="0" lvl="2"/>
            <a:endParaRPr lang="fr-FR" sz="1000" u="sng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Orchestrateur de workflows open-source</a:t>
            </a: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Alternative moderne à </a:t>
            </a:r>
            <a:r>
              <a:rPr lang="fr-FR" sz="2400" dirty="0" err="1">
                <a:solidFill>
                  <a:schemeClr val="bg1">
                    <a:lumMod val="85000"/>
                  </a:schemeClr>
                </a:solidFill>
              </a:rPr>
              <a:t>Airflow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(plus simple)</a:t>
            </a: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Configuration YAML déclarative</a:t>
            </a: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Interface web intuitive</a:t>
            </a:r>
          </a:p>
          <a:p>
            <a:pPr marL="914400" lvl="4">
              <a:buClr>
                <a:srgbClr val="7030A0"/>
              </a:buClr>
            </a:pPr>
            <a:endParaRPr lang="fr-FR" sz="2800" dirty="0">
              <a:solidFill>
                <a:schemeClr val="bg1">
                  <a:lumMod val="85000"/>
                </a:schemeClr>
              </a:solidFill>
            </a:endParaRPr>
          </a:p>
          <a:p>
            <a:pPr marL="914400" lvl="4">
              <a:buClr>
                <a:srgbClr val="7030A0"/>
              </a:buClr>
            </a:pPr>
            <a:endParaRPr lang="fr-FR" sz="2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3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Avantages pour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3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Orchestration visuelle des tâches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Parallélisation native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(gain de temps)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Gestion d'erreurs avancée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, alertes)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Planification automatique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 mensuel)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Logs détaillés pour </a:t>
            </a:r>
            <a:r>
              <a:rPr lang="fr-FR" sz="2400" dirty="0" err="1">
                <a:solidFill>
                  <a:schemeClr val="bg1">
                    <a:lumMod val="85000"/>
                  </a:schemeClr>
                </a:solidFill>
              </a:rPr>
              <a:t>debugging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4">
              <a:buClr>
                <a:srgbClr val="00B050"/>
              </a:buClr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Kestra, Open Source Declarative Data Orchestration">
            <a:extLst>
              <a:ext uri="{FF2B5EF4-FFF2-40B4-BE49-F238E27FC236}">
                <a16:creationId xmlns:a16="http://schemas.microsoft.com/office/drawing/2014/main" id="{178E2423-724C-462E-C99A-87391B7E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404" y="116632"/>
            <a:ext cx="623132" cy="6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F3201FD-FA36-37DF-C98C-53B5D33F9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746" y="3933056"/>
            <a:ext cx="3224808" cy="1814788"/>
          </a:xfrm>
          <a:prstGeom prst="rect">
            <a:avLst/>
          </a:prstGeom>
        </p:spPr>
      </p:pic>
      <p:pic>
        <p:nvPicPr>
          <p:cNvPr id="12" name="Image 11" descr="Une image contenant capture d’écran, texte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EA94FF24-3868-A457-0AC2-2AE08201A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747" y="2080373"/>
            <a:ext cx="3224808" cy="173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2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E998-8D64-DB4C-038D-AA216034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8C94392-FCB2-CB19-126E-A2415716B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6C42F437-CBC4-32FE-9F37-8E74BD3F6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ARCHITECTURE DU PIPELINE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DFA4D77-E6B8-9B05-76D8-4893212C5193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9B1932-04D5-E3C7-7501-8A225EB0D9A6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Diagramme de flux 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:</a:t>
            </a: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DB0A8C5-11D3-70FE-323E-58CF5E28A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6" y="1772816"/>
            <a:ext cx="8902527" cy="45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3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E8E1E-A1CF-CD8C-1A7C-D6FEDA1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08C6994-4AAC-F4C3-665A-10468BA54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3D176FA4-DDD2-D479-D244-B330FE220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DÉTAIL DES TÂCHES DE NETTOYAGE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31057A42-8F55-94AA-4E37-0CE67F48C92A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6CC145-2E1D-D7E4-D628-5CE3AED57CDB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2, Task 3 et Task 4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–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Nettoyage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Points Clés</a:t>
            </a:r>
            <a:r>
              <a:rPr lang="fr-FR" sz="2800" i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Exécution parallèle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(3 tâches simultanées)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4 validations intermédiaires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(avec 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(1))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Format Parquet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(performance)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B8390DB-24BF-E869-05C9-332B4658E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28130"/>
              </p:ext>
            </p:extLst>
          </p:nvPr>
        </p:nvGraphicFramePr>
        <p:xfrm>
          <a:off x="348044" y="1628800"/>
          <a:ext cx="9209912" cy="23698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8992">
                  <a:extLst>
                    <a:ext uri="{9D8B030D-6E8A-4147-A177-3AD203B41FA5}">
                      <a16:colId xmlns:a16="http://schemas.microsoft.com/office/drawing/2014/main" val="541559973"/>
                    </a:ext>
                  </a:extLst>
                </a:gridCol>
                <a:gridCol w="1843556">
                  <a:extLst>
                    <a:ext uri="{9D8B030D-6E8A-4147-A177-3AD203B41FA5}">
                      <a16:colId xmlns:a16="http://schemas.microsoft.com/office/drawing/2014/main" val="884713683"/>
                    </a:ext>
                  </a:extLst>
                </a:gridCol>
                <a:gridCol w="4277124">
                  <a:extLst>
                    <a:ext uri="{9D8B030D-6E8A-4147-A177-3AD203B41FA5}">
                      <a16:colId xmlns:a16="http://schemas.microsoft.com/office/drawing/2014/main" val="794379829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597638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Sortie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Nettoyage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Validation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05534"/>
                  </a:ext>
                </a:extLst>
              </a:tr>
              <a:tr h="179576">
                <a:tc>
                  <a:txBody>
                    <a:bodyPr/>
                    <a:lstStyle/>
                    <a:p>
                      <a:r>
                        <a:rPr lang="fr-FR" sz="1400" dirty="0"/>
                        <a:t>Task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erp_clean.parquet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Suppression</a:t>
                      </a:r>
                      <a:r>
                        <a:rPr lang="fr-FR" sz="1400" dirty="0"/>
                        <a:t> des </a:t>
                      </a:r>
                      <a:r>
                        <a:rPr lang="fr-FR" sz="1400" b="1" dirty="0"/>
                        <a:t>valeurs manquantes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product_id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825 lignes finales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587772"/>
                  </a:ext>
                </a:extLst>
              </a:tr>
              <a:tr h="150996">
                <a:tc>
                  <a:txBody>
                    <a:bodyPr/>
                    <a:lstStyle/>
                    <a:p>
                      <a:r>
                        <a:rPr lang="fr-FR" sz="1400" dirty="0"/>
                        <a:t>Task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liaison_clean.parquet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Conservation</a:t>
                      </a:r>
                      <a:r>
                        <a:rPr lang="fr-FR" sz="1400" dirty="0"/>
                        <a:t> des </a:t>
                      </a:r>
                      <a:r>
                        <a:rPr lang="fr-FR" sz="1400" b="1" dirty="0"/>
                        <a:t>NULL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id_web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dirty="0"/>
                        <a:t>(filtre après jointure)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</a:t>
                      </a:r>
                      <a:r>
                        <a:rPr lang="fr-FR" sz="1400" u="sng" dirty="0"/>
                        <a:t>uniquement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825 lignes finales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5772"/>
                  </a:ext>
                </a:extLst>
              </a:tr>
              <a:tr h="122416">
                <a:tc>
                  <a:txBody>
                    <a:bodyPr/>
                    <a:lstStyle/>
                    <a:p>
                      <a:r>
                        <a:rPr lang="fr-FR" sz="1400" dirty="0"/>
                        <a:t>Task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web_clean.parquet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90570" rtl="0" eaLnBrk="1" latinLnBrk="0" hangingPunct="1">
                        <a:buFontTx/>
                        <a:buChar char="-"/>
                      </a:pPr>
                      <a:r>
                        <a:rPr lang="fr-FR" sz="1400" b="1" dirty="0"/>
                        <a:t>Suppression</a:t>
                      </a:r>
                      <a:r>
                        <a:rPr lang="fr-FR" sz="1400" dirty="0"/>
                        <a:t> </a:t>
                      </a:r>
                      <a:r>
                        <a:rPr lang="fr-FR" sz="1400" b="1" dirty="0"/>
                        <a:t>NULL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sku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(85 NULL)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Validation intermédiaire</a:t>
                      </a:r>
                      <a:r>
                        <a:rPr lang="fr-FR" sz="1400" dirty="0"/>
                        <a:t> : </a:t>
                      </a:r>
                      <a:r>
                        <a:rPr lang="fr-FR" sz="1400" b="1" dirty="0"/>
                        <a:t>1428</a:t>
                      </a:r>
                      <a:r>
                        <a:rPr lang="fr-FR" sz="1400" dirty="0"/>
                        <a:t> </a:t>
                      </a:r>
                      <a:r>
                        <a:rPr lang="fr-FR" sz="1400" b="1" dirty="0"/>
                        <a:t>lignes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Tri descendant </a:t>
                      </a:r>
                      <a:r>
                        <a:rPr lang="fr-FR" sz="1400" dirty="0"/>
                        <a:t>sur </a:t>
                      </a:r>
                      <a:r>
                        <a:rPr lang="fr-FR" sz="1400" b="1" dirty="0" err="1"/>
                        <a:t>post_type</a:t>
                      </a:r>
                      <a:r>
                        <a:rPr lang="fr-FR" sz="1400" b="1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(priorise '</a:t>
                      </a:r>
                      <a:r>
                        <a:rPr 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sku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keep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='first')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714 lignes finales</a:t>
                      </a:r>
                      <a:endParaRPr lang="fr-FR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8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96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32CF-289A-E487-7E52-6724B0C8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8BB8B50-2AD2-1D04-B321-535DBF860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4C980F85-118A-1C26-2CC9-6B0487F7F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DÉTAIL DES TÂCHES DE FUSION ET AGRÉGATION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0825F60F-C9A6-1B62-BF70-7088C434E0B9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C7F4FA-A63D-42E2-1607-F9FA2A44800C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Task 5 – Assemblage des données </a:t>
            </a:r>
            <a:r>
              <a:rPr lang="fr-FR" sz="1600" i="1" u="sng" dirty="0">
                <a:solidFill>
                  <a:schemeClr val="bg1">
                    <a:lumMod val="85000"/>
                  </a:schemeClr>
                </a:solidFill>
              </a:rPr>
              <a:t>(Merge)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0" lvl="2"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Fusion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des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3 fichiers nettoyés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en 3 étapes :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ERP + LIAISON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825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reliés par leur code interne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Filtrage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734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(id_web vide : jamais vendus en ligne)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+ WEB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714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finaux avec toutes les infos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(stock, prix, ventes)</a:t>
            </a:r>
          </a:p>
          <a:p>
            <a:pPr marL="0" lvl="2">
              <a:tabLst>
                <a:tab pos="541338" algn="l"/>
              </a:tabLst>
            </a:pP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Stockage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temporaire dans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merged_data.parquet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Task 6 - Calcul du Chiffre d'Affaires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: 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Calcul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pour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chaque vin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Prix × Quantité vendue = CA produit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Calcul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du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 total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automatisé : Addition des CA de chaque vin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Stockage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temporaire dans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merged_with_ca.parquet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Métriques clés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825 → 734 → 714 lignes </a:t>
            </a:r>
            <a:r>
              <a:rPr lang="fr-FR" sz="1400" dirty="0">
                <a:solidFill>
                  <a:schemeClr val="bg1">
                    <a:lumMod val="85000"/>
                  </a:schemeClr>
                </a:solidFill>
              </a:rPr>
              <a:t>(pertes tracées et justifiées)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CA total validé : 70 568,60 €</a:t>
            </a:r>
          </a:p>
        </p:txBody>
      </p:sp>
    </p:spTree>
    <p:extLst>
      <p:ext uri="{BB962C8B-B14F-4D97-AF65-F5344CB8AC3E}">
        <p14:creationId xmlns:p14="http://schemas.microsoft.com/office/powerpoint/2010/main" val="428932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6B153-1800-C7F7-CE78-4BA0745E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9F1CFC5-63A0-D472-CB57-8083DF603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90717FA-230A-5530-BA44-0AF0F07B1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RÉSUMÉ DES JOINTURES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A9029B-6046-8AD6-237B-2F9EA3765AE9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2157D8E-3EE8-BFBD-A3DD-F7035C19394F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Schéma de fusion des 3 sources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A2B15AE-2B14-8BD2-31E1-18EE65136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988840"/>
            <a:ext cx="5829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8128-82AD-F2FB-31E7-E83D0D3F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0902468-71AC-09BB-A404-671EFBE5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AB7A87B8-1B1B-EE0E-DB3D-C82FA3B52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CLASSIFICATION STATISTIQUE DES VINS</a:t>
            </a:r>
            <a:endParaRPr lang="fr-FR" i="1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4E3D348C-368C-EABA-7121-363F761B7F45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8C3EE4-B2B7-97B8-0AD6-981CEAD39A05}"/>
              </a:ext>
            </a:extLst>
          </p:cNvPr>
          <p:cNvSpPr txBox="1"/>
          <p:nvPr/>
        </p:nvSpPr>
        <p:spPr>
          <a:xfrm>
            <a:off x="119688" y="834892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Qu’est ce que le Z-Score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Le z-score est un nombre qui indique à combien d'écarts-types une valeur se situe par rapport à 	la moyenne.</a:t>
            </a:r>
          </a:p>
          <a:p>
            <a:pPr marL="0" lvl="2">
              <a:tabLst>
                <a:tab pos="541338" algn="l"/>
              </a:tabLst>
            </a:pPr>
            <a:endParaRPr lang="fr-FR" sz="105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7 – Classification par Z-score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?</a:t>
            </a: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Calcul du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prix moyen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32,49 €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 </a:t>
            </a: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Calcul de la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dispersion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(écart-type)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±27,81 €  </a:t>
            </a: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Mesure de l'écart pour chaque vin </a:t>
            </a:r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(Z-score)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1200150" lvl="4" indent="-285750">
              <a:buFontTx/>
              <a:buChar char="-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Z-score supérieur à 2 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Vin Premium</a:t>
            </a:r>
          </a:p>
          <a:p>
            <a:pPr marL="1200150" lvl="4" indent="-285750">
              <a:buFontTx/>
              <a:buChar char="-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Z-score inférieur à 2 : 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Vin Ordinaire</a:t>
            </a:r>
          </a:p>
          <a:p>
            <a:pPr marL="914400" lvl="4">
              <a:tabLst>
                <a:tab pos="541338" algn="l"/>
              </a:tabLst>
            </a:pPr>
            <a:endParaRPr lang="fr-FR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8 – Résultats et validation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30 vins premium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(CA : 6 884,40 €)</a:t>
            </a: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684 vins ordinaires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(CA : 63 684,20 €)</a:t>
            </a: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Total : 70 568,60 €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(cohérence validée)</a:t>
            </a:r>
            <a:endParaRPr lang="fr-FR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03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5FA1-E102-8F99-3AA4-1569FE5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AD07D75-4303-2993-EE6B-41D524796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9F7D6CAE-EA03-AACA-3F92-D5545947B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wrap="none" lIns="36000"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/>
                </a:solidFill>
              </a:rPr>
              <a:t>HISTOGRAMME DES PRIX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5D5395DF-B3DF-87A4-8A1A-E2013B9726F3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BCDEB7F-1AD4-5795-D150-D8C8688D60E5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Visualisation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 </a:t>
            </a:r>
          </a:p>
          <a:p>
            <a:pPr marL="457200" lvl="3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Répartition des 714 vins par prix avec séparation entre 30 premium (en rouge, &gt; 88€) et 684 ordinaires (en bleu, ≤ 88€) via le z-score.</a:t>
            </a: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C8BC110-EE6F-A66E-3C9F-E6067F561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525" y="2132856"/>
            <a:ext cx="7508950" cy="433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0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C015-7EF0-CF8C-9B1D-E14956C5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339FDB7-79F6-BE21-DA3D-359E85F3A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FE1B3128-EFCC-725E-F83E-EC3366643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EXTRACTION ET LIVRABLES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D6FF7462-E264-CB8E-5E25-034E99BFADCA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055EE6-85E6-507E-9889-83DFD8E960E3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9, Task 10 et Task 11 – Export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800" u="sng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12 – Upload S3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Destination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S3/EXPORTS/YYYYMMDD_HHMMSS/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Horodatage automatique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complète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4D7614B-9FBB-9503-73B7-F4A419C5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69809"/>
              </p:ext>
            </p:extLst>
          </p:nvPr>
        </p:nvGraphicFramePr>
        <p:xfrm>
          <a:off x="200472" y="1700808"/>
          <a:ext cx="9505056" cy="1501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329505815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14585882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187699203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217577620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Sortie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Contenu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47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Classeur </a:t>
                      </a:r>
                      <a:r>
                        <a:rPr lang="fr-FR" sz="1400" dirty="0" err="1"/>
                        <a:t>excel</a:t>
                      </a:r>
                      <a:r>
                        <a:rPr lang="fr-FR" sz="1400" dirty="0"/>
                        <a:t> : 2 feuilles : CA par produit et CA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714 produits détaillés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Format Excel </a:t>
                      </a:r>
                      <a:r>
                        <a:rPr lang="fr-FR" sz="14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sz="1400" dirty="0"/>
                        <a:t> analyse 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4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Fichier CSV : 30 vins avec z-score &gt;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30 vins avec z-score &gt;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CA total premium : 6 884,40 €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4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Fichier CSV : 684 vins avec z-score 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684 vins avec z-score 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CA total ordinaires : 63 684,20 €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913976"/>
                  </a:ext>
                </a:extLst>
              </a:tr>
            </a:tbl>
          </a:graphicData>
        </a:graphic>
      </p:graphicFrame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DE17F95-FC11-D0E8-D90C-55BCCE97D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072" y="4221088"/>
            <a:ext cx="4104456" cy="24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40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082F-24AC-C1DF-68BF-B919862C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C1E9E70-4298-FAB4-DC46-2D1AD90D6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C10D03AD-2721-6B2D-3F4A-6438BDFE8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PLANIFICATION ET AUTOMATISATION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B8002DF-925E-AA1E-A491-75CEAFA94AF2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59F388-AEA7-36D6-C351-AC433A480109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Qu’est ce que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/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est un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planificateur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qui permet de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programmer l'exécution automatique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d'une tâche à des moments précis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(heure, jour, mois)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sans intervention humaine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b="1" u="sng" dirty="0">
                <a:solidFill>
                  <a:schemeClr val="bg1">
                    <a:lumMod val="85000"/>
                  </a:schemeClr>
                </a:solidFill>
              </a:rPr>
              <a:t>0 9 15 * *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-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Signification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0 	&gt; À la minute 0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9 	&gt; À l’heure 0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15 	&gt; Le jour 15 du mois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* 	&gt; Tous les mois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* 	&gt; N’importe quel jour</a:t>
            </a:r>
          </a:p>
          <a:p>
            <a:pPr marL="457200" lvl="3">
              <a:tabLst>
                <a:tab pos="1165225" algn="l"/>
              </a:tabLst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Avantages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Zéro intervention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Exécution prévisible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dans les logs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Image 3" descr="Une image contenant texte, capture d’écran, Police, ligne">
            <a:extLst>
              <a:ext uri="{FF2B5EF4-FFF2-40B4-BE49-F238E27FC236}">
                <a16:creationId xmlns:a16="http://schemas.microsoft.com/office/drawing/2014/main" id="{23D4CBA6-C3D7-E34D-0CC9-17805DC09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936" y="3441948"/>
            <a:ext cx="5184576" cy="12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6A8A-DB67-D13E-0624-E0CEF7DA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3E456E1-E082-6E30-9DF8-F5C7FA75D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FE6F432-27C9-186C-F74D-64FA8813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RÉSILIENCE ET GESTION DES ERREURS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BD59C7E6-9A5E-17A4-C3F1-B0444842AB4E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126FA5C-C5A8-A4BD-4266-10BE861FBFFF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Mécanisme de nouvelle tentative 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i="1" u="sng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3 tentatives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automatiques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Délais croissants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: 10s → 20s → 40s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(max 60s)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Évite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la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surcharge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des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services défaillants</a:t>
            </a:r>
            <a:endParaRPr lang="fr-FR" sz="14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endParaRPr lang="fr-F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Délai d'expiration 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(Timeout)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10 minutes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par tâche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Protection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contre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blocages infinis</a:t>
            </a:r>
          </a:p>
          <a:p>
            <a:pPr marL="0" lvl="2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8 – Validation bloquante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5 tests obligatoires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(nb lignes fusionnées, CA total, nb vins premium et ordinaires, absence de CA NULL)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si échec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arrêt workflow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Envoie d’un mail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Garantit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la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qualitée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 des exports</a:t>
            </a:r>
          </a:p>
        </p:txBody>
      </p:sp>
    </p:spTree>
    <p:extLst>
      <p:ext uri="{BB962C8B-B14F-4D97-AF65-F5344CB8AC3E}">
        <p14:creationId xmlns:p14="http://schemas.microsoft.com/office/powerpoint/2010/main" val="185973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7FAB-0535-A4E6-18D1-CABCEF73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8BF2931-5366-7FC2-6DFD-DFACC8CF6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B41334D-3D9F-1433-A55B-D1E244A0C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MAIL D’ALERTE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5382CAF6-CDC4-B89D-7A61-A4A46AFFDA7C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1F301D-2CE5-F0C9-B20B-84ADC83FEDFD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Contenu du mail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Infos d'exécution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(ID, dates, statut)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Erreur détaillée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(tâche + message complet)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Lien direct vers les logs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Actions recommandées pour correction</a:t>
            </a: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Scénarios de test validés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Erreur de validation → workflow arrêté + mail envoyé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sur erreur temporaire → récupération sans mail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Mail contient l'erreur exacte (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(1) message)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Logs détaillés pour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debugging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9D7FFE-6DDB-77D4-8FE5-50E91D7E30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278" y="1844824"/>
            <a:ext cx="4763490" cy="4293096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508281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A387-CEA3-0DC7-5ABD-39CDB349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0762A23-59E5-811B-FCF2-FC0991C31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E6992CDB-47DF-9428-B48E-AEC1EECAC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3C5E0720-6E32-0920-3C26-2609F5A42EFC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3F6D31-4CF9-C9DB-4158-814E37A8853E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Objectifs atteints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Pipeline entièrement automatisé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Réconciliation des 3 sources réussie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714 produits traités, CA validé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(70 568,60 €)  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Classification statistique opérationnelle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10/10 tests automatiques réussis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Déploiement production-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ready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Valeur ajoutée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Gain temps par rapport au traitement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Fiabilité : 0 erreur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: logs complets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Scalabilité : prêt pour croissance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21E02F-C530-2572-1668-1A143E1A1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480" y="1772816"/>
            <a:ext cx="4002288" cy="3923080"/>
          </a:xfrm>
          <a:prstGeom prst="rect">
            <a:avLst/>
          </a:prstGeom>
          <a:scene3d>
            <a:camera prst="orthographicFront">
              <a:rot lat="60000" lon="108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49421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8A1C-CFEF-BBE2-51BE-A667E91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0757B4C-FDF7-5A5B-4C5D-576BCDB4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ACB1AC-251D-8D6B-1BD0-5721E704D11E}"/>
              </a:ext>
            </a:extLst>
          </p:cNvPr>
          <p:cNvSpPr txBox="1"/>
          <p:nvPr/>
        </p:nvSpPr>
        <p:spPr>
          <a:xfrm>
            <a:off x="2639743" y="2618910"/>
            <a:ext cx="4626514" cy="162018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ctr" anchorCtr="0">
            <a:noAutofit/>
          </a:bodyPr>
          <a:lstStyle/>
          <a:p>
            <a:pPr marL="0" lvl="2" algn="ctr"/>
            <a:r>
              <a:rPr lang="fr-FR" sz="5400" dirty="0">
                <a:solidFill>
                  <a:schemeClr val="bg1">
                    <a:lumMod val="85000"/>
                  </a:schemeClr>
                </a:solidFill>
              </a:rPr>
              <a:t>THE END</a:t>
            </a:r>
          </a:p>
          <a:p>
            <a:pPr marL="0" lvl="2" algn="ctr"/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(Des questions ?)</a:t>
            </a:r>
          </a:p>
        </p:txBody>
      </p:sp>
    </p:spTree>
    <p:extLst>
      <p:ext uri="{BB962C8B-B14F-4D97-AF65-F5344CB8AC3E}">
        <p14:creationId xmlns:p14="http://schemas.microsoft.com/office/powerpoint/2010/main" val="14496036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tx1">
            <a:lumMod val="85000"/>
            <a:lumOff val="15000"/>
            <a:alpha val="80000"/>
          </a:schemeClr>
        </a:solidFill>
      </a:spPr>
      <a:bodyPr vert="horz" wrap="square" lIns="36000" tIns="180000" rIns="36000" bIns="36000" rtlCol="0" anchor="t" anchorCtr="0">
        <a:normAutofit/>
      </a:bodyPr>
      <a:lstStyle>
        <a:defPPr algn="l">
          <a:defRPr sz="24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TP030007554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2010-04-16T14:07:55+00:00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328176</Value>
      <Value>502419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vin - Bouteille rouge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vin - Bouteille rouge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Nk8fCv7yGTq3JD8kHQWECpkezJw=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2009-10-11T07:00:00+00:00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169894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726405B-3D08-4C36-954B-2D0F3F883B63}">
  <ds:schemaRefs>
    <ds:schemaRef ds:uri="http://schemas.microsoft.com/office/2006/metadata/properties"/>
    <ds:schemaRef ds:uri="http://schemas.microsoft.com/office/infopath/2007/PartnerControls"/>
    <ds:schemaRef ds:uri="6d93d202-47fc-4405-873a-cab67cc5f1b2"/>
    <ds:schemaRef ds:uri="64acb2c5-0a2b-4bda-bd34-58e36cbb80d2"/>
  </ds:schemaRefs>
</ds:datastoreItem>
</file>

<file path=customXml/itemProps2.xml><?xml version="1.0" encoding="utf-8"?>
<ds:datastoreItem xmlns:ds="http://schemas.openxmlformats.org/officeDocument/2006/customXml" ds:itemID="{BAEE7C68-9E13-4DA5-9E9E-0553C5FEE6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913E85-CCBE-4AD6-A5E1-43D4CDBA07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vin - Bouteille rouge</Template>
  <TotalTime>636</TotalTime>
  <Words>2239</Words>
  <Application>Microsoft Office PowerPoint</Application>
  <PresentationFormat>Format A4 (210 x 297 mm)</PresentationFormat>
  <Paragraphs>360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Thème Office</vt:lpstr>
      <vt:lpstr>PIPELINE D'ORCHESTRATION DES FLUX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27</cp:revision>
  <dcterms:created xsi:type="dcterms:W3CDTF">2026-01-26T08:09:55Z</dcterms:created>
  <dcterms:modified xsi:type="dcterms:W3CDTF">2026-01-27T09:35:34Z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Applications">
    <vt:lpwstr>53;#PowerPoint 12</vt:lpwstr>
  </property>
  <property fmtid="{D5CDD505-2E9C-101B-9397-08002B2CF9AE}" pid="4" name="Order">
    <vt:r8>8599100</vt:r8>
  </property>
  <property fmtid="{D5CDD505-2E9C-101B-9397-08002B2CF9AE}" pid="5" name="APTrustLevel">
    <vt:r8>3</vt:r8>
  </property>
</Properties>
</file>