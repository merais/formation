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57" r:id="rId6"/>
    <p:sldId id="258" r:id="rId7"/>
    <p:sldId id="260" r:id="rId8"/>
    <p:sldId id="259" r:id="rId9"/>
    <p:sldId id="262" r:id="rId10"/>
    <p:sldId id="263" r:id="rId11"/>
    <p:sldId id="265" r:id="rId12"/>
    <p:sldId id="266" r:id="rId13"/>
    <p:sldId id="264" r:id="rId14"/>
    <p:sldId id="267" r:id="rId15"/>
    <p:sldId id="268" r:id="rId16"/>
    <p:sldId id="270" r:id="rId17"/>
    <p:sldId id="269" r:id="rId18"/>
    <p:sldId id="271" r:id="rId19"/>
    <p:sldId id="273" r:id="rId20"/>
  </p:sldIdLst>
  <p:sldSz cx="9906000" cy="6858000" type="A4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88196" autoAdjust="0"/>
  </p:normalViewPr>
  <p:slideViewPr>
    <p:cSldViewPr>
      <p:cViewPr varScale="1">
        <p:scale>
          <a:sx n="136" d="100"/>
          <a:sy n="136" d="100"/>
        </p:scale>
        <p:origin x="2082" y="132"/>
      </p:cViewPr>
      <p:guideLst>
        <p:guide orient="horz" pos="2160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D33D2F5D-18A2-4407-3606-1467630EED3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EFE0393-F5A7-DF91-8C55-220DD0893B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D104EB-64CC-414E-BB25-648E13EC7A03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4B24EA7-78B1-B420-61C8-CA5FBAB00A9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EDB317E-6353-E051-B316-74BFDEEE26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373FF7-7262-490C-BD3E-CC07F7EAFC0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26963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5BB235-7BC9-423D-81A4-4F1BB8787BD1}" type="datetimeFigureOut">
              <a:rPr lang="fr-FR" smtClean="0"/>
              <a:t>28/01/2026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EFA24-06D6-4906-AB5F-5B39F3AF8ADF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Bonjour, je vais vous présenter mon pipeline d'orchestration pour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BottleNeck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une entreprise viticole.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</a:t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9FF55-375A-DF1B-AB3D-49D82792C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91157D-110D-CAE8-9D6E-E7A35E436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AFBAD3B-63BA-6F31-B12A-2BCF01AD8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BottleNeck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doit réconcilier manuellement 3 sources chaque mois. Mon objectif : automatiser ce processus.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5F94CE2-30C2-620E-B3E2-9BC1FA99A6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3009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1CE57-ACC8-C793-3C46-E44D00B37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3FD5787-D69A-9CC5-2F0E-A571D3FE1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6D08C5D-0999-2AF7-65D1-1AEB34E55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50E028-0239-AEF8-B03E-8CF36D75D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59552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E0D78-9BA7-9F60-E420-05411108E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59BD831-2639-9738-A7CE-12BBFB262E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7298482-D956-929B-ED77-19A553740B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Open-source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Gratuit, Évolutif, Indépendant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 Coût 0, communauté mondiale, liberté totale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Configuration YAML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 Simple, lisible, accessible à tous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chemeClr val="bg1">
                    <a:lumMod val="85000"/>
                  </a:schemeClr>
                </a:solidFill>
              </a:rPr>
              <a:t>Configuration YAML déclarative </a:t>
            </a:r>
            <a:r>
              <a:rPr lang="fr-FR" sz="1200" i="0" dirty="0">
                <a:solidFill>
                  <a:schemeClr val="bg1">
                    <a:lumMod val="85000"/>
                  </a:schemeClr>
                </a:solidFill>
              </a:rPr>
              <a:t>vous décrivez CE QUE vous voulez, </a:t>
            </a:r>
            <a:r>
              <a:rPr lang="fr-FR" sz="1200" i="0" dirty="0" err="1">
                <a:solidFill>
                  <a:schemeClr val="bg1">
                    <a:lumMod val="85000"/>
                  </a:schemeClr>
                </a:solidFill>
              </a:rPr>
              <a:t>Kestra</a:t>
            </a:r>
            <a:r>
              <a:rPr lang="fr-FR" sz="1200" i="0" dirty="0">
                <a:solidFill>
                  <a:schemeClr val="bg1">
                    <a:lumMod val="85000"/>
                  </a:schemeClr>
                </a:solidFill>
              </a:rPr>
              <a:t> gère le reste</a:t>
            </a:r>
            <a:endParaRPr lang="fr-FR" sz="1800" i="0" dirty="0">
              <a:solidFill>
                <a:schemeClr val="bg1">
                  <a:lumMod val="85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05EB9E-C049-219E-036A-4BDF31FEA3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31605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E5466-1A41-9291-BE24-82EE39C5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42F5C99-61D2-009F-3350-69B465284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A42F5C8-4F49-9D31-7983-14817E4EB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Voici le flux complet : téléchargement S3, nettoyage parallèle des 3 sources, fusion, calculs, validation, exports parallèles, puis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upload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S3</a:t>
            </a:r>
          </a:p>
          <a:p>
            <a:pPr lvl="0"/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Entrée : 3 fichiers Excel (S3/RAW)</a:t>
            </a:r>
          </a:p>
          <a:p>
            <a:pPr lvl="0"/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Transformation : 12 tâches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Parallélisme : 2 groupes (nettoyage + exports)</a:t>
            </a:r>
          </a:p>
          <a:p>
            <a:pPr lvl="0"/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Validations : 10 points de contrôle</a:t>
            </a:r>
          </a:p>
          <a:p>
            <a:pPr lvl="0"/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Sortie : 3 fichiers (S3/EXPORTS)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D89DB9-54B8-8AE8-CBBF-FFA206449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604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2B569-B309-E10E-A10F-2CC827702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DF74CE0-2C6A-E590-1940-EA6D30B4D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F60ECAFA-3ED3-EF85-965D-45D43428D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 2 - Clean ERP (fichier Stock/Prix)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Suppression valeurs manquantes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Retire les lignes où il manque des infos essentielles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...)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Dédoublonnage sur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Si un produit apparaît 2 fois, on garde une seule ligne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Vérifie qu'on obtient exactement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825 lignes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(sinon erreur → arrêt)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Sortie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Fichier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erp_clean.parquet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(format optimisé)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 3 - Clean LIAISON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Particularité importante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</a:t>
            </a:r>
          </a:p>
          <a:p>
            <a:pPr lvl="2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Conservation des NULL sur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id_web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On ne supprime PAS les lignes où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id_web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est vide</a:t>
            </a:r>
          </a:p>
          <a:p>
            <a:pPr lvl="2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?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Certains produits ERP n'ont pas encore de fiche web. On filtrera ces NULL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après la jointure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avec ERP (Task 5)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Dédoublonnage uniquement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Retire les lignes en double sans toucher aux NULL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Vérifie qu'on obtient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825 lignes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(sinon erreur → arrêt)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Sortie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Fichier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liaison_clean.parquet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 4 - Clean WEB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1- Suppression des NULL sur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sku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(identifiant produit)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Fichier initial :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1513 lignes</a:t>
            </a: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Après suppression :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1428 lignes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(85 lignes sans SKU → inutilisables)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intermédiaire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Vérifie qu'on a bien 1428 lignes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2- Tri par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post_type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(tri descendant)</a:t>
            </a:r>
          </a:p>
          <a:p>
            <a:pPr lvl="1"/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Pourquoi ?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WordPress stocke 2 types de lignes :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 : Vrais produits (à garder)</a:t>
            </a:r>
          </a:p>
          <a:p>
            <a:pPr lvl="2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product_variation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 : Variantes (tailles, couleurs...) (à supprimer)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Le tri met les '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 en premier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3- Dédoublonnage sur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sku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='first')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même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peut apparaître plusieurs fois (produit + variantes)</a:t>
            </a:r>
          </a:p>
          <a:p>
            <a:pPr lvl="1"/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='first' : Garde la 1ère occurrence = le vrai produit (grâce au tri précédent)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Résultat final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714 lignes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(uniquement des vrais produits, 0 variantes)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finale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Vérifie 714 lignes exactement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Sortie : Fichier 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web_clean.parquet</a:t>
            </a:r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Parallélisme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les 3 tâches s'exécutent simultanément (gain 40% de temps)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validations bloquantes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si les nombres de lignes ne correspondent pas → arrêt immédiat (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sys.exit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(1))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Parquet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plus performant que Excel/CSV pour les étapes suivantes</a:t>
            </a:r>
          </a:p>
          <a:p>
            <a:pPr lvl="1"/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A2DE84-78DD-D053-7DA1-B5D39252A1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4678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713DC-2C33-5DCF-8BE3-A7E0052BE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CCCD80-634C-8D5C-331A-BD7662818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659E68D-5626-76ED-1E7F-492883C53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Étape 1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Je connecte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ERP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et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LIAISON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grâce à leur point commun : le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(l'identifiant du produit dans l'ERP). Ça me donne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825 lignes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Étape 2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Je retire les produits qui n'ont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 de correspondance web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(id_web vide). Pourquoi ? Parce qu'ils n'ont jamais été vendus en ligne. Ça me fait descendre à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734 lignes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Étape 3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Je fusionne avec le fichier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 connectant id_web (du fichier liaison) avec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(du fichier web). Résultat final :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714 produits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qui existent partout (ERP + Web + Ventes).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 résumé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J'ai réconcilié 3 sources de données différentes pour obtenir une vue unifiée de 714 produits avec toutes leurs informations (stock, prix, ventes)."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130B36B-1CF1-D288-676E-7E8508CB5D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0204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5BA78-291B-932E-A91E-41E474A54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0F5949B-C577-706B-3A86-6B36217CA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A682399-2A62-99B9-5B04-8271A434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LEFT JOIN sur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Garde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TOUS les produits du fichier ERP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(tableau de gauche)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Ajoute les colonnes du fichier LIAISON quand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product_id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correspond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 un produit ERP n'a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 de correspondance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dans LIAISON → met NULL dans les colonnes LIAISON</a:t>
            </a:r>
          </a:p>
          <a:p>
            <a:pPr lvl="1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dropna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sur id_web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Supprime toutes les lignes où id_web est vide (NULL)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 touche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aux autres colonnes avec NULL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produits sans id_web n'ont jamais été mis en ligne → impossible de les joindre avec le fichier WEB → inutiles pour la suite.</a:t>
            </a:r>
          </a:p>
          <a:p>
            <a:pPr lvl="1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 JOIN sur id_web = </a:t>
            </a:r>
            <a:r>
              <a:rPr lang="fr-F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sku</a:t>
            </a:r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Garde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UNIQUEMENT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les lignes où id_web (du tableau ERP+LIAISON) correspond à 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sku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(du tableau WEB)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 pas de correspondance → ligne supprimée des deux côtés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Plus strict que LEFT JOIN</a:t>
            </a:r>
          </a:p>
          <a:p>
            <a:pPr lvl="1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AC10EBA-813F-D5D8-7174-AC5DC882B8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403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77C3B-DCF4-4331-78AC-A1453BA44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9A6F9BB-A03C-B387-F6C8-578C6802B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CC09212-EC9B-4D6A-831F-E9E0ECBE5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Écart-type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Mesure 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dispersion des valeurs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autour de la moyenne. Plus il est grand, plus les valeurs sont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variées et éloignées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Z-score</a:t>
            </a: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Indique à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combien d'écarts-types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une valeur est de la moyenne. Plus z est grand plus la valeur est loin de la moyenne</a:t>
            </a: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Dans notre cas un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Z-score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signifie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x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Écart-type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dessus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la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moyenne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pour être 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 vin premium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F1AD1F-7BC1-401E-BB7A-67E6E1EFE7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91357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E83FD-26ED-EA61-BC2E-268EDECC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9977B09-CC0B-0608-4B0A-C46F2E01F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A81A53EA-2456-0664-7B28-2CB436771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Histogramme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: Graphique à barres qui affiche la fréquence réelle des 714 vins selon leur prix, permettant de visualiser concrètement combien de produits se trouvent dans chaque tranche de prix.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58BDED-DF1E-E6F5-6556-B74BCD23D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7615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AA872-90BB-E184-0575-A4B72A23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386E94-0A77-9C2D-4145-F66556B45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5F88EBB8-2BE7-964A-1786-5FA59091EE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9462947-0AC3-3E88-E4F2-185269855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81274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D6125-FB43-F459-001F-C455B95A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BB00E27-8E50-BA0D-2B45-D2D9C48A3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146D9A3E-B257-FD66-81B3-080AD2B64F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A973A1E-1051-9C18-8F33-477B68C063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2735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4CB94-0141-CB63-667B-25FD305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685CDCD-262C-58FA-7B2E-514B512C2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FAAF4BA6-F6EA-EF40-276E-8F064E4F8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exponential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(10s→20s→40s max 60s, 3 tentatives). Timeout 10min. Validation bloquante (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allowFailure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=false). Email auto avec détails + lien 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Kestra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A8F016C-EBE7-667E-AD74-D8BE6EFE8E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78526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35DF8-2A34-ED8C-AEB1-B41E41C6F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E103453-EF10-0D13-E5EE-41C001F59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89EDE43C-C175-621C-F7C7-36CC9959B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FB480C-0D69-140D-710A-4632F639B1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87085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FA15F-EEF1-4779-CDF2-C373132D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B5B538-6AC8-80A2-2A41-61C98CD34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381DC9E-2764-AC38-5B0E-8EBA57948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tests intermédiaires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(nettoyage des sources)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ERP : 825 lignes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LIAISON : 825 lignes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étape 1 : 1428 lignes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étape 2 : 714 lignes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tests globaux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(validation finale)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Cardinalité finale : 714 lignes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 total : 70 568,60 €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Classification premium : 30 vins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Classification ordinaire : 684 vins</a:t>
            </a:r>
          </a:p>
          <a:p>
            <a:pPr lvl="1"/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Intégrité NULL : 0 valeur manquante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61FFF92-D533-07BF-F34E-3AEB06C0AB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6337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D7EA3-4FB5-CD78-294A-1128CE38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FEC9FFA-EF5A-4524-287B-D6511F72C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394922A-CF6A-2A7E-141E-3326F6745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fr-F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2C9FF4-80B7-AA29-793D-02E2DB6805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2EFA24-06D6-4906-AB5F-5B39F3AF8ADF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07723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2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5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8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4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69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333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1pPr>
            <a:lvl2pPr marL="49528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fr-FR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C81D2E-AC76-4E53-938B-CABEA8435F19}" type="datetimeFigureOut">
              <a:rPr lang="fr-FR" smtClean="0"/>
              <a:pPr/>
              <a:t>28/01/2026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05D2-E13D-417D-ABAB-44C43D7D7F05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0570" rtl="0" eaLnBrk="1" latinLnBrk="0" hangingPunct="1"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464" indent="-371464" algn="l" defTabSz="990570" rtl="0" eaLnBrk="1" latinLnBrk="0" hangingPunct="1">
        <a:spcBef>
          <a:spcPct val="20000"/>
        </a:spcBef>
        <a:buFont typeface="Arial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04838" indent="-309553" algn="l" defTabSz="990570" rtl="0" eaLnBrk="1" latinLnBrk="0" hangingPunct="1">
        <a:spcBef>
          <a:spcPct val="20000"/>
        </a:spcBef>
        <a:buFont typeface="Arial" pitchFamily="34" charset="0"/>
        <a:buChar char="–"/>
        <a:defRPr sz="3033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spcBef>
          <a:spcPct val="20000"/>
        </a:spcBef>
        <a:buFont typeface="Arial" pitchFamily="34" charset="0"/>
        <a:buChar char="–"/>
        <a:defRPr sz="2167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spcBef>
          <a:spcPct val="20000"/>
        </a:spcBef>
        <a:buFont typeface="Arial" pitchFamily="34" charset="0"/>
        <a:buChar char="»"/>
        <a:defRPr sz="2167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spcBef>
          <a:spcPct val="20000"/>
        </a:spcBef>
        <a:buFont typeface="Arial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spcBef>
          <a:spcPct val="20000"/>
        </a:spcBef>
        <a:buFont typeface="Arial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spcBef>
          <a:spcPct val="20000"/>
        </a:spcBef>
        <a:buFont typeface="Arial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spcBef>
          <a:spcPct val="20000"/>
        </a:spcBef>
        <a:buFont typeface="Arial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91905EAD-6140-34D1-5894-53F6A9830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83437" y="2542590"/>
            <a:ext cx="8339126" cy="1772819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>
            <a:normAutofit/>
          </a:bodyPr>
          <a:lstStyle/>
          <a:p>
            <a:r>
              <a:rPr lang="fr-FR" sz="5400" dirty="0">
                <a:solidFill>
                  <a:schemeClr val="bg1"/>
                </a:solidFill>
              </a:rPr>
              <a:t>PIPELINE D'ORCHESTRATION DES FLUX DE DONNÉES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783438" y="4315409"/>
            <a:ext cx="8339125" cy="366876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>
            <a:normAutofit/>
          </a:bodyPr>
          <a:lstStyle/>
          <a:p>
            <a:r>
              <a:rPr lang="fr-FR" sz="1800" dirty="0">
                <a:solidFill>
                  <a:schemeClr val="bg1">
                    <a:lumMod val="85000"/>
                  </a:schemeClr>
                </a:solidFill>
              </a:rPr>
              <a:t>Projet </a:t>
            </a:r>
            <a:r>
              <a:rPr lang="fr-FR" sz="1800" dirty="0" err="1">
                <a:solidFill>
                  <a:schemeClr val="bg1">
                    <a:lumMod val="85000"/>
                  </a:schemeClr>
                </a:solidFill>
              </a:rPr>
              <a:t>BottleNeck</a:t>
            </a:r>
            <a:r>
              <a:rPr lang="fr-FR" sz="1800" dirty="0">
                <a:solidFill>
                  <a:schemeClr val="bg1">
                    <a:lumMod val="85000"/>
                  </a:schemeClr>
                </a:solidFill>
              </a:rPr>
              <a:t> - Réconciliation multi-sources</a:t>
            </a:r>
          </a:p>
          <a:p>
            <a:endParaRPr lang="fr-FR" sz="18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7ED8D-007B-2333-1C3A-B4CE2C6F1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297FA1EF-7B42-6249-53F4-34F5539340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55F03D09-983A-9241-4CB4-9590688F4D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LE DÉFI BOTTLENECK</a:t>
            </a:r>
            <a:endParaRPr lang="fr-FR" sz="28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7F0B38DB-3E66-C49F-00D7-391B5D25CC68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4FA0C36-9B74-3757-B61D-057FEF5C42A2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Contexte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fr-FR" dirty="0" err="1">
                <a:solidFill>
                  <a:schemeClr val="bg1">
                    <a:lumMod val="85000"/>
                  </a:schemeClr>
                </a:solidFill>
              </a:rPr>
              <a:t>BottleNeck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est une entreprise viticole gérant ces vins via un ERP et une boutique en ligne, 	nécessitant une réconciliation mensuelle des 2 sources de données via un fichier de liaison.</a:t>
            </a:r>
          </a:p>
          <a:p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Problème métier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2 sources de données isolées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(ERP, Web)</a:t>
            </a:r>
            <a:r>
              <a:rPr lang="fr-FR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et un fichier de liaison :</a:t>
            </a:r>
            <a:endParaRPr lang="fr-FR" sz="2000" i="1" dirty="0">
              <a:solidFill>
                <a:schemeClr val="bg1">
                  <a:lumMod val="85000"/>
                </a:schemeClr>
              </a:solidFill>
            </a:endParaRPr>
          </a:p>
          <a:p>
            <a:pPr marL="1714500" lvl="3" indent="-342900">
              <a:buFontTx/>
              <a:buChar char="-"/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Processus manuel mensuel </a:t>
            </a:r>
            <a:r>
              <a:rPr lang="fr-FR" sz="1200" i="1" dirty="0">
                <a:solidFill>
                  <a:schemeClr val="bg1">
                    <a:lumMod val="85000"/>
                  </a:schemeClr>
                </a:solidFill>
              </a:rPr>
              <a:t>(15 de chaque mois)</a:t>
            </a:r>
            <a:endParaRPr lang="fr-FR" sz="1200" dirty="0">
              <a:solidFill>
                <a:schemeClr val="bg1">
                  <a:lumMod val="85000"/>
                </a:schemeClr>
              </a:solidFill>
            </a:endParaRPr>
          </a:p>
          <a:p>
            <a:pPr marL="1714500" lvl="3" indent="-342900">
              <a:buFontTx/>
              <a:buChar char="-"/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Risques d'erreurs et temps perdu</a:t>
            </a:r>
          </a:p>
          <a:p>
            <a:pPr marL="1714500" lvl="3" indent="-342900">
              <a:buFontTx/>
              <a:buChar char="-"/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Pas de traçabilité, ni d’automatisation</a:t>
            </a: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lvl="2"/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	</a:t>
            </a:r>
          </a:p>
          <a:p>
            <a:pPr marL="1257300" lvl="2" indent="-342900">
              <a:buFontTx/>
              <a:buChar char="-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" name="Graphique 9" descr="Base de données avec un remplissage uni">
            <a:extLst>
              <a:ext uri="{FF2B5EF4-FFF2-40B4-BE49-F238E27FC236}">
                <a16:creationId xmlns:a16="http://schemas.microsoft.com/office/drawing/2014/main" id="{AFC0E2CE-ABB3-14F6-EDFB-A03AB92A3B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0694" y="3717032"/>
            <a:ext cx="2808644" cy="2808644"/>
          </a:xfrm>
          <a:prstGeom prst="rect">
            <a:avLst/>
          </a:prstGeom>
        </p:spPr>
      </p:pic>
      <p:pic>
        <p:nvPicPr>
          <p:cNvPr id="11" name="Graphique 10" descr="Base de données avec un remplissage uni">
            <a:extLst>
              <a:ext uri="{FF2B5EF4-FFF2-40B4-BE49-F238E27FC236}">
                <a16:creationId xmlns:a16="http://schemas.microsoft.com/office/drawing/2014/main" id="{AAC31660-059F-08A3-FCAB-8BCB9C6115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40100" y="3717032"/>
            <a:ext cx="2808644" cy="280864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CBCCFFF5-BFF3-AF6A-185C-26771DAADE13}"/>
              </a:ext>
            </a:extLst>
          </p:cNvPr>
          <p:cNvSpPr txBox="1"/>
          <p:nvPr/>
        </p:nvSpPr>
        <p:spPr>
          <a:xfrm>
            <a:off x="1829290" y="4077072"/>
            <a:ext cx="591450" cy="288032"/>
          </a:xfrm>
          <a:prstGeom prst="rect">
            <a:avLst/>
          </a:prstGeom>
          <a:noFill/>
        </p:spPr>
        <p:txBody>
          <a:bodyPr vert="horz" wrap="none" lIns="0" tIns="0" rIns="0" bIns="36000" rtlCol="0" anchor="ctr" anchorCtr="0">
            <a:noAutofit/>
          </a:bodyPr>
          <a:lstStyle/>
          <a:p>
            <a:pPr algn="l"/>
            <a:r>
              <a:rPr lang="fr-FR" sz="2800" b="1" dirty="0">
                <a:solidFill>
                  <a:schemeClr val="bg1">
                    <a:lumMod val="85000"/>
                  </a:schemeClr>
                </a:solidFill>
              </a:rPr>
              <a:t>ERP</a:t>
            </a:r>
            <a:endParaRPr lang="fr-FR" sz="24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556186B-1CB7-FD55-832C-316D2DAD2676}"/>
              </a:ext>
            </a:extLst>
          </p:cNvPr>
          <p:cNvSpPr txBox="1"/>
          <p:nvPr/>
        </p:nvSpPr>
        <p:spPr>
          <a:xfrm>
            <a:off x="7495921" y="4077072"/>
            <a:ext cx="696998" cy="288032"/>
          </a:xfrm>
          <a:prstGeom prst="rect">
            <a:avLst/>
          </a:prstGeom>
          <a:noFill/>
        </p:spPr>
        <p:txBody>
          <a:bodyPr vert="horz" wrap="none" lIns="0" tIns="0" rIns="0" bIns="36000" rtlCol="0" anchor="ctr" anchorCtr="0">
            <a:noAutofit/>
          </a:bodyPr>
          <a:lstStyle/>
          <a:p>
            <a:pPr algn="l"/>
            <a:r>
              <a:rPr lang="fr-FR" sz="2800" b="1" dirty="0">
                <a:solidFill>
                  <a:schemeClr val="bg1">
                    <a:lumMod val="85000"/>
                  </a:schemeClr>
                </a:solidFill>
              </a:rPr>
              <a:t>WEB</a:t>
            </a:r>
            <a:endParaRPr lang="fr-FR" sz="24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8CB0A5C-3E66-31CE-4A94-BE96D0B76FC2}"/>
              </a:ext>
            </a:extLst>
          </p:cNvPr>
          <p:cNvSpPr txBox="1"/>
          <p:nvPr/>
        </p:nvSpPr>
        <p:spPr>
          <a:xfrm>
            <a:off x="1493195" y="4690824"/>
            <a:ext cx="1263641" cy="1431374"/>
          </a:xfrm>
          <a:prstGeom prst="rect">
            <a:avLst/>
          </a:prstGeom>
          <a:noFill/>
        </p:spPr>
        <p:txBody>
          <a:bodyPr vert="horz" wrap="none" lIns="0" tIns="0" rIns="0" bIns="36000" rtlCol="0" anchor="ctr" anchorCtr="0">
            <a:noAutofit/>
          </a:bodyPr>
          <a:lstStyle/>
          <a:p>
            <a:pPr algn="l"/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825 produits</a:t>
            </a: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</a:t>
            </a: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(stock, prix)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EF97541-B15B-E835-A061-AB01F3E998F4}"/>
              </a:ext>
            </a:extLst>
          </p:cNvPr>
          <p:cNvSpPr txBox="1"/>
          <p:nvPr/>
        </p:nvSpPr>
        <p:spPr>
          <a:xfrm>
            <a:off x="7212600" y="4690824"/>
            <a:ext cx="1263641" cy="1431374"/>
          </a:xfrm>
          <a:prstGeom prst="rect">
            <a:avLst/>
          </a:prstGeom>
          <a:noFill/>
        </p:spPr>
        <p:txBody>
          <a:bodyPr vert="horz" wrap="none" lIns="0" tIns="0" rIns="0" bIns="36000" rtlCol="0" anchor="ctr" anchorCtr="0">
            <a:noAutofit/>
          </a:bodyPr>
          <a:lstStyle/>
          <a:p>
            <a:pPr algn="l"/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1428 entrées</a:t>
            </a: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(ventes, SKU)</a:t>
            </a:r>
          </a:p>
        </p:txBody>
      </p:sp>
      <p:sp>
        <p:nvSpPr>
          <p:cNvPr id="16" name="Flèche : double flèche horizontale 15">
            <a:extLst>
              <a:ext uri="{FF2B5EF4-FFF2-40B4-BE49-F238E27FC236}">
                <a16:creationId xmlns:a16="http://schemas.microsoft.com/office/drawing/2014/main" id="{A30E8E96-1CCB-8943-9FC9-67F1CFCB2601}"/>
              </a:ext>
            </a:extLst>
          </p:cNvPr>
          <p:cNvSpPr/>
          <p:nvPr/>
        </p:nvSpPr>
        <p:spPr>
          <a:xfrm>
            <a:off x="3284920" y="4509120"/>
            <a:ext cx="3399596" cy="612234"/>
          </a:xfrm>
          <a:prstGeom prst="leftRightArrow">
            <a:avLst/>
          </a:pr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Graphique 17" descr="Document avec un remplissage uni">
            <a:extLst>
              <a:ext uri="{FF2B5EF4-FFF2-40B4-BE49-F238E27FC236}">
                <a16:creationId xmlns:a16="http://schemas.microsoft.com/office/drawing/2014/main" id="{393FF4A1-0D73-FE1C-702C-AC2DCC80BE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5029" y="5087736"/>
            <a:ext cx="1025020" cy="102502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A0D6A12F-6E99-53B5-9B6D-27AADB931C42}"/>
              </a:ext>
            </a:extLst>
          </p:cNvPr>
          <p:cNvSpPr txBox="1"/>
          <p:nvPr/>
        </p:nvSpPr>
        <p:spPr>
          <a:xfrm>
            <a:off x="3937347" y="4683024"/>
            <a:ext cx="2100815" cy="288032"/>
          </a:xfrm>
          <a:prstGeom prst="rect">
            <a:avLst/>
          </a:prstGeom>
          <a:noFill/>
        </p:spPr>
        <p:txBody>
          <a:bodyPr vert="horz" wrap="none" lIns="0" tIns="0" rIns="0" bIns="36000" rtlCol="0" anchor="ctr" anchorCtr="0">
            <a:noAutofit/>
          </a:bodyPr>
          <a:lstStyle/>
          <a:p>
            <a:pPr algn="l"/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Fichier de liaison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BC13398-B58F-166F-2623-C189548F8265}"/>
              </a:ext>
            </a:extLst>
          </p:cNvPr>
          <p:cNvSpPr txBox="1"/>
          <p:nvPr/>
        </p:nvSpPr>
        <p:spPr>
          <a:xfrm>
            <a:off x="4429255" y="5161424"/>
            <a:ext cx="2010842" cy="926891"/>
          </a:xfrm>
          <a:prstGeom prst="rect">
            <a:avLst/>
          </a:prstGeom>
          <a:noFill/>
        </p:spPr>
        <p:txBody>
          <a:bodyPr vert="horz" wrap="none" lIns="0" tIns="0" rIns="0" bIns="36000" rtlCol="0" anchor="ctr" anchorCtr="0">
            <a:noAutofit/>
          </a:bodyPr>
          <a:lstStyle/>
          <a:p>
            <a:pPr algn="l"/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825 correspondances </a:t>
            </a:r>
            <a:br>
              <a:rPr lang="fr-FR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fr-FR" dirty="0" err="1">
                <a:solidFill>
                  <a:schemeClr val="bg1">
                    <a:lumMod val="85000"/>
                  </a:schemeClr>
                </a:solidFill>
              </a:rPr>
              <a:t>id_erp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↔ id_web)</a:t>
            </a:r>
          </a:p>
        </p:txBody>
      </p:sp>
    </p:spTree>
    <p:extLst>
      <p:ext uri="{BB962C8B-B14F-4D97-AF65-F5344CB8AC3E}">
        <p14:creationId xmlns:p14="http://schemas.microsoft.com/office/powerpoint/2010/main" val="71733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BE553-BE64-A551-7644-13801159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3A2D4B7-4D7A-4B43-75F3-F0FDABC08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E0404627-3C54-4AF2-332D-3B22B69114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OBJECTIFS DU PIPELINE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A7C0C38F-7D83-55EA-5AE2-DCE04372AF68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2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F665025-7E8D-D3B6-EF3A-595BCF83AD54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3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Objectifs</a:t>
            </a:r>
            <a:r>
              <a:rPr lang="fr-FR" sz="2800" b="1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342900" lvl="3" indent="-342900">
              <a:buFont typeface="Arial" panose="020B0604020202020204" pitchFamily="34" charset="0"/>
              <a:buChar char="•"/>
            </a:pPr>
            <a:endParaRPr lang="fr-FR" sz="1000" b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Réconciliation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des 3 sources de données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Automatisation complète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du processus mensuel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Calcul du CA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par produit et total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(70 568,60 €)  </a:t>
            </a:r>
            <a:endParaRPr lang="fr-FR" sz="2400" i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Classification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des vins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(premium vs ordinaires, z-score &gt; 2)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Exports automatisés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 Excel + 2 CSV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Validation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 9 tests automatiques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b="1" dirty="0">
                <a:solidFill>
                  <a:schemeClr val="bg1">
                    <a:lumMod val="85000"/>
                  </a:schemeClr>
                </a:solidFill>
              </a:rPr>
              <a:t>Résilience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 </a:t>
            </a:r>
            <a:r>
              <a:rPr lang="fr-FR" sz="2400" dirty="0" err="1">
                <a:solidFill>
                  <a:schemeClr val="bg1">
                    <a:lumMod val="85000"/>
                  </a:schemeClr>
                </a:solidFill>
              </a:rPr>
              <a:t>Retry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+ gestion d'erreurs + alertes </a:t>
            </a:r>
          </a:p>
          <a:p>
            <a:pPr marL="457200" lvl="3"/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KPI* attendu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914400" lvl="3" indent="-4572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714 produits réconciliés</a:t>
            </a:r>
          </a:p>
          <a:p>
            <a:pPr marL="914400" lvl="3" indent="-4572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30 vins premium identifiés</a:t>
            </a: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434C9F7-212F-3F1C-4F6D-0D1D156E9832}"/>
              </a:ext>
            </a:extLst>
          </p:cNvPr>
          <p:cNvSpPr txBox="1"/>
          <p:nvPr/>
        </p:nvSpPr>
        <p:spPr>
          <a:xfrm>
            <a:off x="5817096" y="6482268"/>
            <a:ext cx="3882300" cy="216024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>
            <a:noAutofit/>
          </a:bodyPr>
          <a:lstStyle/>
          <a:p>
            <a:pPr algn="r"/>
            <a:r>
              <a:rPr lang="fr-F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*KPI : Key Performance Indicator : Indicateurs de performance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96650DE-44CA-8145-085B-D49086108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1192" y="3566139"/>
            <a:ext cx="2893875" cy="286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675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E0167-ECD8-4193-51AF-E7325B81D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D567AE74-0FE0-E636-2F59-061B77F399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F2C0D27D-FEEF-AC1D-F4D0-902710F34D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POURQUOI KESTRA ?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E00B84B9-4B17-E31D-C7F9-143545969EF7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3</a:t>
            </a:r>
          </a:p>
        </p:txBody>
      </p:sp>
      <p:pic>
        <p:nvPicPr>
          <p:cNvPr id="2" name="Picture 2" descr="Kestra, Open Source Declarative Data Orchestration">
            <a:extLst>
              <a:ext uri="{FF2B5EF4-FFF2-40B4-BE49-F238E27FC236}">
                <a16:creationId xmlns:a16="http://schemas.microsoft.com/office/drawing/2014/main" id="{7F5505E2-4E2A-FCF6-21CA-398028E18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0599" y="999535"/>
            <a:ext cx="5585314" cy="5563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03836D2B-AB0D-C491-415F-40347B5245F7}"/>
              </a:ext>
            </a:extLst>
          </p:cNvPr>
          <p:cNvSpPr txBox="1"/>
          <p:nvPr/>
        </p:nvSpPr>
        <p:spPr>
          <a:xfrm>
            <a:off x="128464" y="843628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Qu'est-ce que </a:t>
            </a:r>
            <a:r>
              <a:rPr lang="fr-FR" sz="2800" u="sng" dirty="0" err="1">
                <a:solidFill>
                  <a:schemeClr val="bg1">
                    <a:lumMod val="85000"/>
                  </a:schemeClr>
                </a:solidFill>
              </a:rPr>
              <a:t>Kestra</a:t>
            </a: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 ?</a:t>
            </a:r>
          </a:p>
          <a:p>
            <a:pPr marL="0" lvl="2"/>
            <a:endParaRPr lang="fr-FR" sz="1000" u="sng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Orchestrateur de workflows open-source</a:t>
            </a:r>
          </a:p>
          <a:p>
            <a:pPr marL="800100" lvl="3" indent="-342900"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Configuration YAML déclarative</a:t>
            </a:r>
          </a:p>
          <a:p>
            <a:pPr marL="800100" lvl="3" indent="-342900">
              <a:buClr>
                <a:srgbClr val="7030A0"/>
              </a:buClr>
              <a:buFont typeface="Wingdings" panose="05000000000000000000" pitchFamily="2" charset="2"/>
              <a:buChar char="§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Interface web intuitive</a:t>
            </a:r>
          </a:p>
          <a:p>
            <a:pPr marL="914400" lvl="4">
              <a:buClr>
                <a:srgbClr val="7030A0"/>
              </a:buClr>
            </a:pPr>
            <a:endParaRPr lang="fr-FR" sz="2800" dirty="0">
              <a:solidFill>
                <a:schemeClr val="bg1">
                  <a:lumMod val="85000"/>
                </a:schemeClr>
              </a:solidFill>
            </a:endParaRPr>
          </a:p>
          <a:p>
            <a:pPr marL="914400" lvl="4">
              <a:buClr>
                <a:srgbClr val="7030A0"/>
              </a:buClr>
            </a:pPr>
            <a:endParaRPr lang="fr-FR" sz="2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3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Avantages pour </a:t>
            </a:r>
            <a:r>
              <a:rPr lang="fr-FR" sz="2800" u="sng" dirty="0" err="1">
                <a:solidFill>
                  <a:schemeClr val="bg1">
                    <a:lumMod val="85000"/>
                  </a:schemeClr>
                </a:solidFill>
              </a:rPr>
              <a:t>BottleNeck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342900" lvl="3" indent="-34290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4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Orchestration visuelle des tâches</a:t>
            </a:r>
          </a:p>
          <a:p>
            <a:pPr marL="800100" lvl="4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Parallélisation native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(gain de temps)</a:t>
            </a:r>
          </a:p>
          <a:p>
            <a:pPr marL="800100" lvl="4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Gestion d'erreurs avancée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fr-FR" sz="1600" i="1" dirty="0" err="1">
                <a:solidFill>
                  <a:schemeClr val="bg1">
                    <a:lumMod val="85000"/>
                  </a:schemeClr>
                </a:solidFill>
              </a:rPr>
              <a:t>retry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, alertes)</a:t>
            </a:r>
          </a:p>
          <a:p>
            <a:pPr marL="800100" lvl="4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Planification automatique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fr-FR" sz="1600" i="1" dirty="0" err="1">
                <a:solidFill>
                  <a:schemeClr val="bg1">
                    <a:lumMod val="85000"/>
                  </a:schemeClr>
                </a:solidFill>
              </a:rPr>
              <a:t>cron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 mensuel)</a:t>
            </a:r>
          </a:p>
          <a:p>
            <a:pPr marL="800100" lvl="4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Logs détaillés pour </a:t>
            </a:r>
            <a:r>
              <a:rPr lang="fr-FR" sz="2400" dirty="0" err="1">
                <a:solidFill>
                  <a:schemeClr val="bg1">
                    <a:lumMod val="85000"/>
                  </a:schemeClr>
                </a:solidFill>
              </a:rPr>
              <a:t>debugging</a:t>
            </a: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4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4">
              <a:buClr>
                <a:srgbClr val="00B050"/>
              </a:buClr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26" name="Picture 2" descr="Kestra, Open Source Declarative Data Orchestration">
            <a:extLst>
              <a:ext uri="{FF2B5EF4-FFF2-40B4-BE49-F238E27FC236}">
                <a16:creationId xmlns:a16="http://schemas.microsoft.com/office/drawing/2014/main" id="{178E2423-724C-462E-C99A-87391B7E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4404" y="116632"/>
            <a:ext cx="623132" cy="62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 9" descr="Une image contenant texte, capture d’écran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0F3201FD-FA36-37DF-C98C-53B5D33F94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746" y="3933056"/>
            <a:ext cx="3224808" cy="1814788"/>
          </a:xfrm>
          <a:prstGeom prst="rect">
            <a:avLst/>
          </a:prstGeom>
        </p:spPr>
      </p:pic>
      <p:pic>
        <p:nvPicPr>
          <p:cNvPr id="12" name="Image 11" descr="Une image contenant capture d’écran, texte, Logiciel multimédia, logiciel&#10;&#10;Le contenu généré par l’IA peut être incorrect.">
            <a:extLst>
              <a:ext uri="{FF2B5EF4-FFF2-40B4-BE49-F238E27FC236}">
                <a16:creationId xmlns:a16="http://schemas.microsoft.com/office/drawing/2014/main" id="{EA94FF24-3868-A457-0AC2-2AE08201AC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1747" y="2080373"/>
            <a:ext cx="3224808" cy="1738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20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6E998-8D64-DB4C-038D-AA2160340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F8C94392-FCB2-CB19-126E-A2415716BB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6C42F437-CBC4-32FE-9F37-8E74BD3F6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ARCHITECTURE DU PIPELINE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7DFA4D77-E6B8-9B05-76D8-4893212C5193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4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D9B1932-04D5-E3C7-7501-8A225EB0D9A6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Diagramme de flux 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:</a:t>
            </a: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DB0A8C5-11D3-70FE-323E-58CF5E28AA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736" y="1772816"/>
            <a:ext cx="8902527" cy="4562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733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E8E1E-A1CF-CD8C-1A7C-D6FEDA123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208C6994-4AAC-F4C3-665A-10468BA549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3D176FA4-DDD2-D479-D244-B330FE220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DÉTAIL DES TÂCHES DE NETTOYAGE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31057A42-8F55-94AA-4E37-0CE67F48C92A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5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86CC145-2E1D-D7E4-D628-5CE3AED57CDB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Task 2, Task 3 et Task 4 </a:t>
            </a:r>
            <a:r>
              <a:rPr lang="fr-FR" sz="2800" u="sng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– </a:t>
            </a: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Nettoyage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Points Clés</a:t>
            </a:r>
            <a:r>
              <a:rPr lang="fr-FR" sz="2800" i="1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Exécution parallèle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(3 tâches simultanées)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4 validations intermédiaires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(avec </a:t>
            </a:r>
            <a:r>
              <a:rPr lang="fr-FR" sz="1600" i="1" dirty="0" err="1">
                <a:solidFill>
                  <a:schemeClr val="bg1">
                    <a:lumMod val="85000"/>
                  </a:schemeClr>
                </a:solidFill>
              </a:rPr>
              <a:t>sys.exit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(1))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Format Parquet </a:t>
            </a:r>
            <a:r>
              <a:rPr lang="fr-FR" sz="1600" i="1" dirty="0">
                <a:solidFill>
                  <a:schemeClr val="bg1">
                    <a:lumMod val="85000"/>
                  </a:schemeClr>
                </a:solidFill>
              </a:rPr>
              <a:t>(performance)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6B8390DB-24BF-E869-05C9-332B4658E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028130"/>
              </p:ext>
            </p:extLst>
          </p:nvPr>
        </p:nvGraphicFramePr>
        <p:xfrm>
          <a:off x="348044" y="1628800"/>
          <a:ext cx="9209912" cy="23698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28992">
                  <a:extLst>
                    <a:ext uri="{9D8B030D-6E8A-4147-A177-3AD203B41FA5}">
                      <a16:colId xmlns:a16="http://schemas.microsoft.com/office/drawing/2014/main" val="541559973"/>
                    </a:ext>
                  </a:extLst>
                </a:gridCol>
                <a:gridCol w="1843556">
                  <a:extLst>
                    <a:ext uri="{9D8B030D-6E8A-4147-A177-3AD203B41FA5}">
                      <a16:colId xmlns:a16="http://schemas.microsoft.com/office/drawing/2014/main" val="884713683"/>
                    </a:ext>
                  </a:extLst>
                </a:gridCol>
                <a:gridCol w="4277124">
                  <a:extLst>
                    <a:ext uri="{9D8B030D-6E8A-4147-A177-3AD203B41FA5}">
                      <a16:colId xmlns:a16="http://schemas.microsoft.com/office/drawing/2014/main" val="794379829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659763802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Tâches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Sortie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Nettoyage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Validation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605534"/>
                  </a:ext>
                </a:extLst>
              </a:tr>
              <a:tr h="179576">
                <a:tc>
                  <a:txBody>
                    <a:bodyPr/>
                    <a:lstStyle/>
                    <a:p>
                      <a:r>
                        <a:rPr lang="fr-FR" sz="1400" dirty="0"/>
                        <a:t>Task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erp_clean.parquet</a:t>
                      </a:r>
                      <a:endParaRPr lang="fr-F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Suppression</a:t>
                      </a:r>
                      <a:r>
                        <a:rPr lang="fr-FR" sz="1400" dirty="0"/>
                        <a:t> des </a:t>
                      </a:r>
                      <a:r>
                        <a:rPr lang="fr-FR" sz="1400" b="1" dirty="0"/>
                        <a:t>valeurs manquantes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Dédoublonnage</a:t>
                      </a:r>
                      <a:r>
                        <a:rPr lang="fr-FR" sz="1400" dirty="0"/>
                        <a:t> sur </a:t>
                      </a:r>
                      <a:r>
                        <a:rPr lang="fr-FR" sz="1400" b="1" dirty="0" err="1"/>
                        <a:t>product_id</a:t>
                      </a:r>
                      <a:endParaRPr lang="fr-FR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825 lignes finales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587772"/>
                  </a:ext>
                </a:extLst>
              </a:tr>
              <a:tr h="150996">
                <a:tc>
                  <a:txBody>
                    <a:bodyPr/>
                    <a:lstStyle/>
                    <a:p>
                      <a:r>
                        <a:rPr lang="fr-FR" sz="1400" dirty="0"/>
                        <a:t>Task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liaison_clean.parquet</a:t>
                      </a:r>
                      <a:endParaRPr lang="fr-F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Conservation</a:t>
                      </a:r>
                      <a:r>
                        <a:rPr lang="fr-FR" sz="1400" dirty="0"/>
                        <a:t> des </a:t>
                      </a:r>
                      <a:r>
                        <a:rPr lang="fr-FR" sz="1400" b="1" dirty="0"/>
                        <a:t>NULL</a:t>
                      </a:r>
                      <a:r>
                        <a:rPr lang="fr-FR" sz="1400" dirty="0"/>
                        <a:t> sur </a:t>
                      </a:r>
                      <a:r>
                        <a:rPr lang="fr-FR" sz="1400" b="1" dirty="0" err="1"/>
                        <a:t>id_web</a:t>
                      </a:r>
                      <a:r>
                        <a:rPr lang="fr-FR" sz="1400" dirty="0"/>
                        <a:t> </a:t>
                      </a:r>
                      <a:r>
                        <a:rPr lang="fr-FR" sz="1100" i="1" dirty="0"/>
                        <a:t>(filtre après jointure)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Dédoublonnage</a:t>
                      </a:r>
                      <a:r>
                        <a:rPr lang="fr-FR" sz="1400" dirty="0"/>
                        <a:t> </a:t>
                      </a:r>
                      <a:r>
                        <a:rPr lang="fr-FR" sz="1400" u="sng" dirty="0"/>
                        <a:t>uniquement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825 lignes finales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5425772"/>
                  </a:ext>
                </a:extLst>
              </a:tr>
              <a:tr h="122416">
                <a:tc>
                  <a:txBody>
                    <a:bodyPr/>
                    <a:lstStyle/>
                    <a:p>
                      <a:r>
                        <a:rPr lang="fr-FR" sz="1400" dirty="0"/>
                        <a:t>Task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web_clean.parquet</a:t>
                      </a:r>
                      <a:endParaRPr lang="fr-F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990570" rtl="0" eaLnBrk="1" latinLnBrk="0" hangingPunct="1">
                        <a:buFontTx/>
                        <a:buChar char="-"/>
                      </a:pPr>
                      <a:r>
                        <a:rPr lang="fr-FR" sz="1400" b="1" dirty="0"/>
                        <a:t>Suppression</a:t>
                      </a:r>
                      <a:r>
                        <a:rPr lang="fr-FR" sz="1400" dirty="0"/>
                        <a:t> </a:t>
                      </a:r>
                      <a:r>
                        <a:rPr lang="fr-FR" sz="1400" b="1" dirty="0"/>
                        <a:t>NULL</a:t>
                      </a:r>
                      <a:r>
                        <a:rPr lang="fr-FR" sz="1400" dirty="0"/>
                        <a:t> sur </a:t>
                      </a:r>
                      <a:r>
                        <a:rPr lang="fr-FR" sz="1400" b="1" dirty="0" err="1"/>
                        <a:t>sku</a:t>
                      </a:r>
                      <a:r>
                        <a:rPr lang="fr-FR" sz="1400" dirty="0"/>
                        <a:t> </a:t>
                      </a:r>
                      <a:r>
                        <a:rPr lang="fr-FR" sz="11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(85 NULL)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Validation intermédiaire</a:t>
                      </a:r>
                      <a:r>
                        <a:rPr lang="fr-FR" sz="1400" dirty="0"/>
                        <a:t> : </a:t>
                      </a:r>
                      <a:r>
                        <a:rPr lang="fr-FR" sz="1400" b="1" dirty="0"/>
                        <a:t>1428</a:t>
                      </a:r>
                      <a:r>
                        <a:rPr lang="fr-FR" sz="1400" dirty="0"/>
                        <a:t> </a:t>
                      </a:r>
                      <a:r>
                        <a:rPr lang="fr-FR" sz="1400" b="1" dirty="0"/>
                        <a:t>lignes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Tri descendant </a:t>
                      </a:r>
                      <a:r>
                        <a:rPr lang="fr-FR" sz="1400" dirty="0"/>
                        <a:t>sur </a:t>
                      </a:r>
                      <a:r>
                        <a:rPr lang="fr-FR" sz="1400" b="1" dirty="0" err="1"/>
                        <a:t>post_type</a:t>
                      </a:r>
                      <a:r>
                        <a:rPr lang="fr-FR" sz="1400" b="1" dirty="0"/>
                        <a:t> </a:t>
                      </a:r>
                      <a:r>
                        <a:rPr lang="fr-FR" sz="11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(priorise '</a:t>
                      </a:r>
                      <a:r>
                        <a:rPr lang="fr-FR" sz="1100" i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product</a:t>
                      </a:r>
                      <a:r>
                        <a:rPr lang="fr-FR" sz="11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400" b="1" dirty="0"/>
                        <a:t>Dédoublonnage</a:t>
                      </a:r>
                      <a:r>
                        <a:rPr lang="fr-FR" sz="1400" dirty="0"/>
                        <a:t> sur </a:t>
                      </a:r>
                      <a:r>
                        <a:rPr lang="fr-FR" sz="1400" b="1" dirty="0" err="1"/>
                        <a:t>sku</a:t>
                      </a:r>
                      <a:r>
                        <a:rPr lang="fr-FR" sz="1400" dirty="0"/>
                        <a:t> </a:t>
                      </a:r>
                      <a:r>
                        <a:rPr lang="fr-FR" sz="11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fr-FR" sz="1100" i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keep</a:t>
                      </a:r>
                      <a:r>
                        <a:rPr lang="fr-FR" sz="11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='first')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714 lignes finales</a:t>
                      </a:r>
                      <a:endParaRPr lang="fr-FR" sz="14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882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8969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332CF-289A-E487-7E52-6724B0C8E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18BB8B50-2AD2-1D04-B321-535DBF8604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4C980F85-118A-1C26-2CC9-6B0487F7F0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DÉTAIL DES TÂCHES DE FUSION ET AGRÉGATION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0825F60F-C9A6-1B62-BF70-7088C434E0B9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FC7F4FA-A63D-42E2-1607-F9FA2A44800C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400" u="sng" dirty="0">
                <a:solidFill>
                  <a:schemeClr val="bg1">
                    <a:lumMod val="85000"/>
                  </a:schemeClr>
                </a:solidFill>
              </a:rPr>
              <a:t>Task 5 – Assemblage des données </a:t>
            </a:r>
            <a:r>
              <a:rPr lang="fr-FR" sz="1600" i="1" u="sng" dirty="0">
                <a:solidFill>
                  <a:schemeClr val="bg1">
                    <a:lumMod val="85000"/>
                  </a:schemeClr>
                </a:solidFill>
              </a:rPr>
              <a:t>(Merge)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0" lvl="2">
              <a:tabLst>
                <a:tab pos="541338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Fusion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des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3 fichiers nettoyés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en 3 étapes :</a:t>
            </a:r>
          </a:p>
          <a:p>
            <a:pPr marL="1371600" lvl="4" indent="-457200">
              <a:buFont typeface="+mj-lt"/>
              <a:buAutoNum type="arabicPeriod"/>
              <a:tabLst>
                <a:tab pos="541338" algn="l"/>
              </a:tabLst>
            </a:pP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ERP + LIAISON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→ </a:t>
            </a:r>
            <a:r>
              <a:rPr lang="fr-FR" u="sng" dirty="0">
                <a:solidFill>
                  <a:schemeClr val="bg1">
                    <a:lumMod val="85000"/>
                  </a:schemeClr>
                </a:solidFill>
              </a:rPr>
              <a:t>825 produits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reliés par leur code interne</a:t>
            </a:r>
          </a:p>
          <a:p>
            <a:pPr marL="1371600" lvl="4" indent="-457200">
              <a:buFont typeface="+mj-lt"/>
              <a:buAutoNum type="arabicPeriod"/>
              <a:tabLst>
                <a:tab pos="541338" algn="l"/>
              </a:tabLst>
            </a:pP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Filtrage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→ </a:t>
            </a:r>
            <a:r>
              <a:rPr lang="fr-FR" u="sng" dirty="0">
                <a:solidFill>
                  <a:schemeClr val="bg1">
                    <a:lumMod val="85000"/>
                  </a:schemeClr>
                </a:solidFill>
              </a:rPr>
              <a:t>734 produits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1200" i="1" dirty="0">
                <a:solidFill>
                  <a:schemeClr val="bg1">
                    <a:lumMod val="85000"/>
                  </a:schemeClr>
                </a:solidFill>
              </a:rPr>
              <a:t>(id_web vide : jamais vendus en ligne)</a:t>
            </a:r>
          </a:p>
          <a:p>
            <a:pPr marL="1371600" lvl="4" indent="-457200">
              <a:buFont typeface="+mj-lt"/>
              <a:buAutoNum type="arabicPeriod"/>
              <a:tabLst>
                <a:tab pos="541338" algn="l"/>
              </a:tabLst>
            </a:pP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+ WEB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→ </a:t>
            </a:r>
            <a:r>
              <a:rPr lang="fr-FR" u="sng" dirty="0">
                <a:solidFill>
                  <a:schemeClr val="bg1">
                    <a:lumMod val="85000"/>
                  </a:schemeClr>
                </a:solidFill>
              </a:rPr>
              <a:t>714 produits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finaux avec toutes les infos </a:t>
            </a:r>
            <a:r>
              <a:rPr lang="fr-FR" sz="1200" i="1" dirty="0">
                <a:solidFill>
                  <a:schemeClr val="bg1">
                    <a:lumMod val="85000"/>
                  </a:schemeClr>
                </a:solidFill>
              </a:rPr>
              <a:t>(stock, prix, ventes)</a:t>
            </a:r>
          </a:p>
          <a:p>
            <a:pPr marL="0" lvl="2">
              <a:tabLst>
                <a:tab pos="541338" algn="l"/>
              </a:tabLst>
            </a:pP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Stockage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temporaire dans </a:t>
            </a:r>
            <a:r>
              <a:rPr lang="fr-FR" sz="2000" b="1" dirty="0" err="1">
                <a:solidFill>
                  <a:schemeClr val="bg1">
                    <a:lumMod val="85000"/>
                  </a:schemeClr>
                </a:solidFill>
              </a:rPr>
              <a:t>merged_data.parquet</a:t>
            </a: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0" lvl="2">
              <a:tabLst>
                <a:tab pos="541338" algn="l"/>
              </a:tabLst>
            </a:pP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0" lvl="2">
              <a:tabLst>
                <a:tab pos="541338" algn="l"/>
              </a:tabLst>
            </a:pP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  <a:tabLst>
                <a:tab pos="541338" algn="l"/>
              </a:tabLst>
            </a:pPr>
            <a:r>
              <a:rPr lang="fr-FR" sz="2400" u="sng" dirty="0">
                <a:solidFill>
                  <a:schemeClr val="bg1">
                    <a:lumMod val="85000"/>
                  </a:schemeClr>
                </a:solidFill>
              </a:rPr>
              <a:t>Task 6 - Calcul du Chiffre d'Affaires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: </a:t>
            </a:r>
          </a:p>
          <a:p>
            <a:pPr marL="457200" lvl="3">
              <a:tabLst>
                <a:tab pos="541338" algn="l"/>
              </a:tabLst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Calcul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pour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chaque vin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: Prix × Quantité vendue = CA produit</a:t>
            </a:r>
          </a:p>
          <a:p>
            <a:pPr marL="457200" lvl="3">
              <a:tabLst>
                <a:tab pos="541338" algn="l"/>
              </a:tabLst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Calcul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du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CA total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automatisé : Addition des CA de chaque vin</a:t>
            </a:r>
          </a:p>
          <a:p>
            <a:pPr marL="457200" lvl="3">
              <a:tabLst>
                <a:tab pos="541338" algn="l"/>
              </a:tabLst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Stockage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temporaire dans </a:t>
            </a:r>
            <a:r>
              <a:rPr lang="fr-FR" sz="2000" b="1" dirty="0" err="1">
                <a:solidFill>
                  <a:schemeClr val="bg1">
                    <a:lumMod val="85000"/>
                  </a:schemeClr>
                </a:solidFill>
              </a:rPr>
              <a:t>merged_with_ca.parquet</a:t>
            </a: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3">
              <a:tabLst>
                <a:tab pos="541338" algn="l"/>
              </a:tabLst>
            </a:pP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3">
              <a:tabLst>
                <a:tab pos="541338" algn="l"/>
              </a:tabLst>
            </a:pP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  <a:tabLst>
                <a:tab pos="541338" algn="l"/>
              </a:tabLst>
            </a:pPr>
            <a:r>
              <a:rPr lang="fr-FR" sz="2400" u="sng" dirty="0">
                <a:solidFill>
                  <a:schemeClr val="bg1">
                    <a:lumMod val="85000"/>
                  </a:schemeClr>
                </a:solidFill>
              </a:rPr>
              <a:t>Métriques clés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  <a:tabLst>
                <a:tab pos="541338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825 → 734 → 714 lignes </a:t>
            </a:r>
            <a:r>
              <a:rPr lang="fr-FR" sz="1400" dirty="0">
                <a:solidFill>
                  <a:schemeClr val="bg1">
                    <a:lumMod val="85000"/>
                  </a:schemeClr>
                </a:solidFill>
              </a:rPr>
              <a:t>(pertes tracées et justifiées)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  <a:tabLst>
                <a:tab pos="541338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CA total validé : 70 568,60 €</a:t>
            </a:r>
          </a:p>
        </p:txBody>
      </p:sp>
    </p:spTree>
    <p:extLst>
      <p:ext uri="{BB962C8B-B14F-4D97-AF65-F5344CB8AC3E}">
        <p14:creationId xmlns:p14="http://schemas.microsoft.com/office/powerpoint/2010/main" val="4289327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6B153-1800-C7F7-CE78-4BA0745E0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69F1CFC5-63A0-D472-CB57-8083DF603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B90717FA-230A-5530-BA44-0AF0F07B1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RÉSUMÉ DES JOINTURES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76A9029B-6046-8AD6-237B-2F9EA3765AE9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7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2157D8E-3EE8-BFBD-A3DD-F7035C19394F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Schéma de fusion des 3 sources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EA2B15AE-2B14-8BD2-31E1-18EE65136C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350" y="1988840"/>
            <a:ext cx="58293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050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8128-82AD-F2FB-31E7-E83D0D3F4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0902468-71AC-09BB-A404-671EFBE5B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AB7A87B8-1B1B-EE0E-DB3D-C82FA3B52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CLASSIFICATION STATISTIQUE DES VINS</a:t>
            </a:r>
            <a:endParaRPr lang="fr-FR" i="1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4E3D348C-368C-EABA-7121-363F761B7F45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8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48C3EE4-B2B7-97B8-0AD6-981CEAD39A05}"/>
              </a:ext>
            </a:extLst>
          </p:cNvPr>
          <p:cNvSpPr txBox="1"/>
          <p:nvPr/>
        </p:nvSpPr>
        <p:spPr>
          <a:xfrm>
            <a:off x="119688" y="834892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Qu’est ce que le Z-Score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0" lvl="2">
              <a:tabLst>
                <a:tab pos="541338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	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Le z-score est un nombre qui indique à combien d'écarts-types une valeur se situe par rapport à 	la moyenne.</a:t>
            </a:r>
          </a:p>
          <a:p>
            <a:pPr marL="0" lvl="2">
              <a:tabLst>
                <a:tab pos="541338" algn="l"/>
              </a:tabLst>
            </a:pPr>
            <a:endParaRPr lang="fr-FR" sz="105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  <a:tabLst>
                <a:tab pos="541338" algn="l"/>
              </a:tabLst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Task 7 – Classification par Z-score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?</a:t>
            </a:r>
          </a:p>
          <a:p>
            <a:pPr marL="457200" lvl="2" indent="-457200">
              <a:buFont typeface="Arial" panose="020B0604020202020204" pitchFamily="34" charset="0"/>
              <a:buChar char="•"/>
              <a:tabLst>
                <a:tab pos="541338" algn="l"/>
              </a:tabLst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+mj-lt"/>
              <a:buAutoNum type="arabicPeriod"/>
              <a:tabLst>
                <a:tab pos="541338" algn="l"/>
              </a:tabLst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Calcul du </a:t>
            </a: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prix moyen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32,49 €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 </a:t>
            </a:r>
          </a:p>
          <a:p>
            <a:pPr marL="800100" lvl="3" indent="-342900">
              <a:buFont typeface="+mj-lt"/>
              <a:buAutoNum type="arabicPeriod"/>
              <a:tabLst>
                <a:tab pos="541338" algn="l"/>
              </a:tabLst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Calcul de la </a:t>
            </a: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dispersion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i="1" dirty="0">
                <a:solidFill>
                  <a:schemeClr val="bg1">
                    <a:lumMod val="85000"/>
                  </a:schemeClr>
                </a:solidFill>
              </a:rPr>
              <a:t>(écart-type)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: </a:t>
            </a: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±27,81 €  </a:t>
            </a:r>
          </a:p>
          <a:p>
            <a:pPr marL="800100" lvl="3" indent="-342900">
              <a:buFont typeface="+mj-lt"/>
              <a:buAutoNum type="arabicPeriod"/>
              <a:tabLst>
                <a:tab pos="541338" algn="l"/>
              </a:tabLst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Mesure de l'écart pour chaque vin </a:t>
            </a:r>
            <a:r>
              <a:rPr lang="fr-FR" i="1" dirty="0">
                <a:solidFill>
                  <a:schemeClr val="bg1">
                    <a:lumMod val="85000"/>
                  </a:schemeClr>
                </a:solidFill>
              </a:rPr>
              <a:t>(Z-score) </a:t>
            </a: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1200150" lvl="4" indent="-285750">
              <a:buFontTx/>
              <a:buChar char="-"/>
              <a:tabLst>
                <a:tab pos="541338" algn="l"/>
              </a:tabLst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Z-score supérieur à 2 : </a:t>
            </a: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Vin Premium</a:t>
            </a:r>
          </a:p>
          <a:p>
            <a:pPr marL="1200150" lvl="4" indent="-285750">
              <a:buFontTx/>
              <a:buChar char="-"/>
              <a:tabLst>
                <a:tab pos="541338" algn="l"/>
              </a:tabLst>
            </a:pPr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Z-score inférieur à 2 :  </a:t>
            </a: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Vin Ordinaire</a:t>
            </a:r>
          </a:p>
          <a:p>
            <a:pPr marL="914400" lvl="4">
              <a:tabLst>
                <a:tab pos="541338" algn="l"/>
              </a:tabLst>
            </a:pPr>
            <a:endParaRPr lang="fr-FR" b="1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  <a:tabLst>
                <a:tab pos="541338" algn="l"/>
              </a:tabLst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Task 8 – Résultats et validation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  <a:tabLst>
                <a:tab pos="541338" algn="l"/>
              </a:tabLst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742950" lvl="3" indent="-285750">
              <a:buClr>
                <a:srgbClr val="00B050"/>
              </a:buClr>
              <a:buFont typeface="Wingdings" panose="05000000000000000000" pitchFamily="2" charset="2"/>
              <a:buChar char="ü"/>
              <a:tabLst>
                <a:tab pos="541338" algn="l"/>
              </a:tabLst>
            </a:pP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30 vins premium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(CA : 6 884,40 €)</a:t>
            </a:r>
          </a:p>
          <a:p>
            <a:pPr marL="742950" lvl="3" indent="-285750">
              <a:buClr>
                <a:srgbClr val="00B050"/>
              </a:buClr>
              <a:buFont typeface="Wingdings" panose="05000000000000000000" pitchFamily="2" charset="2"/>
              <a:buChar char="ü"/>
              <a:tabLst>
                <a:tab pos="541338" algn="l"/>
              </a:tabLst>
            </a:pP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684 vins ordinaires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(CA : 63 684,20 €)</a:t>
            </a:r>
          </a:p>
          <a:p>
            <a:pPr marL="742950" lvl="3" indent="-285750">
              <a:buClr>
                <a:srgbClr val="00B050"/>
              </a:buClr>
              <a:buFont typeface="Wingdings" panose="05000000000000000000" pitchFamily="2" charset="2"/>
              <a:buChar char="ü"/>
              <a:tabLst>
                <a:tab pos="541338" algn="l"/>
              </a:tabLst>
            </a:pPr>
            <a:r>
              <a:rPr lang="fr-FR" b="1" dirty="0">
                <a:solidFill>
                  <a:schemeClr val="bg1">
                    <a:lumMod val="85000"/>
                  </a:schemeClr>
                </a:solidFill>
              </a:rPr>
              <a:t>Total : 70 568,60 €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(cohérence validée)</a:t>
            </a:r>
            <a:endParaRPr lang="fr-FR" i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037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F5FA1-E102-8F99-3AA4-1569FE58A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1AD07D75-4303-2993-EE6B-41D524796C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9F7D6CAE-EA03-AACA-3F92-D5545947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wrap="none" lIns="36000"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/>
                </a:solidFill>
              </a:rPr>
              <a:t>HISTOGRAMME DES PRIX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5D5395DF-B3DF-87A4-8A1A-E2013B9726F3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9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BCDEB7F-1AD4-5795-D150-D8C8688D60E5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Visualisation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 </a:t>
            </a:r>
          </a:p>
          <a:p>
            <a:pPr marL="457200" lvl="3"/>
            <a:r>
              <a:rPr lang="fr-FR" dirty="0">
                <a:solidFill>
                  <a:schemeClr val="bg1">
                    <a:lumMod val="85000"/>
                  </a:schemeClr>
                </a:solidFill>
              </a:rPr>
              <a:t>Répartition des 714 vins par prix avec séparation entre 30 premium (en rouge, &gt; 88€) et 684 ordinaires (en bleu, ≤ 88€) via le z-score.</a:t>
            </a:r>
          </a:p>
        </p:txBody>
      </p:sp>
      <p:pic>
        <p:nvPicPr>
          <p:cNvPr id="4" name="Image 3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2C8BC110-EE6F-A66E-3C9F-E6067F561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525" y="2132856"/>
            <a:ext cx="7508950" cy="433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708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BC015-7EF0-CF8C-9B1D-E14956C5A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6339FDB7-79F6-BE21-DA3D-359E85F3A5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FE1B3128-EFCC-725E-F83E-EC3366643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EXTRACTION ET LIVRABLES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D6FF7462-E264-CB8E-5E25-034E99BFADCA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A055EE6-85E6-507E-9889-83DFD8E960E3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Task 9, Task 10 et Task 11 – Export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0" lvl="2"/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0" lvl="2"/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0" lvl="2"/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0" lvl="2"/>
            <a:endParaRPr lang="fr-FR" sz="2400" dirty="0">
              <a:solidFill>
                <a:schemeClr val="bg1">
                  <a:lumMod val="85000"/>
                </a:schemeClr>
              </a:solidFill>
            </a:endParaRPr>
          </a:p>
          <a:p>
            <a:pPr marL="0" lvl="2"/>
            <a:endParaRPr lang="fr-FR" sz="2800" u="sng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2" indent="-3429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Task 12 – Upload S3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Destination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: S3/EXPORTS/YYYYMMDD_HHMMSS/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Horodatage automatique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Traçabilité complète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A4D7614B-9FBB-9503-73B7-F4A419C5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569809"/>
              </p:ext>
            </p:extLst>
          </p:nvPr>
        </p:nvGraphicFramePr>
        <p:xfrm>
          <a:off x="200472" y="1700808"/>
          <a:ext cx="9505056" cy="15011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329505815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1145858823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1187699203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217577620"/>
                    </a:ext>
                  </a:extLst>
                </a:gridCol>
              </a:tblGrid>
              <a:tr h="154816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Tâches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Sortie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Contenu</a:t>
                      </a: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847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Task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Classeur </a:t>
                      </a:r>
                      <a:r>
                        <a:rPr lang="fr-FR" sz="1400" dirty="0" err="1"/>
                        <a:t>excel</a:t>
                      </a:r>
                      <a:r>
                        <a:rPr lang="fr-FR" sz="1400" dirty="0"/>
                        <a:t> : 2 feuilles : CA par produit et CA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714 produits détaillés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Format Excel </a:t>
                      </a:r>
                      <a:r>
                        <a:rPr lang="fr-FR" sz="14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fr-FR" sz="1400" dirty="0"/>
                        <a:t> analyse business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04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Task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Fichier CSV : 30 vins avec z-score &gt;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30 vins avec z-score &gt;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CA total premium : 6 884,40 €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074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400" dirty="0"/>
                        <a:t>Task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Fichier CSV : 684 vins avec z-score ≤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684 vins avec z-score ≤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CA total ordinaires : 63 684,20 €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913976"/>
                  </a:ext>
                </a:extLst>
              </a:tr>
            </a:tbl>
          </a:graphicData>
        </a:graphic>
      </p:graphicFrame>
      <p:pic>
        <p:nvPicPr>
          <p:cNvPr id="5" name="Image 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DDE17F95-FC11-D0E8-D90C-55BCCE97D6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072" y="4221088"/>
            <a:ext cx="4104456" cy="241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240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3082F-24AC-C1DF-68BF-B919862CB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C1E9E70-4298-FAB4-DC46-2D1AD90D6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C10D03AD-2721-6B2D-3F4A-6438BDFE8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PLANIFICATION ET AUTOMATISATION</a:t>
            </a:r>
            <a:endParaRPr lang="fr-FR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EB8002DF-925E-AA1E-A491-75CEAFA94AF2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11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059F388-AEA7-36D6-C351-AC433A480109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Qu’est ce que </a:t>
            </a:r>
            <a:r>
              <a:rPr lang="fr-FR" sz="2800" u="sng" dirty="0" err="1">
                <a:solidFill>
                  <a:schemeClr val="bg1">
                    <a:lumMod val="85000"/>
                  </a:schemeClr>
                </a:solidFill>
              </a:rPr>
              <a:t>Cron</a:t>
            </a:r>
            <a:r>
              <a:rPr lang="fr-FR" sz="24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3"/>
            <a:r>
              <a:rPr lang="fr-FR" sz="2000" b="1" dirty="0" err="1">
                <a:solidFill>
                  <a:schemeClr val="bg1">
                    <a:lumMod val="85000"/>
                  </a:schemeClr>
                </a:solidFill>
              </a:rPr>
              <a:t>Cron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est un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planificateur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qui permet de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programmer l'exécution automatique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d'une tâche à des moments précis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(heure, jour, mois)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sans intervention humaine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pPr marL="457200" lvl="3"/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b="1" u="sng" dirty="0">
                <a:solidFill>
                  <a:schemeClr val="bg1">
                    <a:lumMod val="85000"/>
                  </a:schemeClr>
                </a:solidFill>
              </a:rPr>
              <a:t>0 9 15 * * </a:t>
            </a:r>
            <a:r>
              <a:rPr lang="fr-FR" sz="2800" u="sng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- </a:t>
            </a: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Signification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: </a:t>
            </a:r>
          </a:p>
          <a:p>
            <a:pPr marL="342900" lvl="2" indent="-3429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Arial" panose="020B0604020202020204" pitchFamily="34" charset="0"/>
              <a:buChar char="•"/>
              <a:tabLst>
                <a:tab pos="1165225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0 	&gt; À la minute 0</a:t>
            </a:r>
          </a:p>
          <a:p>
            <a:pPr marL="800100" lvl="3" indent="-342900">
              <a:buFont typeface="Arial" panose="020B0604020202020204" pitchFamily="34" charset="0"/>
              <a:buChar char="•"/>
              <a:tabLst>
                <a:tab pos="1165225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9 	&gt; À l’heure 9</a:t>
            </a:r>
          </a:p>
          <a:p>
            <a:pPr marL="800100" lvl="3" indent="-342900">
              <a:buFont typeface="Arial" panose="020B0604020202020204" pitchFamily="34" charset="0"/>
              <a:buChar char="•"/>
              <a:tabLst>
                <a:tab pos="1165225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15 	&gt; Le jour 15 du mois</a:t>
            </a:r>
          </a:p>
          <a:p>
            <a:pPr marL="800100" lvl="3" indent="-342900">
              <a:buFont typeface="Arial" panose="020B0604020202020204" pitchFamily="34" charset="0"/>
              <a:buChar char="•"/>
              <a:tabLst>
                <a:tab pos="1165225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* 	&gt; Tous les mois</a:t>
            </a:r>
          </a:p>
          <a:p>
            <a:pPr marL="800100" lvl="3" indent="-342900">
              <a:buFont typeface="Arial" panose="020B0604020202020204" pitchFamily="34" charset="0"/>
              <a:buChar char="•"/>
              <a:tabLst>
                <a:tab pos="1165225" algn="l"/>
              </a:tabLst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* 	&gt; N’importe quel jour</a:t>
            </a:r>
          </a:p>
          <a:p>
            <a:pPr marL="457200" lvl="3">
              <a:tabLst>
                <a:tab pos="1165225" algn="l"/>
              </a:tabLst>
            </a:pP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Avantages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Zéro intervention manuelle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Exécution prévisible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Traçabilité dans les logs </a:t>
            </a: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Kestra</a:t>
            </a: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4" name="Image 3" descr="Une image contenant texte, capture d’écran, Police, ligne">
            <a:extLst>
              <a:ext uri="{FF2B5EF4-FFF2-40B4-BE49-F238E27FC236}">
                <a16:creationId xmlns:a16="http://schemas.microsoft.com/office/drawing/2014/main" id="{23D4CBA6-C3D7-E34D-0CC9-17805DC098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6936" y="3441948"/>
            <a:ext cx="5184576" cy="129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857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A6A8A-DB67-D13E-0624-E0CEF7DAB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E3E456E1-E082-6E30-9DF8-F5C7FA75D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BFE6F432-27C9-186C-F74D-64FA88137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RÉSILIENCE ET GESTION DES ERREURS</a:t>
            </a:r>
            <a:endParaRPr lang="fr-FR" sz="3200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BD59C7E6-9A5E-17A4-C3F1-B0444842AB4E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12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126FA5C-C5A8-A4BD-4266-10BE861FBFFF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Mécanisme de nouvelle tentative </a:t>
            </a:r>
            <a:r>
              <a:rPr lang="fr-FR" i="1" u="sng" dirty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fr-FR" i="1" u="sng" dirty="0" err="1">
                <a:solidFill>
                  <a:schemeClr val="bg1">
                    <a:lumMod val="85000"/>
                  </a:schemeClr>
                </a:solidFill>
              </a:rPr>
              <a:t>Retry</a:t>
            </a:r>
            <a:r>
              <a:rPr lang="fr-FR" i="1" u="sng" dirty="0">
                <a:solidFill>
                  <a:schemeClr val="bg1">
                    <a:lumMod val="85000"/>
                  </a:schemeClr>
                </a:solidFill>
              </a:rPr>
              <a:t>)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3 tentatives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automatiques</a:t>
            </a: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Délais croissants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: 10s → 20s → 40s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(max 60s)</a:t>
            </a:r>
            <a:endParaRPr lang="fr-FR" sz="2000" i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Évite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la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surcharge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des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services défaillants</a:t>
            </a:r>
            <a:endParaRPr lang="fr-FR" sz="1400" i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endParaRPr lang="fr-FR" sz="14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Délai d'expiration </a:t>
            </a:r>
            <a:r>
              <a:rPr lang="fr-FR" i="1" u="sng" dirty="0">
                <a:solidFill>
                  <a:schemeClr val="bg1">
                    <a:lumMod val="85000"/>
                  </a:schemeClr>
                </a:solidFill>
              </a:rPr>
              <a:t>(Timeout)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10 minutes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par tâche</a:t>
            </a: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Protection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contre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blocages infinis</a:t>
            </a:r>
          </a:p>
          <a:p>
            <a:pPr marL="0" lvl="2"/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Task 8 – Validation bloquante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5 tests obligatoires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(nb lignes fusionnées, CA total, nb vins premium et ordinaires, absence de CA NULL)</a:t>
            </a:r>
            <a:endParaRPr lang="fr-FR" sz="2000" i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sys.exit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(1)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si échec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→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arrêt workflow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 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  <a:sym typeface="Wingdings" panose="05000000000000000000" pitchFamily="2" charset="2"/>
              </a:rPr>
              <a:t>Envoie d’un mail</a:t>
            </a:r>
            <a:endParaRPr lang="fr-FR" sz="2000" b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Wingdings" panose="05000000000000000000" pitchFamily="2" charset="2"/>
              <a:buChar char="§"/>
            </a:pP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Garantit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la </a:t>
            </a:r>
            <a:r>
              <a:rPr lang="fr-FR" sz="2000" b="1" dirty="0" err="1">
                <a:solidFill>
                  <a:schemeClr val="bg1">
                    <a:lumMod val="85000"/>
                  </a:schemeClr>
                </a:solidFill>
              </a:rPr>
              <a:t>qualitée</a:t>
            </a:r>
            <a:r>
              <a:rPr lang="fr-FR" sz="2000" b="1" dirty="0">
                <a:solidFill>
                  <a:schemeClr val="bg1">
                    <a:lumMod val="85000"/>
                  </a:schemeClr>
                </a:solidFill>
              </a:rPr>
              <a:t> des exports</a:t>
            </a:r>
          </a:p>
        </p:txBody>
      </p:sp>
    </p:spTree>
    <p:extLst>
      <p:ext uri="{BB962C8B-B14F-4D97-AF65-F5344CB8AC3E}">
        <p14:creationId xmlns:p14="http://schemas.microsoft.com/office/powerpoint/2010/main" val="1859736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FAB-0535-A4E6-18D1-CABCEF73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8BF2931-5366-7FC2-6DFD-DFACC8CF6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BB41334D-3D9F-1433-A55B-D1E244A0C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MAIL D’ALERTE</a:t>
            </a:r>
            <a:endParaRPr lang="fr-FR" sz="3200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5382CAF6-CDC4-B89D-7A61-A4A46AFFDA7C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13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91F301D-2CE5-F0C9-B20B-84ADC83FEDFD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Contenu du mail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Infos d'exécution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(ID, dates, statut)</a:t>
            </a:r>
          </a:p>
          <a:p>
            <a:pPr marL="800100" lvl="3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Erreur détaillée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(tâche + message complet)</a:t>
            </a:r>
          </a:p>
          <a:p>
            <a:pPr marL="800100" lvl="3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Lien direct vers les logs </a:t>
            </a: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Kestra</a:t>
            </a: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Font typeface="Arial" panose="020B0604020202020204" pitchFamily="34" charset="0"/>
              <a:buChar char="•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Actions recommandées pour correction</a:t>
            </a:r>
          </a:p>
          <a:p>
            <a:pPr marL="457200" lvl="3"/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3"/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Scénarios de test validés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Erreur de validation → workflow arrêté + mail envoyé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Retry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sur erreur temporaire → récupération sans mail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Mail contient l'erreur exacte (</a:t>
            </a: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sys.exit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(1) message)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Logs détaillés pour </a:t>
            </a: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debugging</a:t>
            </a: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7F9D7FFE-6DDB-77D4-8FE5-50E91D7E30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278" y="1844824"/>
            <a:ext cx="4763490" cy="4293096"/>
          </a:xfrm>
          <a:prstGeom prst="rect">
            <a:avLst/>
          </a:prstGeom>
          <a:scene3d>
            <a:camera prst="orthographicFront">
              <a:rot lat="0" lon="1080000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508281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4A387-CEA3-0DC7-5ABD-39CDB3491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F0762A23-59E5-811B-FCF2-FC0991C31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Sous-titre 2">
            <a:extLst>
              <a:ext uri="{FF2B5EF4-FFF2-40B4-BE49-F238E27FC236}">
                <a16:creationId xmlns:a16="http://schemas.microsoft.com/office/drawing/2014/main" id="{E6992CDB-47DF-9428-B48E-AEC1EECAC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8976" y="116632"/>
            <a:ext cx="9088560" cy="620688"/>
          </a:xfr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anchor="t" anchorCtr="0">
            <a:noAutofit/>
          </a:bodyPr>
          <a:lstStyle/>
          <a:p>
            <a:pPr algn="l"/>
            <a:r>
              <a:rPr lang="fr-FR" sz="3200" b="1" dirty="0">
                <a:solidFill>
                  <a:schemeClr val="bg1">
                    <a:lumMod val="85000"/>
                  </a:schemeClr>
                </a:solidFill>
              </a:rPr>
              <a:t>CONCLUSION</a:t>
            </a:r>
            <a:endParaRPr lang="fr-FR" sz="3200" dirty="0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3C5E0720-6E32-0920-3C26-2609F5A42EFC}"/>
              </a:ext>
            </a:extLst>
          </p:cNvPr>
          <p:cNvSpPr txBox="1">
            <a:spLocks/>
          </p:cNvSpPr>
          <p:nvPr/>
        </p:nvSpPr>
        <p:spPr>
          <a:xfrm>
            <a:off x="128464" y="116632"/>
            <a:ext cx="560512" cy="620688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marL="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4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95285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303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90570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48585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98113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476424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709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66993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962278" indent="0" algn="ctr" defTabSz="990570" rtl="0" eaLnBrk="1" latinLnBrk="0" hangingPunct="1">
              <a:spcBef>
                <a:spcPct val="20000"/>
              </a:spcBef>
              <a:buFont typeface="Arial" pitchFamily="34" charset="0"/>
              <a:buNone/>
              <a:defRPr sz="21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3200" dirty="0">
                <a:solidFill>
                  <a:schemeClr val="bg1">
                    <a:lumMod val="85000"/>
                  </a:schemeClr>
                </a:solidFill>
              </a:rPr>
              <a:t>14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03F6D31-4CF9-C9DB-4158-814E37A8853E}"/>
              </a:ext>
            </a:extLst>
          </p:cNvPr>
          <p:cNvSpPr txBox="1"/>
          <p:nvPr/>
        </p:nvSpPr>
        <p:spPr>
          <a:xfrm>
            <a:off x="128464" y="837536"/>
            <a:ext cx="9649072" cy="5887416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t" anchorCtr="0">
            <a:noAutofit/>
          </a:bodyPr>
          <a:lstStyle/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Objectifs atteints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Pipeline entièrement automatisé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Réconciliation des 3 sources réussie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714 produits traités, CA validé </a:t>
            </a:r>
            <a:r>
              <a:rPr lang="fr-FR" sz="1400" i="1" dirty="0">
                <a:solidFill>
                  <a:schemeClr val="bg1">
                    <a:lumMod val="85000"/>
                  </a:schemeClr>
                </a:solidFill>
              </a:rPr>
              <a:t>(70 568,60 €)  </a:t>
            </a:r>
            <a:endParaRPr lang="fr-FR" sz="2000" i="1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Classification statistique opérationnelle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9/9 tests automatiques réussis 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Déploiement production-</a:t>
            </a:r>
            <a:r>
              <a:rPr lang="fr-FR" sz="2000" dirty="0" err="1">
                <a:solidFill>
                  <a:schemeClr val="bg1">
                    <a:lumMod val="85000"/>
                  </a:schemeClr>
                </a:solidFill>
              </a:rPr>
              <a:t>ready</a:t>
            </a: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endParaRPr lang="fr-FR" sz="2000" dirty="0">
              <a:solidFill>
                <a:schemeClr val="bg1">
                  <a:lumMod val="85000"/>
                </a:schemeClr>
              </a:solidFill>
            </a:endParaRPr>
          </a:p>
          <a:p>
            <a:pPr marL="457200" lvl="2" indent="-457200">
              <a:buFont typeface="Arial" panose="020B0604020202020204" pitchFamily="34" charset="0"/>
              <a:buChar char="•"/>
            </a:pPr>
            <a:r>
              <a:rPr lang="fr-FR" sz="2800" u="sng" dirty="0">
                <a:solidFill>
                  <a:schemeClr val="bg1">
                    <a:lumMod val="85000"/>
                  </a:schemeClr>
                </a:solidFill>
              </a:rPr>
              <a:t>Valeur ajoutée </a:t>
            </a:r>
            <a:r>
              <a:rPr lang="fr-FR" sz="2800" u="sng" dirty="0" err="1">
                <a:solidFill>
                  <a:schemeClr val="bg1">
                    <a:lumMod val="85000"/>
                  </a:schemeClr>
                </a:solidFill>
              </a:rPr>
              <a:t>BottleNeck</a:t>
            </a:r>
            <a:r>
              <a:rPr lang="fr-FR" sz="2800" dirty="0">
                <a:solidFill>
                  <a:schemeClr val="bg1">
                    <a:lumMod val="85000"/>
                  </a:schemeClr>
                </a:solidFill>
              </a:rPr>
              <a:t> :</a:t>
            </a:r>
          </a:p>
          <a:p>
            <a:pPr marL="457200" lvl="2" indent="-457200">
              <a:buFont typeface="Arial" panose="020B0604020202020204" pitchFamily="34" charset="0"/>
              <a:buChar char="•"/>
            </a:pPr>
            <a:endParaRPr lang="fr-FR" sz="1000" dirty="0">
              <a:solidFill>
                <a:schemeClr val="bg1">
                  <a:lumMod val="85000"/>
                </a:schemeClr>
              </a:solidFill>
            </a:endParaRP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Gain temps par rapport au traitement manuelle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Fiabilité : 0 erreur manuelle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Traçabilité : logs complets</a:t>
            </a:r>
          </a:p>
          <a:p>
            <a:pPr marL="800100" lvl="3" indent="-34290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fr-FR" sz="2000" dirty="0">
                <a:solidFill>
                  <a:schemeClr val="bg1">
                    <a:lumMod val="85000"/>
                  </a:schemeClr>
                </a:solidFill>
              </a:rPr>
              <a:t>Scalabilité : prêt pour croissance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621E02F-C530-2572-1668-1A143E1A1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9480" y="1772816"/>
            <a:ext cx="4002288" cy="3923080"/>
          </a:xfrm>
          <a:prstGeom prst="rect">
            <a:avLst/>
          </a:prstGeom>
          <a:scene3d>
            <a:camera prst="orthographicFront">
              <a:rot lat="60000" lon="108000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949421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8A1C-CFEF-BBE2-51BE-A667E911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0757B4C-FDF7-5A5B-4C5D-576BCDB4F9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2" r="1852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EACB1AC-251D-8D6B-1BD0-5721E704D11E}"/>
              </a:ext>
            </a:extLst>
          </p:cNvPr>
          <p:cNvSpPr txBox="1"/>
          <p:nvPr/>
        </p:nvSpPr>
        <p:spPr>
          <a:xfrm>
            <a:off x="2639743" y="2618910"/>
            <a:ext cx="4626514" cy="1620180"/>
          </a:xfrm>
          <a:prstGeom prst="rect">
            <a:avLst/>
          </a:prstGeom>
          <a:solidFill>
            <a:schemeClr val="tx1">
              <a:lumMod val="85000"/>
              <a:lumOff val="15000"/>
              <a:alpha val="80000"/>
            </a:schemeClr>
          </a:solidFill>
        </p:spPr>
        <p:txBody>
          <a:bodyPr vert="horz" wrap="square" lIns="36000" tIns="180000" rIns="36000" bIns="36000" rtlCol="0" anchor="ctr" anchorCtr="0">
            <a:noAutofit/>
          </a:bodyPr>
          <a:lstStyle/>
          <a:p>
            <a:pPr marL="0" lvl="2" algn="ctr"/>
            <a:r>
              <a:rPr lang="fr-FR" sz="5400" dirty="0">
                <a:solidFill>
                  <a:schemeClr val="bg1">
                    <a:lumMod val="85000"/>
                  </a:schemeClr>
                </a:solidFill>
              </a:rPr>
              <a:t>THE END</a:t>
            </a:r>
          </a:p>
          <a:p>
            <a:pPr marL="0" lvl="2" algn="ctr"/>
            <a:r>
              <a:rPr lang="fr-FR" i="1" dirty="0">
                <a:solidFill>
                  <a:schemeClr val="bg1">
                    <a:lumMod val="85000"/>
                  </a:schemeClr>
                </a:solidFill>
              </a:rPr>
              <a:t>(Des questions ?)</a:t>
            </a:r>
          </a:p>
        </p:txBody>
      </p:sp>
    </p:spTree>
    <p:extLst>
      <p:ext uri="{BB962C8B-B14F-4D97-AF65-F5344CB8AC3E}">
        <p14:creationId xmlns:p14="http://schemas.microsoft.com/office/powerpoint/2010/main" val="14496036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solidFill>
          <a:schemeClr val="tx1">
            <a:lumMod val="85000"/>
            <a:lumOff val="15000"/>
            <a:alpha val="80000"/>
          </a:schemeClr>
        </a:solidFill>
      </a:spPr>
      <a:bodyPr vert="horz" wrap="square" lIns="36000" tIns="180000" rIns="36000" bIns="36000" rtlCol="0" anchor="t" anchorCtr="0">
        <a:normAutofit/>
      </a:bodyPr>
      <a:lstStyle>
        <a:defPPr algn="l">
          <a:defRPr sz="2400" dirty="0" smtClean="0">
            <a:solidFill>
              <a:schemeClr val="bg1">
                <a:lumMod val="8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cquiredFrom xmlns="6d93d202-47fc-4405-873a-cab67cc5f1b2" xsi:nil="true"/>
    <IsSearchable xmlns="6d93d202-47fc-4405-873a-cab67cc5f1b2">true</IsSearchable>
    <EditorialStatus xmlns="6d93d202-47fc-4405-873a-cab67cc5f1b2">Complete</EditorialStatus>
    <OriginAsset xmlns="6d93d202-47fc-4405-873a-cab67cc5f1b2" xsi:nil="true"/>
    <ThumbnailAssetId xmlns="6d93d202-47fc-4405-873a-cab67cc5f1b2" xsi:nil="true"/>
    <TrustLevel xmlns="6d93d202-47fc-4405-873a-cab67cc5f1b2">3 Community New</TrustLevel>
    <MarketSpecific xmlns="6d93d202-47fc-4405-873a-cab67cc5f1b2">true</MarketSpecific>
    <TPNamespace xmlns="6d93d202-47fc-4405-873a-cab67cc5f1b2" xsi:nil="true"/>
    <DirectSourceMarket xmlns="6d93d202-47fc-4405-873a-cab67cc5f1b2">english</DirectSourceMarket>
    <MachineTranslated xmlns="6d93d202-47fc-4405-873a-cab67cc5f1b2">false</MachineTranslated>
    <PlannedPubDate xmlns="6d93d202-47fc-4405-873a-cab67cc5f1b2" xsi:nil="true"/>
    <SubmitterId xmlns="6d93d202-47fc-4405-873a-cab67cc5f1b2">9c60ae39-ee33-43c2-b863-454968d0f2cc</SubmitterId>
    <Downloads xmlns="6d93d202-47fc-4405-873a-cab67cc5f1b2">0</Downloads>
    <OriginalSourceMarket xmlns="6d93d202-47fc-4405-873a-cab67cc5f1b2">english</OriginalSourceMarket>
    <PublishTargets xmlns="6d93d202-47fc-4405-873a-cab67cc5f1b2">OfficeOnline</PublishTargets>
    <ArtSampleDocs xmlns="6d93d202-47fc-4405-873a-cab67cc5f1b2" xsi:nil="true"/>
    <ApprovalLog xmlns="6d93d202-47fc-4405-873a-cab67cc5f1b2" xsi:nil="true"/>
    <ApprovalStatus xmlns="6d93d202-47fc-4405-873a-cab67cc5f1b2">InProgress</ApprovalStatus>
    <TPComponent xmlns="6d93d202-47fc-4405-873a-cab67cc5f1b2">PPTFiles</TPComponent>
    <EditorialTags xmlns="6d93d202-47fc-4405-873a-cab67cc5f1b2" xsi:nil="true"/>
    <TPExecutable xmlns="6d93d202-47fc-4405-873a-cab67cc5f1b2" xsi:nil="true"/>
    <LastHandOff xmlns="6d93d202-47fc-4405-873a-cab67cc5f1b2" xsi:nil="true"/>
    <BusinessGroup xmlns="6d93d202-47fc-4405-873a-cab67cc5f1b2" xsi:nil="true"/>
    <TPAppVersion xmlns="6d93d202-47fc-4405-873a-cab67cc5f1b2">12</TPAppVersion>
    <VoteCount xmlns="6d93d202-47fc-4405-873a-cab67cc5f1b2" xsi:nil="true"/>
    <APAuthor xmlns="6d93d202-47fc-4405-873a-cab67cc5f1b2">
      <UserInfo>
        <DisplayName>_o14migrate</DisplayName>
        <AccountId>266</AccountId>
        <AccountType/>
      </UserInfo>
    </APAuthor>
    <TPCommandLine xmlns="6d93d202-47fc-4405-873a-cab67cc5f1b2">{PP} /n {FilePath}</TPCommandLine>
    <UACurrentWords xmlns="6d93d202-47fc-4405-873a-cab67cc5f1b2" xsi:nil="true"/>
    <AssetId xmlns="6d93d202-47fc-4405-873a-cab67cc5f1b2">TP030007554</AssetId>
    <Manager xmlns="6d93d202-47fc-4405-873a-cab67cc5f1b2" xsi:nil="true"/>
    <NumericId xmlns="6d93d202-47fc-4405-873a-cab67cc5f1b2">-1</NumericId>
    <Component xmlns="64acb2c5-0a2b-4bda-bd34-58e36cbb80d2" xsi:nil="true"/>
    <HandoffToMSDN xmlns="6d93d202-47fc-4405-873a-cab67cc5f1b2" xsi:nil="true"/>
    <Markets xmlns="6d93d202-47fc-4405-873a-cab67cc5f1b2">
      <Value>2</Value>
    </Markets>
    <UALocComments xmlns="6d93d202-47fc-4405-873a-cab67cc5f1b2" xsi:nil="true"/>
    <UALocRecommendation xmlns="6d93d202-47fc-4405-873a-cab67cc5f1b2">Localize</UALocRecommendation>
    <AssetStart xmlns="6d93d202-47fc-4405-873a-cab67cc5f1b2">2010-04-16T14:07:55+00:00</AssetStart>
    <CrawlForDependencies xmlns="6d93d202-47fc-4405-873a-cab67cc5f1b2">false</CrawlForDependencies>
    <LastModifiedDateTime xmlns="6d93d202-47fc-4405-873a-cab67cc5f1b2" xsi:nil="true"/>
    <LastPublishResultLookup xmlns="6d93d202-47fc-4405-873a-cab67cc5f1b2" xsi:nil="true"/>
    <PublishStatusLookup xmlns="6d93d202-47fc-4405-873a-cab67cc5f1b2">
      <Value>328176</Value>
      <Value>502419</Value>
    </PublishStatusLookup>
    <AverageRating xmlns="6d93d202-47fc-4405-873a-cab67cc5f1b2" xsi:nil="true"/>
    <CSXUpdate xmlns="6d93d202-47fc-4405-873a-cab67cc5f1b2">false</CSXUpdate>
    <UAProjectedTotalWords xmlns="6d93d202-47fc-4405-873a-cab67cc5f1b2" xsi:nil="true"/>
    <AssetExpire xmlns="6d93d202-47fc-4405-873a-cab67cc5f1b2">2100-01-01T00:00:00+00:00</AssetExpire>
    <AssetType xmlns="6d93d202-47fc-4405-873a-cab67cc5f1b2">TP</AssetType>
    <IntlLangReviewDate xmlns="6d93d202-47fc-4405-873a-cab67cc5f1b2" xsi:nil="true"/>
    <TPFriendlyName xmlns="6d93d202-47fc-4405-873a-cab67cc5f1b2">Thème vin - Bouteille rouge</TPFriendlyName>
    <IntlLangReview xmlns="6d93d202-47fc-4405-873a-cab67cc5f1b2" xsi:nil="true"/>
    <OOCacheId xmlns="6d93d202-47fc-4405-873a-cab67cc5f1b2" xsi:nil="true"/>
    <PolicheckWords xmlns="6d93d202-47fc-4405-873a-cab67cc5f1b2" xsi:nil="true"/>
    <TemplateStatus xmlns="6d93d202-47fc-4405-873a-cab67cc5f1b2">Complete</TemplateStatus>
    <CSXSubmissionMarket xmlns="6d93d202-47fc-4405-873a-cab67cc5f1b2" xsi:nil="true"/>
    <FriendlyTitle xmlns="6d93d202-47fc-4405-873a-cab67cc5f1b2" xsi:nil="true"/>
    <TPLaunchHelpLinkType xmlns="6d93d202-47fc-4405-873a-cab67cc5f1b2" xsi:nil="true"/>
    <Providers xmlns="6d93d202-47fc-4405-873a-cab67cc5f1b2" xsi:nil="true"/>
    <SourceTitle xmlns="6d93d202-47fc-4405-873a-cab67cc5f1b2">Thème vin - Bouteille rouge</SourceTitle>
    <TemplateTemplateType xmlns="6d93d202-47fc-4405-873a-cab67cc5f1b2">PowerPoint 12 Default</TemplateTemplateType>
    <TimesCloned xmlns="6d93d202-47fc-4405-873a-cab67cc5f1b2" xsi:nil="true"/>
    <ClipArtFilename xmlns="6d93d202-47fc-4405-873a-cab67cc5f1b2" xsi:nil="true"/>
    <APDescription xmlns="6d93d202-47fc-4405-873a-cab67cc5f1b2" xsi:nil="true"/>
    <TPApplication xmlns="6d93d202-47fc-4405-873a-cab67cc5f1b2">PowerPoint</TPApplication>
    <CSXHash xmlns="6d93d202-47fc-4405-873a-cab67cc5f1b2">Nk8fCv7yGTq3JD8kHQWECpkezJw=</CSXHash>
    <PrimaryImageGen xmlns="6d93d202-47fc-4405-873a-cab67cc5f1b2">true</PrimaryImageGen>
    <ContentItem xmlns="6d93d202-47fc-4405-873a-cab67cc5f1b2" xsi:nil="true"/>
    <IsDeleted xmlns="6d93d202-47fc-4405-873a-cab67cc5f1b2">false</IsDeleted>
    <ShowIn xmlns="6d93d202-47fc-4405-873a-cab67cc5f1b2">Show everywhere</ShowIn>
    <BugNumber xmlns="6d93d202-47fc-4405-873a-cab67cc5f1b2" xsi:nil="true"/>
    <LegacyData xmlns="6d93d202-47fc-4405-873a-cab67cc5f1b2">ListingID:;Manager:;BuildStatus:Publish Passed;MockupPath:</LegacyData>
    <TPLaunchHelpLink xmlns="6d93d202-47fc-4405-873a-cab67cc5f1b2" xsi:nil="true"/>
    <Milestone xmlns="6d93d202-47fc-4405-873a-cab67cc5f1b2" xsi:nil="true"/>
    <UANotes xmlns="6d93d202-47fc-4405-873a-cab67cc5f1b2" xsi:nil="true"/>
    <Description0 xmlns="64acb2c5-0a2b-4bda-bd34-58e36cbb80d2" xsi:nil="true"/>
    <IntlLangReviewer xmlns="6d93d202-47fc-4405-873a-cab67cc5f1b2" xsi:nil="true"/>
    <IntlLocPriority xmlns="6d93d202-47fc-4405-873a-cab67cc5f1b2" xsi:nil="true"/>
    <OpenTemplate xmlns="6d93d202-47fc-4405-873a-cab67cc5f1b2">true</OpenTemplate>
    <Provider xmlns="6d93d202-47fc-4405-873a-cab67cc5f1b2" xsi:nil="true"/>
    <CSXSubmissionDate xmlns="6d93d202-47fc-4405-873a-cab67cc5f1b2">2009-10-11T07:00:00+00:00</CSXSubmissionDate>
    <TPClientViewer xmlns="6d93d202-47fc-4405-873a-cab67cc5f1b2" xsi:nil="true"/>
    <DSATActionTaken xmlns="6d93d202-47fc-4405-873a-cab67cc5f1b2" xsi:nil="true"/>
    <APEditor xmlns="6d93d202-47fc-4405-873a-cab67cc5f1b2">
      <UserInfo>
        <DisplayName>_o14migrate</DisplayName>
        <AccountId>266</AccountId>
        <AccountType/>
      </UserInfo>
    </APEditor>
    <TPInstallLocation xmlns="6d93d202-47fc-4405-873a-cab67cc5f1b2">{My Templates}</TPInstallLocation>
    <OutputCachingOn xmlns="6d93d202-47fc-4405-873a-cab67cc5f1b2">false</OutputCachingOn>
    <ParentAssetId xmlns="6d93d202-47fc-4405-873a-cab67cc5f1b2" xsi:nil="true"/>
    <LocManualTestRequired xmlns="6d93d202-47fc-4405-873a-cab67cc5f1b2">false</LocManualTestRequired>
    <LocalizationTagsTaxHTField0 xmlns="6d93d202-47fc-4405-873a-cab67cc5f1b2">
      <Terms xmlns="http://schemas.microsoft.com/office/infopath/2007/PartnerControls"/>
    </LocalizationTagsTaxHTField0>
    <CampaignTagsTaxHTField0 xmlns="6d93d202-47fc-4405-873a-cab67cc5f1b2">
      <Terms xmlns="http://schemas.microsoft.com/office/infopath/2007/PartnerControls"/>
    </CampaignTagsTaxHTField0>
    <LocLastLocAttemptVersionLookup xmlns="6d93d202-47fc-4405-873a-cab67cc5f1b2">169894</LocLastLocAttemptVersionLookup>
    <InternalTagsTaxHTField0 xmlns="6d93d202-47fc-4405-873a-cab67cc5f1b2">
      <Terms xmlns="http://schemas.microsoft.com/office/infopath/2007/PartnerControls"/>
    </InternalTagsTaxHTField0>
    <LocRecommendedHandoff xmlns="6d93d202-47fc-4405-873a-cab67cc5f1b2" xsi:nil="true"/>
    <BlockPublish xmlns="6d93d202-47fc-4405-873a-cab67cc5f1b2">false</BlockPublish>
    <LocComments xmlns="6d93d202-47fc-4405-873a-cab67cc5f1b2" xsi:nil="true"/>
    <TaxCatchAll xmlns="6d93d202-47fc-4405-873a-cab67cc5f1b2"/>
    <OriginalRelease xmlns="6d93d202-47fc-4405-873a-cab67cc5f1b2">14</OriginalRelease>
    <RecommendationsModifier xmlns="6d93d202-47fc-4405-873a-cab67cc5f1b2" xsi:nil="true"/>
    <ScenarioTagsTaxHTField0 xmlns="6d93d202-47fc-4405-873a-cab67cc5f1b2">
      <Terms xmlns="http://schemas.microsoft.com/office/infopath/2007/PartnerControls"/>
    </ScenarioTagsTaxHTField0>
    <FeatureTagsTaxHTField0 xmlns="6d93d202-47fc-4405-873a-cab67cc5f1b2">
      <Terms xmlns="http://schemas.microsoft.com/office/infopath/2007/PartnerControls"/>
    </FeatureTagsTaxHTField0>
    <LocMarketGroupTiers2 xmlns="6d93d202-47fc-4405-873a-cab67cc5f1b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9924D1ECC420D47A2456556BC94F7370400BDF4491DEA4973499845289601F88B9F" ma:contentTypeVersion="55" ma:contentTypeDescription="Create a new document." ma:contentTypeScope="" ma:versionID="41eb558a2b826e6e4f9defd990175bec">
  <xsd:schema xmlns:xsd="http://www.w3.org/2001/XMLSchema" xmlns:xs="http://www.w3.org/2001/XMLSchema" xmlns:p="http://schemas.microsoft.com/office/2006/metadata/properties" xmlns:ns2="6d93d202-47fc-4405-873a-cab67cc5f1b2" xmlns:ns3="64acb2c5-0a2b-4bda-bd34-58e36cbb80d2" targetNamespace="http://schemas.microsoft.com/office/2006/metadata/properties" ma:root="true" ma:fieldsID="19deea0185cf7bc57eee9b90b1ba2ace" ns2:_="" ns3:_="">
    <xsd:import namespace="6d93d202-47fc-4405-873a-cab67cc5f1b2"/>
    <xsd:import namespace="64acb2c5-0a2b-4bda-bd34-58e36cbb80d2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  <xsd:element ref="ns3:Description0" minOccurs="0"/>
                <xsd:element ref="ns3:Compone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93d202-47fc-4405-873a-cab67cc5f1b2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0:00:00Z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dc79c007-7f28-4db9-9ba1-525d19a3279b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80C6DD30-196A-4C6B-B1BF-A43F3B8ACD4F}" ma:internalName="CSXSubmissionMarket" ma:readOnly="false" ma:showField="MarketName" ma:web="6d93d202-47fc-4405-873a-cab67cc5f1b2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bb16b974-ed24-4278-8820-8e232d38904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7E2D4CA2-442A-4FDA-AA57-71B8C7B2C53C}" ma:internalName="InProjectListLookup" ma:readOnly="true" ma:showField="InProjectList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fd9a49dc-3dbf-4047-b62d-1d587abe7b40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7E2D4CA2-442A-4FDA-AA57-71B8C7B2C53C}" ma:internalName="LastCompleteVersionLookup" ma:readOnly="true" ma:showField="LastCompleteVersion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7E2D4CA2-442A-4FDA-AA57-71B8C7B2C53C}" ma:internalName="LastPreviewErrorLookup" ma:readOnly="true" ma:showField="LastPreviewError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7E2D4CA2-442A-4FDA-AA57-71B8C7B2C53C}" ma:internalName="LastPreviewResultLookup" ma:readOnly="true" ma:showField="LastPreviewResult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7E2D4CA2-442A-4FDA-AA57-71B8C7B2C53C}" ma:internalName="LastPreviewAttemptDateLookup" ma:readOnly="true" ma:showField="LastPreviewAttemptDate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7E2D4CA2-442A-4FDA-AA57-71B8C7B2C53C}" ma:internalName="LastPreviewedByLookup" ma:readOnly="true" ma:showField="LastPreviewedBy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7E2D4CA2-442A-4FDA-AA57-71B8C7B2C53C}" ma:internalName="LastPreviewTimeLookup" ma:readOnly="true" ma:showField="LastPreviewTime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7E2D4CA2-442A-4FDA-AA57-71B8C7B2C53C}" ma:internalName="LastPreviewVersionLookup" ma:readOnly="true" ma:showField="LastPreviewVersion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7E2D4CA2-442A-4FDA-AA57-71B8C7B2C53C}" ma:internalName="LastPublishErrorLookup" ma:readOnly="true" ma:showField="LastPublishError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7E2D4CA2-442A-4FDA-AA57-71B8C7B2C53C}" ma:internalName="LastPublishResultLookup" ma:readOnly="true" ma:showField="LastPublishResult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7E2D4CA2-442A-4FDA-AA57-71B8C7B2C53C}" ma:internalName="LastPublishAttemptDateLookup" ma:readOnly="true" ma:showField="LastPublishAttemptDate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7E2D4CA2-442A-4FDA-AA57-71B8C7B2C53C}" ma:internalName="LastPublishedByLookup" ma:readOnly="true" ma:showField="LastPublishedBy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7E2D4CA2-442A-4FDA-AA57-71B8C7B2C53C}" ma:internalName="LastPublishTimeLookup" ma:readOnly="true" ma:showField="LastPublishTime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7E2D4CA2-442A-4FDA-AA57-71B8C7B2C53C}" ma:internalName="LastPublishVersionLookup" ma:readOnly="true" ma:showField="LastPublishVersion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4CDE398E-75A7-4993-8C61-2BFD31F64754}" ma:internalName="LocLastLocAttemptVersionLookup" ma:readOnly="false" ma:showField="LastLocAttemptVersion" ma:web="6d93d202-47fc-4405-873a-cab67cc5f1b2">
      <xsd:simpleType>
        <xsd:restriction base="dms:Lookup"/>
      </xsd:simpleType>
    </xsd:element>
    <xsd:element name="LocLastLocAttemptVersionTypeLookup" ma:index="72" nillable="true" ma:displayName="Loc Last Loc Attempt Version Type" ma:default="" ma:list="{4CDE398E-75A7-4993-8C61-2BFD31F64754}" ma:internalName="LocLastLocAttemptVersionTypeLookup" ma:readOnly="true" ma:showField="LastLocAttemptVersionType" ma:web="6d93d202-47fc-4405-873a-cab67cc5f1b2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4CDE398E-75A7-4993-8C61-2BFD31F64754}" ma:internalName="LocNewPublishedVersionLookup" ma:readOnly="true" ma:showField="NewPublishedVersion" ma:web="6d93d202-47fc-4405-873a-cab67cc5f1b2">
      <xsd:simpleType>
        <xsd:restriction base="dms:Lookup"/>
      </xsd:simpleType>
    </xsd:element>
    <xsd:element name="LocOverallHandbackStatusLookup" ma:index="76" nillable="true" ma:displayName="Loc Overall Handback Status" ma:default="" ma:list="{4CDE398E-75A7-4993-8C61-2BFD31F64754}" ma:internalName="LocOverallHandbackStatusLookup" ma:readOnly="true" ma:showField="OverallHandbackStatus" ma:web="6d93d202-47fc-4405-873a-cab67cc5f1b2">
      <xsd:simpleType>
        <xsd:restriction base="dms:Lookup"/>
      </xsd:simpleType>
    </xsd:element>
    <xsd:element name="LocOverallLocStatusLookup" ma:index="77" nillable="true" ma:displayName="Loc Overall Localize Status" ma:default="" ma:list="{4CDE398E-75A7-4993-8C61-2BFD31F64754}" ma:internalName="LocOverallLocStatusLookup" ma:readOnly="true" ma:showField="OverallLocStatus" ma:web="6d93d202-47fc-4405-873a-cab67cc5f1b2">
      <xsd:simpleType>
        <xsd:restriction base="dms:Lookup"/>
      </xsd:simpleType>
    </xsd:element>
    <xsd:element name="LocOverallPreviewStatusLookup" ma:index="78" nillable="true" ma:displayName="Loc Overall Preview Status" ma:default="" ma:list="{4CDE398E-75A7-4993-8C61-2BFD31F64754}" ma:internalName="LocOverallPreviewStatusLookup" ma:readOnly="true" ma:showField="OverallPreviewStatus" ma:web="6d93d202-47fc-4405-873a-cab67cc5f1b2">
      <xsd:simpleType>
        <xsd:restriction base="dms:Lookup"/>
      </xsd:simpleType>
    </xsd:element>
    <xsd:element name="LocOverallPublishStatusLookup" ma:index="79" nillable="true" ma:displayName="Loc Overall Publish Status" ma:default="" ma:list="{4CDE398E-75A7-4993-8C61-2BFD31F64754}" ma:internalName="LocOverallPublishStatusLookup" ma:readOnly="true" ma:showField="OverallPublishStatus" ma:web="6d93d202-47fc-4405-873a-cab67cc5f1b2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4CDE398E-75A7-4993-8C61-2BFD31F64754}" ma:internalName="LocProcessedForHandoffsLookup" ma:readOnly="true" ma:showField="ProcessedForHandoffs" ma:web="6d93d202-47fc-4405-873a-cab67cc5f1b2">
      <xsd:simpleType>
        <xsd:restriction base="dms:Lookup"/>
      </xsd:simpleType>
    </xsd:element>
    <xsd:element name="LocProcessedForMarketsLookup" ma:index="82" nillable="true" ma:displayName="Loc Processed For Markets" ma:default="" ma:list="{4CDE398E-75A7-4993-8C61-2BFD31F64754}" ma:internalName="LocProcessedForMarketsLookup" ma:readOnly="true" ma:showField="ProcessedForMarkets" ma:web="6d93d202-47fc-4405-873a-cab67cc5f1b2">
      <xsd:simpleType>
        <xsd:restriction base="dms:Lookup"/>
      </xsd:simpleType>
    </xsd:element>
    <xsd:element name="LocPublishedDependentAssetsLookup" ma:index="83" nillable="true" ma:displayName="Loc Published Dependent Assets" ma:default="" ma:list="{4CDE398E-75A7-4993-8C61-2BFD31F64754}" ma:internalName="LocPublishedDependentAssetsLookup" ma:readOnly="true" ma:showField="PublishedDependentAssets" ma:web="6d93d202-47fc-4405-873a-cab67cc5f1b2">
      <xsd:simpleType>
        <xsd:restriction base="dms:Lookup"/>
      </xsd:simpleType>
    </xsd:element>
    <xsd:element name="LocPublishedLinkedAssetsLookup" ma:index="84" nillable="true" ma:displayName="Loc Published Linked Assets" ma:default="" ma:list="{4CDE398E-75A7-4993-8C61-2BFD31F64754}" ma:internalName="LocPublishedLinkedAssetsLookup" ma:readOnly="true" ma:showField="PublishedLinkedAssets" ma:web="6d93d202-47fc-4405-873a-cab67cc5f1b2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db560eb5-700a-4f94-8fda-b57de4261f12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80C6DD30-196A-4C6B-B1BF-A43F3B8ACD4F}" ma:internalName="Markets" ma:readOnly="false" ma:showField="MarketName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7E2D4CA2-442A-4FDA-AA57-71B8C7B2C53C}" ma:internalName="NumOfRatingsLookup" ma:readOnly="true" ma:showField="NumOfRatings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7E2D4CA2-442A-4FDA-AA57-71B8C7B2C53C}" ma:internalName="PublishStatusLookup" ma:readOnly="false" ma:showField="PublishStatus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6e3f7319-fb8f-4449-8902-000ab73a8566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11d213f5-ec09-44b6-a8be-9da225be7a8d}" ma:internalName="TaxCatchAll" ma:showField="CatchAllData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11d213f5-ec09-44b6-a8be-9da225be7a8d}" ma:internalName="TaxCatchAllLabel" ma:readOnly="true" ma:showField="CatchAllDataLabel" ma:web="6d93d202-47fc-4405-873a-cab67cc5f1b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acb2c5-0a2b-4bda-bd34-58e36cbb80d2" elementFormDefault="qualified">
    <xsd:import namespace="http://schemas.microsoft.com/office/2006/documentManagement/types"/>
    <xsd:import namespace="http://schemas.microsoft.com/office/infopath/2007/PartnerControls"/>
    <xsd:element name="Description0" ma:index="134" nillable="true" ma:displayName="Description" ma:internalName="Description0">
      <xsd:simpleType>
        <xsd:restriction base="dms:Note"/>
      </xsd:simpleType>
    </xsd:element>
    <xsd:element name="Component" ma:index="135" nillable="true" ma:displayName="Component" ma:internalName="Component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726405B-3D08-4C36-954B-2D0F3F883B63}">
  <ds:schemaRefs>
    <ds:schemaRef ds:uri="http://schemas.microsoft.com/office/2006/metadata/properties"/>
    <ds:schemaRef ds:uri="http://schemas.microsoft.com/office/infopath/2007/PartnerControls"/>
    <ds:schemaRef ds:uri="6d93d202-47fc-4405-873a-cab67cc5f1b2"/>
    <ds:schemaRef ds:uri="64acb2c5-0a2b-4bda-bd34-58e36cbb80d2"/>
  </ds:schemaRefs>
</ds:datastoreItem>
</file>

<file path=customXml/itemProps2.xml><?xml version="1.0" encoding="utf-8"?>
<ds:datastoreItem xmlns:ds="http://schemas.openxmlformats.org/officeDocument/2006/customXml" ds:itemID="{BAEE7C68-9E13-4DA5-9E9E-0553C5FEE60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93d202-47fc-4405-873a-cab67cc5f1b2"/>
    <ds:schemaRef ds:uri="64acb2c5-0a2b-4bda-bd34-58e36cbb80d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913E85-CCBE-4AD6-A5E1-43D4CDBA07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vin - Bouteille rouge</Template>
  <TotalTime>738</TotalTime>
  <Words>2161</Words>
  <Application>Microsoft Office PowerPoint</Application>
  <PresentationFormat>Format A4 (210 x 297 mm)</PresentationFormat>
  <Paragraphs>346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Thème Office</vt:lpstr>
      <vt:lpstr>PIPELINE D'ORCHESTRATION DES FLUX DE DONNÉES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Aymeric Bailleul</dc:creator>
  <cp:lastModifiedBy>Aymeric Bailleul</cp:lastModifiedBy>
  <cp:revision>30</cp:revision>
  <dcterms:created xsi:type="dcterms:W3CDTF">2026-01-26T08:09:55Z</dcterms:created>
  <dcterms:modified xsi:type="dcterms:W3CDTF">2026-01-28T09:19:20Z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0x01010069924D1ECC420D47A2456556BC94F7370400BDF4491DEA4973499845289601F88B9F</vt:lpwstr>
  </property>
  <property fmtid="{D5CDD505-2E9C-101B-9397-08002B2CF9AE}" pid="3" name="Applications">
    <vt:lpwstr>53;#PowerPoint 12</vt:lpwstr>
  </property>
  <property fmtid="{D5CDD505-2E9C-101B-9397-08002B2CF9AE}" pid="4" name="Order">
    <vt:r8>8599100</vt:r8>
  </property>
  <property fmtid="{D5CDD505-2E9C-101B-9397-08002B2CF9AE}" pid="5" name="APTrustLevel">
    <vt:r8>3</vt:r8>
  </property>
</Properties>
</file>