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2"/>
  </p:notesMasterIdLst>
  <p:sldIdLst>
    <p:sldId id="256" r:id="rId2"/>
    <p:sldId id="257" r:id="rId3"/>
    <p:sldId id="259" r:id="rId4"/>
    <p:sldId id="260" r:id="rId5"/>
    <p:sldId id="272" r:id="rId6"/>
    <p:sldId id="261" r:id="rId7"/>
    <p:sldId id="262" r:id="rId8"/>
    <p:sldId id="263" r:id="rId9"/>
    <p:sldId id="264" r:id="rId10"/>
    <p:sldId id="273" r:id="rId11"/>
    <p:sldId id="274" r:id="rId12"/>
    <p:sldId id="275" r:id="rId13"/>
    <p:sldId id="266" r:id="rId14"/>
    <p:sldId id="276" r:id="rId15"/>
    <p:sldId id="267" r:id="rId16"/>
    <p:sldId id="277" r:id="rId17"/>
    <p:sldId id="268" r:id="rId18"/>
    <p:sldId id="269" r:id="rId19"/>
    <p:sldId id="270" r:id="rId20"/>
    <p:sldId id="271" r:id="rId21"/>
  </p:sldIdLst>
  <p:sldSz cx="9144000" cy="5143500" type="screen16x9"/>
  <p:notesSz cx="6858000" cy="9144000"/>
  <p:embeddedFontLst>
    <p:embeddedFont>
      <p:font typeface="Lato" panose="020F0502020204030203" pitchFamily="34" charset="0"/>
      <p:regular r:id="rId23"/>
      <p:bold r:id="rId24"/>
      <p:italic r:id="rId25"/>
      <p:boldItalic r:id="rId26"/>
    </p:embeddedFont>
    <p:embeddedFont>
      <p:font typeface="Montserrat" panose="00000500000000000000" pitchFamily="2" charset="0"/>
      <p:regular r:id="rId27"/>
      <p:bold r:id="rId28"/>
      <p:italic r:id="rId29"/>
      <p:boldItalic r:id="rId30"/>
    </p:embeddedFont>
    <p:embeddedFont>
      <p:font typeface="Roboto" panose="02000000000000000000" pitchFamily="2"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045" autoAdjust="0"/>
    <p:restoredTop sz="94660"/>
  </p:normalViewPr>
  <p:slideViewPr>
    <p:cSldViewPr snapToGrid="0">
      <p:cViewPr varScale="1">
        <p:scale>
          <a:sx n="194" d="100"/>
          <a:sy n="194" d="100"/>
        </p:scale>
        <p:origin x="1260" y="15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efd6a1ad4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efd6a1ad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2fadf635ccc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2fadf635ccc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efd6a1ad4f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efd6a1ad4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CC1F6FB0-C427-4E1B-5BCF-7D0E58CABD55}"/>
            </a:ext>
          </a:extLst>
        </p:cNvPr>
        <p:cNvGrpSpPr/>
        <p:nvPr/>
      </p:nvGrpSpPr>
      <p:grpSpPr>
        <a:xfrm>
          <a:off x="0" y="0"/>
          <a:ext cx="0" cy="0"/>
          <a:chOff x="0" y="0"/>
          <a:chExt cx="0" cy="0"/>
        </a:xfrm>
      </p:grpSpPr>
      <p:sp>
        <p:nvSpPr>
          <p:cNvPr id="155" name="Google Shape;155;g2efd6a1ad4f_0_5:notes">
            <a:extLst>
              <a:ext uri="{FF2B5EF4-FFF2-40B4-BE49-F238E27FC236}">
                <a16:creationId xmlns:a16="http://schemas.microsoft.com/office/drawing/2014/main" id="{2A8EE14D-5F81-9C96-7163-3343F67DDF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efd6a1ad4f_0_5:notes">
            <a:extLst>
              <a:ext uri="{FF2B5EF4-FFF2-40B4-BE49-F238E27FC236}">
                <a16:creationId xmlns:a16="http://schemas.microsoft.com/office/drawing/2014/main" id="{A2DDF924-D90C-988B-4FE3-6A7D97C029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415096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fd948d0ee4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2fd948d0ee4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245a1bb278_0_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245a1bb278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2245a1bb278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2245a1bb278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245a1bb278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245a1bb278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C4503560-6BF7-8671-B36D-030A48F2CDD5}"/>
            </a:ext>
          </a:extLst>
        </p:cNvPr>
        <p:cNvGrpSpPr/>
        <p:nvPr/>
      </p:nvGrpSpPr>
      <p:grpSpPr>
        <a:xfrm>
          <a:off x="0" y="0"/>
          <a:ext cx="0" cy="0"/>
          <a:chOff x="0" y="0"/>
          <a:chExt cx="0" cy="0"/>
        </a:xfrm>
      </p:grpSpPr>
      <p:sp>
        <p:nvSpPr>
          <p:cNvPr id="185" name="Google Shape;185;g2efd6a1ad4f_0_15:notes">
            <a:extLst>
              <a:ext uri="{FF2B5EF4-FFF2-40B4-BE49-F238E27FC236}">
                <a16:creationId xmlns:a16="http://schemas.microsoft.com/office/drawing/2014/main" id="{5B553223-F408-4F5C-363F-4A033472DA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efd6a1ad4f_0_15:notes">
            <a:extLst>
              <a:ext uri="{FF2B5EF4-FFF2-40B4-BE49-F238E27FC236}">
                <a16:creationId xmlns:a16="http://schemas.microsoft.com/office/drawing/2014/main" id="{9B49FD92-3F81-8007-9F1A-A3242A4116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27745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0CECF339-68CA-703E-862E-E4E4CDBFA374}"/>
            </a:ext>
          </a:extLst>
        </p:cNvPr>
        <p:cNvGrpSpPr/>
        <p:nvPr/>
      </p:nvGrpSpPr>
      <p:grpSpPr>
        <a:xfrm>
          <a:off x="0" y="0"/>
          <a:ext cx="0" cy="0"/>
          <a:chOff x="0" y="0"/>
          <a:chExt cx="0" cy="0"/>
        </a:xfrm>
      </p:grpSpPr>
      <p:sp>
        <p:nvSpPr>
          <p:cNvPr id="185" name="Google Shape;185;g2efd6a1ad4f_0_15:notes">
            <a:extLst>
              <a:ext uri="{FF2B5EF4-FFF2-40B4-BE49-F238E27FC236}">
                <a16:creationId xmlns:a16="http://schemas.microsoft.com/office/drawing/2014/main" id="{B265DBB0-63D9-0979-DA34-8E6F1B2202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efd6a1ad4f_0_15:notes">
            <a:extLst>
              <a:ext uri="{FF2B5EF4-FFF2-40B4-BE49-F238E27FC236}">
                <a16:creationId xmlns:a16="http://schemas.microsoft.com/office/drawing/2014/main" id="{93776B02-24D5-B780-1460-D55A9A6186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17517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8B928BC5-6F6E-BEF2-830E-4DAD584A69F3}"/>
            </a:ext>
          </a:extLst>
        </p:cNvPr>
        <p:cNvGrpSpPr/>
        <p:nvPr/>
      </p:nvGrpSpPr>
      <p:grpSpPr>
        <a:xfrm>
          <a:off x="0" y="0"/>
          <a:ext cx="0" cy="0"/>
          <a:chOff x="0" y="0"/>
          <a:chExt cx="0" cy="0"/>
        </a:xfrm>
      </p:grpSpPr>
      <p:sp>
        <p:nvSpPr>
          <p:cNvPr id="191" name="Google Shape;191;g2efd6a1ad4f_0_25:notes">
            <a:extLst>
              <a:ext uri="{FF2B5EF4-FFF2-40B4-BE49-F238E27FC236}">
                <a16:creationId xmlns:a16="http://schemas.microsoft.com/office/drawing/2014/main" id="{25622F03-56ED-2A01-1A45-1EAC9DCECA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2efd6a1ad4f_0_25:notes">
            <a:extLst>
              <a:ext uri="{FF2B5EF4-FFF2-40B4-BE49-F238E27FC236}">
                <a16:creationId xmlns:a16="http://schemas.microsoft.com/office/drawing/2014/main" id="{2349E6E8-F0C3-5F9B-F36E-D2DA84B582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321675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2efd6a1ad4f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2efd6a1ad4f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E83AA37B-7129-B250-31E7-04618905C2AD}"/>
            </a:ext>
          </a:extLst>
        </p:cNvPr>
        <p:cNvGrpSpPr/>
        <p:nvPr/>
      </p:nvGrpSpPr>
      <p:grpSpPr>
        <a:xfrm>
          <a:off x="0" y="0"/>
          <a:ext cx="0" cy="0"/>
          <a:chOff x="0" y="0"/>
          <a:chExt cx="0" cy="0"/>
        </a:xfrm>
      </p:grpSpPr>
      <p:sp>
        <p:nvSpPr>
          <p:cNvPr id="191" name="Google Shape;191;g2efd6a1ad4f_0_25:notes">
            <a:extLst>
              <a:ext uri="{FF2B5EF4-FFF2-40B4-BE49-F238E27FC236}">
                <a16:creationId xmlns:a16="http://schemas.microsoft.com/office/drawing/2014/main" id="{FA341CA4-BA47-8EE2-1468-0048DACD2F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2efd6a1ad4f_0_25:notes">
            <a:extLst>
              <a:ext uri="{FF2B5EF4-FFF2-40B4-BE49-F238E27FC236}">
                <a16:creationId xmlns:a16="http://schemas.microsoft.com/office/drawing/2014/main" id="{29EB2E87-5531-7A5E-4DE0-6EFF9014F0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88269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2fadf635ccc_1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2fadf635ccc_1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a:extLst>
            <a:ext uri="{FF2B5EF4-FFF2-40B4-BE49-F238E27FC236}">
              <a16:creationId xmlns:a16="http://schemas.microsoft.com/office/drawing/2014/main" id="{808B84D1-AD88-CCD1-6B0A-96336A2F08F4}"/>
            </a:ext>
          </a:extLst>
        </p:cNvPr>
        <p:cNvGrpSpPr/>
        <p:nvPr/>
      </p:nvGrpSpPr>
      <p:grpSpPr>
        <a:xfrm>
          <a:off x="0" y="0"/>
          <a:ext cx="0" cy="0"/>
          <a:chOff x="0" y="0"/>
          <a:chExt cx="0" cy="0"/>
        </a:xfrm>
      </p:grpSpPr>
      <p:sp>
        <p:nvSpPr>
          <p:cNvPr id="197" name="Google Shape;197;g2fadf635ccc_1_20:notes">
            <a:extLst>
              <a:ext uri="{FF2B5EF4-FFF2-40B4-BE49-F238E27FC236}">
                <a16:creationId xmlns:a16="http://schemas.microsoft.com/office/drawing/2014/main" id="{75F461F3-8C76-E715-2D0C-1B7E2895DD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2fadf635ccc_1_20:notes">
            <a:extLst>
              <a:ext uri="{FF2B5EF4-FFF2-40B4-BE49-F238E27FC236}">
                <a16:creationId xmlns:a16="http://schemas.microsoft.com/office/drawing/2014/main" id="{E54EDF11-010B-3E83-97B2-2AE74F6052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71296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2efd6a1ad4f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2efd6a1ad4f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2fadf635ccc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2fadf635ccc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2efd6a1ad4f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2efd6a1ad4f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fadf635ccc_1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2fadf635ccc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name="adj" fmla="val 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name="adj" fmla="val 5000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150" y="1145825"/>
              <a:ext cx="3996600" cy="3996900"/>
            </a:xfrm>
            <a:prstGeom prst="diagStripe">
              <a:avLst>
                <a:gd name="adj" fmla="val 58774"/>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5400000">
              <a:off x="1646" y="-75"/>
              <a:ext cx="2299800" cy="23001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flipH="1">
              <a:off x="652821" y="590035"/>
              <a:ext cx="2300100" cy="2299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17" name="Google Shape;17;p2"/>
          <p:cNvSpPr txBox="1">
            <a:spLocks noGrp="1"/>
          </p:cNvSpPr>
          <p:nvPr>
            <p:ph type="subTitle" idx="1"/>
          </p:nvPr>
        </p:nvSpPr>
        <p:spPr>
          <a:xfrm>
            <a:off x="5083950" y="3924925"/>
            <a:ext cx="3470700" cy="506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18" name="Google Shape;1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Google Shape;39;p3"/>
          <p:cNvSpPr txBox="1">
            <a:spLocks noGrp="1"/>
          </p:cNvSpPr>
          <p:nvPr>
            <p:ph type="title"/>
          </p:nvPr>
        </p:nvSpPr>
        <p:spPr>
          <a:xfrm>
            <a:off x="823850" y="2053000"/>
            <a:ext cx="4587000" cy="1148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0" name="Google Shape;40;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6" name="Google Shape;46;p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7" name="Google Shape;47;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3" name="Google Shape;53;p5"/>
          <p:cNvSpPr txBox="1">
            <a:spLocks noGrp="1"/>
          </p:cNvSpPr>
          <p:nvPr>
            <p:ph type="body" idx="1"/>
          </p:nvPr>
        </p:nvSpPr>
        <p:spPr>
          <a:xfrm>
            <a:off x="1297500" y="1567550"/>
            <a:ext cx="34032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5"/>
          <p:cNvSpPr txBox="1">
            <a:spLocks noGrp="1"/>
          </p:cNvSpPr>
          <p:nvPr>
            <p:ph type="body" idx="2"/>
          </p:nvPr>
        </p:nvSpPr>
        <p:spPr>
          <a:xfrm>
            <a:off x="4933221" y="1567550"/>
            <a:ext cx="34032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5" name="Google Shape;5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6"/>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 name="Google Shape;60;p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1" name="Google Shape;6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7"/>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7"/>
          <p:cNvSpPr txBox="1">
            <a:spLocks noGrp="1"/>
          </p:cNvSpPr>
          <p:nvPr>
            <p:ph type="title"/>
          </p:nvPr>
        </p:nvSpPr>
        <p:spPr>
          <a:xfrm>
            <a:off x="1297500" y="393750"/>
            <a:ext cx="3798900" cy="1493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7" name="Google Shape;67;p7"/>
          <p:cNvSpPr txBox="1">
            <a:spLocks noGrp="1"/>
          </p:cNvSpPr>
          <p:nvPr>
            <p:ph type="body" idx="1"/>
          </p:nvPr>
        </p:nvSpPr>
        <p:spPr>
          <a:xfrm>
            <a:off x="1297500" y="1972550"/>
            <a:ext cx="3798900" cy="24159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8" name="Google Shape;6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8"/>
            <p:cNvSpPr/>
            <p:nvPr/>
          </p:nvSpPr>
          <p:spPr>
            <a:xfrm rot="5400000">
              <a:off x="4840825" y="6000"/>
              <a:ext cx="42987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8"/>
            <p:cNvSpPr/>
            <p:nvPr/>
          </p:nvSpPr>
          <p:spPr>
            <a:xfrm rot="-5400000">
              <a:off x="5618399" y="123664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8"/>
            <p:cNvSpPr/>
            <p:nvPr/>
          </p:nvSpPr>
          <p:spPr>
            <a:xfrm flipH="1">
              <a:off x="5849857" y="144407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8"/>
            <p:cNvSpPr/>
            <p:nvPr/>
          </p:nvSpPr>
          <p:spPr>
            <a:xfrm rot="-5400000">
              <a:off x="5987081" y="246974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8"/>
            <p:cNvSpPr/>
            <p:nvPr/>
          </p:nvSpPr>
          <p:spPr>
            <a:xfrm flipH="1">
              <a:off x="6222115" y="2677179"/>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8"/>
            <p:cNvSpPr/>
            <p:nvPr/>
          </p:nvSpPr>
          <p:spPr>
            <a:xfrm rot="-5400000">
              <a:off x="6675341" y="186224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8"/>
            <p:cNvSpPr/>
            <p:nvPr/>
          </p:nvSpPr>
          <p:spPr>
            <a:xfrm flipH="1">
              <a:off x="6908099" y="2069680"/>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rot="-5400000">
              <a:off x="6861141" y="247808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8"/>
            <p:cNvSpPr/>
            <p:nvPr/>
          </p:nvSpPr>
          <p:spPr>
            <a:xfrm flipH="1">
              <a:off x="7965266" y="269319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8"/>
            <p:cNvSpPr/>
            <p:nvPr/>
          </p:nvSpPr>
          <p:spPr>
            <a:xfrm flipH="1">
              <a:off x="8145082" y="330903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rot="-5400000">
              <a:off x="7047599" y="309534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flipH="1">
              <a:off x="7276649" y="330278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8"/>
            <p:cNvSpPr/>
            <p:nvPr/>
          </p:nvSpPr>
          <p:spPr>
            <a:xfrm rot="-5400000">
              <a:off x="7227414" y="3711189"/>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8"/>
            <p:cNvSpPr/>
            <p:nvPr/>
          </p:nvSpPr>
          <p:spPr>
            <a:xfrm flipH="1">
              <a:off x="7462448" y="391862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8"/>
            <p:cNvSpPr/>
            <p:nvPr/>
          </p:nvSpPr>
          <p:spPr>
            <a:xfrm rot="-5400000">
              <a:off x="8102491" y="37188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flipH="1">
              <a:off x="8334533" y="392629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rot="-5400000">
              <a:off x="8288290" y="433470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 name="Google Shape;89;p8"/>
          <p:cNvSpPr txBox="1">
            <a:spLocks noGrp="1"/>
          </p:cNvSpPr>
          <p:nvPr>
            <p:ph type="title"/>
          </p:nvPr>
        </p:nvSpPr>
        <p:spPr>
          <a:xfrm>
            <a:off x="823850" y="866775"/>
            <a:ext cx="4587000" cy="35211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0" name="Google Shape;9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9"/>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9"/>
          <p:cNvSpPr txBox="1">
            <a:spLocks noGrp="1"/>
          </p:cNvSpPr>
          <p:nvPr>
            <p:ph type="title"/>
          </p:nvPr>
        </p:nvSpPr>
        <p:spPr>
          <a:xfrm>
            <a:off x="1297500" y="1658325"/>
            <a:ext cx="3036300" cy="17517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96" name="Google Shape;96;p9"/>
          <p:cNvSpPr txBox="1">
            <a:spLocks noGrp="1"/>
          </p:cNvSpPr>
          <p:nvPr>
            <p:ph type="subTitle" idx="1"/>
          </p:nvPr>
        </p:nvSpPr>
        <p:spPr>
          <a:xfrm>
            <a:off x="1297500" y="3538000"/>
            <a:ext cx="3036300" cy="506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97" name="Google Shape;97;p9"/>
          <p:cNvSpPr txBox="1">
            <a:spLocks noGrp="1"/>
          </p:cNvSpPr>
          <p:nvPr>
            <p:ph type="body" idx="2"/>
          </p:nvPr>
        </p:nvSpPr>
        <p:spPr>
          <a:xfrm>
            <a:off x="4648200" y="1696600"/>
            <a:ext cx="3676800" cy="234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0"/>
            <p:cNvSpPr/>
            <p:nvPr/>
          </p:nvSpPr>
          <p:spPr>
            <a:xfrm flipH="1">
              <a:off x="154125" y="3925529"/>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10"/>
          <p:cNvSpPr txBox="1">
            <a:spLocks noGrp="1"/>
          </p:cNvSpPr>
          <p:nvPr>
            <p:ph type="body" idx="1"/>
          </p:nvPr>
        </p:nvSpPr>
        <p:spPr>
          <a:xfrm>
            <a:off x="812725" y="4305375"/>
            <a:ext cx="6936000" cy="523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104" name="Google Shape;10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1"/>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1"/>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1"/>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1"/>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1"/>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1"/>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1"/>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1"/>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1"/>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1"/>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1"/>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1"/>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1"/>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 name="Google Shape;125;p11"/>
          <p:cNvSpPr txBox="1">
            <a:spLocks noGrp="1"/>
          </p:cNvSpPr>
          <p:nvPr>
            <p:ph type="title" hasCustomPrompt="1"/>
          </p:nvPr>
        </p:nvSpPr>
        <p:spPr>
          <a:xfrm>
            <a:off x="823850" y="1284675"/>
            <a:ext cx="4776000" cy="1300800"/>
          </a:xfrm>
          <a:prstGeom prst="rect">
            <a:avLst/>
          </a:prstGeom>
        </p:spPr>
        <p:txBody>
          <a:bodyPr spcFirstLastPara="1" wrap="square" lIns="91425" tIns="91425" rIns="91425" bIns="91425" anchor="t" anchorCtr="0">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a:spLocks noGrp="1"/>
          </p:cNvSpPr>
          <p:nvPr>
            <p:ph type="body" idx="1"/>
          </p:nvPr>
        </p:nvSpPr>
        <p:spPr>
          <a:xfrm>
            <a:off x="823850" y="2643124"/>
            <a:ext cx="4776000" cy="12189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27" name="Google Shape;12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8"/>
        <p:cNvGrpSpPr/>
        <p:nvPr/>
      </p:nvGrpSpPr>
      <p:grpSpPr>
        <a:xfrm>
          <a:off x="0" y="0"/>
          <a:ext cx="0" cy="0"/>
          <a:chOff x="0" y="0"/>
          <a:chExt cx="0" cy="0"/>
        </a:xfrm>
      </p:grpSpPr>
      <p:sp>
        <p:nvSpPr>
          <p:cNvPr id="129" name="Google Shape;12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focus">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marL="914400" lvl="1"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marL="1371600" lvl="2"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marL="1828800" lvl="3"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marL="2286000" lvl="4"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marL="2743200" lvl="5"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marL="3200400" lvl="6"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marL="3657600" lvl="7"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marL="4114800" lvl="8"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3"/>
          <p:cNvSpPr txBox="1">
            <a:spLocks noGrp="1"/>
          </p:cNvSpPr>
          <p:nvPr>
            <p:ph type="ctrTitle"/>
          </p:nvPr>
        </p:nvSpPr>
        <p:spPr>
          <a:xfrm>
            <a:off x="3537150" y="1578400"/>
            <a:ext cx="5017500" cy="1769484"/>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dirty="0">
                <a:latin typeface="+mj-lt"/>
              </a:rPr>
              <a:t>AUDIT : </a:t>
            </a:r>
            <a:br>
              <a:rPr lang="fr" dirty="0">
                <a:latin typeface="+mj-lt"/>
              </a:rPr>
            </a:br>
            <a:r>
              <a:rPr lang="fr" dirty="0">
                <a:latin typeface="+mj-lt"/>
              </a:rPr>
              <a:t>Erreur sur le Cube OLAP </a:t>
            </a:r>
            <a:endParaRPr dirty="0">
              <a:latin typeface="+mj-lt"/>
            </a:endParaRPr>
          </a:p>
        </p:txBody>
      </p:sp>
      <p:pic>
        <p:nvPicPr>
          <p:cNvPr id="135" name="Google Shape;135;p13"/>
          <p:cNvPicPr preferRelativeResize="0"/>
          <p:nvPr/>
        </p:nvPicPr>
        <p:blipFill>
          <a:blip r:embed="rId3">
            <a:alphaModFix/>
          </a:blip>
          <a:stretch>
            <a:fillRect/>
          </a:stretch>
        </p:blipFill>
        <p:spPr>
          <a:xfrm>
            <a:off x="7196750" y="3514725"/>
            <a:ext cx="1733550" cy="1381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latin typeface="+mj-lt"/>
              </a:rPr>
              <a:t>Présentation de la mission</a:t>
            </a:r>
            <a:endParaRPr dirty="0">
              <a:latin typeface="+mj-lt"/>
            </a:endParaRPr>
          </a:p>
        </p:txBody>
      </p:sp>
      <p:sp>
        <p:nvSpPr>
          <p:cNvPr id="141" name="Google Shape;141;p14"/>
          <p:cNvSpPr txBox="1">
            <a:spLocks noGrp="1"/>
          </p:cNvSpPr>
          <p:nvPr>
            <p:ph type="body" idx="1"/>
          </p:nvPr>
        </p:nvSpPr>
        <p:spPr>
          <a:xfrm>
            <a:off x="1297499" y="1567550"/>
            <a:ext cx="7406789" cy="3182200"/>
          </a:xfrm>
          <a:prstGeom prst="rect">
            <a:avLst/>
          </a:prstGeom>
        </p:spPr>
        <p:txBody>
          <a:bodyPr spcFirstLastPara="1" wrap="square" lIns="91425" tIns="91425" rIns="91425" bIns="91425" anchor="t" anchorCtr="0">
            <a:normAutofit fontScale="92500" lnSpcReduction="20000"/>
          </a:bodyPr>
          <a:lstStyle/>
          <a:p>
            <a:pPr marL="0" lvl="0" indent="0">
              <a:spcAft>
                <a:spcPts val="1200"/>
              </a:spcAft>
              <a:buNone/>
            </a:pPr>
            <a:r>
              <a:rPr lang="fr-FR" sz="1700" b="1" u="sng" dirty="0">
                <a:latin typeface="+mj-lt"/>
              </a:rPr>
              <a:t>Entreprise</a:t>
            </a:r>
            <a:endParaRPr lang="fr-FR" sz="1600" b="1" u="sng" dirty="0">
              <a:latin typeface="+mj-lt"/>
            </a:endParaRPr>
          </a:p>
          <a:p>
            <a:pPr marL="285750" lvl="0" indent="-285750">
              <a:spcAft>
                <a:spcPts val="1200"/>
              </a:spcAft>
              <a:buFontTx/>
              <a:buChar char="-"/>
            </a:pPr>
            <a:r>
              <a:rPr lang="fr-FR" b="1" dirty="0" err="1">
                <a:latin typeface="+mj-lt"/>
              </a:rPr>
              <a:t>SuperSmartMarket</a:t>
            </a:r>
            <a:r>
              <a:rPr lang="fr-FR" dirty="0">
                <a:latin typeface="+mj-lt"/>
              </a:rPr>
              <a:t>, chaîne de </a:t>
            </a:r>
            <a:r>
              <a:rPr lang="fr-FR" b="1" dirty="0">
                <a:latin typeface="+mj-lt"/>
              </a:rPr>
              <a:t>supermarchés</a:t>
            </a:r>
            <a:r>
              <a:rPr lang="fr-FR" dirty="0">
                <a:latin typeface="+mj-lt"/>
              </a:rPr>
              <a:t> en développement en France.</a:t>
            </a:r>
          </a:p>
          <a:p>
            <a:pPr marL="0" lvl="0" indent="0">
              <a:spcAft>
                <a:spcPts val="1200"/>
              </a:spcAft>
              <a:buNone/>
            </a:pPr>
            <a:endParaRPr lang="fr-FR" sz="1100" dirty="0">
              <a:latin typeface="+mj-lt"/>
            </a:endParaRPr>
          </a:p>
          <a:p>
            <a:pPr marL="0" lvl="0" indent="0">
              <a:spcAft>
                <a:spcPts val="1200"/>
              </a:spcAft>
              <a:buNone/>
            </a:pPr>
            <a:r>
              <a:rPr lang="fr-FR" sz="1700" b="1" u="sng" dirty="0">
                <a:latin typeface="+mj-lt"/>
              </a:rPr>
              <a:t>Problème à résoudre</a:t>
            </a:r>
          </a:p>
          <a:p>
            <a:pPr marL="285750" lvl="0" indent="-285750">
              <a:spcAft>
                <a:spcPts val="1200"/>
              </a:spcAft>
              <a:buFontTx/>
              <a:buChar char="-"/>
            </a:pPr>
            <a:r>
              <a:rPr lang="fr-FR" b="1" dirty="0">
                <a:latin typeface="+mj-lt"/>
              </a:rPr>
              <a:t>Incohérences</a:t>
            </a:r>
            <a:r>
              <a:rPr lang="fr-FR" dirty="0">
                <a:latin typeface="+mj-lt"/>
              </a:rPr>
              <a:t> dans les </a:t>
            </a:r>
            <a:r>
              <a:rPr lang="fr-FR" b="1" dirty="0">
                <a:latin typeface="+mj-lt"/>
              </a:rPr>
              <a:t>données de chiffres d’affaires</a:t>
            </a:r>
            <a:r>
              <a:rPr lang="fr-FR" dirty="0">
                <a:latin typeface="+mj-lt"/>
              </a:rPr>
              <a:t>, </a:t>
            </a:r>
            <a:r>
              <a:rPr lang="fr-FR" b="1" dirty="0">
                <a:latin typeface="+mj-lt"/>
              </a:rPr>
              <a:t>fluctuation</a:t>
            </a:r>
            <a:r>
              <a:rPr lang="fr-FR" dirty="0">
                <a:latin typeface="+mj-lt"/>
              </a:rPr>
              <a:t> des </a:t>
            </a:r>
            <a:r>
              <a:rPr lang="fr-FR" b="1" dirty="0">
                <a:latin typeface="+mj-lt"/>
              </a:rPr>
              <a:t>résultats au fil du temps</a:t>
            </a:r>
            <a:r>
              <a:rPr lang="fr-FR" dirty="0">
                <a:latin typeface="+mj-lt"/>
              </a:rPr>
              <a:t>.</a:t>
            </a:r>
          </a:p>
          <a:p>
            <a:pPr marL="0" lvl="0" indent="0">
              <a:spcAft>
                <a:spcPts val="1200"/>
              </a:spcAft>
              <a:buNone/>
            </a:pPr>
            <a:endParaRPr lang="fr-FR" sz="1100" dirty="0">
              <a:latin typeface="+mj-lt"/>
            </a:endParaRPr>
          </a:p>
          <a:p>
            <a:pPr marL="0" lvl="0" indent="0">
              <a:spcAft>
                <a:spcPts val="1200"/>
              </a:spcAft>
              <a:buNone/>
            </a:pPr>
            <a:r>
              <a:rPr lang="fr-FR" sz="1700" b="1" u="sng" dirty="0">
                <a:latin typeface="+mj-lt"/>
              </a:rPr>
              <a:t>Objectif</a:t>
            </a:r>
            <a:endParaRPr lang="fr-FR" sz="1600" b="1" u="sng" dirty="0">
              <a:latin typeface="+mj-lt"/>
            </a:endParaRPr>
          </a:p>
          <a:p>
            <a:pPr marL="285750" lvl="0" indent="-285750">
              <a:spcAft>
                <a:spcPts val="1200"/>
              </a:spcAft>
              <a:buFontTx/>
              <a:buChar char="-"/>
            </a:pPr>
            <a:r>
              <a:rPr lang="fr-FR" b="1" dirty="0">
                <a:latin typeface="+mj-lt"/>
              </a:rPr>
              <a:t>Identifier</a:t>
            </a:r>
            <a:r>
              <a:rPr lang="fr-FR" dirty="0">
                <a:latin typeface="+mj-lt"/>
              </a:rPr>
              <a:t> les </a:t>
            </a:r>
            <a:r>
              <a:rPr lang="fr-FR" b="1" dirty="0">
                <a:latin typeface="+mj-lt"/>
              </a:rPr>
              <a:t>causes</a:t>
            </a:r>
            <a:r>
              <a:rPr lang="fr-FR" dirty="0">
                <a:latin typeface="+mj-lt"/>
              </a:rPr>
              <a:t> des variations du chiffre d’affaires et </a:t>
            </a:r>
            <a:r>
              <a:rPr lang="fr-FR" b="1" dirty="0">
                <a:latin typeface="+mj-lt"/>
              </a:rPr>
              <a:t>garantir des données fiables </a:t>
            </a:r>
            <a:r>
              <a:rPr lang="fr-FR" dirty="0">
                <a:latin typeface="+mj-lt"/>
              </a:rPr>
              <a:t>pour une </a:t>
            </a:r>
            <a:r>
              <a:rPr lang="fr-FR" b="1" dirty="0">
                <a:latin typeface="+mj-lt"/>
              </a:rPr>
              <a:t>meilleure analyse </a:t>
            </a:r>
            <a:r>
              <a:rPr lang="fr-FR" dirty="0">
                <a:latin typeface="+mj-lt"/>
              </a:rPr>
              <a:t>client.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latin typeface="+mj-lt"/>
              </a:rPr>
              <a:t>Analyse de la base de données</a:t>
            </a:r>
            <a:endParaRPr dirty="0">
              <a:latin typeface="+mj-lt"/>
            </a:endParaRPr>
          </a:p>
          <a:p>
            <a:pPr marL="0" lvl="0" indent="0" algn="l" rtl="0">
              <a:spcBef>
                <a:spcPts val="0"/>
              </a:spcBef>
              <a:spcAft>
                <a:spcPts val="0"/>
              </a:spcAft>
              <a:buNone/>
            </a:pPr>
            <a:r>
              <a:rPr lang="fr" sz="1888" dirty="0">
                <a:latin typeface="+mj-lt"/>
              </a:rPr>
              <a:t>Architecture de l’entreprise</a:t>
            </a:r>
            <a:endParaRPr sz="1888" dirty="0">
              <a:latin typeface="+mj-lt"/>
            </a:endParaRPr>
          </a:p>
        </p:txBody>
      </p:sp>
      <p:pic>
        <p:nvPicPr>
          <p:cNvPr id="2050" name="Picture 2">
            <a:extLst>
              <a:ext uri="{FF2B5EF4-FFF2-40B4-BE49-F238E27FC236}">
                <a16:creationId xmlns:a16="http://schemas.microsoft.com/office/drawing/2014/main" id="{D7FA5B3D-0796-1E48-7C99-E30EC530DA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5279" y="1379461"/>
            <a:ext cx="4991715" cy="1192289"/>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D58FA860-377B-AA92-E526-1FBC43D38256}"/>
              </a:ext>
            </a:extLst>
          </p:cNvPr>
          <p:cNvSpPr txBox="1"/>
          <p:nvPr/>
        </p:nvSpPr>
        <p:spPr>
          <a:xfrm>
            <a:off x="762000" y="2779980"/>
            <a:ext cx="7620000" cy="1877437"/>
          </a:xfrm>
          <a:prstGeom prst="rect">
            <a:avLst/>
          </a:prstGeom>
          <a:noFill/>
        </p:spPr>
        <p:txBody>
          <a:bodyPr wrap="square" rtlCol="0">
            <a:spAutoFit/>
          </a:bodyPr>
          <a:lstStyle/>
          <a:p>
            <a:r>
              <a:rPr lang="fr-FR" sz="1200" b="1" u="sng" dirty="0">
                <a:solidFill>
                  <a:schemeClr val="bg1"/>
                </a:solidFill>
                <a:latin typeface="+mj-lt"/>
              </a:rPr>
              <a:t>Collecte des données</a:t>
            </a:r>
          </a:p>
          <a:p>
            <a:pPr marL="171450" indent="-171450">
              <a:buFontTx/>
              <a:buChar char="-"/>
            </a:pPr>
            <a:r>
              <a:rPr lang="fr-FR" sz="1000" dirty="0">
                <a:solidFill>
                  <a:schemeClr val="bg1"/>
                </a:solidFill>
                <a:latin typeface="+mj-lt"/>
              </a:rPr>
              <a:t>Toutes les données de l'entreprise </a:t>
            </a:r>
            <a:r>
              <a:rPr lang="fr-FR" sz="1000" i="1" dirty="0">
                <a:solidFill>
                  <a:schemeClr val="bg1"/>
                </a:solidFill>
                <a:latin typeface="+mj-lt"/>
              </a:rPr>
              <a:t>(ventes, stocks, etc.)</a:t>
            </a:r>
            <a:r>
              <a:rPr lang="fr-FR" sz="1000" dirty="0">
                <a:solidFill>
                  <a:schemeClr val="bg1"/>
                </a:solidFill>
                <a:latin typeface="+mj-lt"/>
              </a:rPr>
              <a:t> sont enregistrées dans une base de données en direct (SQL Server) alimentée par le site web et l'ERP.</a:t>
            </a:r>
          </a:p>
          <a:p>
            <a:endParaRPr lang="fr-FR" sz="1000" dirty="0">
              <a:solidFill>
                <a:schemeClr val="bg1"/>
              </a:solidFill>
              <a:latin typeface="+mj-lt"/>
            </a:endParaRPr>
          </a:p>
          <a:p>
            <a:r>
              <a:rPr lang="fr-FR" sz="1200" b="1" u="sng" dirty="0">
                <a:solidFill>
                  <a:schemeClr val="bg1"/>
                </a:solidFill>
                <a:latin typeface="+mj-lt"/>
              </a:rPr>
              <a:t>Traitement des données</a:t>
            </a:r>
          </a:p>
          <a:p>
            <a:pPr marL="171450" indent="-171450">
              <a:buFontTx/>
              <a:buChar char="-"/>
            </a:pPr>
            <a:r>
              <a:rPr lang="fr-FR" sz="1000" dirty="0">
                <a:solidFill>
                  <a:schemeClr val="bg1"/>
                </a:solidFill>
                <a:latin typeface="+mj-lt"/>
              </a:rPr>
              <a:t>Ces données sont ensuite organisées dans un cube OLAP </a:t>
            </a:r>
            <a:r>
              <a:rPr lang="fr-FR" sz="1000" i="1" dirty="0">
                <a:solidFill>
                  <a:schemeClr val="bg1"/>
                </a:solidFill>
                <a:latin typeface="+mj-lt"/>
              </a:rPr>
              <a:t>(Azure </a:t>
            </a:r>
            <a:r>
              <a:rPr lang="fr-FR" sz="1000" i="1" dirty="0" err="1">
                <a:solidFill>
                  <a:schemeClr val="bg1"/>
                </a:solidFill>
                <a:latin typeface="+mj-lt"/>
              </a:rPr>
              <a:t>Analysis</a:t>
            </a:r>
            <a:r>
              <a:rPr lang="fr-FR" sz="1000" i="1" dirty="0">
                <a:solidFill>
                  <a:schemeClr val="bg1"/>
                </a:solidFill>
                <a:latin typeface="+mj-lt"/>
              </a:rPr>
              <a:t> Services)</a:t>
            </a:r>
            <a:r>
              <a:rPr lang="fr-FR" sz="1000" dirty="0">
                <a:solidFill>
                  <a:schemeClr val="bg1"/>
                </a:solidFill>
                <a:latin typeface="+mj-lt"/>
              </a:rPr>
              <a:t>, une structure optimisée pour l'analyse, ce qui permet des calculs rapides.</a:t>
            </a:r>
          </a:p>
          <a:p>
            <a:endParaRPr lang="fr-FR" sz="1000" dirty="0">
              <a:solidFill>
                <a:schemeClr val="bg1"/>
              </a:solidFill>
              <a:latin typeface="+mj-lt"/>
            </a:endParaRPr>
          </a:p>
          <a:p>
            <a:r>
              <a:rPr lang="fr-FR" sz="1200" b="1" u="sng" dirty="0">
                <a:solidFill>
                  <a:schemeClr val="bg1"/>
                </a:solidFill>
                <a:latin typeface="+mj-lt"/>
              </a:rPr>
              <a:t>Visualisation</a:t>
            </a:r>
          </a:p>
          <a:p>
            <a:pPr marL="171450" indent="-171450">
              <a:buFontTx/>
              <a:buChar char="-"/>
            </a:pPr>
            <a:r>
              <a:rPr lang="fr-FR" sz="1000" dirty="0">
                <a:solidFill>
                  <a:schemeClr val="bg1"/>
                </a:solidFill>
                <a:latin typeface="+mj-lt"/>
              </a:rPr>
              <a:t>Enfin, l'outil Power BI se connecte à ce cube pour créer des tableaux de bord et des graphiques, transformant les données en informations visuelles faciles à comprendre.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9" name="Google Shape;159;p17"/>
          <p:cNvSpPr txBox="1">
            <a:spLocks noGrp="1"/>
          </p:cNvSpPr>
          <p:nvPr>
            <p:ph type="title"/>
          </p:nvPr>
        </p:nvSpPr>
        <p:spPr>
          <a:xfrm>
            <a:off x="1297499" y="428163"/>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solidFill>
                  <a:schemeClr val="bg1"/>
                </a:solidFill>
                <a:latin typeface="+mj-lt"/>
              </a:rPr>
              <a:t>Analyse de la base de données</a:t>
            </a:r>
            <a:endParaRPr dirty="0">
              <a:solidFill>
                <a:schemeClr val="bg1"/>
              </a:solidFill>
              <a:latin typeface="+mj-lt"/>
            </a:endParaRPr>
          </a:p>
          <a:p>
            <a:pPr marL="0" lvl="0" indent="0" algn="l" rtl="0">
              <a:spcBef>
                <a:spcPts val="0"/>
              </a:spcBef>
              <a:spcAft>
                <a:spcPts val="0"/>
              </a:spcAft>
              <a:buNone/>
            </a:pPr>
            <a:r>
              <a:rPr lang="fr" sz="1888" dirty="0">
                <a:solidFill>
                  <a:schemeClr val="bg1"/>
                </a:solidFill>
                <a:latin typeface="+mj-lt"/>
              </a:rPr>
              <a:t>Dictionnaire des données du fichier OLAP et schéma relationnel</a:t>
            </a:r>
            <a:endParaRPr sz="1888" dirty="0">
              <a:solidFill>
                <a:schemeClr val="bg1"/>
              </a:solidFill>
              <a:latin typeface="+mj-lt"/>
            </a:endParaRPr>
          </a:p>
        </p:txBody>
      </p:sp>
      <p:pic>
        <p:nvPicPr>
          <p:cNvPr id="6" name="Image 5">
            <a:extLst>
              <a:ext uri="{FF2B5EF4-FFF2-40B4-BE49-F238E27FC236}">
                <a16:creationId xmlns:a16="http://schemas.microsoft.com/office/drawing/2014/main" id="{B13EE832-4954-4BD2-BA21-B549D1EEF25E}"/>
              </a:ext>
            </a:extLst>
          </p:cNvPr>
          <p:cNvPicPr>
            <a:picLocks noChangeAspect="1"/>
          </p:cNvPicPr>
          <p:nvPr/>
        </p:nvPicPr>
        <p:blipFill>
          <a:blip r:embed="rId3"/>
          <a:stretch>
            <a:fillRect/>
          </a:stretch>
        </p:blipFill>
        <p:spPr>
          <a:xfrm>
            <a:off x="3345495" y="2630330"/>
            <a:ext cx="2453009" cy="802434"/>
          </a:xfrm>
          <a:prstGeom prst="rect">
            <a:avLst/>
          </a:prstGeom>
        </p:spPr>
      </p:pic>
      <p:pic>
        <p:nvPicPr>
          <p:cNvPr id="8" name="Image 7">
            <a:extLst>
              <a:ext uri="{FF2B5EF4-FFF2-40B4-BE49-F238E27FC236}">
                <a16:creationId xmlns:a16="http://schemas.microsoft.com/office/drawing/2014/main" id="{52832813-07CF-650C-15F1-A31808D8D515}"/>
              </a:ext>
            </a:extLst>
          </p:cNvPr>
          <p:cNvPicPr>
            <a:picLocks noChangeAspect="1"/>
          </p:cNvPicPr>
          <p:nvPr/>
        </p:nvPicPr>
        <p:blipFill>
          <a:blip r:embed="rId4"/>
          <a:stretch>
            <a:fillRect/>
          </a:stretch>
        </p:blipFill>
        <p:spPr>
          <a:xfrm>
            <a:off x="555661" y="2685479"/>
            <a:ext cx="2453009" cy="692135"/>
          </a:xfrm>
          <a:prstGeom prst="rect">
            <a:avLst/>
          </a:prstGeom>
        </p:spPr>
      </p:pic>
      <p:pic>
        <p:nvPicPr>
          <p:cNvPr id="10" name="Image 9">
            <a:extLst>
              <a:ext uri="{FF2B5EF4-FFF2-40B4-BE49-F238E27FC236}">
                <a16:creationId xmlns:a16="http://schemas.microsoft.com/office/drawing/2014/main" id="{E6BFA4B3-BBE1-D4B2-9E38-5AF07C6962C2}"/>
              </a:ext>
            </a:extLst>
          </p:cNvPr>
          <p:cNvPicPr>
            <a:picLocks noChangeAspect="1"/>
          </p:cNvPicPr>
          <p:nvPr/>
        </p:nvPicPr>
        <p:blipFill>
          <a:blip r:embed="rId5"/>
          <a:stretch>
            <a:fillRect/>
          </a:stretch>
        </p:blipFill>
        <p:spPr>
          <a:xfrm>
            <a:off x="3345495" y="1915088"/>
            <a:ext cx="2453009" cy="396138"/>
          </a:xfrm>
          <a:prstGeom prst="rect">
            <a:avLst/>
          </a:prstGeom>
        </p:spPr>
      </p:pic>
      <p:pic>
        <p:nvPicPr>
          <p:cNvPr id="14" name="Image 13">
            <a:extLst>
              <a:ext uri="{FF2B5EF4-FFF2-40B4-BE49-F238E27FC236}">
                <a16:creationId xmlns:a16="http://schemas.microsoft.com/office/drawing/2014/main" id="{64A6C499-D344-1C44-D3C7-C35D26DA11B3}"/>
              </a:ext>
            </a:extLst>
          </p:cNvPr>
          <p:cNvPicPr>
            <a:picLocks noChangeAspect="1"/>
          </p:cNvPicPr>
          <p:nvPr/>
        </p:nvPicPr>
        <p:blipFill>
          <a:blip r:embed="rId6"/>
          <a:stretch>
            <a:fillRect/>
          </a:stretch>
        </p:blipFill>
        <p:spPr>
          <a:xfrm>
            <a:off x="3345494" y="3751868"/>
            <a:ext cx="2453009" cy="892003"/>
          </a:xfrm>
          <a:prstGeom prst="rect">
            <a:avLst/>
          </a:prstGeom>
        </p:spPr>
      </p:pic>
      <p:pic>
        <p:nvPicPr>
          <p:cNvPr id="16" name="Image 15">
            <a:extLst>
              <a:ext uri="{FF2B5EF4-FFF2-40B4-BE49-F238E27FC236}">
                <a16:creationId xmlns:a16="http://schemas.microsoft.com/office/drawing/2014/main" id="{D1BA02FC-F0E6-78DB-95B5-C0EE6DD2B2B7}"/>
              </a:ext>
            </a:extLst>
          </p:cNvPr>
          <p:cNvPicPr>
            <a:picLocks noChangeAspect="1"/>
          </p:cNvPicPr>
          <p:nvPr/>
        </p:nvPicPr>
        <p:blipFill>
          <a:blip r:embed="rId7"/>
          <a:stretch>
            <a:fillRect/>
          </a:stretch>
        </p:blipFill>
        <p:spPr>
          <a:xfrm>
            <a:off x="6135330" y="2531294"/>
            <a:ext cx="2453009" cy="1000503"/>
          </a:xfrm>
          <a:prstGeom prst="rect">
            <a:avLst/>
          </a:prstGeom>
        </p:spPr>
      </p:pic>
      <p:cxnSp>
        <p:nvCxnSpPr>
          <p:cNvPr id="21" name="Connecteur droit 20">
            <a:extLst>
              <a:ext uri="{FF2B5EF4-FFF2-40B4-BE49-F238E27FC236}">
                <a16:creationId xmlns:a16="http://schemas.microsoft.com/office/drawing/2014/main" id="{527F1B19-788C-E706-6AD3-B4ABF66A678F}"/>
              </a:ext>
            </a:extLst>
          </p:cNvPr>
          <p:cNvCxnSpPr>
            <a:cxnSpLocks/>
            <a:stCxn id="8" idx="3"/>
            <a:endCxn id="6" idx="1"/>
          </p:cNvCxnSpPr>
          <p:nvPr/>
        </p:nvCxnSpPr>
        <p:spPr>
          <a:xfrm>
            <a:off x="3008670" y="3031547"/>
            <a:ext cx="336825"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22" name="Connecteur droit 21">
            <a:extLst>
              <a:ext uri="{FF2B5EF4-FFF2-40B4-BE49-F238E27FC236}">
                <a16:creationId xmlns:a16="http://schemas.microsoft.com/office/drawing/2014/main" id="{9D501767-A831-DA8B-941C-0F6E39538D53}"/>
              </a:ext>
            </a:extLst>
          </p:cNvPr>
          <p:cNvCxnSpPr/>
          <p:nvPr/>
        </p:nvCxnSpPr>
        <p:spPr>
          <a:xfrm>
            <a:off x="5798505" y="3031545"/>
            <a:ext cx="336825"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26" name="Connecteur droit 25">
            <a:extLst>
              <a:ext uri="{FF2B5EF4-FFF2-40B4-BE49-F238E27FC236}">
                <a16:creationId xmlns:a16="http://schemas.microsoft.com/office/drawing/2014/main" id="{21867B0E-5492-979D-2CC8-DBC52BC21FBE}"/>
              </a:ext>
            </a:extLst>
          </p:cNvPr>
          <p:cNvCxnSpPr>
            <a:cxnSpLocks/>
            <a:stCxn id="6" idx="0"/>
            <a:endCxn id="10" idx="2"/>
          </p:cNvCxnSpPr>
          <p:nvPr/>
        </p:nvCxnSpPr>
        <p:spPr>
          <a:xfrm flipV="1">
            <a:off x="4572000" y="2311226"/>
            <a:ext cx="0" cy="319104"/>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30" name="Connecteur droit 29">
            <a:extLst>
              <a:ext uri="{FF2B5EF4-FFF2-40B4-BE49-F238E27FC236}">
                <a16:creationId xmlns:a16="http://schemas.microsoft.com/office/drawing/2014/main" id="{452B3416-6EBA-7548-A4FC-42EDC1A73EC7}"/>
              </a:ext>
            </a:extLst>
          </p:cNvPr>
          <p:cNvCxnSpPr>
            <a:cxnSpLocks/>
          </p:cNvCxnSpPr>
          <p:nvPr/>
        </p:nvCxnSpPr>
        <p:spPr>
          <a:xfrm flipV="1">
            <a:off x="4571998" y="3432764"/>
            <a:ext cx="0" cy="319104"/>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31" name="Connecteur droit 30">
            <a:extLst>
              <a:ext uri="{FF2B5EF4-FFF2-40B4-BE49-F238E27FC236}">
                <a16:creationId xmlns:a16="http://schemas.microsoft.com/office/drawing/2014/main" id="{C07A5D07-AE3C-7626-A23C-C451479D765B}"/>
              </a:ext>
            </a:extLst>
          </p:cNvPr>
          <p:cNvCxnSpPr>
            <a:cxnSpLocks/>
          </p:cNvCxnSpPr>
          <p:nvPr/>
        </p:nvCxnSpPr>
        <p:spPr>
          <a:xfrm flipV="1">
            <a:off x="7376582" y="2113157"/>
            <a:ext cx="0" cy="419496"/>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32" name="Connecteur droit 31">
            <a:extLst>
              <a:ext uri="{FF2B5EF4-FFF2-40B4-BE49-F238E27FC236}">
                <a16:creationId xmlns:a16="http://schemas.microsoft.com/office/drawing/2014/main" id="{422E357C-0B9E-B9BA-B0D9-2E2A2C09787B}"/>
              </a:ext>
            </a:extLst>
          </p:cNvPr>
          <p:cNvCxnSpPr>
            <a:cxnSpLocks/>
          </p:cNvCxnSpPr>
          <p:nvPr/>
        </p:nvCxnSpPr>
        <p:spPr>
          <a:xfrm flipV="1">
            <a:off x="7391330" y="3531797"/>
            <a:ext cx="0" cy="666072"/>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35" name="Connecteur droit 34">
            <a:extLst>
              <a:ext uri="{FF2B5EF4-FFF2-40B4-BE49-F238E27FC236}">
                <a16:creationId xmlns:a16="http://schemas.microsoft.com/office/drawing/2014/main" id="{52240CAC-21AA-51F4-9F2C-4DD8CA012B3A}"/>
              </a:ext>
            </a:extLst>
          </p:cNvPr>
          <p:cNvCxnSpPr>
            <a:cxnSpLocks/>
          </p:cNvCxnSpPr>
          <p:nvPr/>
        </p:nvCxnSpPr>
        <p:spPr>
          <a:xfrm>
            <a:off x="5798503" y="4197869"/>
            <a:ext cx="1592827"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39" name="Connecteur droit 38">
            <a:extLst>
              <a:ext uri="{FF2B5EF4-FFF2-40B4-BE49-F238E27FC236}">
                <a16:creationId xmlns:a16="http://schemas.microsoft.com/office/drawing/2014/main" id="{FE7B9BC5-47AD-7EE5-CEA6-9C0769783A08}"/>
              </a:ext>
            </a:extLst>
          </p:cNvPr>
          <p:cNvCxnSpPr>
            <a:cxnSpLocks/>
          </p:cNvCxnSpPr>
          <p:nvPr/>
        </p:nvCxnSpPr>
        <p:spPr>
          <a:xfrm>
            <a:off x="5798503" y="2113157"/>
            <a:ext cx="157807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7">
          <a:extLst>
            <a:ext uri="{FF2B5EF4-FFF2-40B4-BE49-F238E27FC236}">
              <a16:creationId xmlns:a16="http://schemas.microsoft.com/office/drawing/2014/main" id="{8D26BB7E-D98C-3384-0FC7-527C3B044CE5}"/>
            </a:ext>
          </a:extLst>
        </p:cNvPr>
        <p:cNvGrpSpPr/>
        <p:nvPr/>
      </p:nvGrpSpPr>
      <p:grpSpPr>
        <a:xfrm>
          <a:off x="0" y="0"/>
          <a:ext cx="0" cy="0"/>
          <a:chOff x="0" y="0"/>
          <a:chExt cx="0" cy="0"/>
        </a:xfrm>
      </p:grpSpPr>
      <p:sp>
        <p:nvSpPr>
          <p:cNvPr id="159" name="Google Shape;159;p17">
            <a:extLst>
              <a:ext uri="{FF2B5EF4-FFF2-40B4-BE49-F238E27FC236}">
                <a16:creationId xmlns:a16="http://schemas.microsoft.com/office/drawing/2014/main" id="{70258EFC-9246-472F-2465-7323239B2238}"/>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latin typeface="+mj-lt"/>
              </a:rPr>
              <a:t>Analyse de la base de données</a:t>
            </a:r>
            <a:endParaRPr dirty="0">
              <a:latin typeface="+mj-lt"/>
            </a:endParaRPr>
          </a:p>
          <a:p>
            <a:pPr marL="0" lvl="0" indent="0" algn="l" rtl="0">
              <a:spcBef>
                <a:spcPts val="0"/>
              </a:spcBef>
              <a:spcAft>
                <a:spcPts val="0"/>
              </a:spcAft>
              <a:buNone/>
            </a:pPr>
            <a:r>
              <a:rPr lang="fr" sz="1888" dirty="0">
                <a:latin typeface="+mj-lt"/>
              </a:rPr>
              <a:t>Dictionnaire des données du fichier OLAP et schéma relationnel</a:t>
            </a:r>
            <a:endParaRPr sz="1888" dirty="0">
              <a:latin typeface="+mj-lt"/>
            </a:endParaRPr>
          </a:p>
        </p:txBody>
      </p:sp>
      <p:pic>
        <p:nvPicPr>
          <p:cNvPr id="4" name="Image 3">
            <a:extLst>
              <a:ext uri="{FF2B5EF4-FFF2-40B4-BE49-F238E27FC236}">
                <a16:creationId xmlns:a16="http://schemas.microsoft.com/office/drawing/2014/main" id="{A0F16D97-A898-60C6-3225-DBD966C4656C}"/>
              </a:ext>
            </a:extLst>
          </p:cNvPr>
          <p:cNvPicPr>
            <a:picLocks noChangeAspect="1"/>
          </p:cNvPicPr>
          <p:nvPr/>
        </p:nvPicPr>
        <p:blipFill>
          <a:blip r:embed="rId3"/>
          <a:stretch>
            <a:fillRect/>
          </a:stretch>
        </p:blipFill>
        <p:spPr>
          <a:xfrm>
            <a:off x="1830426" y="1372567"/>
            <a:ext cx="5483148" cy="3377183"/>
          </a:xfrm>
          <a:prstGeom prst="rect">
            <a:avLst/>
          </a:prstGeom>
        </p:spPr>
      </p:pic>
    </p:spTree>
    <p:extLst>
      <p:ext uri="{BB962C8B-B14F-4D97-AF65-F5344CB8AC3E}">
        <p14:creationId xmlns:p14="http://schemas.microsoft.com/office/powerpoint/2010/main" val="3051829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8"/>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latin typeface="+mj-lt"/>
              </a:rPr>
              <a:t>Présentation du prototype de BDD</a:t>
            </a:r>
            <a:endParaRPr dirty="0">
              <a:latin typeface="+mj-lt"/>
            </a:endParaRPr>
          </a:p>
          <a:p>
            <a:pPr marL="0" lvl="0" indent="0" algn="l" rtl="0">
              <a:spcBef>
                <a:spcPts val="0"/>
              </a:spcBef>
              <a:spcAft>
                <a:spcPts val="0"/>
              </a:spcAft>
              <a:buNone/>
            </a:pPr>
            <a:r>
              <a:rPr lang="fr" sz="1888" dirty="0">
                <a:latin typeface="+mj-lt"/>
              </a:rPr>
              <a:t>Explication de la base de données</a:t>
            </a:r>
            <a:endParaRPr sz="1888" dirty="0">
              <a:latin typeface="+mj-lt"/>
            </a:endParaRPr>
          </a:p>
        </p:txBody>
      </p:sp>
      <p:sp>
        <p:nvSpPr>
          <p:cNvPr id="165" name="Google Shape;165;p18"/>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lnSpcReduction="10000"/>
          </a:bodyPr>
          <a:lstStyle/>
          <a:p>
            <a:pPr marL="171450" marR="152400" lvl="0" indent="0">
              <a:buClr>
                <a:srgbClr val="999999"/>
              </a:buClr>
              <a:buSzPts val="900"/>
              <a:buNone/>
            </a:pPr>
            <a:r>
              <a:rPr lang="fr-FR" dirty="0">
                <a:latin typeface="+mj-lt"/>
              </a:rPr>
              <a:t>La base de données suit un </a:t>
            </a:r>
            <a:r>
              <a:rPr lang="fr-FR" b="1" dirty="0">
                <a:latin typeface="+mj-lt"/>
              </a:rPr>
              <a:t>schéma en étoile </a:t>
            </a:r>
            <a:r>
              <a:rPr lang="fr-FR" dirty="0">
                <a:latin typeface="+mj-lt"/>
              </a:rPr>
              <a:t>une architecture conçue pour l'analyse des données. Ce modèle se compose d'une table centrale entourée de tables périphériques.</a:t>
            </a:r>
          </a:p>
          <a:p>
            <a:pPr marR="152400" lvl="0" indent="-285750">
              <a:buClr>
                <a:srgbClr val="999999"/>
              </a:buClr>
              <a:buSzPts val="900"/>
              <a:buFont typeface="Inter"/>
              <a:buChar char="●"/>
            </a:pPr>
            <a:endParaRPr lang="fr-FR" dirty="0">
              <a:latin typeface="+mj-lt"/>
            </a:endParaRPr>
          </a:p>
          <a:p>
            <a:pPr marR="152400" lvl="0" indent="-285750">
              <a:buClr>
                <a:srgbClr val="999999"/>
              </a:buClr>
              <a:buSzPts val="900"/>
              <a:buFont typeface="Inter"/>
              <a:buChar char="●"/>
            </a:pPr>
            <a:r>
              <a:rPr lang="fr-FR" u="sng" dirty="0">
                <a:latin typeface="+mj-lt"/>
              </a:rPr>
              <a:t>Table de faits </a:t>
            </a:r>
            <a:r>
              <a:rPr lang="fr-FR" i="1" u="sng" dirty="0">
                <a:latin typeface="+mj-lt"/>
              </a:rPr>
              <a:t>(</a:t>
            </a:r>
            <a:r>
              <a:rPr lang="fr-FR" i="1" u="sng" dirty="0" err="1">
                <a:latin typeface="+mj-lt"/>
              </a:rPr>
              <a:t>vente_detail</a:t>
            </a:r>
            <a:r>
              <a:rPr lang="fr-FR" i="1" u="sng" dirty="0">
                <a:latin typeface="+mj-lt"/>
              </a:rPr>
              <a:t>) </a:t>
            </a:r>
            <a:r>
              <a:rPr lang="fr-FR" u="sng" dirty="0">
                <a:latin typeface="+mj-lt"/>
              </a:rPr>
              <a:t>:</a:t>
            </a:r>
            <a:r>
              <a:rPr lang="fr-FR" dirty="0">
                <a:latin typeface="+mj-lt"/>
              </a:rPr>
              <a:t> Elle enregistre chaque article vendu. Elle contient les clés qui la relient à toutes les autres tables.</a:t>
            </a:r>
          </a:p>
          <a:p>
            <a:pPr marR="152400" lvl="0" indent="-285750">
              <a:buClr>
                <a:srgbClr val="999999"/>
              </a:buClr>
              <a:buSzPts val="900"/>
              <a:buFont typeface="Inter"/>
              <a:buChar char="●"/>
            </a:pPr>
            <a:endParaRPr lang="fr-FR" dirty="0">
              <a:latin typeface="+mj-lt"/>
            </a:endParaRPr>
          </a:p>
          <a:p>
            <a:pPr marR="152400" lvl="0" indent="-285750">
              <a:buClr>
                <a:srgbClr val="999999"/>
              </a:buClr>
              <a:buSzPts val="900"/>
              <a:buFont typeface="Inter"/>
              <a:buChar char="●"/>
            </a:pPr>
            <a:r>
              <a:rPr lang="fr-FR" u="sng" dirty="0">
                <a:latin typeface="+mj-lt"/>
              </a:rPr>
              <a:t>Tables de dimensions </a:t>
            </a:r>
            <a:r>
              <a:rPr lang="fr-FR" i="1" u="sng" dirty="0">
                <a:latin typeface="+mj-lt"/>
              </a:rPr>
              <a:t>(produits, clients, </a:t>
            </a:r>
            <a:r>
              <a:rPr lang="fr-FR" i="1" u="sng" dirty="0" err="1">
                <a:latin typeface="+mj-lt"/>
              </a:rPr>
              <a:t>employers</a:t>
            </a:r>
            <a:r>
              <a:rPr lang="fr-FR" i="1" u="sng" dirty="0">
                <a:latin typeface="+mj-lt"/>
              </a:rPr>
              <a:t>, calendrier) </a:t>
            </a:r>
            <a:r>
              <a:rPr lang="fr-FR" u="sng" dirty="0">
                <a:latin typeface="+mj-lt"/>
              </a:rPr>
              <a:t>:</a:t>
            </a:r>
            <a:r>
              <a:rPr lang="fr-FR" dirty="0">
                <a:latin typeface="+mj-lt"/>
              </a:rPr>
              <a:t> Ces tables fournissent un contexte détaillé sur les produits, les clients, les employés et les dates.</a:t>
            </a:r>
          </a:p>
          <a:p>
            <a:pPr marR="152400" lvl="0" indent="-285750">
              <a:buClr>
                <a:srgbClr val="999999"/>
              </a:buClr>
              <a:buSzPts val="900"/>
              <a:buFont typeface="Inter"/>
              <a:buChar char="●"/>
            </a:pPr>
            <a:endParaRPr lang="fr-FR" dirty="0">
              <a:latin typeface="+mj-lt"/>
            </a:endParaRPr>
          </a:p>
          <a:p>
            <a:pPr marL="171450" marR="152400" lvl="0" indent="0">
              <a:buClr>
                <a:srgbClr val="999999"/>
              </a:buClr>
              <a:buSzPts val="900"/>
              <a:buNone/>
            </a:pPr>
            <a:r>
              <a:rPr lang="fr-FR" dirty="0">
                <a:latin typeface="+mj-lt"/>
              </a:rPr>
              <a:t>Cette structure permet de relier facilement les données pour répondre à des questions complexes.</a:t>
            </a:r>
            <a:endParaRPr dirty="0">
              <a:latin typeface="+mj-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9"/>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p>
            <a:pPr marL="171450" marR="152400" lvl="0" indent="0">
              <a:buClr>
                <a:srgbClr val="999999"/>
              </a:buClr>
              <a:buSzPts val="900"/>
              <a:buNone/>
            </a:pPr>
            <a:r>
              <a:rPr lang="fr-FR" dirty="0">
                <a:latin typeface="+mj-lt"/>
              </a:rPr>
              <a:t>SELECT</a:t>
            </a:r>
          </a:p>
          <a:p>
            <a:pPr marL="171450" marR="152400" lvl="0" indent="0">
              <a:buClr>
                <a:srgbClr val="999999"/>
              </a:buClr>
              <a:buSzPts val="900"/>
              <a:buNone/>
            </a:pPr>
            <a:r>
              <a:rPr lang="fr-FR" dirty="0">
                <a:latin typeface="+mj-lt"/>
              </a:rPr>
              <a:t>    ROUND(CAST(SUM(</a:t>
            </a:r>
            <a:r>
              <a:rPr lang="fr-FR" dirty="0" err="1">
                <a:latin typeface="+mj-lt"/>
              </a:rPr>
              <a:t>p.prix</a:t>
            </a:r>
            <a:r>
              <a:rPr lang="fr-FR" dirty="0">
                <a:latin typeface="+mj-lt"/>
              </a:rPr>
              <a:t>) AS NUMERIC), 2) AS CA_du_14_aout_2024</a:t>
            </a:r>
          </a:p>
          <a:p>
            <a:pPr marL="171450" marR="152400" lvl="0" indent="0">
              <a:buClr>
                <a:srgbClr val="999999"/>
              </a:buClr>
              <a:buSzPts val="900"/>
              <a:buNone/>
            </a:pPr>
            <a:r>
              <a:rPr lang="fr-FR" dirty="0">
                <a:latin typeface="+mj-lt"/>
              </a:rPr>
              <a:t>FROM</a:t>
            </a:r>
          </a:p>
          <a:p>
            <a:pPr marL="171450" marR="152400" lvl="0" indent="0">
              <a:buClr>
                <a:srgbClr val="999999"/>
              </a:buClr>
              <a:buSzPts val="900"/>
              <a:buNone/>
            </a:pPr>
            <a:r>
              <a:rPr lang="fr-FR" dirty="0">
                <a:latin typeface="+mj-lt"/>
              </a:rPr>
              <a:t>    </a:t>
            </a:r>
            <a:r>
              <a:rPr lang="fr-FR" dirty="0" err="1">
                <a:latin typeface="+mj-lt"/>
              </a:rPr>
              <a:t>vente_detail</a:t>
            </a:r>
            <a:r>
              <a:rPr lang="fr-FR" dirty="0">
                <a:latin typeface="+mj-lt"/>
              </a:rPr>
              <a:t> </a:t>
            </a:r>
            <a:r>
              <a:rPr lang="fr-FR" dirty="0" err="1">
                <a:latin typeface="+mj-lt"/>
              </a:rPr>
              <a:t>vd</a:t>
            </a:r>
            <a:endParaRPr lang="fr-FR" dirty="0">
              <a:latin typeface="+mj-lt"/>
            </a:endParaRPr>
          </a:p>
          <a:p>
            <a:pPr marL="171450" marR="152400" lvl="0" indent="0">
              <a:buClr>
                <a:srgbClr val="999999"/>
              </a:buClr>
              <a:buSzPts val="900"/>
              <a:buNone/>
            </a:pPr>
            <a:r>
              <a:rPr lang="fr-FR" dirty="0">
                <a:latin typeface="+mj-lt"/>
              </a:rPr>
              <a:t>JOIN</a:t>
            </a:r>
          </a:p>
          <a:p>
            <a:pPr marL="171450" marR="152400" lvl="0" indent="0">
              <a:buClr>
                <a:srgbClr val="999999"/>
              </a:buClr>
              <a:buSzPts val="900"/>
              <a:buNone/>
            </a:pPr>
            <a:r>
              <a:rPr lang="fr-FR" dirty="0">
                <a:latin typeface="+mj-lt"/>
              </a:rPr>
              <a:t>    produits p ON </a:t>
            </a:r>
            <a:r>
              <a:rPr lang="fr-FR" dirty="0" err="1">
                <a:latin typeface="+mj-lt"/>
              </a:rPr>
              <a:t>vd.EAN</a:t>
            </a:r>
            <a:r>
              <a:rPr lang="fr-FR" dirty="0">
                <a:latin typeface="+mj-lt"/>
              </a:rPr>
              <a:t> = </a:t>
            </a:r>
            <a:r>
              <a:rPr lang="fr-FR" dirty="0" err="1">
                <a:latin typeface="+mj-lt"/>
              </a:rPr>
              <a:t>p.EAN</a:t>
            </a:r>
            <a:endParaRPr lang="fr-FR" dirty="0">
              <a:latin typeface="+mj-lt"/>
            </a:endParaRPr>
          </a:p>
          <a:p>
            <a:pPr marL="171450" marR="152400" lvl="0" indent="0">
              <a:buClr>
                <a:srgbClr val="999999"/>
              </a:buClr>
              <a:buSzPts val="900"/>
              <a:buNone/>
            </a:pPr>
            <a:r>
              <a:rPr lang="fr-FR" dirty="0">
                <a:latin typeface="+mj-lt"/>
              </a:rPr>
              <a:t>WHERE</a:t>
            </a:r>
          </a:p>
          <a:p>
            <a:pPr marL="171450" marR="152400" lvl="0" indent="0">
              <a:buClr>
                <a:srgbClr val="999999"/>
              </a:buClr>
              <a:buSzPts val="900"/>
              <a:buNone/>
            </a:pPr>
            <a:r>
              <a:rPr lang="fr-FR" dirty="0">
                <a:latin typeface="+mj-lt"/>
              </a:rPr>
              <a:t>    </a:t>
            </a:r>
            <a:r>
              <a:rPr lang="fr-FR" dirty="0" err="1">
                <a:latin typeface="+mj-lt"/>
              </a:rPr>
              <a:t>vd</a:t>
            </a:r>
            <a:r>
              <a:rPr lang="fr-FR" dirty="0">
                <a:latin typeface="+mj-lt"/>
              </a:rPr>
              <a:t>."Date achat" = '2024-08-14';</a:t>
            </a:r>
            <a:endParaRPr dirty="0">
              <a:latin typeface="+mj-lt"/>
            </a:endParaRPr>
          </a:p>
        </p:txBody>
      </p:sp>
      <p:sp>
        <p:nvSpPr>
          <p:cNvPr id="171" name="Google Shape;171;p19"/>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latin typeface="+mj-lt"/>
              </a:rPr>
              <a:t>Résultat des requêtes SQL</a:t>
            </a:r>
            <a:endParaRPr dirty="0">
              <a:latin typeface="+mj-lt"/>
            </a:endParaRPr>
          </a:p>
          <a:p>
            <a:pPr marL="0" lvl="0" indent="0" algn="l" rtl="0">
              <a:spcBef>
                <a:spcPts val="0"/>
              </a:spcBef>
              <a:spcAft>
                <a:spcPts val="0"/>
              </a:spcAft>
              <a:buNone/>
            </a:pPr>
            <a:r>
              <a:rPr lang="fr" sz="1888" dirty="0">
                <a:latin typeface="+mj-lt"/>
              </a:rPr>
              <a:t>Le chiffre d’affaires total pour le 14 Août</a:t>
            </a:r>
            <a:endParaRPr sz="1888" dirty="0">
              <a:latin typeface="+mj-lt"/>
            </a:endParaRPr>
          </a:p>
        </p:txBody>
      </p:sp>
      <p:pic>
        <p:nvPicPr>
          <p:cNvPr id="3" name="Image 2">
            <a:extLst>
              <a:ext uri="{FF2B5EF4-FFF2-40B4-BE49-F238E27FC236}">
                <a16:creationId xmlns:a16="http://schemas.microsoft.com/office/drawing/2014/main" id="{950F7170-279A-1E57-A3FE-86E68AC35071}"/>
              </a:ext>
            </a:extLst>
          </p:cNvPr>
          <p:cNvPicPr>
            <a:picLocks noChangeAspect="1"/>
          </p:cNvPicPr>
          <p:nvPr/>
        </p:nvPicPr>
        <p:blipFill>
          <a:blip r:embed="rId3"/>
          <a:stretch>
            <a:fillRect/>
          </a:stretch>
        </p:blipFill>
        <p:spPr>
          <a:xfrm>
            <a:off x="5869857" y="2936410"/>
            <a:ext cx="1377409" cy="45668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0"/>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fontScale="92500" lnSpcReduction="10000"/>
          </a:bodyPr>
          <a:lstStyle/>
          <a:p>
            <a:pPr marL="171450" marR="152400" lvl="0" indent="0">
              <a:buClr>
                <a:srgbClr val="999999"/>
              </a:buClr>
              <a:buSzPts val="900"/>
              <a:buNone/>
            </a:pPr>
            <a:r>
              <a:rPr lang="fr-FR" dirty="0">
                <a:latin typeface="+mj-lt"/>
              </a:rPr>
              <a:t>SELECT</a:t>
            </a:r>
          </a:p>
          <a:p>
            <a:pPr marL="171450" marR="152400" lvl="0" indent="0">
              <a:buClr>
                <a:srgbClr val="999999"/>
              </a:buClr>
              <a:buSzPts val="900"/>
              <a:buNone/>
            </a:pPr>
            <a:r>
              <a:rPr lang="fr-FR" dirty="0">
                <a:latin typeface="+mj-lt"/>
              </a:rPr>
              <a:t>    </a:t>
            </a:r>
            <a:r>
              <a:rPr lang="fr-FR" dirty="0" err="1">
                <a:latin typeface="+mj-lt"/>
              </a:rPr>
              <a:t>vd.CUSTOMER_ID</a:t>
            </a:r>
            <a:r>
              <a:rPr lang="fr-FR" dirty="0">
                <a:latin typeface="+mj-lt"/>
              </a:rPr>
              <a:t>,</a:t>
            </a:r>
          </a:p>
          <a:p>
            <a:pPr marL="171450" marR="152400" lvl="0" indent="0">
              <a:buClr>
                <a:srgbClr val="999999"/>
              </a:buClr>
              <a:buSzPts val="900"/>
              <a:buNone/>
            </a:pPr>
            <a:r>
              <a:rPr lang="fr-FR" dirty="0">
                <a:latin typeface="+mj-lt"/>
              </a:rPr>
              <a:t>    ROUND(CAST(SUM(</a:t>
            </a:r>
            <a:r>
              <a:rPr lang="fr-FR" dirty="0" err="1">
                <a:latin typeface="+mj-lt"/>
              </a:rPr>
              <a:t>p.prix</a:t>
            </a:r>
            <a:r>
              <a:rPr lang="fr-FR" dirty="0">
                <a:latin typeface="+mj-lt"/>
              </a:rPr>
              <a:t>) AS NUMERIC), 2) AS </a:t>
            </a:r>
            <a:r>
              <a:rPr lang="fr-FR" dirty="0" err="1">
                <a:latin typeface="+mj-lt"/>
              </a:rPr>
              <a:t>CA_per_cust</a:t>
            </a:r>
            <a:endParaRPr lang="fr-FR" dirty="0">
              <a:latin typeface="+mj-lt"/>
            </a:endParaRPr>
          </a:p>
          <a:p>
            <a:pPr marL="171450" marR="152400" lvl="0" indent="0">
              <a:buClr>
                <a:srgbClr val="999999"/>
              </a:buClr>
              <a:buSzPts val="900"/>
              <a:buNone/>
            </a:pPr>
            <a:r>
              <a:rPr lang="fr-FR" dirty="0">
                <a:latin typeface="+mj-lt"/>
              </a:rPr>
              <a:t>FROM</a:t>
            </a:r>
          </a:p>
          <a:p>
            <a:pPr marL="171450" marR="152400" lvl="0" indent="0">
              <a:buClr>
                <a:srgbClr val="999999"/>
              </a:buClr>
              <a:buSzPts val="900"/>
              <a:buNone/>
            </a:pPr>
            <a:r>
              <a:rPr lang="fr-FR" dirty="0">
                <a:latin typeface="+mj-lt"/>
              </a:rPr>
              <a:t>    </a:t>
            </a:r>
            <a:r>
              <a:rPr lang="fr-FR" dirty="0" err="1">
                <a:latin typeface="+mj-lt"/>
              </a:rPr>
              <a:t>vente_detail</a:t>
            </a:r>
            <a:r>
              <a:rPr lang="fr-FR" dirty="0">
                <a:latin typeface="+mj-lt"/>
              </a:rPr>
              <a:t> </a:t>
            </a:r>
            <a:r>
              <a:rPr lang="fr-FR" dirty="0" err="1">
                <a:latin typeface="+mj-lt"/>
              </a:rPr>
              <a:t>vd</a:t>
            </a:r>
            <a:endParaRPr lang="fr-FR" dirty="0">
              <a:latin typeface="+mj-lt"/>
            </a:endParaRPr>
          </a:p>
          <a:p>
            <a:pPr marL="171450" marR="152400" lvl="0" indent="0">
              <a:buClr>
                <a:srgbClr val="999999"/>
              </a:buClr>
              <a:buSzPts val="900"/>
              <a:buNone/>
            </a:pPr>
            <a:r>
              <a:rPr lang="fr-FR" dirty="0">
                <a:latin typeface="+mj-lt"/>
              </a:rPr>
              <a:t>JOIN</a:t>
            </a:r>
          </a:p>
          <a:p>
            <a:pPr marL="171450" marR="152400" lvl="0" indent="0">
              <a:buClr>
                <a:srgbClr val="999999"/>
              </a:buClr>
              <a:buSzPts val="900"/>
              <a:buNone/>
            </a:pPr>
            <a:r>
              <a:rPr lang="fr-FR" dirty="0">
                <a:latin typeface="+mj-lt"/>
              </a:rPr>
              <a:t>    produits p ON </a:t>
            </a:r>
            <a:r>
              <a:rPr lang="fr-FR" dirty="0" err="1">
                <a:latin typeface="+mj-lt"/>
              </a:rPr>
              <a:t>vd.EAN</a:t>
            </a:r>
            <a:r>
              <a:rPr lang="fr-FR" dirty="0">
                <a:latin typeface="+mj-lt"/>
              </a:rPr>
              <a:t> = </a:t>
            </a:r>
            <a:r>
              <a:rPr lang="fr-FR" dirty="0" err="1">
                <a:latin typeface="+mj-lt"/>
              </a:rPr>
              <a:t>p.EAN</a:t>
            </a:r>
            <a:endParaRPr lang="fr-FR" dirty="0">
              <a:latin typeface="+mj-lt"/>
            </a:endParaRPr>
          </a:p>
          <a:p>
            <a:pPr marL="171450" marR="152400" lvl="0" indent="0">
              <a:buClr>
                <a:srgbClr val="999999"/>
              </a:buClr>
              <a:buSzPts val="900"/>
              <a:buNone/>
            </a:pPr>
            <a:r>
              <a:rPr lang="fr-FR" dirty="0">
                <a:latin typeface="+mj-lt"/>
              </a:rPr>
              <a:t>JOIN</a:t>
            </a:r>
          </a:p>
          <a:p>
            <a:pPr marL="171450" marR="152400" lvl="0" indent="0">
              <a:buClr>
                <a:srgbClr val="999999"/>
              </a:buClr>
              <a:buSzPts val="900"/>
              <a:buNone/>
            </a:pPr>
            <a:r>
              <a:rPr lang="fr-FR" dirty="0">
                <a:latin typeface="+mj-lt"/>
              </a:rPr>
              <a:t>    clients c ON </a:t>
            </a:r>
            <a:r>
              <a:rPr lang="fr-FR" dirty="0" err="1">
                <a:latin typeface="+mj-lt"/>
              </a:rPr>
              <a:t>vd.CUSTOMER_ID</a:t>
            </a:r>
            <a:r>
              <a:rPr lang="fr-FR" dirty="0">
                <a:latin typeface="+mj-lt"/>
              </a:rPr>
              <a:t> = </a:t>
            </a:r>
            <a:r>
              <a:rPr lang="fr-FR" dirty="0" err="1">
                <a:latin typeface="+mj-lt"/>
              </a:rPr>
              <a:t>c.CUSTOMER_ID</a:t>
            </a:r>
            <a:endParaRPr lang="fr-FR" dirty="0">
              <a:latin typeface="+mj-lt"/>
            </a:endParaRPr>
          </a:p>
          <a:p>
            <a:pPr marL="171450" marR="152400" lvl="0" indent="0">
              <a:buClr>
                <a:srgbClr val="999999"/>
              </a:buClr>
              <a:buSzPts val="900"/>
              <a:buNone/>
            </a:pPr>
            <a:r>
              <a:rPr lang="fr-FR" dirty="0">
                <a:latin typeface="+mj-lt"/>
              </a:rPr>
              <a:t>GROUP BY</a:t>
            </a:r>
          </a:p>
          <a:p>
            <a:pPr marL="171450" marR="152400" lvl="0" indent="0">
              <a:buClr>
                <a:srgbClr val="999999"/>
              </a:buClr>
              <a:buSzPts val="900"/>
              <a:buNone/>
            </a:pPr>
            <a:r>
              <a:rPr lang="fr-FR" dirty="0">
                <a:latin typeface="+mj-lt"/>
              </a:rPr>
              <a:t>    </a:t>
            </a:r>
            <a:r>
              <a:rPr lang="fr-FR" dirty="0" err="1">
                <a:latin typeface="+mj-lt"/>
              </a:rPr>
              <a:t>vd.CUSTOMER_ID</a:t>
            </a:r>
            <a:endParaRPr lang="fr-FR" dirty="0">
              <a:latin typeface="+mj-lt"/>
            </a:endParaRPr>
          </a:p>
          <a:p>
            <a:pPr marL="171450" marR="152400" lvl="0" indent="0">
              <a:buClr>
                <a:srgbClr val="999999"/>
              </a:buClr>
              <a:buSzPts val="900"/>
              <a:buNone/>
            </a:pPr>
            <a:r>
              <a:rPr lang="fr-FR" dirty="0">
                <a:latin typeface="+mj-lt"/>
              </a:rPr>
              <a:t>ORDER BY</a:t>
            </a:r>
          </a:p>
          <a:p>
            <a:pPr marL="171450" marR="152400" lvl="0" indent="0">
              <a:buClr>
                <a:srgbClr val="999999"/>
              </a:buClr>
              <a:buSzPts val="900"/>
              <a:buNone/>
            </a:pPr>
            <a:r>
              <a:rPr lang="fr-FR" dirty="0">
                <a:latin typeface="+mj-lt"/>
              </a:rPr>
              <a:t>    </a:t>
            </a:r>
            <a:r>
              <a:rPr lang="fr-FR" dirty="0" err="1">
                <a:latin typeface="+mj-lt"/>
              </a:rPr>
              <a:t>CA_per_cust</a:t>
            </a:r>
            <a:r>
              <a:rPr lang="fr-FR" dirty="0">
                <a:latin typeface="+mj-lt"/>
              </a:rPr>
              <a:t> </a:t>
            </a:r>
            <a:r>
              <a:rPr lang="fr-FR" dirty="0" err="1">
                <a:latin typeface="+mj-lt"/>
              </a:rPr>
              <a:t>DESCa</a:t>
            </a:r>
            <a:endParaRPr lang="fr-FR" dirty="0">
              <a:latin typeface="+mj-lt"/>
            </a:endParaRPr>
          </a:p>
          <a:p>
            <a:pPr marL="171450" marR="152400" lvl="0" indent="0">
              <a:buClr>
                <a:srgbClr val="999999"/>
              </a:buClr>
              <a:buSzPts val="900"/>
              <a:buNone/>
            </a:pPr>
            <a:r>
              <a:rPr lang="fr-FR" dirty="0">
                <a:latin typeface="+mj-lt"/>
              </a:rPr>
              <a:t>LIMIT 10;</a:t>
            </a:r>
            <a:endParaRPr dirty="0">
              <a:latin typeface="+mj-lt"/>
            </a:endParaRPr>
          </a:p>
        </p:txBody>
      </p:sp>
      <p:sp>
        <p:nvSpPr>
          <p:cNvPr id="177" name="Google Shape;177;p20"/>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latin typeface="+mj-lt"/>
              </a:rPr>
              <a:t>Résultat des requêtes SQL</a:t>
            </a:r>
            <a:endParaRPr dirty="0">
              <a:latin typeface="+mj-lt"/>
            </a:endParaRPr>
          </a:p>
          <a:p>
            <a:pPr marL="0" lvl="0" indent="0" algn="l" rtl="0">
              <a:spcBef>
                <a:spcPts val="0"/>
              </a:spcBef>
              <a:spcAft>
                <a:spcPts val="0"/>
              </a:spcAft>
              <a:buNone/>
            </a:pPr>
            <a:r>
              <a:rPr lang="fr" sz="1888" dirty="0">
                <a:latin typeface="+mj-lt"/>
              </a:rPr>
              <a:t>Le chiffre d’affaires par client pour le top 10 des clients</a:t>
            </a:r>
            <a:endParaRPr sz="1888" dirty="0">
              <a:latin typeface="+mj-lt"/>
            </a:endParaRPr>
          </a:p>
        </p:txBody>
      </p:sp>
      <p:pic>
        <p:nvPicPr>
          <p:cNvPr id="3" name="Image 2">
            <a:extLst>
              <a:ext uri="{FF2B5EF4-FFF2-40B4-BE49-F238E27FC236}">
                <a16:creationId xmlns:a16="http://schemas.microsoft.com/office/drawing/2014/main" id="{7ADA4D51-979B-FC95-BD55-F3ED81A3F5AC}"/>
              </a:ext>
            </a:extLst>
          </p:cNvPr>
          <p:cNvPicPr>
            <a:picLocks noChangeAspect="1"/>
          </p:cNvPicPr>
          <p:nvPr/>
        </p:nvPicPr>
        <p:blipFill>
          <a:blip r:embed="rId3"/>
          <a:stretch>
            <a:fillRect/>
          </a:stretch>
        </p:blipFill>
        <p:spPr>
          <a:xfrm>
            <a:off x="6339717" y="2787256"/>
            <a:ext cx="1996683" cy="196249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1"/>
          <p:cNvSpPr txBox="1">
            <a:spLocks noGrp="1"/>
          </p:cNvSpPr>
          <p:nvPr>
            <p:ph type="body" idx="1"/>
          </p:nvPr>
        </p:nvSpPr>
        <p:spPr>
          <a:xfrm>
            <a:off x="557731" y="1361072"/>
            <a:ext cx="7038900" cy="2911200"/>
          </a:xfrm>
          <a:prstGeom prst="rect">
            <a:avLst/>
          </a:prstGeom>
        </p:spPr>
        <p:txBody>
          <a:bodyPr spcFirstLastPara="1" wrap="square" lIns="91425" tIns="91425" rIns="91425" bIns="91425" anchor="t" anchorCtr="0">
            <a:normAutofit fontScale="70000" lnSpcReduction="20000"/>
          </a:bodyPr>
          <a:lstStyle/>
          <a:p>
            <a:pPr marL="171450" marR="152400" lvl="0" indent="0">
              <a:buClr>
                <a:srgbClr val="999999"/>
              </a:buClr>
              <a:buSzPts val="900"/>
              <a:buNone/>
            </a:pPr>
            <a:r>
              <a:rPr lang="fr-FR" dirty="0">
                <a:latin typeface="+mj-lt"/>
              </a:rPr>
              <a:t>WITH </a:t>
            </a:r>
            <a:r>
              <a:rPr lang="fr-FR" dirty="0" err="1">
                <a:latin typeface="+mj-lt"/>
              </a:rPr>
              <a:t>Chiffre_d_affaires_global</a:t>
            </a:r>
            <a:r>
              <a:rPr lang="fr-FR" dirty="0">
                <a:latin typeface="+mj-lt"/>
              </a:rPr>
              <a:t> AS (</a:t>
            </a:r>
          </a:p>
          <a:p>
            <a:pPr marL="171450" marR="152400" lvl="0" indent="0">
              <a:buClr>
                <a:srgbClr val="999999"/>
              </a:buClr>
              <a:buSzPts val="900"/>
              <a:buNone/>
            </a:pPr>
            <a:r>
              <a:rPr lang="fr-FR" dirty="0">
                <a:latin typeface="+mj-lt"/>
              </a:rPr>
              <a:t>    SELECT SUM(T2.prix) AS </a:t>
            </a:r>
            <a:r>
              <a:rPr lang="fr-FR" dirty="0" err="1">
                <a:latin typeface="+mj-lt"/>
              </a:rPr>
              <a:t>total_ca</a:t>
            </a:r>
            <a:endParaRPr lang="fr-FR" dirty="0">
              <a:latin typeface="+mj-lt"/>
            </a:endParaRPr>
          </a:p>
          <a:p>
            <a:pPr marL="171450" marR="152400" lvl="0" indent="0">
              <a:buClr>
                <a:srgbClr val="999999"/>
              </a:buClr>
              <a:buSzPts val="900"/>
              <a:buNone/>
            </a:pPr>
            <a:r>
              <a:rPr lang="fr-FR" dirty="0">
                <a:latin typeface="+mj-lt"/>
              </a:rPr>
              <a:t>    FROM </a:t>
            </a:r>
            <a:r>
              <a:rPr lang="fr-FR" dirty="0" err="1">
                <a:latin typeface="+mj-lt"/>
              </a:rPr>
              <a:t>vente_detail</a:t>
            </a:r>
            <a:r>
              <a:rPr lang="fr-FR" dirty="0">
                <a:latin typeface="+mj-lt"/>
              </a:rPr>
              <a:t> AS T1</a:t>
            </a:r>
          </a:p>
          <a:p>
            <a:pPr marL="171450" marR="152400" lvl="0" indent="0">
              <a:buClr>
                <a:srgbClr val="999999"/>
              </a:buClr>
              <a:buSzPts val="900"/>
              <a:buNone/>
            </a:pPr>
            <a:r>
              <a:rPr lang="fr-FR" dirty="0">
                <a:latin typeface="+mj-lt"/>
              </a:rPr>
              <a:t>    JOIN produits AS T2 ON T1.id_produit = T2.id_produit</a:t>
            </a:r>
          </a:p>
          <a:p>
            <a:pPr marL="171450" marR="152400" lvl="0" indent="0">
              <a:buClr>
                <a:srgbClr val="999999"/>
              </a:buClr>
              <a:buSzPts val="900"/>
              <a:buNone/>
            </a:pPr>
            <a:r>
              <a:rPr lang="fr-FR" dirty="0">
                <a:latin typeface="+mj-lt"/>
              </a:rPr>
              <a:t>)</a:t>
            </a:r>
          </a:p>
          <a:p>
            <a:pPr marL="171450" marR="152400" lvl="0" indent="0">
              <a:buClr>
                <a:srgbClr val="999999"/>
              </a:buClr>
              <a:buSzPts val="900"/>
              <a:buNone/>
            </a:pPr>
            <a:r>
              <a:rPr lang="fr-FR" dirty="0">
                <a:latin typeface="+mj-lt"/>
              </a:rPr>
              <a:t>SELECT</a:t>
            </a:r>
          </a:p>
          <a:p>
            <a:pPr marL="171450" marR="152400" lvl="0" indent="0">
              <a:buClr>
                <a:srgbClr val="999999"/>
              </a:buClr>
              <a:buSzPts val="900"/>
              <a:buNone/>
            </a:pPr>
            <a:r>
              <a:rPr lang="fr-FR" dirty="0">
                <a:latin typeface="+mj-lt"/>
              </a:rPr>
              <a:t>    T3.num_employe,</a:t>
            </a:r>
          </a:p>
          <a:p>
            <a:pPr marL="171450" marR="152400" lvl="0" indent="0">
              <a:buClr>
                <a:srgbClr val="999999"/>
              </a:buClr>
              <a:buSzPts val="900"/>
              <a:buNone/>
            </a:pPr>
            <a:r>
              <a:rPr lang="fr-FR" dirty="0">
                <a:latin typeface="+mj-lt"/>
              </a:rPr>
              <a:t>    ROUND(SUM(T2.prix)::</a:t>
            </a:r>
            <a:r>
              <a:rPr lang="fr-FR" dirty="0" err="1">
                <a:latin typeface="+mj-lt"/>
              </a:rPr>
              <a:t>numeric</a:t>
            </a:r>
            <a:r>
              <a:rPr lang="fr-FR" dirty="0">
                <a:latin typeface="+mj-lt"/>
              </a:rPr>
              <a:t>, 2) AS </a:t>
            </a:r>
            <a:r>
              <a:rPr lang="fr-FR" dirty="0" err="1">
                <a:latin typeface="+mj-lt"/>
              </a:rPr>
              <a:t>Chiffre_d_affaires_employe</a:t>
            </a:r>
            <a:r>
              <a:rPr lang="fr-FR" dirty="0">
                <a:latin typeface="+mj-lt"/>
              </a:rPr>
              <a:t>,</a:t>
            </a:r>
          </a:p>
          <a:p>
            <a:pPr marL="171450" marR="152400" lvl="0" indent="0">
              <a:buClr>
                <a:srgbClr val="999999"/>
              </a:buClr>
              <a:buSzPts val="900"/>
              <a:buNone/>
            </a:pPr>
            <a:r>
              <a:rPr lang="fr-FR" dirty="0">
                <a:latin typeface="+mj-lt"/>
              </a:rPr>
              <a:t>    ROUND((SUM(T2.prix) * 100.0 / (SELECT </a:t>
            </a:r>
            <a:r>
              <a:rPr lang="fr-FR" dirty="0" err="1">
                <a:latin typeface="+mj-lt"/>
              </a:rPr>
              <a:t>total_ca</a:t>
            </a:r>
            <a:r>
              <a:rPr lang="fr-FR" dirty="0">
                <a:latin typeface="+mj-lt"/>
              </a:rPr>
              <a:t> FROM </a:t>
            </a:r>
            <a:r>
              <a:rPr lang="fr-FR" dirty="0" err="1">
                <a:latin typeface="+mj-lt"/>
              </a:rPr>
              <a:t>Chiffre_d_affaires_global</a:t>
            </a:r>
            <a:r>
              <a:rPr lang="fr-FR" dirty="0">
                <a:latin typeface="+mj-lt"/>
              </a:rPr>
              <a:t>))::</a:t>
            </a:r>
            <a:r>
              <a:rPr lang="fr-FR" dirty="0" err="1">
                <a:latin typeface="+mj-lt"/>
              </a:rPr>
              <a:t>numeric</a:t>
            </a:r>
            <a:r>
              <a:rPr lang="fr-FR" dirty="0">
                <a:latin typeface="+mj-lt"/>
              </a:rPr>
              <a:t>, 2) AS </a:t>
            </a:r>
            <a:r>
              <a:rPr lang="fr-FR" dirty="0" err="1">
                <a:latin typeface="+mj-lt"/>
              </a:rPr>
              <a:t>Pourcentage_du_CA</a:t>
            </a:r>
            <a:endParaRPr lang="fr-FR" dirty="0">
              <a:latin typeface="+mj-lt"/>
            </a:endParaRPr>
          </a:p>
          <a:p>
            <a:pPr marL="171450" marR="152400" lvl="0" indent="0">
              <a:buClr>
                <a:srgbClr val="999999"/>
              </a:buClr>
              <a:buSzPts val="900"/>
              <a:buNone/>
            </a:pPr>
            <a:r>
              <a:rPr lang="fr-FR" dirty="0">
                <a:latin typeface="+mj-lt"/>
              </a:rPr>
              <a:t>FROM</a:t>
            </a:r>
          </a:p>
          <a:p>
            <a:pPr marL="171450" marR="152400" lvl="0" indent="0">
              <a:buClr>
                <a:srgbClr val="999999"/>
              </a:buClr>
              <a:buSzPts val="900"/>
              <a:buNone/>
            </a:pPr>
            <a:r>
              <a:rPr lang="fr-FR" dirty="0">
                <a:latin typeface="+mj-lt"/>
              </a:rPr>
              <a:t>    </a:t>
            </a:r>
            <a:r>
              <a:rPr lang="fr-FR" dirty="0" err="1">
                <a:latin typeface="+mj-lt"/>
              </a:rPr>
              <a:t>vente_detail</a:t>
            </a:r>
            <a:r>
              <a:rPr lang="fr-FR" dirty="0">
                <a:latin typeface="+mj-lt"/>
              </a:rPr>
              <a:t> AS T1</a:t>
            </a:r>
          </a:p>
          <a:p>
            <a:pPr marL="171450" marR="152400" lvl="0" indent="0">
              <a:buClr>
                <a:srgbClr val="999999"/>
              </a:buClr>
              <a:buSzPts val="900"/>
              <a:buNone/>
            </a:pPr>
            <a:r>
              <a:rPr lang="fr-FR" dirty="0">
                <a:latin typeface="+mj-lt"/>
              </a:rPr>
              <a:t>JOIN</a:t>
            </a:r>
          </a:p>
          <a:p>
            <a:pPr marL="171450" marR="152400" lvl="0" indent="0">
              <a:buClr>
                <a:srgbClr val="999999"/>
              </a:buClr>
              <a:buSzPts val="900"/>
              <a:buNone/>
            </a:pPr>
            <a:r>
              <a:rPr lang="fr-FR" dirty="0">
                <a:latin typeface="+mj-lt"/>
              </a:rPr>
              <a:t>    produits AS T2 ON T1.id_produit = T2.id_produit</a:t>
            </a:r>
          </a:p>
          <a:p>
            <a:pPr marL="171450" marR="152400" lvl="0" indent="0">
              <a:buClr>
                <a:srgbClr val="999999"/>
              </a:buClr>
              <a:buSzPts val="900"/>
              <a:buNone/>
            </a:pPr>
            <a:r>
              <a:rPr lang="fr-FR" dirty="0">
                <a:latin typeface="+mj-lt"/>
              </a:rPr>
              <a:t>JOIN</a:t>
            </a:r>
          </a:p>
          <a:p>
            <a:pPr marL="171450" marR="152400" lvl="0" indent="0">
              <a:buClr>
                <a:srgbClr val="999999"/>
              </a:buClr>
              <a:buSzPts val="900"/>
              <a:buNone/>
            </a:pPr>
            <a:r>
              <a:rPr lang="fr-FR" dirty="0">
                <a:latin typeface="+mj-lt"/>
              </a:rPr>
              <a:t>    </a:t>
            </a:r>
            <a:r>
              <a:rPr lang="fr-FR" dirty="0" err="1">
                <a:latin typeface="+mj-lt"/>
              </a:rPr>
              <a:t>employers</a:t>
            </a:r>
            <a:r>
              <a:rPr lang="fr-FR" dirty="0">
                <a:latin typeface="+mj-lt"/>
              </a:rPr>
              <a:t> AS T3 ON T1.id_employe = T3.id_employe</a:t>
            </a:r>
          </a:p>
          <a:p>
            <a:pPr marL="171450" marR="152400" lvl="0" indent="0">
              <a:buClr>
                <a:srgbClr val="999999"/>
              </a:buClr>
              <a:buSzPts val="900"/>
              <a:buNone/>
            </a:pPr>
            <a:r>
              <a:rPr lang="fr-FR" dirty="0">
                <a:latin typeface="+mj-lt"/>
              </a:rPr>
              <a:t>GROUP BY</a:t>
            </a:r>
          </a:p>
          <a:p>
            <a:pPr marL="171450" marR="152400" lvl="0" indent="0">
              <a:buClr>
                <a:srgbClr val="999999"/>
              </a:buClr>
              <a:buSzPts val="900"/>
              <a:buNone/>
            </a:pPr>
            <a:r>
              <a:rPr lang="fr-FR" dirty="0">
                <a:latin typeface="+mj-lt"/>
              </a:rPr>
              <a:t>    T3.num_employe</a:t>
            </a:r>
          </a:p>
          <a:p>
            <a:pPr marL="171450" marR="152400" lvl="0" indent="0">
              <a:buClr>
                <a:srgbClr val="999999"/>
              </a:buClr>
              <a:buSzPts val="900"/>
              <a:buNone/>
            </a:pPr>
            <a:r>
              <a:rPr lang="fr-FR" dirty="0">
                <a:latin typeface="+mj-lt"/>
              </a:rPr>
              <a:t>ORDER BY</a:t>
            </a:r>
          </a:p>
          <a:p>
            <a:pPr marL="171450" marR="152400" lvl="0" indent="0">
              <a:buClr>
                <a:srgbClr val="999999"/>
              </a:buClr>
              <a:buSzPts val="900"/>
              <a:buNone/>
            </a:pPr>
            <a:r>
              <a:rPr lang="fr-FR" dirty="0">
                <a:latin typeface="+mj-lt"/>
              </a:rPr>
              <a:t>    </a:t>
            </a:r>
            <a:r>
              <a:rPr lang="fr-FR" dirty="0" err="1">
                <a:latin typeface="+mj-lt"/>
              </a:rPr>
              <a:t>Pourcentage_du_CA</a:t>
            </a:r>
            <a:r>
              <a:rPr lang="fr-FR" dirty="0">
                <a:latin typeface="+mj-lt"/>
              </a:rPr>
              <a:t> DESC;</a:t>
            </a:r>
          </a:p>
          <a:p>
            <a:pPr marL="171450" marR="152400" lvl="0" indent="0">
              <a:buClr>
                <a:srgbClr val="999999"/>
              </a:buClr>
              <a:buSzPts val="900"/>
              <a:buNone/>
            </a:pPr>
            <a:r>
              <a:rPr lang="fr-FR" dirty="0">
                <a:latin typeface="+mj-lt"/>
              </a:rPr>
              <a:t>LIMIT 10;</a:t>
            </a:r>
            <a:endParaRPr dirty="0">
              <a:latin typeface="+mj-lt"/>
            </a:endParaRPr>
          </a:p>
        </p:txBody>
      </p:sp>
      <p:sp>
        <p:nvSpPr>
          <p:cNvPr id="183" name="Google Shape;183;p21"/>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fr" dirty="0">
                <a:latin typeface="+mj-lt"/>
              </a:rPr>
              <a:t>Résultat des requêtes SQL</a:t>
            </a:r>
            <a:endParaRPr dirty="0">
              <a:latin typeface="+mj-lt"/>
            </a:endParaRPr>
          </a:p>
          <a:p>
            <a:pPr marL="0" lvl="0" indent="0" algn="l" rtl="0">
              <a:spcBef>
                <a:spcPts val="0"/>
              </a:spcBef>
              <a:spcAft>
                <a:spcPts val="0"/>
              </a:spcAft>
              <a:buSzPts val="990"/>
              <a:buNone/>
            </a:pPr>
            <a:r>
              <a:rPr lang="fr" sz="1850" dirty="0">
                <a:latin typeface="+mj-lt"/>
              </a:rPr>
              <a:t>Part de chiffre d’affaires encaissé par employé </a:t>
            </a:r>
            <a:r>
              <a:rPr lang="fr" sz="1850" i="1" dirty="0">
                <a:latin typeface="+mj-lt"/>
              </a:rPr>
              <a:t>(limité a 10)</a:t>
            </a:r>
            <a:endParaRPr sz="1850" i="1" dirty="0">
              <a:latin typeface="+mj-lt"/>
            </a:endParaRPr>
          </a:p>
          <a:p>
            <a:pPr marL="0" lvl="0" indent="0" algn="l" rtl="0">
              <a:spcBef>
                <a:spcPts val="0"/>
              </a:spcBef>
              <a:spcAft>
                <a:spcPts val="0"/>
              </a:spcAft>
              <a:buSzPts val="990"/>
              <a:buNone/>
            </a:pPr>
            <a:endParaRPr dirty="0">
              <a:latin typeface="+mj-lt"/>
            </a:endParaRPr>
          </a:p>
        </p:txBody>
      </p:sp>
      <p:pic>
        <p:nvPicPr>
          <p:cNvPr id="3" name="Image 2">
            <a:extLst>
              <a:ext uri="{FF2B5EF4-FFF2-40B4-BE49-F238E27FC236}">
                <a16:creationId xmlns:a16="http://schemas.microsoft.com/office/drawing/2014/main" id="{D5E30C55-9DDF-C8A7-D926-40BA5BE64E2D}"/>
              </a:ext>
            </a:extLst>
          </p:cNvPr>
          <p:cNvPicPr>
            <a:picLocks noChangeAspect="1"/>
          </p:cNvPicPr>
          <p:nvPr/>
        </p:nvPicPr>
        <p:blipFill>
          <a:blip r:embed="rId3"/>
          <a:stretch>
            <a:fillRect/>
          </a:stretch>
        </p:blipFill>
        <p:spPr>
          <a:xfrm>
            <a:off x="4454012" y="2788380"/>
            <a:ext cx="4398534" cy="209454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2DB9A6E0-A9B6-701F-4DBC-7B3BB734C2EA}"/>
            </a:ext>
          </a:extLst>
        </p:cNvPr>
        <p:cNvGrpSpPr/>
        <p:nvPr/>
      </p:nvGrpSpPr>
      <p:grpSpPr>
        <a:xfrm>
          <a:off x="0" y="0"/>
          <a:ext cx="0" cy="0"/>
          <a:chOff x="0" y="0"/>
          <a:chExt cx="0" cy="0"/>
        </a:xfrm>
      </p:grpSpPr>
      <p:sp>
        <p:nvSpPr>
          <p:cNvPr id="188" name="Google Shape;188;p22">
            <a:extLst>
              <a:ext uri="{FF2B5EF4-FFF2-40B4-BE49-F238E27FC236}">
                <a16:creationId xmlns:a16="http://schemas.microsoft.com/office/drawing/2014/main" id="{7AF63C0B-EF04-95F7-2BA7-AE2F1D226EC4}"/>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dirty="0">
                <a:latin typeface="+mj-lt"/>
              </a:rPr>
              <a:t>Analyse des logs</a:t>
            </a:r>
            <a:endParaRPr dirty="0">
              <a:latin typeface="+mj-lt"/>
            </a:endParaRPr>
          </a:p>
          <a:p>
            <a:pPr marL="0" lvl="0" indent="0" algn="l" rtl="0">
              <a:spcBef>
                <a:spcPts val="0"/>
              </a:spcBef>
              <a:spcAft>
                <a:spcPts val="0"/>
              </a:spcAft>
              <a:buNone/>
            </a:pPr>
            <a:r>
              <a:rPr lang="fr" dirty="0">
                <a:latin typeface="+mj-lt"/>
              </a:rPr>
              <a:t>Dictionnaire des données et explications</a:t>
            </a:r>
            <a:endParaRPr dirty="0">
              <a:latin typeface="+mj-lt"/>
            </a:endParaRPr>
          </a:p>
        </p:txBody>
      </p:sp>
      <p:pic>
        <p:nvPicPr>
          <p:cNvPr id="3" name="Image 2">
            <a:extLst>
              <a:ext uri="{FF2B5EF4-FFF2-40B4-BE49-F238E27FC236}">
                <a16:creationId xmlns:a16="http://schemas.microsoft.com/office/drawing/2014/main" id="{81648C96-899E-361B-F9B5-F56C6837F38A}"/>
              </a:ext>
            </a:extLst>
          </p:cNvPr>
          <p:cNvPicPr>
            <a:picLocks noChangeAspect="1"/>
          </p:cNvPicPr>
          <p:nvPr/>
        </p:nvPicPr>
        <p:blipFill>
          <a:blip r:embed="rId3"/>
          <a:stretch>
            <a:fillRect/>
          </a:stretch>
        </p:blipFill>
        <p:spPr>
          <a:xfrm>
            <a:off x="5790485" y="1723165"/>
            <a:ext cx="974108" cy="499544"/>
          </a:xfrm>
          <a:prstGeom prst="rect">
            <a:avLst/>
          </a:prstGeom>
        </p:spPr>
      </p:pic>
      <p:sp>
        <p:nvSpPr>
          <p:cNvPr id="2" name="ZoneTexte 1">
            <a:extLst>
              <a:ext uri="{FF2B5EF4-FFF2-40B4-BE49-F238E27FC236}">
                <a16:creationId xmlns:a16="http://schemas.microsoft.com/office/drawing/2014/main" id="{A31C9621-E550-5C10-1222-19F0FEEA6099}"/>
              </a:ext>
            </a:extLst>
          </p:cNvPr>
          <p:cNvSpPr txBox="1"/>
          <p:nvPr/>
        </p:nvSpPr>
        <p:spPr>
          <a:xfrm>
            <a:off x="1297500" y="1583608"/>
            <a:ext cx="2943160" cy="2585323"/>
          </a:xfrm>
          <a:prstGeom prst="rect">
            <a:avLst/>
          </a:prstGeom>
          <a:noFill/>
        </p:spPr>
        <p:txBody>
          <a:bodyPr wrap="square" rtlCol="0">
            <a:spAutoFit/>
          </a:bodyPr>
          <a:lstStyle/>
          <a:p>
            <a:r>
              <a:rPr lang="fr-FR" u="sng" dirty="0">
                <a:solidFill>
                  <a:schemeClr val="bg1"/>
                </a:solidFill>
              </a:rPr>
              <a:t>Nombre de logs : </a:t>
            </a:r>
          </a:p>
          <a:p>
            <a:endParaRPr lang="fr-FR" sz="600" u="sng" dirty="0">
              <a:solidFill>
                <a:schemeClr val="bg1"/>
              </a:solidFill>
            </a:endParaRPr>
          </a:p>
          <a:p>
            <a:r>
              <a:rPr lang="fr-FR" sz="1000" dirty="0">
                <a:solidFill>
                  <a:schemeClr val="bg1"/>
                </a:solidFill>
              </a:rPr>
              <a:t>SELECT COUNT(*) AS </a:t>
            </a:r>
            <a:r>
              <a:rPr lang="fr-FR" sz="1000" dirty="0" err="1">
                <a:solidFill>
                  <a:schemeClr val="bg1"/>
                </a:solidFill>
              </a:rPr>
              <a:t>nb_logs</a:t>
            </a:r>
            <a:r>
              <a:rPr lang="fr-FR" sz="1000" dirty="0">
                <a:solidFill>
                  <a:schemeClr val="bg1"/>
                </a:solidFill>
              </a:rPr>
              <a:t> FROM logs </a:t>
            </a:r>
          </a:p>
          <a:p>
            <a:endParaRPr lang="fr-FR" sz="1000" dirty="0">
              <a:solidFill>
                <a:schemeClr val="bg1"/>
              </a:solidFill>
            </a:endParaRPr>
          </a:p>
          <a:p>
            <a:r>
              <a:rPr lang="fr-FR" u="sng" dirty="0">
                <a:solidFill>
                  <a:schemeClr val="bg1"/>
                </a:solidFill>
              </a:rPr>
              <a:t>Nombre de logs par action :</a:t>
            </a:r>
          </a:p>
          <a:p>
            <a:endParaRPr lang="fr-FR" sz="600" u="sng" dirty="0">
              <a:solidFill>
                <a:schemeClr val="bg1"/>
              </a:solidFill>
            </a:endParaRPr>
          </a:p>
          <a:p>
            <a:r>
              <a:rPr lang="fr-FR" sz="1000" dirty="0">
                <a:solidFill>
                  <a:schemeClr val="bg1"/>
                </a:solidFill>
              </a:rPr>
              <a:t>SELECT</a:t>
            </a:r>
          </a:p>
          <a:p>
            <a:r>
              <a:rPr lang="fr-FR" sz="1000" dirty="0">
                <a:solidFill>
                  <a:schemeClr val="bg1"/>
                </a:solidFill>
              </a:rPr>
              <a:t>    action,</a:t>
            </a:r>
          </a:p>
          <a:p>
            <a:r>
              <a:rPr lang="fr-FR" sz="1000" dirty="0">
                <a:solidFill>
                  <a:schemeClr val="bg1"/>
                </a:solidFill>
              </a:rPr>
              <a:t>    COUNT(*) AS </a:t>
            </a:r>
            <a:r>
              <a:rPr lang="fr-FR" sz="1000" dirty="0" err="1">
                <a:solidFill>
                  <a:schemeClr val="bg1"/>
                </a:solidFill>
              </a:rPr>
              <a:t>nb_logs_per_actions</a:t>
            </a:r>
            <a:endParaRPr lang="fr-FR" sz="1000" dirty="0">
              <a:solidFill>
                <a:schemeClr val="bg1"/>
              </a:solidFill>
            </a:endParaRPr>
          </a:p>
          <a:p>
            <a:r>
              <a:rPr lang="fr-FR" sz="1000" dirty="0">
                <a:solidFill>
                  <a:schemeClr val="bg1"/>
                </a:solidFill>
              </a:rPr>
              <a:t>FROM</a:t>
            </a:r>
          </a:p>
          <a:p>
            <a:r>
              <a:rPr lang="fr-FR" sz="1000" dirty="0">
                <a:solidFill>
                  <a:schemeClr val="bg1"/>
                </a:solidFill>
              </a:rPr>
              <a:t>    logs</a:t>
            </a:r>
          </a:p>
          <a:p>
            <a:r>
              <a:rPr lang="fr-FR" sz="1000" dirty="0">
                <a:solidFill>
                  <a:schemeClr val="bg1"/>
                </a:solidFill>
              </a:rPr>
              <a:t>GROUP BY</a:t>
            </a:r>
          </a:p>
          <a:p>
            <a:r>
              <a:rPr lang="fr-FR" sz="1000" dirty="0">
                <a:solidFill>
                  <a:schemeClr val="bg1"/>
                </a:solidFill>
              </a:rPr>
              <a:t>    action</a:t>
            </a:r>
          </a:p>
          <a:p>
            <a:r>
              <a:rPr lang="fr-FR" sz="1000" dirty="0">
                <a:solidFill>
                  <a:schemeClr val="bg1"/>
                </a:solidFill>
              </a:rPr>
              <a:t>ORDER BY</a:t>
            </a:r>
          </a:p>
          <a:p>
            <a:r>
              <a:rPr lang="fr-FR" sz="1000" dirty="0">
                <a:solidFill>
                  <a:schemeClr val="bg1"/>
                </a:solidFill>
              </a:rPr>
              <a:t>    </a:t>
            </a:r>
            <a:r>
              <a:rPr lang="fr-FR" sz="1000" dirty="0" err="1">
                <a:solidFill>
                  <a:schemeClr val="bg1"/>
                </a:solidFill>
              </a:rPr>
              <a:t>nb_logs_per_actions</a:t>
            </a:r>
            <a:r>
              <a:rPr lang="fr-FR" sz="1000" dirty="0">
                <a:solidFill>
                  <a:schemeClr val="bg1"/>
                </a:solidFill>
              </a:rPr>
              <a:t> DESC;</a:t>
            </a:r>
          </a:p>
          <a:p>
            <a:endParaRPr lang="fr-FR" sz="1000" dirty="0">
              <a:solidFill>
                <a:schemeClr val="bg1"/>
              </a:solidFill>
            </a:endParaRPr>
          </a:p>
        </p:txBody>
      </p:sp>
      <p:pic>
        <p:nvPicPr>
          <p:cNvPr id="5" name="Image 4">
            <a:extLst>
              <a:ext uri="{FF2B5EF4-FFF2-40B4-BE49-F238E27FC236}">
                <a16:creationId xmlns:a16="http://schemas.microsoft.com/office/drawing/2014/main" id="{27B61404-40D9-E98D-C672-6F699E17D368}"/>
              </a:ext>
            </a:extLst>
          </p:cNvPr>
          <p:cNvPicPr>
            <a:picLocks noChangeAspect="1"/>
          </p:cNvPicPr>
          <p:nvPr/>
        </p:nvPicPr>
        <p:blipFill>
          <a:blip r:embed="rId4"/>
          <a:stretch>
            <a:fillRect/>
          </a:stretch>
        </p:blipFill>
        <p:spPr>
          <a:xfrm>
            <a:off x="4930877" y="2735888"/>
            <a:ext cx="2693325" cy="914099"/>
          </a:xfrm>
          <a:prstGeom prst="rect">
            <a:avLst/>
          </a:prstGeom>
        </p:spPr>
      </p:pic>
    </p:spTree>
    <p:extLst>
      <p:ext uri="{BB962C8B-B14F-4D97-AF65-F5344CB8AC3E}">
        <p14:creationId xmlns:p14="http://schemas.microsoft.com/office/powerpoint/2010/main" val="28028821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99819475-69F7-4DB0-2BB9-C859A70D23D1}"/>
            </a:ext>
          </a:extLst>
        </p:cNvPr>
        <p:cNvGrpSpPr/>
        <p:nvPr/>
      </p:nvGrpSpPr>
      <p:grpSpPr>
        <a:xfrm>
          <a:off x="0" y="0"/>
          <a:ext cx="0" cy="0"/>
          <a:chOff x="0" y="0"/>
          <a:chExt cx="0" cy="0"/>
        </a:xfrm>
      </p:grpSpPr>
      <p:sp>
        <p:nvSpPr>
          <p:cNvPr id="188" name="Google Shape;188;p22">
            <a:extLst>
              <a:ext uri="{FF2B5EF4-FFF2-40B4-BE49-F238E27FC236}">
                <a16:creationId xmlns:a16="http://schemas.microsoft.com/office/drawing/2014/main" id="{90A65E83-169A-888F-307D-7687D832C348}"/>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dirty="0">
                <a:latin typeface="+mj-lt"/>
              </a:rPr>
              <a:t>Analyse des logs</a:t>
            </a:r>
            <a:endParaRPr dirty="0">
              <a:latin typeface="+mj-lt"/>
            </a:endParaRPr>
          </a:p>
          <a:p>
            <a:pPr marL="0" lvl="0" indent="0" algn="l" rtl="0">
              <a:spcBef>
                <a:spcPts val="0"/>
              </a:spcBef>
              <a:spcAft>
                <a:spcPts val="0"/>
              </a:spcAft>
              <a:buNone/>
            </a:pPr>
            <a:r>
              <a:rPr lang="fr" dirty="0">
                <a:latin typeface="+mj-lt"/>
              </a:rPr>
              <a:t>Dictionnaire des données et explications</a:t>
            </a:r>
            <a:endParaRPr dirty="0">
              <a:latin typeface="+mj-lt"/>
            </a:endParaRPr>
          </a:p>
        </p:txBody>
      </p:sp>
      <p:sp>
        <p:nvSpPr>
          <p:cNvPr id="2" name="ZoneTexte 1">
            <a:extLst>
              <a:ext uri="{FF2B5EF4-FFF2-40B4-BE49-F238E27FC236}">
                <a16:creationId xmlns:a16="http://schemas.microsoft.com/office/drawing/2014/main" id="{3B99D18F-47D2-D3E8-AC00-28D1C9A98C5D}"/>
              </a:ext>
            </a:extLst>
          </p:cNvPr>
          <p:cNvSpPr txBox="1"/>
          <p:nvPr/>
        </p:nvSpPr>
        <p:spPr>
          <a:xfrm>
            <a:off x="1297500" y="1529531"/>
            <a:ext cx="6227133" cy="2462213"/>
          </a:xfrm>
          <a:prstGeom prst="rect">
            <a:avLst/>
          </a:prstGeom>
          <a:noFill/>
        </p:spPr>
        <p:txBody>
          <a:bodyPr wrap="square" rtlCol="0">
            <a:spAutoFit/>
          </a:bodyPr>
          <a:lstStyle/>
          <a:p>
            <a:r>
              <a:rPr lang="fr-FR" u="sng" dirty="0">
                <a:solidFill>
                  <a:schemeClr val="bg1"/>
                </a:solidFill>
              </a:rPr>
              <a:t>Explication des logs (quelle table, quelle modification…)</a:t>
            </a:r>
          </a:p>
          <a:p>
            <a:endParaRPr lang="fr-FR" sz="1000" u="sng" dirty="0">
              <a:solidFill>
                <a:schemeClr val="bg1"/>
              </a:solidFill>
            </a:endParaRPr>
          </a:p>
          <a:p>
            <a:r>
              <a:rPr lang="fr-FR" sz="1000" dirty="0">
                <a:solidFill>
                  <a:schemeClr val="bg1"/>
                </a:solidFill>
              </a:rPr>
              <a:t>SELECT</a:t>
            </a:r>
          </a:p>
          <a:p>
            <a:r>
              <a:rPr lang="fr-FR" sz="1000" dirty="0">
                <a:solidFill>
                  <a:schemeClr val="bg1"/>
                </a:solidFill>
              </a:rPr>
              <a:t>    </a:t>
            </a:r>
            <a:r>
              <a:rPr lang="fr-FR" sz="1000" dirty="0" err="1">
                <a:solidFill>
                  <a:schemeClr val="bg1"/>
                </a:solidFill>
              </a:rPr>
              <a:t>table_insert</a:t>
            </a:r>
            <a:r>
              <a:rPr lang="fr-FR" sz="1000" dirty="0">
                <a:solidFill>
                  <a:schemeClr val="bg1"/>
                </a:solidFill>
              </a:rPr>
              <a:t>,</a:t>
            </a:r>
          </a:p>
          <a:p>
            <a:r>
              <a:rPr lang="fr-FR" sz="1000" dirty="0">
                <a:solidFill>
                  <a:schemeClr val="bg1"/>
                </a:solidFill>
              </a:rPr>
              <a:t>    action,</a:t>
            </a:r>
          </a:p>
          <a:p>
            <a:r>
              <a:rPr lang="fr-FR" sz="1000" dirty="0">
                <a:solidFill>
                  <a:schemeClr val="bg1"/>
                </a:solidFill>
              </a:rPr>
              <a:t>    COUNT(*) AS </a:t>
            </a:r>
            <a:r>
              <a:rPr lang="fr-FR" sz="1000" dirty="0" err="1">
                <a:solidFill>
                  <a:schemeClr val="bg1"/>
                </a:solidFill>
              </a:rPr>
              <a:t>nombre_de_logs_par_action</a:t>
            </a:r>
            <a:endParaRPr lang="fr-FR" sz="1000" dirty="0">
              <a:solidFill>
                <a:schemeClr val="bg1"/>
              </a:solidFill>
            </a:endParaRPr>
          </a:p>
          <a:p>
            <a:r>
              <a:rPr lang="fr-FR" sz="1000" dirty="0">
                <a:solidFill>
                  <a:schemeClr val="bg1"/>
                </a:solidFill>
              </a:rPr>
              <a:t>FROM</a:t>
            </a:r>
          </a:p>
          <a:p>
            <a:r>
              <a:rPr lang="fr-FR" sz="1000" dirty="0">
                <a:solidFill>
                  <a:schemeClr val="bg1"/>
                </a:solidFill>
              </a:rPr>
              <a:t>    logs</a:t>
            </a:r>
          </a:p>
          <a:p>
            <a:r>
              <a:rPr lang="fr-FR" sz="1000" dirty="0">
                <a:solidFill>
                  <a:schemeClr val="bg1"/>
                </a:solidFill>
              </a:rPr>
              <a:t>GROUP BY</a:t>
            </a:r>
          </a:p>
          <a:p>
            <a:r>
              <a:rPr lang="fr-FR" sz="1000" dirty="0">
                <a:solidFill>
                  <a:schemeClr val="bg1"/>
                </a:solidFill>
              </a:rPr>
              <a:t>    </a:t>
            </a:r>
            <a:r>
              <a:rPr lang="fr-FR" sz="1000" dirty="0" err="1">
                <a:solidFill>
                  <a:schemeClr val="bg1"/>
                </a:solidFill>
              </a:rPr>
              <a:t>table_insert</a:t>
            </a:r>
            <a:r>
              <a:rPr lang="fr-FR" sz="1000" dirty="0">
                <a:solidFill>
                  <a:schemeClr val="bg1"/>
                </a:solidFill>
              </a:rPr>
              <a:t>,</a:t>
            </a:r>
          </a:p>
          <a:p>
            <a:r>
              <a:rPr lang="fr-FR" sz="1000" dirty="0">
                <a:solidFill>
                  <a:schemeClr val="bg1"/>
                </a:solidFill>
              </a:rPr>
              <a:t>    action</a:t>
            </a:r>
          </a:p>
          <a:p>
            <a:r>
              <a:rPr lang="fr-FR" sz="1000" dirty="0">
                <a:solidFill>
                  <a:schemeClr val="bg1"/>
                </a:solidFill>
              </a:rPr>
              <a:t>ORDER BY</a:t>
            </a:r>
          </a:p>
          <a:p>
            <a:r>
              <a:rPr lang="fr-FR" sz="1000" dirty="0">
                <a:solidFill>
                  <a:schemeClr val="bg1"/>
                </a:solidFill>
              </a:rPr>
              <a:t>    </a:t>
            </a:r>
            <a:r>
              <a:rPr lang="fr-FR" sz="1000" dirty="0" err="1">
                <a:solidFill>
                  <a:schemeClr val="bg1"/>
                </a:solidFill>
              </a:rPr>
              <a:t>table_insert</a:t>
            </a:r>
            <a:r>
              <a:rPr lang="fr-FR" sz="1000" dirty="0">
                <a:solidFill>
                  <a:schemeClr val="bg1"/>
                </a:solidFill>
              </a:rPr>
              <a:t>,</a:t>
            </a:r>
          </a:p>
          <a:p>
            <a:r>
              <a:rPr lang="fr-FR" sz="1000" dirty="0">
                <a:solidFill>
                  <a:schemeClr val="bg1"/>
                </a:solidFill>
              </a:rPr>
              <a:t>    </a:t>
            </a:r>
            <a:r>
              <a:rPr lang="fr-FR" sz="1000" dirty="0" err="1">
                <a:solidFill>
                  <a:schemeClr val="bg1"/>
                </a:solidFill>
              </a:rPr>
              <a:t>nombre_de_logs_par_action</a:t>
            </a:r>
            <a:r>
              <a:rPr lang="fr-FR" sz="1000" dirty="0">
                <a:solidFill>
                  <a:schemeClr val="bg1"/>
                </a:solidFill>
              </a:rPr>
              <a:t> DESC;</a:t>
            </a:r>
          </a:p>
          <a:p>
            <a:endParaRPr lang="fr-FR" sz="1000" dirty="0">
              <a:solidFill>
                <a:schemeClr val="bg1"/>
              </a:solidFill>
            </a:endParaRPr>
          </a:p>
        </p:txBody>
      </p:sp>
      <p:pic>
        <p:nvPicPr>
          <p:cNvPr id="8" name="Image 7">
            <a:extLst>
              <a:ext uri="{FF2B5EF4-FFF2-40B4-BE49-F238E27FC236}">
                <a16:creationId xmlns:a16="http://schemas.microsoft.com/office/drawing/2014/main" id="{580837C3-7736-70CA-5991-1C4B0A2ADC7A}"/>
              </a:ext>
            </a:extLst>
          </p:cNvPr>
          <p:cNvPicPr>
            <a:picLocks noChangeAspect="1"/>
          </p:cNvPicPr>
          <p:nvPr/>
        </p:nvPicPr>
        <p:blipFill>
          <a:blip r:embed="rId3"/>
          <a:stretch>
            <a:fillRect/>
          </a:stretch>
        </p:blipFill>
        <p:spPr>
          <a:xfrm>
            <a:off x="4301612" y="2547784"/>
            <a:ext cx="4393371" cy="1380773"/>
          </a:xfrm>
          <a:prstGeom prst="rect">
            <a:avLst/>
          </a:prstGeom>
        </p:spPr>
      </p:pic>
    </p:spTree>
    <p:extLst>
      <p:ext uri="{BB962C8B-B14F-4D97-AF65-F5344CB8AC3E}">
        <p14:creationId xmlns:p14="http://schemas.microsoft.com/office/powerpoint/2010/main" val="481914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3">
          <a:extLst>
            <a:ext uri="{FF2B5EF4-FFF2-40B4-BE49-F238E27FC236}">
              <a16:creationId xmlns:a16="http://schemas.microsoft.com/office/drawing/2014/main" id="{450A195F-C4D7-670B-1E9C-44895F21F604}"/>
            </a:ext>
          </a:extLst>
        </p:cNvPr>
        <p:cNvGrpSpPr/>
        <p:nvPr/>
      </p:nvGrpSpPr>
      <p:grpSpPr>
        <a:xfrm>
          <a:off x="0" y="0"/>
          <a:ext cx="0" cy="0"/>
          <a:chOff x="0" y="0"/>
          <a:chExt cx="0" cy="0"/>
        </a:xfrm>
      </p:grpSpPr>
      <p:sp>
        <p:nvSpPr>
          <p:cNvPr id="194" name="Google Shape;194;p23">
            <a:extLst>
              <a:ext uri="{FF2B5EF4-FFF2-40B4-BE49-F238E27FC236}">
                <a16:creationId xmlns:a16="http://schemas.microsoft.com/office/drawing/2014/main" id="{40E58CE3-D981-B4A9-7443-2419959AB15E}"/>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dirty="0">
                <a:latin typeface="+mj-lt"/>
              </a:rPr>
              <a:t>Compréhension des problèmes sur la base des logs</a:t>
            </a:r>
            <a:endParaRPr dirty="0">
              <a:latin typeface="+mj-lt"/>
            </a:endParaRPr>
          </a:p>
        </p:txBody>
      </p:sp>
      <p:sp>
        <p:nvSpPr>
          <p:cNvPr id="3" name="ZoneTexte 2">
            <a:extLst>
              <a:ext uri="{FF2B5EF4-FFF2-40B4-BE49-F238E27FC236}">
                <a16:creationId xmlns:a16="http://schemas.microsoft.com/office/drawing/2014/main" id="{CE5DD712-501F-1236-E8E6-1F7A0B15467A}"/>
              </a:ext>
            </a:extLst>
          </p:cNvPr>
          <p:cNvSpPr txBox="1"/>
          <p:nvPr/>
        </p:nvSpPr>
        <p:spPr>
          <a:xfrm>
            <a:off x="1297500" y="1568245"/>
            <a:ext cx="7038900" cy="2862322"/>
          </a:xfrm>
          <a:prstGeom prst="rect">
            <a:avLst/>
          </a:prstGeom>
          <a:noFill/>
        </p:spPr>
        <p:txBody>
          <a:bodyPr wrap="square" rtlCol="0">
            <a:spAutoFit/>
          </a:bodyPr>
          <a:lstStyle/>
          <a:p>
            <a:r>
              <a:rPr lang="fr-FR" sz="1000" i="1" dirty="0">
                <a:solidFill>
                  <a:schemeClr val="bg1"/>
                </a:solidFill>
              </a:rPr>
              <a:t>Je créais une vue de la partie des logs qui correspond à l’ajout des data dans la table </a:t>
            </a:r>
            <a:r>
              <a:rPr lang="fr-FR" sz="1000" i="1" dirty="0" err="1">
                <a:solidFill>
                  <a:schemeClr val="bg1"/>
                </a:solidFill>
              </a:rPr>
              <a:t>vente_detail</a:t>
            </a:r>
            <a:r>
              <a:rPr lang="fr-FR" sz="1000" i="1" dirty="0">
                <a:solidFill>
                  <a:schemeClr val="bg1"/>
                </a:solidFill>
              </a:rPr>
              <a:t> pour plus de lisibilité.</a:t>
            </a:r>
          </a:p>
          <a:p>
            <a:endParaRPr lang="en-US" sz="1000" dirty="0">
              <a:solidFill>
                <a:schemeClr val="bg1"/>
              </a:solidFill>
            </a:endParaRPr>
          </a:p>
          <a:p>
            <a:r>
              <a:rPr lang="en-US" sz="1000" dirty="0">
                <a:solidFill>
                  <a:schemeClr val="bg1"/>
                </a:solidFill>
              </a:rPr>
              <a:t>CREATE OR REPLACE VIEW </a:t>
            </a:r>
            <a:r>
              <a:rPr lang="en-US" sz="1000" dirty="0" err="1">
                <a:solidFill>
                  <a:schemeClr val="bg1"/>
                </a:solidFill>
              </a:rPr>
              <a:t>vue_logs_vente_detail</a:t>
            </a:r>
            <a:r>
              <a:rPr lang="en-US" sz="1000" dirty="0">
                <a:solidFill>
                  <a:schemeClr val="bg1"/>
                </a:solidFill>
              </a:rPr>
              <a:t> AS</a:t>
            </a:r>
          </a:p>
          <a:p>
            <a:r>
              <a:rPr lang="en-US" sz="1000" dirty="0">
                <a:solidFill>
                  <a:schemeClr val="bg1"/>
                </a:solidFill>
              </a:rPr>
              <a:t>SELECT</a:t>
            </a:r>
          </a:p>
          <a:p>
            <a:r>
              <a:rPr lang="en-US" sz="1000" dirty="0">
                <a:solidFill>
                  <a:schemeClr val="bg1"/>
                </a:solidFill>
              </a:rPr>
              <a:t>    </a:t>
            </a:r>
            <a:r>
              <a:rPr lang="en-US" sz="1000" dirty="0" err="1">
                <a:solidFill>
                  <a:schemeClr val="bg1"/>
                </a:solidFill>
              </a:rPr>
              <a:t>id_ligne</a:t>
            </a:r>
            <a:r>
              <a:rPr lang="en-US" sz="1000" dirty="0">
                <a:solidFill>
                  <a:schemeClr val="bg1"/>
                </a:solidFill>
              </a:rPr>
              <a:t>,</a:t>
            </a:r>
          </a:p>
          <a:p>
            <a:r>
              <a:rPr lang="en-US" sz="1000" dirty="0">
                <a:solidFill>
                  <a:schemeClr val="bg1"/>
                </a:solidFill>
              </a:rPr>
              <a:t>    </a:t>
            </a:r>
            <a:r>
              <a:rPr lang="en-US" sz="1000" dirty="0" err="1">
                <a:solidFill>
                  <a:schemeClr val="bg1"/>
                </a:solidFill>
              </a:rPr>
              <a:t>id_user</a:t>
            </a:r>
            <a:r>
              <a:rPr lang="en-US" sz="1000" dirty="0">
                <a:solidFill>
                  <a:schemeClr val="bg1"/>
                </a:solidFill>
              </a:rPr>
              <a:t>,</a:t>
            </a:r>
          </a:p>
          <a:p>
            <a:r>
              <a:rPr lang="en-US" sz="1000" dirty="0">
                <a:solidFill>
                  <a:schemeClr val="bg1"/>
                </a:solidFill>
              </a:rPr>
              <a:t>    date,</a:t>
            </a:r>
          </a:p>
          <a:p>
            <a:r>
              <a:rPr lang="en-US" sz="1000" dirty="0">
                <a:solidFill>
                  <a:schemeClr val="bg1"/>
                </a:solidFill>
              </a:rPr>
              <a:t>    MAX(CASE WHEN champs = 'CUSTUMER_ID' THEN detail END) AS CUSTOMER_ID,</a:t>
            </a:r>
          </a:p>
          <a:p>
            <a:r>
              <a:rPr lang="en-US" sz="1000" dirty="0">
                <a:solidFill>
                  <a:schemeClr val="bg1"/>
                </a:solidFill>
              </a:rPr>
              <a:t>    MAX(CASE WHEN champs = '</a:t>
            </a:r>
            <a:r>
              <a:rPr lang="en-US" sz="1000" dirty="0" err="1">
                <a:solidFill>
                  <a:schemeClr val="bg1"/>
                </a:solidFill>
              </a:rPr>
              <a:t>id_employe</a:t>
            </a:r>
            <a:r>
              <a:rPr lang="en-US" sz="1000" dirty="0">
                <a:solidFill>
                  <a:schemeClr val="bg1"/>
                </a:solidFill>
              </a:rPr>
              <a:t>' THEN detail END) AS ID_EMPLOYE,</a:t>
            </a:r>
          </a:p>
          <a:p>
            <a:r>
              <a:rPr lang="en-US" sz="1000" dirty="0">
                <a:solidFill>
                  <a:schemeClr val="bg1"/>
                </a:solidFill>
              </a:rPr>
              <a:t>    CAST(REPLACE(MAX(CASE WHEN champs = 'EAN' THEN detail END), ',', '.') AS numeric) :: BIGINT AS EAN,</a:t>
            </a:r>
          </a:p>
          <a:p>
            <a:r>
              <a:rPr lang="en-US" sz="1000" dirty="0">
                <a:solidFill>
                  <a:schemeClr val="bg1"/>
                </a:solidFill>
              </a:rPr>
              <a:t>    MAX(CASE WHEN champs = 'Date' THEN detail END) AS DATE_VENTE,</a:t>
            </a:r>
          </a:p>
          <a:p>
            <a:r>
              <a:rPr lang="en-US" sz="1000" dirty="0">
                <a:solidFill>
                  <a:schemeClr val="bg1"/>
                </a:solidFill>
              </a:rPr>
              <a:t>    MAX(CASE WHEN champs = 'ID ticket' THEN detail END) AS ID_TICKET</a:t>
            </a:r>
          </a:p>
          <a:p>
            <a:r>
              <a:rPr lang="en-US" sz="1000" dirty="0">
                <a:solidFill>
                  <a:schemeClr val="bg1"/>
                </a:solidFill>
              </a:rPr>
              <a:t>FROM</a:t>
            </a:r>
          </a:p>
          <a:p>
            <a:r>
              <a:rPr lang="en-US" sz="1000" dirty="0">
                <a:solidFill>
                  <a:schemeClr val="bg1"/>
                </a:solidFill>
              </a:rPr>
              <a:t>    logs</a:t>
            </a:r>
          </a:p>
          <a:p>
            <a:r>
              <a:rPr lang="en-US" sz="1000" dirty="0">
                <a:solidFill>
                  <a:schemeClr val="bg1"/>
                </a:solidFill>
              </a:rPr>
              <a:t>WHERE</a:t>
            </a:r>
          </a:p>
          <a:p>
            <a:r>
              <a:rPr lang="en-US" sz="1000" dirty="0">
                <a:solidFill>
                  <a:schemeClr val="bg1"/>
                </a:solidFill>
              </a:rPr>
              <a:t>    action = 'INSERT' AND </a:t>
            </a:r>
            <a:r>
              <a:rPr lang="en-US" sz="1000" dirty="0" err="1">
                <a:solidFill>
                  <a:schemeClr val="bg1"/>
                </a:solidFill>
              </a:rPr>
              <a:t>table_insert</a:t>
            </a:r>
            <a:r>
              <a:rPr lang="en-US" sz="1000" dirty="0">
                <a:solidFill>
                  <a:schemeClr val="bg1"/>
                </a:solidFill>
              </a:rPr>
              <a:t> = 'Ventes'</a:t>
            </a:r>
          </a:p>
          <a:p>
            <a:r>
              <a:rPr lang="en-US" sz="1000" dirty="0">
                <a:solidFill>
                  <a:schemeClr val="bg1"/>
                </a:solidFill>
              </a:rPr>
              <a:t>GROUP BY</a:t>
            </a:r>
          </a:p>
          <a:p>
            <a:r>
              <a:rPr lang="en-US" sz="1000" dirty="0">
                <a:solidFill>
                  <a:schemeClr val="bg1"/>
                </a:solidFill>
              </a:rPr>
              <a:t>    </a:t>
            </a:r>
            <a:r>
              <a:rPr lang="en-US" sz="1000" dirty="0" err="1">
                <a:solidFill>
                  <a:schemeClr val="bg1"/>
                </a:solidFill>
              </a:rPr>
              <a:t>id_ligne</a:t>
            </a:r>
            <a:r>
              <a:rPr lang="en-US" sz="1000" dirty="0">
                <a:solidFill>
                  <a:schemeClr val="bg1"/>
                </a:solidFill>
              </a:rPr>
              <a:t>, </a:t>
            </a:r>
            <a:r>
              <a:rPr lang="en-US" sz="1000" dirty="0" err="1">
                <a:solidFill>
                  <a:schemeClr val="bg1"/>
                </a:solidFill>
              </a:rPr>
              <a:t>id_user</a:t>
            </a:r>
            <a:r>
              <a:rPr lang="en-US" sz="1000" dirty="0">
                <a:solidFill>
                  <a:schemeClr val="bg1"/>
                </a:solidFill>
              </a:rPr>
              <a:t>, date;</a:t>
            </a:r>
            <a:endParaRPr lang="fr-FR" sz="1000" dirty="0">
              <a:solidFill>
                <a:schemeClr val="bg1"/>
              </a:solidFill>
            </a:endParaRPr>
          </a:p>
        </p:txBody>
      </p:sp>
    </p:spTree>
    <p:extLst>
      <p:ext uri="{BB962C8B-B14F-4D97-AF65-F5344CB8AC3E}">
        <p14:creationId xmlns:p14="http://schemas.microsoft.com/office/powerpoint/2010/main" val="2847807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3"/>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dirty="0">
                <a:latin typeface="+mj-lt"/>
              </a:rPr>
              <a:t>Compréhension des problèmes sur la base des logs</a:t>
            </a:r>
            <a:endParaRPr dirty="0">
              <a:latin typeface="+mj-lt"/>
            </a:endParaRPr>
          </a:p>
        </p:txBody>
      </p:sp>
      <p:sp>
        <p:nvSpPr>
          <p:cNvPr id="2" name="ZoneTexte 1">
            <a:extLst>
              <a:ext uri="{FF2B5EF4-FFF2-40B4-BE49-F238E27FC236}">
                <a16:creationId xmlns:a16="http://schemas.microsoft.com/office/drawing/2014/main" id="{C61EE836-A1A4-4EC6-4A40-478CA9FD7BA3}"/>
              </a:ext>
            </a:extLst>
          </p:cNvPr>
          <p:cNvSpPr txBox="1"/>
          <p:nvPr/>
        </p:nvSpPr>
        <p:spPr>
          <a:xfrm>
            <a:off x="1297500" y="1957937"/>
            <a:ext cx="7548612" cy="1785104"/>
          </a:xfrm>
          <a:prstGeom prst="rect">
            <a:avLst/>
          </a:prstGeom>
          <a:noFill/>
        </p:spPr>
        <p:txBody>
          <a:bodyPr wrap="square" rtlCol="0">
            <a:spAutoFit/>
          </a:bodyPr>
          <a:lstStyle/>
          <a:p>
            <a:r>
              <a:rPr lang="fr-FR" sz="1000" i="1" dirty="0">
                <a:solidFill>
                  <a:schemeClr val="bg1"/>
                </a:solidFill>
              </a:rPr>
              <a:t>Avec la requête suivante on se rend compte que les logs contiennent des entrées pour le 14 mais aussi pour le 15 aout,</a:t>
            </a:r>
          </a:p>
          <a:p>
            <a:endParaRPr lang="fr-FR" sz="1000" dirty="0">
              <a:solidFill>
                <a:schemeClr val="bg1"/>
              </a:solidFill>
            </a:endParaRPr>
          </a:p>
          <a:p>
            <a:r>
              <a:rPr lang="fr-FR" sz="1000" dirty="0">
                <a:solidFill>
                  <a:schemeClr val="bg1"/>
                </a:solidFill>
              </a:rPr>
              <a:t>SELECT</a:t>
            </a:r>
          </a:p>
          <a:p>
            <a:r>
              <a:rPr lang="fr-FR" sz="1000" dirty="0">
                <a:solidFill>
                  <a:schemeClr val="bg1"/>
                </a:solidFill>
              </a:rPr>
              <a:t>    DATE(date) AS </a:t>
            </a:r>
            <a:r>
              <a:rPr lang="fr-FR" sz="1000" dirty="0" err="1">
                <a:solidFill>
                  <a:schemeClr val="bg1"/>
                </a:solidFill>
              </a:rPr>
              <a:t>date_de_modification</a:t>
            </a:r>
            <a:r>
              <a:rPr lang="fr-FR" sz="1000" dirty="0">
                <a:solidFill>
                  <a:schemeClr val="bg1"/>
                </a:solidFill>
              </a:rPr>
              <a:t>,</a:t>
            </a:r>
          </a:p>
          <a:p>
            <a:r>
              <a:rPr lang="fr-FR" sz="1000" dirty="0">
                <a:solidFill>
                  <a:schemeClr val="bg1"/>
                </a:solidFill>
              </a:rPr>
              <a:t>    COUNT(*) AS </a:t>
            </a:r>
            <a:r>
              <a:rPr lang="fr-FR" sz="1000" dirty="0" err="1">
                <a:solidFill>
                  <a:schemeClr val="bg1"/>
                </a:solidFill>
              </a:rPr>
              <a:t>nombre_de_logs</a:t>
            </a:r>
            <a:endParaRPr lang="fr-FR" sz="1000" dirty="0">
              <a:solidFill>
                <a:schemeClr val="bg1"/>
              </a:solidFill>
            </a:endParaRPr>
          </a:p>
          <a:p>
            <a:r>
              <a:rPr lang="fr-FR" sz="1000" dirty="0">
                <a:solidFill>
                  <a:schemeClr val="bg1"/>
                </a:solidFill>
              </a:rPr>
              <a:t>FROM</a:t>
            </a:r>
          </a:p>
          <a:p>
            <a:r>
              <a:rPr lang="fr-FR" sz="1000" dirty="0">
                <a:solidFill>
                  <a:schemeClr val="bg1"/>
                </a:solidFill>
              </a:rPr>
              <a:t>    logs</a:t>
            </a:r>
          </a:p>
          <a:p>
            <a:r>
              <a:rPr lang="fr-FR" sz="1000" dirty="0">
                <a:solidFill>
                  <a:schemeClr val="bg1"/>
                </a:solidFill>
              </a:rPr>
              <a:t>GROUP BY</a:t>
            </a:r>
          </a:p>
          <a:p>
            <a:r>
              <a:rPr lang="fr-FR" sz="1000" dirty="0">
                <a:solidFill>
                  <a:schemeClr val="bg1"/>
                </a:solidFill>
              </a:rPr>
              <a:t>    DATE(date)</a:t>
            </a:r>
          </a:p>
          <a:p>
            <a:r>
              <a:rPr lang="fr-FR" sz="1000" dirty="0">
                <a:solidFill>
                  <a:schemeClr val="bg1"/>
                </a:solidFill>
              </a:rPr>
              <a:t>ORDER BY</a:t>
            </a:r>
          </a:p>
          <a:p>
            <a:r>
              <a:rPr lang="fr-FR" sz="1000" dirty="0">
                <a:solidFill>
                  <a:schemeClr val="bg1"/>
                </a:solidFill>
              </a:rPr>
              <a:t>    </a:t>
            </a:r>
            <a:r>
              <a:rPr lang="fr-FR" sz="1000" dirty="0" err="1">
                <a:solidFill>
                  <a:schemeClr val="bg1"/>
                </a:solidFill>
              </a:rPr>
              <a:t>date_de_modification</a:t>
            </a:r>
            <a:r>
              <a:rPr lang="fr-FR" sz="1000" dirty="0">
                <a:solidFill>
                  <a:schemeClr val="bg1"/>
                </a:solidFill>
              </a:rPr>
              <a:t>;</a:t>
            </a:r>
          </a:p>
        </p:txBody>
      </p:sp>
      <p:pic>
        <p:nvPicPr>
          <p:cNvPr id="4" name="Image 3">
            <a:extLst>
              <a:ext uri="{FF2B5EF4-FFF2-40B4-BE49-F238E27FC236}">
                <a16:creationId xmlns:a16="http://schemas.microsoft.com/office/drawing/2014/main" id="{4A5AD75B-411B-26D8-C11C-9EF46011D801}"/>
              </a:ext>
            </a:extLst>
          </p:cNvPr>
          <p:cNvPicPr>
            <a:picLocks noChangeAspect="1"/>
          </p:cNvPicPr>
          <p:nvPr/>
        </p:nvPicPr>
        <p:blipFill>
          <a:blip r:embed="rId3"/>
          <a:stretch>
            <a:fillRect/>
          </a:stretch>
        </p:blipFill>
        <p:spPr>
          <a:xfrm>
            <a:off x="5381166" y="2850489"/>
            <a:ext cx="2465334" cy="68481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3">
          <a:extLst>
            <a:ext uri="{FF2B5EF4-FFF2-40B4-BE49-F238E27FC236}">
              <a16:creationId xmlns:a16="http://schemas.microsoft.com/office/drawing/2014/main" id="{92F12F80-5A02-FC5F-2BB9-0904B7B2BF12}"/>
            </a:ext>
          </a:extLst>
        </p:cNvPr>
        <p:cNvGrpSpPr/>
        <p:nvPr/>
      </p:nvGrpSpPr>
      <p:grpSpPr>
        <a:xfrm>
          <a:off x="0" y="0"/>
          <a:ext cx="0" cy="0"/>
          <a:chOff x="0" y="0"/>
          <a:chExt cx="0" cy="0"/>
        </a:xfrm>
      </p:grpSpPr>
      <p:sp>
        <p:nvSpPr>
          <p:cNvPr id="194" name="Google Shape;194;p23">
            <a:extLst>
              <a:ext uri="{FF2B5EF4-FFF2-40B4-BE49-F238E27FC236}">
                <a16:creationId xmlns:a16="http://schemas.microsoft.com/office/drawing/2014/main" id="{DAE4922A-26E5-47BC-A7CC-51272764E200}"/>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dirty="0">
                <a:latin typeface="+mj-lt"/>
              </a:rPr>
              <a:t>Compréhension des problèmes sur la base des logs</a:t>
            </a:r>
            <a:endParaRPr dirty="0">
              <a:latin typeface="+mj-lt"/>
            </a:endParaRPr>
          </a:p>
        </p:txBody>
      </p:sp>
      <p:sp>
        <p:nvSpPr>
          <p:cNvPr id="2" name="ZoneTexte 1">
            <a:extLst>
              <a:ext uri="{FF2B5EF4-FFF2-40B4-BE49-F238E27FC236}">
                <a16:creationId xmlns:a16="http://schemas.microsoft.com/office/drawing/2014/main" id="{A045B8BE-8831-18B8-511B-9EC79BA378A4}"/>
              </a:ext>
            </a:extLst>
          </p:cNvPr>
          <p:cNvSpPr txBox="1"/>
          <p:nvPr/>
        </p:nvSpPr>
        <p:spPr>
          <a:xfrm>
            <a:off x="930571" y="1740752"/>
            <a:ext cx="7772758" cy="1415772"/>
          </a:xfrm>
          <a:prstGeom prst="rect">
            <a:avLst/>
          </a:prstGeom>
          <a:noFill/>
        </p:spPr>
        <p:txBody>
          <a:bodyPr wrap="square" rtlCol="0">
            <a:spAutoFit/>
          </a:bodyPr>
          <a:lstStyle/>
          <a:p>
            <a:r>
              <a:rPr lang="fr-FR" sz="1200" i="1" dirty="0">
                <a:solidFill>
                  <a:schemeClr val="bg1"/>
                </a:solidFill>
              </a:rPr>
              <a:t>J’utilise la vue créée précédemment pour calculer le volume des ventes du 15 enregistré pour le 14  </a:t>
            </a:r>
            <a:r>
              <a:rPr lang="fr-FR" sz="1200" i="1" dirty="0">
                <a:solidFill>
                  <a:schemeClr val="bg1"/>
                </a:solidFill>
                <a:sym typeface="Wingdings" panose="05000000000000000000" pitchFamily="2" charset="2"/>
              </a:rPr>
              <a:t> 9057.29€</a:t>
            </a:r>
            <a:endParaRPr lang="fr-FR" sz="1200" i="1" dirty="0">
              <a:solidFill>
                <a:schemeClr val="bg1"/>
              </a:solidFill>
            </a:endParaRPr>
          </a:p>
          <a:p>
            <a:endParaRPr lang="fr-FR" sz="1000" dirty="0">
              <a:solidFill>
                <a:schemeClr val="bg1"/>
              </a:solidFill>
            </a:endParaRPr>
          </a:p>
          <a:p>
            <a:r>
              <a:rPr lang="fr-FR" sz="800" dirty="0">
                <a:solidFill>
                  <a:schemeClr val="bg1"/>
                </a:solidFill>
              </a:rPr>
              <a:t>SELECT</a:t>
            </a:r>
          </a:p>
          <a:p>
            <a:r>
              <a:rPr lang="en-US" sz="800" dirty="0">
                <a:solidFill>
                  <a:schemeClr val="bg1"/>
                </a:solidFill>
              </a:rPr>
              <a:t>    ROUND(CAST(SUM(</a:t>
            </a:r>
            <a:r>
              <a:rPr lang="en-US" sz="800" dirty="0" err="1">
                <a:solidFill>
                  <a:schemeClr val="bg1"/>
                </a:solidFill>
              </a:rPr>
              <a:t>p.prix</a:t>
            </a:r>
            <a:r>
              <a:rPr lang="en-US" sz="800" dirty="0">
                <a:solidFill>
                  <a:schemeClr val="bg1"/>
                </a:solidFill>
              </a:rPr>
              <a:t>) AS NUMERIC), 2) AS total_ventes_du_15 </a:t>
            </a:r>
          </a:p>
          <a:p>
            <a:r>
              <a:rPr lang="fr-FR" sz="800" dirty="0">
                <a:solidFill>
                  <a:schemeClr val="bg1"/>
                </a:solidFill>
              </a:rPr>
              <a:t>FROM </a:t>
            </a:r>
          </a:p>
          <a:p>
            <a:r>
              <a:rPr lang="fr-FR" sz="800" dirty="0">
                <a:solidFill>
                  <a:schemeClr val="bg1"/>
                </a:solidFill>
              </a:rPr>
              <a:t>    produits AS p</a:t>
            </a:r>
          </a:p>
          <a:p>
            <a:r>
              <a:rPr lang="fr-FR" sz="800" dirty="0">
                <a:solidFill>
                  <a:schemeClr val="bg1"/>
                </a:solidFill>
              </a:rPr>
              <a:t>JOIN</a:t>
            </a:r>
          </a:p>
          <a:p>
            <a:r>
              <a:rPr lang="fr-FR" sz="800" dirty="0">
                <a:solidFill>
                  <a:schemeClr val="bg1"/>
                </a:solidFill>
              </a:rPr>
              <a:t>    </a:t>
            </a:r>
            <a:r>
              <a:rPr lang="fr-FR" sz="800" dirty="0" err="1">
                <a:solidFill>
                  <a:schemeClr val="bg1"/>
                </a:solidFill>
              </a:rPr>
              <a:t>vue_logs_vente_detail</a:t>
            </a:r>
            <a:r>
              <a:rPr lang="fr-FR" sz="800" dirty="0">
                <a:solidFill>
                  <a:schemeClr val="bg1"/>
                </a:solidFill>
              </a:rPr>
              <a:t> AS </a:t>
            </a:r>
            <a:r>
              <a:rPr lang="fr-FR" sz="800" dirty="0" err="1">
                <a:solidFill>
                  <a:schemeClr val="bg1"/>
                </a:solidFill>
              </a:rPr>
              <a:t>vl</a:t>
            </a:r>
            <a:r>
              <a:rPr lang="fr-FR" sz="800" dirty="0">
                <a:solidFill>
                  <a:schemeClr val="bg1"/>
                </a:solidFill>
              </a:rPr>
              <a:t> ON </a:t>
            </a:r>
            <a:r>
              <a:rPr lang="fr-FR" sz="800" dirty="0" err="1">
                <a:solidFill>
                  <a:schemeClr val="bg1"/>
                </a:solidFill>
              </a:rPr>
              <a:t>vl.ean</a:t>
            </a:r>
            <a:r>
              <a:rPr lang="fr-FR" sz="800" dirty="0">
                <a:solidFill>
                  <a:schemeClr val="bg1"/>
                </a:solidFill>
              </a:rPr>
              <a:t> = </a:t>
            </a:r>
            <a:r>
              <a:rPr lang="fr-FR" sz="800" dirty="0" err="1">
                <a:solidFill>
                  <a:schemeClr val="bg1"/>
                </a:solidFill>
              </a:rPr>
              <a:t>p.ean</a:t>
            </a:r>
            <a:endParaRPr lang="fr-FR" sz="800" dirty="0">
              <a:solidFill>
                <a:schemeClr val="bg1"/>
              </a:solidFill>
            </a:endParaRPr>
          </a:p>
          <a:p>
            <a:r>
              <a:rPr lang="fr-FR" sz="800" dirty="0">
                <a:solidFill>
                  <a:schemeClr val="bg1"/>
                </a:solidFill>
              </a:rPr>
              <a:t>WHERE</a:t>
            </a:r>
          </a:p>
          <a:p>
            <a:r>
              <a:rPr lang="fr-FR" sz="800" dirty="0">
                <a:solidFill>
                  <a:schemeClr val="bg1"/>
                </a:solidFill>
              </a:rPr>
              <a:t>    </a:t>
            </a:r>
            <a:r>
              <a:rPr lang="fr-FR" sz="800" dirty="0" err="1">
                <a:solidFill>
                  <a:schemeClr val="bg1"/>
                </a:solidFill>
              </a:rPr>
              <a:t>vl.Date</a:t>
            </a:r>
            <a:r>
              <a:rPr lang="fr-FR" sz="800" dirty="0">
                <a:solidFill>
                  <a:schemeClr val="bg1"/>
                </a:solidFill>
              </a:rPr>
              <a:t> = '2024-08-15';</a:t>
            </a:r>
          </a:p>
        </p:txBody>
      </p:sp>
      <p:pic>
        <p:nvPicPr>
          <p:cNvPr id="5" name="Image 4">
            <a:extLst>
              <a:ext uri="{FF2B5EF4-FFF2-40B4-BE49-F238E27FC236}">
                <a16:creationId xmlns:a16="http://schemas.microsoft.com/office/drawing/2014/main" id="{5F48F974-8930-3A6F-D046-E88A1E0CA63C}"/>
              </a:ext>
            </a:extLst>
          </p:cNvPr>
          <p:cNvPicPr>
            <a:picLocks noChangeAspect="1"/>
          </p:cNvPicPr>
          <p:nvPr/>
        </p:nvPicPr>
        <p:blipFill>
          <a:blip r:embed="rId3"/>
          <a:stretch>
            <a:fillRect/>
          </a:stretch>
        </p:blipFill>
        <p:spPr>
          <a:xfrm>
            <a:off x="5845276" y="2504125"/>
            <a:ext cx="1162628" cy="420385"/>
          </a:xfrm>
          <a:prstGeom prst="rect">
            <a:avLst/>
          </a:prstGeom>
        </p:spPr>
      </p:pic>
      <p:sp>
        <p:nvSpPr>
          <p:cNvPr id="6" name="ZoneTexte 5">
            <a:extLst>
              <a:ext uri="{FF2B5EF4-FFF2-40B4-BE49-F238E27FC236}">
                <a16:creationId xmlns:a16="http://schemas.microsoft.com/office/drawing/2014/main" id="{7273996C-8E55-59B9-36F5-875E96F5B1EB}"/>
              </a:ext>
            </a:extLst>
          </p:cNvPr>
          <p:cNvSpPr txBox="1"/>
          <p:nvPr/>
        </p:nvSpPr>
        <p:spPr>
          <a:xfrm>
            <a:off x="930571" y="3631940"/>
            <a:ext cx="7772758" cy="938719"/>
          </a:xfrm>
          <a:prstGeom prst="rect">
            <a:avLst/>
          </a:prstGeom>
          <a:noFill/>
        </p:spPr>
        <p:txBody>
          <a:bodyPr wrap="square" rtlCol="0">
            <a:spAutoFit/>
          </a:bodyPr>
          <a:lstStyle/>
          <a:p>
            <a:r>
              <a:rPr lang="fr-FR" sz="1100" dirty="0">
                <a:solidFill>
                  <a:schemeClr val="bg1"/>
                </a:solidFill>
                <a:effectLst>
                  <a:outerShdw blurRad="38100" dist="38100" dir="2700000" algn="tl">
                    <a:srgbClr val="000000">
                      <a:alpha val="43137"/>
                    </a:srgbClr>
                  </a:outerShdw>
                </a:effectLst>
              </a:rPr>
              <a:t>Le chiffre obtenu correspond exactement la différence entre les deux montant incohérent.</a:t>
            </a:r>
          </a:p>
          <a:p>
            <a:r>
              <a:rPr lang="fr-FR" sz="1100" i="1" dirty="0">
                <a:solidFill>
                  <a:schemeClr val="bg1"/>
                </a:solidFill>
                <a:effectLst>
                  <a:outerShdw blurRad="38100" dist="38100" dir="2700000" algn="tl">
                    <a:srgbClr val="000000">
                      <a:alpha val="43137"/>
                    </a:srgbClr>
                  </a:outerShdw>
                </a:effectLst>
              </a:rPr>
              <a:t>(284243,88 – 275186,59 = 9057,29)</a:t>
            </a:r>
            <a:br>
              <a:rPr lang="fr-FR" sz="1100" i="1" dirty="0">
                <a:solidFill>
                  <a:schemeClr val="bg1"/>
                </a:solidFill>
                <a:effectLst>
                  <a:outerShdw blurRad="38100" dist="38100" dir="2700000" algn="tl">
                    <a:srgbClr val="000000">
                      <a:alpha val="43137"/>
                    </a:srgbClr>
                  </a:outerShdw>
                </a:effectLst>
              </a:rPr>
            </a:br>
            <a:endParaRPr lang="fr-FR" sz="1100" i="1" dirty="0">
              <a:solidFill>
                <a:schemeClr val="bg1"/>
              </a:solidFill>
              <a:effectLst>
                <a:outerShdw blurRad="38100" dist="38100" dir="2700000" algn="tl">
                  <a:srgbClr val="000000">
                    <a:alpha val="43137"/>
                  </a:srgbClr>
                </a:outerShdw>
              </a:effectLst>
            </a:endParaRPr>
          </a:p>
          <a:p>
            <a:r>
              <a:rPr lang="fr-FR" sz="1100" dirty="0">
                <a:solidFill>
                  <a:schemeClr val="bg1"/>
                </a:solidFill>
                <a:effectLst>
                  <a:outerShdw blurRad="38100" dist="38100" dir="2700000" algn="tl">
                    <a:srgbClr val="000000">
                      <a:alpha val="43137"/>
                    </a:srgbClr>
                  </a:outerShdw>
                </a:effectLst>
              </a:rPr>
              <a:t>Il s’emblerais donc que des enregistrements pour le 14 ai été effectué le 15 ou que des dates erronées aient été saisi lors de la saisi le 14.</a:t>
            </a:r>
          </a:p>
        </p:txBody>
      </p:sp>
    </p:spTree>
    <p:extLst>
      <p:ext uri="{BB962C8B-B14F-4D97-AF65-F5344CB8AC3E}">
        <p14:creationId xmlns:p14="http://schemas.microsoft.com/office/powerpoint/2010/main" val="3717459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4"/>
          <p:cNvSpPr txBox="1">
            <a:spLocks noGrp="1"/>
          </p:cNvSpPr>
          <p:nvPr>
            <p:ph type="title"/>
          </p:nvPr>
        </p:nvSpPr>
        <p:spPr>
          <a:xfrm>
            <a:off x="1297500" y="393750"/>
            <a:ext cx="7038900" cy="5599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dirty="0"/>
              <a:t>Recommandations pour l’entreprise</a:t>
            </a:r>
            <a:endParaRPr dirty="0"/>
          </a:p>
        </p:txBody>
      </p:sp>
      <p:sp>
        <p:nvSpPr>
          <p:cNvPr id="2" name="ZoneTexte 1">
            <a:extLst>
              <a:ext uri="{FF2B5EF4-FFF2-40B4-BE49-F238E27FC236}">
                <a16:creationId xmlns:a16="http://schemas.microsoft.com/office/drawing/2014/main" id="{DEAC89C8-CF07-A87E-6CE1-7DFBBEB4BF2A}"/>
              </a:ext>
            </a:extLst>
          </p:cNvPr>
          <p:cNvSpPr txBox="1"/>
          <p:nvPr/>
        </p:nvSpPr>
        <p:spPr>
          <a:xfrm>
            <a:off x="773434" y="1561894"/>
            <a:ext cx="8087032" cy="2308324"/>
          </a:xfrm>
          <a:prstGeom prst="rect">
            <a:avLst/>
          </a:prstGeom>
          <a:noFill/>
        </p:spPr>
        <p:txBody>
          <a:bodyPr wrap="square" rtlCol="0">
            <a:spAutoFit/>
          </a:bodyPr>
          <a:lstStyle/>
          <a:p>
            <a:pPr marL="111125" lvl="0">
              <a:buClr>
                <a:schemeClr val="bg1"/>
              </a:buClr>
              <a:buSzPts val="1850"/>
            </a:pPr>
            <a:r>
              <a:rPr lang="fr-FR" sz="1800" u="sng" dirty="0">
                <a:solidFill>
                  <a:schemeClr val="bg1"/>
                </a:solidFill>
              </a:rPr>
              <a:t>Actions à mettre en place</a:t>
            </a:r>
          </a:p>
          <a:p>
            <a:pPr marL="111125" lvl="0">
              <a:buClr>
                <a:schemeClr val="bg1"/>
              </a:buClr>
              <a:buSzPts val="1850"/>
            </a:pPr>
            <a:endParaRPr lang="fr-FR" sz="1800" u="sng" dirty="0">
              <a:solidFill>
                <a:schemeClr val="bg1"/>
              </a:solidFill>
            </a:endParaRPr>
          </a:p>
          <a:p>
            <a:pPr marL="282575" lvl="0" indent="-171450">
              <a:buClr>
                <a:schemeClr val="bg1"/>
              </a:buClr>
              <a:buSzPts val="1850"/>
              <a:buFontTx/>
              <a:buChar char="-"/>
            </a:pPr>
            <a:r>
              <a:rPr lang="fr-FR" sz="1200" dirty="0">
                <a:solidFill>
                  <a:schemeClr val="bg1"/>
                </a:solidFill>
              </a:rPr>
              <a:t>Ajout d’un </a:t>
            </a:r>
            <a:r>
              <a:rPr lang="fr-FR" sz="1200" b="1" dirty="0">
                <a:solidFill>
                  <a:schemeClr val="bg1"/>
                </a:solidFill>
              </a:rPr>
              <a:t>booléen</a:t>
            </a:r>
            <a:r>
              <a:rPr lang="fr-FR" sz="1200" dirty="0">
                <a:solidFill>
                  <a:schemeClr val="bg1"/>
                </a:solidFill>
              </a:rPr>
              <a:t> dans la table </a:t>
            </a:r>
            <a:r>
              <a:rPr lang="fr-FR" sz="1200" b="1" dirty="0">
                <a:solidFill>
                  <a:schemeClr val="bg1"/>
                </a:solidFill>
              </a:rPr>
              <a:t>Calendrier</a:t>
            </a:r>
            <a:r>
              <a:rPr lang="fr-FR" sz="1200" dirty="0">
                <a:solidFill>
                  <a:schemeClr val="bg1"/>
                </a:solidFill>
              </a:rPr>
              <a:t> pour gérer les </a:t>
            </a:r>
            <a:r>
              <a:rPr lang="fr-FR" sz="1200" b="1" dirty="0">
                <a:solidFill>
                  <a:schemeClr val="bg1"/>
                </a:solidFill>
              </a:rPr>
              <a:t>jours </a:t>
            </a:r>
            <a:r>
              <a:rPr lang="fr-FR" sz="1200" b="1" dirty="0" err="1">
                <a:solidFill>
                  <a:schemeClr val="bg1"/>
                </a:solidFill>
              </a:rPr>
              <a:t>férier</a:t>
            </a:r>
            <a:r>
              <a:rPr lang="fr-FR" sz="1200" b="1" dirty="0">
                <a:solidFill>
                  <a:schemeClr val="bg1"/>
                </a:solidFill>
              </a:rPr>
              <a:t> et/ou fermer</a:t>
            </a:r>
            <a:r>
              <a:rPr lang="fr-FR" sz="1200" dirty="0">
                <a:solidFill>
                  <a:schemeClr val="bg1"/>
                </a:solidFill>
              </a:rPr>
              <a:t>.</a:t>
            </a:r>
          </a:p>
          <a:p>
            <a:pPr marL="282575" lvl="0" indent="-171450">
              <a:buClr>
                <a:schemeClr val="bg1"/>
              </a:buClr>
              <a:buSzPts val="1850"/>
              <a:buFontTx/>
              <a:buChar char="-"/>
            </a:pPr>
            <a:endParaRPr lang="fr-FR" sz="1200" dirty="0">
              <a:solidFill>
                <a:schemeClr val="bg1"/>
              </a:solidFill>
            </a:endParaRPr>
          </a:p>
          <a:p>
            <a:pPr marL="282575" indent="-171450">
              <a:buClr>
                <a:schemeClr val="bg1"/>
              </a:buClr>
              <a:buSzPts val="1850"/>
              <a:buFontTx/>
              <a:buChar char="-"/>
            </a:pPr>
            <a:r>
              <a:rPr lang="fr-FR" sz="1200" dirty="0">
                <a:solidFill>
                  <a:schemeClr val="bg1"/>
                </a:solidFill>
              </a:rPr>
              <a:t>Ajout d’une </a:t>
            </a:r>
            <a:r>
              <a:rPr lang="fr-FR" sz="1200" b="1" dirty="0">
                <a:solidFill>
                  <a:schemeClr val="bg1"/>
                </a:solidFill>
              </a:rPr>
              <a:t>booléen</a:t>
            </a:r>
            <a:r>
              <a:rPr lang="fr-FR" sz="1200" dirty="0">
                <a:solidFill>
                  <a:schemeClr val="bg1"/>
                </a:solidFill>
              </a:rPr>
              <a:t> dans la table </a:t>
            </a:r>
            <a:r>
              <a:rPr lang="fr-FR" sz="1200" b="1" dirty="0">
                <a:solidFill>
                  <a:schemeClr val="bg1"/>
                </a:solidFill>
              </a:rPr>
              <a:t>Calendrier</a:t>
            </a:r>
            <a:r>
              <a:rPr lang="fr-FR" sz="1200" dirty="0">
                <a:solidFill>
                  <a:schemeClr val="bg1"/>
                </a:solidFill>
              </a:rPr>
              <a:t> pour </a:t>
            </a:r>
            <a:r>
              <a:rPr lang="fr-FR" sz="1200" b="1" dirty="0">
                <a:solidFill>
                  <a:schemeClr val="bg1"/>
                </a:solidFill>
              </a:rPr>
              <a:t>bloquer les jours passée</a:t>
            </a:r>
            <a:r>
              <a:rPr lang="fr-FR" sz="1200" dirty="0">
                <a:solidFill>
                  <a:schemeClr val="bg1"/>
                </a:solidFill>
              </a:rPr>
              <a:t>.</a:t>
            </a:r>
          </a:p>
          <a:p>
            <a:pPr marL="282575" indent="-171450">
              <a:buClr>
                <a:schemeClr val="bg1"/>
              </a:buClr>
              <a:buSzPts val="1850"/>
              <a:buFontTx/>
              <a:buChar char="-"/>
            </a:pPr>
            <a:endParaRPr lang="fr-FR" sz="1200" dirty="0">
              <a:solidFill>
                <a:schemeClr val="bg1"/>
              </a:solidFill>
            </a:endParaRPr>
          </a:p>
          <a:p>
            <a:pPr marL="282575" indent="-171450">
              <a:buClr>
                <a:schemeClr val="bg1"/>
              </a:buClr>
              <a:buSzPts val="1850"/>
              <a:buFontTx/>
              <a:buChar char="-"/>
            </a:pPr>
            <a:r>
              <a:rPr lang="fr-FR" sz="1200" dirty="0">
                <a:solidFill>
                  <a:schemeClr val="bg1"/>
                </a:solidFill>
              </a:rPr>
              <a:t>Ajout d’une fonction empêchant la saisi dans </a:t>
            </a:r>
            <a:r>
              <a:rPr lang="fr-FR" sz="1200" dirty="0" err="1">
                <a:solidFill>
                  <a:schemeClr val="bg1"/>
                </a:solidFill>
              </a:rPr>
              <a:t>vente_detail</a:t>
            </a:r>
            <a:r>
              <a:rPr lang="fr-FR" sz="1200" dirty="0">
                <a:solidFill>
                  <a:schemeClr val="bg1"/>
                </a:solidFill>
              </a:rPr>
              <a:t> si les booléens </a:t>
            </a:r>
            <a:r>
              <a:rPr lang="fr-FR" sz="1200" i="1" dirty="0">
                <a:solidFill>
                  <a:schemeClr val="bg1"/>
                </a:solidFill>
              </a:rPr>
              <a:t>(l’un et/ou l’autre)</a:t>
            </a:r>
            <a:r>
              <a:rPr lang="fr-FR" sz="1200" dirty="0">
                <a:solidFill>
                  <a:schemeClr val="bg1"/>
                </a:solidFill>
              </a:rPr>
              <a:t> est vrai.</a:t>
            </a:r>
            <a:r>
              <a:rPr lang="fr-FR" sz="1200" u="sng" dirty="0">
                <a:solidFill>
                  <a:schemeClr val="bg1"/>
                </a:solidFill>
              </a:rPr>
              <a:t> </a:t>
            </a:r>
            <a:endParaRPr lang="fr-FR" sz="1200" dirty="0">
              <a:solidFill>
                <a:schemeClr val="bg1"/>
              </a:solidFill>
            </a:endParaRPr>
          </a:p>
          <a:p>
            <a:pPr marL="111125" lvl="0">
              <a:buClr>
                <a:schemeClr val="bg1"/>
              </a:buClr>
              <a:buSzPts val="1850"/>
            </a:pPr>
            <a:endParaRPr lang="fr-FR" sz="1200" dirty="0">
              <a:solidFill>
                <a:schemeClr val="bg1"/>
              </a:solidFill>
            </a:endParaRPr>
          </a:p>
          <a:p>
            <a:pPr marL="282575" lvl="0" indent="-171450">
              <a:buClr>
                <a:schemeClr val="bg1"/>
              </a:buClr>
              <a:buSzPts val="1850"/>
              <a:buFontTx/>
              <a:buChar char="-"/>
            </a:pPr>
            <a:r>
              <a:rPr lang="fr-FR" sz="1200" dirty="0">
                <a:solidFill>
                  <a:schemeClr val="bg1"/>
                </a:solidFill>
              </a:rPr>
              <a:t>Ajout d’un </a:t>
            </a:r>
            <a:r>
              <a:rPr lang="fr-FR" sz="1200" b="1" dirty="0">
                <a:solidFill>
                  <a:schemeClr val="bg1"/>
                </a:solidFill>
              </a:rPr>
              <a:t>id</a:t>
            </a:r>
            <a:r>
              <a:rPr lang="fr-FR" sz="1200" dirty="0">
                <a:solidFill>
                  <a:schemeClr val="bg1"/>
                </a:solidFill>
              </a:rPr>
              <a:t> dans les tables </a:t>
            </a:r>
            <a:r>
              <a:rPr lang="fr-FR" sz="1200" b="1" dirty="0">
                <a:solidFill>
                  <a:schemeClr val="bg1"/>
                </a:solidFill>
              </a:rPr>
              <a:t>Produits</a:t>
            </a:r>
            <a:r>
              <a:rPr lang="fr-FR" sz="1200" dirty="0">
                <a:solidFill>
                  <a:schemeClr val="bg1"/>
                </a:solidFill>
              </a:rPr>
              <a:t>, </a:t>
            </a:r>
            <a:r>
              <a:rPr lang="fr-FR" sz="1200" b="1" dirty="0">
                <a:solidFill>
                  <a:schemeClr val="bg1"/>
                </a:solidFill>
              </a:rPr>
              <a:t>Client</a:t>
            </a:r>
            <a:r>
              <a:rPr lang="fr-FR" sz="1200" dirty="0">
                <a:solidFill>
                  <a:schemeClr val="bg1"/>
                </a:solidFill>
              </a:rPr>
              <a:t> et </a:t>
            </a:r>
            <a:r>
              <a:rPr lang="fr-FR" sz="1200" b="1" dirty="0" err="1">
                <a:solidFill>
                  <a:schemeClr val="bg1"/>
                </a:solidFill>
              </a:rPr>
              <a:t>Employers</a:t>
            </a:r>
            <a:r>
              <a:rPr lang="fr-FR" sz="1200" dirty="0">
                <a:solidFill>
                  <a:schemeClr val="bg1"/>
                </a:solidFill>
              </a:rPr>
              <a:t> comme </a:t>
            </a:r>
            <a:r>
              <a:rPr lang="fr-FR" sz="1200" b="1" dirty="0">
                <a:solidFill>
                  <a:schemeClr val="bg1"/>
                </a:solidFill>
              </a:rPr>
              <a:t>clé primaire</a:t>
            </a:r>
            <a:r>
              <a:rPr lang="fr-FR" sz="1200" dirty="0">
                <a:solidFill>
                  <a:schemeClr val="bg1"/>
                </a:solidFill>
              </a:rPr>
              <a:t>.</a:t>
            </a:r>
          </a:p>
          <a:p>
            <a:pPr marL="282575" lvl="0" indent="-171450">
              <a:buClr>
                <a:schemeClr val="bg1"/>
              </a:buClr>
              <a:buSzPts val="1850"/>
              <a:buFontTx/>
              <a:buChar char="-"/>
            </a:pPr>
            <a:endParaRPr lang="fr-FR" sz="1200" b="1" dirty="0">
              <a:solidFill>
                <a:schemeClr val="bg1"/>
              </a:solidFill>
            </a:endParaRPr>
          </a:p>
          <a:p>
            <a:pPr marL="282575" lvl="0" indent="-171450">
              <a:buClr>
                <a:schemeClr val="bg1"/>
              </a:buClr>
              <a:buSzPts val="1850"/>
              <a:buFontTx/>
              <a:buChar char="-"/>
            </a:pPr>
            <a:r>
              <a:rPr lang="fr-FR" sz="1200" dirty="0">
                <a:solidFill>
                  <a:schemeClr val="bg1"/>
                </a:solidFill>
              </a:rPr>
              <a:t>Ajout d’une procédure stockée pour l’ajout de nouvelles données parfaitement formaté dans </a:t>
            </a:r>
            <a:r>
              <a:rPr lang="fr-FR" sz="1200" dirty="0" err="1">
                <a:solidFill>
                  <a:schemeClr val="bg1"/>
                </a:solidFill>
              </a:rPr>
              <a:t>vente_détail</a:t>
            </a:r>
            <a:r>
              <a:rPr lang="fr-FR" sz="1200" dirty="0">
                <a:solidFill>
                  <a:schemeClr val="bg1"/>
                </a:solidFill>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9">
          <a:extLst>
            <a:ext uri="{FF2B5EF4-FFF2-40B4-BE49-F238E27FC236}">
              <a16:creationId xmlns:a16="http://schemas.microsoft.com/office/drawing/2014/main" id="{A552F412-C613-F265-340C-E5878DE382DC}"/>
            </a:ext>
          </a:extLst>
        </p:cNvPr>
        <p:cNvGrpSpPr/>
        <p:nvPr/>
      </p:nvGrpSpPr>
      <p:grpSpPr>
        <a:xfrm>
          <a:off x="0" y="0"/>
          <a:ext cx="0" cy="0"/>
          <a:chOff x="0" y="0"/>
          <a:chExt cx="0" cy="0"/>
        </a:xfrm>
      </p:grpSpPr>
      <p:sp>
        <p:nvSpPr>
          <p:cNvPr id="200" name="Google Shape;200;p24">
            <a:extLst>
              <a:ext uri="{FF2B5EF4-FFF2-40B4-BE49-F238E27FC236}">
                <a16:creationId xmlns:a16="http://schemas.microsoft.com/office/drawing/2014/main" id="{F7E33E9F-FFF3-0B9F-8647-FEC456BBAE20}"/>
              </a:ext>
            </a:extLst>
          </p:cNvPr>
          <p:cNvSpPr txBox="1">
            <a:spLocks noGrp="1"/>
          </p:cNvSpPr>
          <p:nvPr>
            <p:ph type="title"/>
          </p:nvPr>
        </p:nvSpPr>
        <p:spPr>
          <a:xfrm>
            <a:off x="1297500" y="393750"/>
            <a:ext cx="7038900" cy="5599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dirty="0"/>
              <a:t>Recommandations pour l’entreprise</a:t>
            </a:r>
            <a:endParaRPr dirty="0"/>
          </a:p>
        </p:txBody>
      </p:sp>
      <p:sp>
        <p:nvSpPr>
          <p:cNvPr id="2" name="ZoneTexte 1">
            <a:extLst>
              <a:ext uri="{FF2B5EF4-FFF2-40B4-BE49-F238E27FC236}">
                <a16:creationId xmlns:a16="http://schemas.microsoft.com/office/drawing/2014/main" id="{9452B6AF-1D61-F6F5-058B-0BC22A0C75D3}"/>
              </a:ext>
            </a:extLst>
          </p:cNvPr>
          <p:cNvSpPr txBox="1"/>
          <p:nvPr/>
        </p:nvSpPr>
        <p:spPr>
          <a:xfrm>
            <a:off x="1220430" y="1142488"/>
            <a:ext cx="2062520" cy="338554"/>
          </a:xfrm>
          <a:prstGeom prst="rect">
            <a:avLst/>
          </a:prstGeom>
          <a:noFill/>
        </p:spPr>
        <p:txBody>
          <a:bodyPr wrap="square" rtlCol="0">
            <a:spAutoFit/>
          </a:bodyPr>
          <a:lstStyle/>
          <a:p>
            <a:pPr marL="111125" lvl="0">
              <a:buClr>
                <a:schemeClr val="bg1"/>
              </a:buClr>
              <a:buSzPts val="1850"/>
            </a:pPr>
            <a:r>
              <a:rPr lang="fr-FR" sz="1600" u="sng" dirty="0">
                <a:solidFill>
                  <a:schemeClr val="bg1"/>
                </a:solidFill>
              </a:rPr>
              <a:t>Prototype</a:t>
            </a:r>
            <a:r>
              <a:rPr lang="fr-FR" u="sng" dirty="0">
                <a:solidFill>
                  <a:schemeClr val="bg1"/>
                </a:solidFill>
              </a:rPr>
              <a:t> </a:t>
            </a:r>
          </a:p>
        </p:txBody>
      </p:sp>
      <p:pic>
        <p:nvPicPr>
          <p:cNvPr id="7" name="Image 6">
            <a:extLst>
              <a:ext uri="{FF2B5EF4-FFF2-40B4-BE49-F238E27FC236}">
                <a16:creationId xmlns:a16="http://schemas.microsoft.com/office/drawing/2014/main" id="{87E8F486-C446-E54C-ADC5-1656564CD3E5}"/>
              </a:ext>
            </a:extLst>
          </p:cNvPr>
          <p:cNvPicPr>
            <a:picLocks noChangeAspect="1"/>
          </p:cNvPicPr>
          <p:nvPr/>
        </p:nvPicPr>
        <p:blipFill>
          <a:blip r:embed="rId3"/>
          <a:stretch>
            <a:fillRect/>
          </a:stretch>
        </p:blipFill>
        <p:spPr>
          <a:xfrm>
            <a:off x="2305664" y="1481042"/>
            <a:ext cx="4618717" cy="3429604"/>
          </a:xfrm>
          <a:prstGeom prst="rect">
            <a:avLst/>
          </a:prstGeom>
        </p:spPr>
      </p:pic>
    </p:spTree>
    <p:extLst>
      <p:ext uri="{BB962C8B-B14F-4D97-AF65-F5344CB8AC3E}">
        <p14:creationId xmlns:p14="http://schemas.microsoft.com/office/powerpoint/2010/main" val="42579805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dirty="0">
                <a:latin typeface="Arial" panose="020B0604020202020204" pitchFamily="34" charset="0"/>
                <a:cs typeface="Arial" panose="020B0604020202020204" pitchFamily="34" charset="0"/>
              </a:rPr>
              <a:t>Recommandations pour l’entreprise</a:t>
            </a:r>
            <a:br>
              <a:rPr lang="fr" dirty="0">
                <a:latin typeface="Arial" panose="020B0604020202020204" pitchFamily="34" charset="0"/>
                <a:cs typeface="Arial" panose="020B0604020202020204" pitchFamily="34" charset="0"/>
              </a:rPr>
            </a:br>
            <a:r>
              <a:rPr lang="fr" sz="1850" dirty="0">
                <a:latin typeface="Arial" panose="020B0604020202020204" pitchFamily="34" charset="0"/>
                <a:cs typeface="Arial" panose="020B0604020202020204" pitchFamily="34" charset="0"/>
              </a:rPr>
              <a:t>Avantages et inconvénients de la solution</a:t>
            </a:r>
            <a:endParaRPr sz="1850" dirty="0">
              <a:latin typeface="Arial" panose="020B0604020202020204" pitchFamily="34" charset="0"/>
              <a:cs typeface="Arial" panose="020B0604020202020204" pitchFamily="34" charset="0"/>
            </a:endParaRPr>
          </a:p>
        </p:txBody>
      </p:sp>
      <p:sp>
        <p:nvSpPr>
          <p:cNvPr id="206" name="Google Shape;206;p25"/>
          <p:cNvSpPr txBox="1">
            <a:spLocks noGrp="1"/>
          </p:cNvSpPr>
          <p:nvPr>
            <p:ph type="body" idx="1"/>
          </p:nvPr>
        </p:nvSpPr>
        <p:spPr>
          <a:xfrm>
            <a:off x="589935" y="1435509"/>
            <a:ext cx="8195187" cy="3406877"/>
          </a:xfrm>
          <a:prstGeom prst="rect">
            <a:avLst/>
          </a:prstGeom>
        </p:spPr>
        <p:txBody>
          <a:bodyPr spcFirstLastPara="1" wrap="square" lIns="91425" tIns="91425" rIns="91425" bIns="91425" anchor="t" anchorCtr="0">
            <a:noAutofit/>
          </a:bodyPr>
          <a:lstStyle/>
          <a:p>
            <a:r>
              <a:rPr lang="fr-FR" sz="1400" b="1" u="sng" dirty="0">
                <a:latin typeface="Arial" panose="020B0604020202020204" pitchFamily="34" charset="0"/>
                <a:cs typeface="Arial" panose="020B0604020202020204" pitchFamily="34" charset="0"/>
              </a:rPr>
              <a:t>Avantages :</a:t>
            </a:r>
          </a:p>
          <a:p>
            <a:pPr lvl="1">
              <a:buFontTx/>
              <a:buChar char="-"/>
            </a:pPr>
            <a:r>
              <a:rPr lang="fr-FR" sz="900" b="1" dirty="0">
                <a:latin typeface="Arial" panose="020B0604020202020204" pitchFamily="34" charset="0"/>
                <a:cs typeface="Arial" panose="020B0604020202020204" pitchFamily="34" charset="0"/>
              </a:rPr>
              <a:t>Restauration de la Confiance et Fiabilité Analytique :</a:t>
            </a:r>
            <a:r>
              <a:rPr lang="fr-FR" sz="900" dirty="0">
                <a:latin typeface="Arial" panose="020B0604020202020204" pitchFamily="34" charset="0"/>
                <a:cs typeface="Arial" panose="020B0604020202020204" pitchFamily="34" charset="0"/>
              </a:rPr>
              <a:t> </a:t>
            </a:r>
            <a:r>
              <a:rPr lang="fr-FR" sz="900" dirty="0">
                <a:solidFill>
                  <a:schemeClr val="bg1">
                    <a:lumMod val="65000"/>
                  </a:schemeClr>
                </a:solidFill>
                <a:latin typeface="Arial" panose="020B0604020202020204" pitchFamily="34" charset="0"/>
                <a:cs typeface="Arial" panose="020B0604020202020204" pitchFamily="34" charset="0"/>
              </a:rPr>
              <a:t>La mise en place de Triggers et de contrôles de date garantit l'</a:t>
            </a:r>
            <a:r>
              <a:rPr lang="fr-FR" sz="900" b="1" dirty="0">
                <a:solidFill>
                  <a:schemeClr val="bg1">
                    <a:lumMod val="65000"/>
                  </a:schemeClr>
                </a:solidFill>
                <a:latin typeface="Arial" panose="020B0604020202020204" pitchFamily="34" charset="0"/>
                <a:cs typeface="Arial" panose="020B0604020202020204" pitchFamily="34" charset="0"/>
              </a:rPr>
              <a:t>immuabilité du CA historique</a:t>
            </a:r>
            <a:r>
              <a:rPr lang="fr-FR" sz="900" dirty="0">
                <a:solidFill>
                  <a:schemeClr val="bg1">
                    <a:lumMod val="65000"/>
                  </a:schemeClr>
                </a:solidFill>
                <a:latin typeface="Arial" panose="020B0604020202020204" pitchFamily="34" charset="0"/>
                <a:cs typeface="Arial" panose="020B0604020202020204" pitchFamily="34" charset="0"/>
              </a:rPr>
              <a:t>.</a:t>
            </a:r>
          </a:p>
          <a:p>
            <a:pPr lvl="1">
              <a:buFontTx/>
              <a:buChar char="-"/>
            </a:pPr>
            <a:r>
              <a:rPr lang="fr-FR" sz="900" b="1" dirty="0">
                <a:latin typeface="Arial" panose="020B0604020202020204" pitchFamily="34" charset="0"/>
                <a:cs typeface="Arial" panose="020B0604020202020204" pitchFamily="34" charset="0"/>
              </a:rPr>
              <a:t>Contrôle Qualité Automatisé et Préventif :</a:t>
            </a:r>
            <a:r>
              <a:rPr lang="fr-FR" sz="900" dirty="0">
                <a:latin typeface="Arial" panose="020B0604020202020204" pitchFamily="34" charset="0"/>
                <a:cs typeface="Arial" panose="020B0604020202020204" pitchFamily="34" charset="0"/>
              </a:rPr>
              <a:t> </a:t>
            </a:r>
            <a:r>
              <a:rPr lang="fr-FR" sz="900" dirty="0">
                <a:solidFill>
                  <a:schemeClr val="bg1">
                    <a:lumMod val="65000"/>
                  </a:schemeClr>
                </a:solidFill>
                <a:latin typeface="Arial" panose="020B0604020202020204" pitchFamily="34" charset="0"/>
                <a:cs typeface="Arial" panose="020B0604020202020204" pitchFamily="34" charset="0"/>
              </a:rPr>
              <a:t>L'utilisation de </a:t>
            </a:r>
            <a:r>
              <a:rPr lang="fr-FR" sz="900" b="1" dirty="0">
                <a:solidFill>
                  <a:schemeClr val="bg1">
                    <a:lumMod val="65000"/>
                  </a:schemeClr>
                </a:solidFill>
                <a:latin typeface="Arial" panose="020B0604020202020204" pitchFamily="34" charset="0"/>
                <a:cs typeface="Arial" panose="020B0604020202020204" pitchFamily="34" charset="0"/>
              </a:rPr>
              <a:t>contraintes CHECK</a:t>
            </a:r>
            <a:r>
              <a:rPr lang="fr-FR" sz="900" dirty="0">
                <a:solidFill>
                  <a:schemeClr val="bg1">
                    <a:lumMod val="65000"/>
                  </a:schemeClr>
                </a:solidFill>
                <a:latin typeface="Arial" panose="020B0604020202020204" pitchFamily="34" charset="0"/>
                <a:cs typeface="Arial" panose="020B0604020202020204" pitchFamily="34" charset="0"/>
              </a:rPr>
              <a:t> et de </a:t>
            </a:r>
            <a:r>
              <a:rPr lang="fr-FR" sz="900" b="1" dirty="0">
                <a:solidFill>
                  <a:schemeClr val="bg1">
                    <a:lumMod val="65000"/>
                  </a:schemeClr>
                </a:solidFill>
                <a:latin typeface="Arial" panose="020B0604020202020204" pitchFamily="34" charset="0"/>
                <a:cs typeface="Arial" panose="020B0604020202020204" pitchFamily="34" charset="0"/>
              </a:rPr>
              <a:t>procédures stockées</a:t>
            </a:r>
            <a:r>
              <a:rPr lang="fr-FR" sz="900" dirty="0">
                <a:solidFill>
                  <a:schemeClr val="bg1">
                    <a:lumMod val="65000"/>
                  </a:schemeClr>
                </a:solidFill>
                <a:latin typeface="Arial" panose="020B0604020202020204" pitchFamily="34" charset="0"/>
                <a:cs typeface="Arial" panose="020B0604020202020204" pitchFamily="34" charset="0"/>
              </a:rPr>
              <a:t> force la validation des données </a:t>
            </a:r>
            <a:r>
              <a:rPr lang="fr-FR" sz="900" i="1" dirty="0">
                <a:solidFill>
                  <a:schemeClr val="bg1">
                    <a:lumMod val="65000"/>
                  </a:schemeClr>
                </a:solidFill>
                <a:latin typeface="Arial" panose="020B0604020202020204" pitchFamily="34" charset="0"/>
                <a:cs typeface="Arial" panose="020B0604020202020204" pitchFamily="34" charset="0"/>
              </a:rPr>
              <a:t>avant</a:t>
            </a:r>
            <a:r>
              <a:rPr lang="fr-FR" sz="900" dirty="0">
                <a:solidFill>
                  <a:schemeClr val="bg1">
                    <a:lumMod val="65000"/>
                  </a:schemeClr>
                </a:solidFill>
                <a:latin typeface="Arial" panose="020B0604020202020204" pitchFamily="34" charset="0"/>
                <a:cs typeface="Arial" panose="020B0604020202020204" pitchFamily="34" charset="0"/>
              </a:rPr>
              <a:t> l'insertion. Le système passe d'une correction manuelle à une </a:t>
            </a:r>
            <a:r>
              <a:rPr lang="fr-FR" sz="900" b="1" dirty="0">
                <a:solidFill>
                  <a:schemeClr val="bg1">
                    <a:lumMod val="65000"/>
                  </a:schemeClr>
                </a:solidFill>
                <a:latin typeface="Arial" panose="020B0604020202020204" pitchFamily="34" charset="0"/>
                <a:cs typeface="Arial" panose="020B0604020202020204" pitchFamily="34" charset="0"/>
              </a:rPr>
              <a:t>prévention automatisée</a:t>
            </a:r>
            <a:r>
              <a:rPr lang="fr-FR" sz="900" dirty="0">
                <a:solidFill>
                  <a:schemeClr val="bg1">
                    <a:lumMod val="65000"/>
                  </a:schemeClr>
                </a:solidFill>
                <a:latin typeface="Arial" panose="020B0604020202020204" pitchFamily="34" charset="0"/>
                <a:cs typeface="Arial" panose="020B0604020202020204" pitchFamily="34" charset="0"/>
              </a:rPr>
              <a:t>, éliminant les erreurs humaines (comme les dates incohérentes) à la source.</a:t>
            </a:r>
          </a:p>
          <a:p>
            <a:pPr lvl="1">
              <a:buFontTx/>
              <a:buChar char="-"/>
            </a:pPr>
            <a:r>
              <a:rPr lang="fr-FR" sz="900" b="1" dirty="0">
                <a:latin typeface="Arial" panose="020B0604020202020204" pitchFamily="34" charset="0"/>
                <a:cs typeface="Arial" panose="020B0604020202020204" pitchFamily="34" charset="0"/>
              </a:rPr>
              <a:t>Meilleure Maintenabilité et Évolutivité :</a:t>
            </a:r>
            <a:r>
              <a:rPr lang="fr-FR" sz="900" dirty="0">
                <a:latin typeface="Arial" panose="020B0604020202020204" pitchFamily="34" charset="0"/>
                <a:cs typeface="Arial" panose="020B0604020202020204" pitchFamily="34" charset="0"/>
              </a:rPr>
              <a:t> </a:t>
            </a:r>
            <a:r>
              <a:rPr lang="fr-FR" sz="900" dirty="0">
                <a:solidFill>
                  <a:schemeClr val="bg1">
                    <a:lumMod val="65000"/>
                  </a:schemeClr>
                </a:solidFill>
                <a:latin typeface="Arial" panose="020B0604020202020204" pitchFamily="34" charset="0"/>
                <a:cs typeface="Arial" panose="020B0604020202020204" pitchFamily="34" charset="0"/>
              </a:rPr>
              <a:t>L'application formelle des </a:t>
            </a:r>
            <a:r>
              <a:rPr lang="fr-FR" sz="900" b="1" dirty="0">
                <a:solidFill>
                  <a:schemeClr val="bg1">
                    <a:lumMod val="65000"/>
                  </a:schemeClr>
                </a:solidFill>
                <a:latin typeface="Arial" panose="020B0604020202020204" pitchFamily="34" charset="0"/>
                <a:cs typeface="Arial" panose="020B0604020202020204" pitchFamily="34" charset="0"/>
              </a:rPr>
              <a:t>clés primaires et étrangères</a:t>
            </a:r>
            <a:r>
              <a:rPr lang="fr-FR" sz="900" dirty="0">
                <a:solidFill>
                  <a:schemeClr val="bg1">
                    <a:lumMod val="65000"/>
                  </a:schemeClr>
                </a:solidFill>
                <a:latin typeface="Arial" panose="020B0604020202020204" pitchFamily="34" charset="0"/>
                <a:cs typeface="Arial" panose="020B0604020202020204" pitchFamily="34" charset="0"/>
              </a:rPr>
              <a:t> </a:t>
            </a:r>
            <a:r>
              <a:rPr lang="fr-FR" sz="900" i="1" dirty="0">
                <a:solidFill>
                  <a:schemeClr val="bg1">
                    <a:lumMod val="65000"/>
                  </a:schemeClr>
                </a:solidFill>
                <a:latin typeface="Arial" panose="020B0604020202020204" pitchFamily="34" charset="0"/>
                <a:cs typeface="Arial" panose="020B0604020202020204" pitchFamily="34" charset="0"/>
              </a:rPr>
              <a:t>(PK/FK) </a:t>
            </a:r>
            <a:r>
              <a:rPr lang="fr-FR" sz="900" dirty="0">
                <a:solidFill>
                  <a:schemeClr val="bg1">
                    <a:lumMod val="65000"/>
                  </a:schemeClr>
                </a:solidFill>
                <a:latin typeface="Arial" panose="020B0604020202020204" pitchFamily="34" charset="0"/>
                <a:cs typeface="Arial" panose="020B0604020202020204" pitchFamily="34" charset="0"/>
              </a:rPr>
              <a:t>et la publication de la </a:t>
            </a:r>
            <a:r>
              <a:rPr lang="fr-FR" sz="900" b="1" dirty="0">
                <a:solidFill>
                  <a:schemeClr val="bg1">
                    <a:lumMod val="65000"/>
                  </a:schemeClr>
                </a:solidFill>
                <a:latin typeface="Arial" panose="020B0604020202020204" pitchFamily="34" charset="0"/>
                <a:cs typeface="Arial" panose="020B0604020202020204" pitchFamily="34" charset="0"/>
              </a:rPr>
              <a:t>documentation</a:t>
            </a:r>
            <a:r>
              <a:rPr lang="fr-FR" sz="900" dirty="0">
                <a:solidFill>
                  <a:schemeClr val="bg1">
                    <a:lumMod val="65000"/>
                  </a:schemeClr>
                </a:solidFill>
                <a:latin typeface="Arial" panose="020B0604020202020204" pitchFamily="34" charset="0"/>
                <a:cs typeface="Arial" panose="020B0604020202020204" pitchFamily="34" charset="0"/>
              </a:rPr>
              <a:t> structurent l'entrepôt. Cela réduit l'inertie opérationnelle et sécurise les futures évolutions.</a:t>
            </a:r>
          </a:p>
          <a:p>
            <a:endParaRPr lang="fr-FR" sz="800" b="1" dirty="0">
              <a:latin typeface="Arial" panose="020B0604020202020204" pitchFamily="34" charset="0"/>
              <a:cs typeface="Arial" panose="020B0604020202020204" pitchFamily="34" charset="0"/>
            </a:endParaRPr>
          </a:p>
          <a:p>
            <a:r>
              <a:rPr lang="fr-FR" sz="1400" b="1" u="sng" dirty="0">
                <a:latin typeface="Arial" panose="020B0604020202020204" pitchFamily="34" charset="0"/>
                <a:cs typeface="Arial" panose="020B0604020202020204" pitchFamily="34" charset="0"/>
              </a:rPr>
              <a:t>Inconvénients:</a:t>
            </a:r>
          </a:p>
          <a:p>
            <a:pPr lvl="1">
              <a:buFontTx/>
              <a:buChar char="-"/>
            </a:pPr>
            <a:r>
              <a:rPr lang="fr-FR" sz="900" b="1" dirty="0">
                <a:latin typeface="Arial" panose="020B0604020202020204" pitchFamily="34" charset="0"/>
                <a:cs typeface="Arial" panose="020B0604020202020204" pitchFamily="34" charset="0"/>
              </a:rPr>
              <a:t>Coût en Temps et Complexité d'Implémentation :</a:t>
            </a:r>
            <a:r>
              <a:rPr lang="fr-FR" sz="900" dirty="0">
                <a:latin typeface="Arial" panose="020B0604020202020204" pitchFamily="34" charset="0"/>
                <a:cs typeface="Arial" panose="020B0604020202020204" pitchFamily="34" charset="0"/>
              </a:rPr>
              <a:t> </a:t>
            </a:r>
            <a:r>
              <a:rPr lang="fr-FR" sz="900" dirty="0">
                <a:solidFill>
                  <a:schemeClr val="bg1">
                    <a:lumMod val="65000"/>
                  </a:schemeClr>
                </a:solidFill>
                <a:latin typeface="Arial" panose="020B0604020202020204" pitchFamily="34" charset="0"/>
                <a:cs typeface="Arial" panose="020B0604020202020204" pitchFamily="34" charset="0"/>
              </a:rPr>
              <a:t>La création et le déploiement de </a:t>
            </a:r>
            <a:r>
              <a:rPr lang="fr-FR" sz="900" i="1" dirty="0">
                <a:solidFill>
                  <a:schemeClr val="bg1">
                    <a:lumMod val="65000"/>
                  </a:schemeClr>
                </a:solidFill>
                <a:latin typeface="Arial" panose="020B0604020202020204" pitchFamily="34" charset="0"/>
                <a:cs typeface="Arial" panose="020B0604020202020204" pitchFamily="34" charset="0"/>
              </a:rPr>
              <a:t>Triggers</a:t>
            </a:r>
            <a:r>
              <a:rPr lang="fr-FR" sz="900" dirty="0">
                <a:solidFill>
                  <a:schemeClr val="bg1">
                    <a:lumMod val="65000"/>
                  </a:schemeClr>
                </a:solidFill>
                <a:latin typeface="Arial" panose="020B0604020202020204" pitchFamily="34" charset="0"/>
                <a:cs typeface="Arial" panose="020B0604020202020204" pitchFamily="34" charset="0"/>
              </a:rPr>
              <a:t> complexes et de nouvelles contraintes nécessitent un </a:t>
            </a:r>
            <a:r>
              <a:rPr lang="fr-FR" sz="900" b="1" dirty="0">
                <a:solidFill>
                  <a:schemeClr val="bg1">
                    <a:lumMod val="65000"/>
                  </a:schemeClr>
                </a:solidFill>
                <a:latin typeface="Arial" panose="020B0604020202020204" pitchFamily="34" charset="0"/>
                <a:cs typeface="Arial" panose="020B0604020202020204" pitchFamily="34" charset="0"/>
              </a:rPr>
              <a:t>travail d'ingénierie rigoureux</a:t>
            </a:r>
            <a:r>
              <a:rPr lang="fr-FR" sz="900" dirty="0">
                <a:solidFill>
                  <a:schemeClr val="bg1">
                    <a:lumMod val="65000"/>
                  </a:schemeClr>
                </a:solidFill>
                <a:latin typeface="Arial" panose="020B0604020202020204" pitchFamily="34" charset="0"/>
                <a:cs typeface="Arial" panose="020B0604020202020204" pitchFamily="34" charset="0"/>
              </a:rPr>
              <a:t> et des phases de tests intensives </a:t>
            </a:r>
            <a:r>
              <a:rPr lang="fr-FR" sz="900" i="1" dirty="0">
                <a:solidFill>
                  <a:schemeClr val="bg1">
                    <a:lumMod val="65000"/>
                  </a:schemeClr>
                </a:solidFill>
                <a:latin typeface="Arial" panose="020B0604020202020204" pitchFamily="34" charset="0"/>
                <a:cs typeface="Arial" panose="020B0604020202020204" pitchFamily="34" charset="0"/>
              </a:rPr>
              <a:t>(notamment pour la correction unique des données historiques)</a:t>
            </a:r>
            <a:r>
              <a:rPr lang="fr-FR" sz="900" dirty="0">
                <a:solidFill>
                  <a:schemeClr val="bg1">
                    <a:lumMod val="65000"/>
                  </a:schemeClr>
                </a:solidFill>
                <a:latin typeface="Arial" panose="020B0604020202020204" pitchFamily="34" charset="0"/>
                <a:cs typeface="Arial" panose="020B0604020202020204" pitchFamily="34" charset="0"/>
              </a:rPr>
              <a:t>.</a:t>
            </a:r>
          </a:p>
          <a:p>
            <a:pPr lvl="1">
              <a:buFontTx/>
              <a:buChar char="-"/>
            </a:pPr>
            <a:r>
              <a:rPr lang="fr-FR" sz="900" b="1" dirty="0">
                <a:latin typeface="Arial" panose="020B0604020202020204" pitchFamily="34" charset="0"/>
                <a:cs typeface="Arial" panose="020B0604020202020204" pitchFamily="34" charset="0"/>
              </a:rPr>
              <a:t>Rework Complet des Flux ETL/ELT Existants :</a:t>
            </a:r>
            <a:r>
              <a:rPr lang="fr-FR" sz="900" dirty="0">
                <a:latin typeface="Arial" panose="020B0604020202020204" pitchFamily="34" charset="0"/>
                <a:cs typeface="Arial" panose="020B0604020202020204" pitchFamily="34" charset="0"/>
              </a:rPr>
              <a:t> </a:t>
            </a:r>
            <a:r>
              <a:rPr lang="fr-FR" sz="900" dirty="0">
                <a:solidFill>
                  <a:schemeClr val="bg1">
                    <a:lumMod val="65000"/>
                  </a:schemeClr>
                </a:solidFill>
                <a:latin typeface="Arial" panose="020B0604020202020204" pitchFamily="34" charset="0"/>
                <a:cs typeface="Arial" panose="020B0604020202020204" pitchFamily="34" charset="0"/>
              </a:rPr>
              <a:t>Les processus d'alimentation existants devront être </a:t>
            </a:r>
            <a:r>
              <a:rPr lang="fr-FR" sz="900" b="1" dirty="0">
                <a:solidFill>
                  <a:schemeClr val="bg1">
                    <a:lumMod val="65000"/>
                  </a:schemeClr>
                </a:solidFill>
                <a:latin typeface="Arial" panose="020B0604020202020204" pitchFamily="34" charset="0"/>
                <a:cs typeface="Arial" panose="020B0604020202020204" pitchFamily="34" charset="0"/>
              </a:rPr>
              <a:t>entièrement adaptés</a:t>
            </a:r>
            <a:r>
              <a:rPr lang="fr-FR" sz="900" dirty="0">
                <a:solidFill>
                  <a:schemeClr val="bg1">
                    <a:lumMod val="65000"/>
                  </a:schemeClr>
                </a:solidFill>
                <a:latin typeface="Arial" panose="020B0604020202020204" pitchFamily="34" charset="0"/>
                <a:cs typeface="Arial" panose="020B0604020202020204" pitchFamily="34" charset="0"/>
              </a:rPr>
              <a:t> pour passer par les nouvelles </a:t>
            </a:r>
            <a:r>
              <a:rPr lang="fr-FR" sz="900" b="1" dirty="0">
                <a:solidFill>
                  <a:schemeClr val="bg1">
                    <a:lumMod val="65000"/>
                  </a:schemeClr>
                </a:solidFill>
                <a:latin typeface="Arial" panose="020B0604020202020204" pitchFamily="34" charset="0"/>
                <a:cs typeface="Arial" panose="020B0604020202020204" pitchFamily="34" charset="0"/>
              </a:rPr>
              <a:t>procédures stockées</a:t>
            </a:r>
            <a:r>
              <a:rPr lang="fr-FR" sz="900" dirty="0">
                <a:solidFill>
                  <a:schemeClr val="bg1">
                    <a:lumMod val="65000"/>
                  </a:schemeClr>
                </a:solidFill>
                <a:latin typeface="Arial" panose="020B0604020202020204" pitchFamily="34" charset="0"/>
                <a:cs typeface="Arial" panose="020B0604020202020204" pitchFamily="34" charset="0"/>
              </a:rPr>
              <a:t> de validation et pour gérer les erreurs de contraintes.</a:t>
            </a:r>
          </a:p>
          <a:p>
            <a:pPr lvl="1">
              <a:buFontTx/>
              <a:buChar char="-"/>
            </a:pPr>
            <a:r>
              <a:rPr lang="fr-FR" sz="900" b="1" dirty="0">
                <a:latin typeface="Arial" panose="020B0604020202020204" pitchFamily="34" charset="0"/>
                <a:cs typeface="Arial" panose="020B0604020202020204" pitchFamily="34" charset="0"/>
              </a:rPr>
              <a:t>Impact Potentiel sur les Performances d'Écriture </a:t>
            </a:r>
            <a:r>
              <a:rPr lang="fr-FR" sz="900" b="1" dirty="0">
                <a:solidFill>
                  <a:schemeClr val="bg1">
                    <a:lumMod val="65000"/>
                  </a:schemeClr>
                </a:solidFill>
                <a:latin typeface="Arial" panose="020B0604020202020204" pitchFamily="34" charset="0"/>
                <a:cs typeface="Arial" panose="020B0604020202020204" pitchFamily="34" charset="0"/>
              </a:rPr>
              <a:t>:</a:t>
            </a:r>
            <a:r>
              <a:rPr lang="fr-FR" sz="900" dirty="0">
                <a:solidFill>
                  <a:schemeClr val="bg1">
                    <a:lumMod val="65000"/>
                  </a:schemeClr>
                </a:solidFill>
                <a:latin typeface="Arial" panose="020B0604020202020204" pitchFamily="34" charset="0"/>
                <a:cs typeface="Arial" panose="020B0604020202020204" pitchFamily="34" charset="0"/>
              </a:rPr>
              <a:t> L'ajout de </a:t>
            </a:r>
            <a:r>
              <a:rPr lang="fr-FR" sz="900" i="1" dirty="0">
                <a:solidFill>
                  <a:schemeClr val="bg1">
                    <a:lumMod val="65000"/>
                  </a:schemeClr>
                </a:solidFill>
                <a:latin typeface="Arial" panose="020B0604020202020204" pitchFamily="34" charset="0"/>
                <a:cs typeface="Arial" panose="020B0604020202020204" pitchFamily="34" charset="0"/>
              </a:rPr>
              <a:t>Triggers</a:t>
            </a:r>
            <a:r>
              <a:rPr lang="fr-FR" sz="900" dirty="0">
                <a:solidFill>
                  <a:schemeClr val="bg1">
                    <a:lumMod val="65000"/>
                  </a:schemeClr>
                </a:solidFill>
                <a:latin typeface="Arial" panose="020B0604020202020204" pitchFamily="34" charset="0"/>
                <a:cs typeface="Arial" panose="020B0604020202020204" pitchFamily="34" charset="0"/>
              </a:rPr>
              <a:t> sur la table des faits </a:t>
            </a:r>
            <a:r>
              <a:rPr lang="fr-FR" sz="900" i="1" dirty="0">
                <a:solidFill>
                  <a:schemeClr val="bg1">
                    <a:lumMod val="65000"/>
                  </a:schemeClr>
                </a:solidFill>
                <a:latin typeface="Arial" panose="020B0604020202020204" pitchFamily="34" charset="0"/>
                <a:cs typeface="Arial" panose="020B0604020202020204" pitchFamily="34" charset="0"/>
              </a:rPr>
              <a:t>(</a:t>
            </a:r>
            <a:r>
              <a:rPr lang="fr-FR" sz="900" i="1" dirty="0" err="1">
                <a:solidFill>
                  <a:schemeClr val="bg1">
                    <a:lumMod val="65000"/>
                  </a:schemeClr>
                </a:solidFill>
                <a:latin typeface="Arial" panose="020B0604020202020204" pitchFamily="34" charset="0"/>
                <a:cs typeface="Arial" panose="020B0604020202020204" pitchFamily="34" charset="0"/>
              </a:rPr>
              <a:t>vente_detail</a:t>
            </a:r>
            <a:r>
              <a:rPr lang="fr-FR" sz="900" i="1" dirty="0">
                <a:solidFill>
                  <a:schemeClr val="bg1">
                    <a:lumMod val="65000"/>
                  </a:schemeClr>
                </a:solidFill>
                <a:latin typeface="Arial" panose="020B0604020202020204" pitchFamily="34" charset="0"/>
                <a:cs typeface="Arial" panose="020B0604020202020204" pitchFamily="34" charset="0"/>
              </a:rPr>
              <a:t>) </a:t>
            </a:r>
            <a:r>
              <a:rPr lang="fr-FR" sz="900" dirty="0">
                <a:solidFill>
                  <a:schemeClr val="bg1">
                    <a:lumMod val="65000"/>
                  </a:schemeClr>
                </a:solidFill>
                <a:latin typeface="Arial" panose="020B0604020202020204" pitchFamily="34" charset="0"/>
                <a:cs typeface="Arial" panose="020B0604020202020204" pitchFamily="34" charset="0"/>
              </a:rPr>
              <a:t>peut introduire un </a:t>
            </a:r>
            <a:r>
              <a:rPr lang="fr-FR" sz="900" b="1" dirty="0">
                <a:solidFill>
                  <a:schemeClr val="bg1">
                    <a:lumMod val="65000"/>
                  </a:schemeClr>
                </a:solidFill>
                <a:latin typeface="Arial" panose="020B0604020202020204" pitchFamily="34" charset="0"/>
                <a:cs typeface="Arial" panose="020B0604020202020204" pitchFamily="34" charset="0"/>
              </a:rPr>
              <a:t>surcoût de calcul</a:t>
            </a:r>
            <a:r>
              <a:rPr lang="fr-FR" sz="900" dirty="0">
                <a:solidFill>
                  <a:schemeClr val="bg1">
                    <a:lumMod val="65000"/>
                  </a:schemeClr>
                </a:solidFill>
                <a:latin typeface="Arial" panose="020B0604020202020204" pitchFamily="34" charset="0"/>
                <a:cs typeface="Arial" panose="020B0604020202020204" pitchFamily="34" charset="0"/>
              </a:rPr>
              <a:t> à chaque insertion </a:t>
            </a:r>
            <a:r>
              <a:rPr lang="fr-FR" sz="900" i="1" dirty="0">
                <a:solidFill>
                  <a:schemeClr val="bg1">
                    <a:lumMod val="65000"/>
                  </a:schemeClr>
                </a:solidFill>
                <a:latin typeface="Arial" panose="020B0604020202020204" pitchFamily="34" charset="0"/>
                <a:cs typeface="Arial" panose="020B0604020202020204" pitchFamily="34" charset="0"/>
              </a:rPr>
              <a:t>(INSERT)</a:t>
            </a:r>
            <a:r>
              <a:rPr lang="fr-FR" sz="900" dirty="0">
                <a:solidFill>
                  <a:schemeClr val="bg1">
                    <a:lumMod val="65000"/>
                  </a:schemeClr>
                </a:solidFill>
                <a:latin typeface="Arial" panose="020B0604020202020204" pitchFamily="34" charset="0"/>
                <a:cs typeface="Arial" panose="020B0604020202020204" pitchFamily="34" charset="0"/>
              </a:rPr>
              <a:t>, risquant de ralentir légèrement le processus de chargement des nouvelles données si le volume de transactions est très élevé.</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dirty="0">
                <a:latin typeface="Arial" panose="020B0604020202020204" pitchFamily="34" charset="0"/>
                <a:cs typeface="Arial" panose="020B0604020202020204" pitchFamily="34" charset="0"/>
              </a:rPr>
              <a:t>Recommandations pour l’entreprise</a:t>
            </a:r>
            <a:br>
              <a:rPr lang="fr" dirty="0">
                <a:latin typeface="Arial" panose="020B0604020202020204" pitchFamily="34" charset="0"/>
                <a:cs typeface="Arial" panose="020B0604020202020204" pitchFamily="34" charset="0"/>
              </a:rPr>
            </a:br>
            <a:r>
              <a:rPr lang="fr" sz="1850" dirty="0">
                <a:latin typeface="Arial" panose="020B0604020202020204" pitchFamily="34" charset="0"/>
                <a:cs typeface="Arial" panose="020B0604020202020204" pitchFamily="34" charset="0"/>
              </a:rPr>
              <a:t>Implications pour l’organisation actuelle </a:t>
            </a:r>
            <a:endParaRPr sz="1850" dirty="0">
              <a:latin typeface="Arial" panose="020B0604020202020204" pitchFamily="34" charset="0"/>
              <a:cs typeface="Arial" panose="020B0604020202020204" pitchFamily="34" charset="0"/>
            </a:endParaRPr>
          </a:p>
        </p:txBody>
      </p:sp>
      <p:sp>
        <p:nvSpPr>
          <p:cNvPr id="2" name="ZoneTexte 1">
            <a:extLst>
              <a:ext uri="{FF2B5EF4-FFF2-40B4-BE49-F238E27FC236}">
                <a16:creationId xmlns:a16="http://schemas.microsoft.com/office/drawing/2014/main" id="{A0920C56-DA99-BA53-D48C-C492D00599D9}"/>
              </a:ext>
            </a:extLst>
          </p:cNvPr>
          <p:cNvSpPr txBox="1"/>
          <p:nvPr/>
        </p:nvSpPr>
        <p:spPr>
          <a:xfrm>
            <a:off x="1206975" y="1394985"/>
            <a:ext cx="7219950" cy="3354765"/>
          </a:xfrm>
          <a:prstGeom prst="rect">
            <a:avLst/>
          </a:prstGeom>
          <a:noFill/>
        </p:spPr>
        <p:txBody>
          <a:bodyPr wrap="square" rtlCol="0">
            <a:spAutoFit/>
          </a:bodyPr>
          <a:lstStyle/>
          <a:p>
            <a:pPr>
              <a:buClr>
                <a:schemeClr val="bg1"/>
              </a:buClr>
              <a:tabLst>
                <a:tab pos="358775" algn="l"/>
              </a:tabLst>
            </a:pPr>
            <a:r>
              <a:rPr lang="fr-FR" sz="1600" u="sng" dirty="0">
                <a:solidFill>
                  <a:schemeClr val="bg1"/>
                </a:solidFill>
              </a:rPr>
              <a:t>Pour l’équipe Data : </a:t>
            </a:r>
          </a:p>
          <a:p>
            <a:pPr>
              <a:buClr>
                <a:schemeClr val="bg1"/>
              </a:buClr>
              <a:tabLst>
                <a:tab pos="358775" algn="l"/>
              </a:tabLst>
            </a:pPr>
            <a:endParaRPr lang="fr-FR" sz="300" dirty="0">
              <a:solidFill>
                <a:schemeClr val="bg1"/>
              </a:solidFill>
            </a:endParaRPr>
          </a:p>
          <a:p>
            <a:pPr marL="228600" indent="-228600">
              <a:buClr>
                <a:schemeClr val="bg1"/>
              </a:buClr>
              <a:buAutoNum type="arabicPeriod"/>
              <a:tabLst>
                <a:tab pos="358775" algn="l"/>
              </a:tabLst>
            </a:pPr>
            <a:r>
              <a:rPr lang="fr-FR" sz="1100" dirty="0">
                <a:solidFill>
                  <a:schemeClr val="bg1"/>
                </a:solidFill>
              </a:rPr>
              <a:t>Préconisation </a:t>
            </a:r>
            <a:r>
              <a:rPr lang="fr-FR" sz="1100" b="1" dirty="0">
                <a:solidFill>
                  <a:schemeClr val="bg1"/>
                </a:solidFill>
              </a:rPr>
              <a:t>d’exécution</a:t>
            </a:r>
            <a:r>
              <a:rPr lang="fr-FR" sz="1100" dirty="0">
                <a:solidFill>
                  <a:schemeClr val="bg1"/>
                </a:solidFill>
              </a:rPr>
              <a:t> du correctif </a:t>
            </a:r>
            <a:r>
              <a:rPr lang="fr-FR" sz="1100" b="1" dirty="0">
                <a:solidFill>
                  <a:schemeClr val="bg1"/>
                </a:solidFill>
              </a:rPr>
              <a:t>hors temps de travail </a:t>
            </a:r>
            <a:r>
              <a:rPr lang="fr-FR" sz="1100" i="1" dirty="0">
                <a:solidFill>
                  <a:schemeClr val="bg1"/>
                </a:solidFill>
              </a:rPr>
              <a:t>(HNO) </a:t>
            </a:r>
            <a:r>
              <a:rPr lang="fr-FR" sz="1100" dirty="0">
                <a:solidFill>
                  <a:schemeClr val="bg1"/>
                </a:solidFill>
              </a:rPr>
              <a:t>:</a:t>
            </a:r>
          </a:p>
          <a:p>
            <a:pPr lvl="3">
              <a:buClr>
                <a:schemeClr val="bg1"/>
              </a:buClr>
              <a:tabLst>
                <a:tab pos="358775" algn="l"/>
              </a:tabLst>
            </a:pPr>
            <a:r>
              <a:rPr lang="fr-FR" sz="1100" dirty="0">
                <a:solidFill>
                  <a:schemeClr val="bg1"/>
                </a:solidFill>
              </a:rPr>
              <a:t>	</a:t>
            </a:r>
            <a:r>
              <a:rPr lang="fr-FR" sz="1100" dirty="0">
                <a:solidFill>
                  <a:schemeClr val="bg1">
                    <a:lumMod val="65000"/>
                  </a:schemeClr>
                </a:solidFill>
              </a:rPr>
              <a:t>- Aucune donnée ne doit être écrite dans la base pendant le changement.</a:t>
            </a:r>
          </a:p>
          <a:p>
            <a:pPr lvl="3">
              <a:buClr>
                <a:schemeClr val="bg1"/>
              </a:buClr>
              <a:tabLst>
                <a:tab pos="358775" algn="l"/>
              </a:tabLst>
            </a:pPr>
            <a:r>
              <a:rPr lang="fr-FR" sz="1100" dirty="0">
                <a:solidFill>
                  <a:schemeClr val="bg1"/>
                </a:solidFill>
              </a:rPr>
              <a:t>	</a:t>
            </a:r>
          </a:p>
          <a:p>
            <a:pPr marL="228600" indent="-228600">
              <a:buClr>
                <a:schemeClr val="bg1"/>
              </a:buClr>
              <a:buAutoNum type="arabicPeriod" startAt="2"/>
              <a:tabLst>
                <a:tab pos="358775" algn="l"/>
              </a:tabLst>
            </a:pPr>
            <a:r>
              <a:rPr lang="fr-FR" sz="1100" b="1" dirty="0">
                <a:solidFill>
                  <a:schemeClr val="bg1"/>
                </a:solidFill>
              </a:rPr>
              <a:t>Vérifications</a:t>
            </a:r>
            <a:r>
              <a:rPr lang="fr-FR" sz="1100" dirty="0">
                <a:solidFill>
                  <a:schemeClr val="bg1"/>
                </a:solidFill>
              </a:rPr>
              <a:t> des </a:t>
            </a:r>
            <a:r>
              <a:rPr lang="fr-FR" sz="1100" b="1" dirty="0">
                <a:solidFill>
                  <a:schemeClr val="bg1"/>
                </a:solidFill>
              </a:rPr>
              <a:t>données</a:t>
            </a:r>
            <a:r>
              <a:rPr lang="fr-FR" sz="1100" dirty="0">
                <a:solidFill>
                  <a:schemeClr val="bg1"/>
                </a:solidFill>
              </a:rPr>
              <a:t> et </a:t>
            </a:r>
            <a:r>
              <a:rPr lang="fr-FR" sz="1100" b="1" dirty="0">
                <a:solidFill>
                  <a:schemeClr val="bg1"/>
                </a:solidFill>
              </a:rPr>
              <a:t>sauvegarde</a:t>
            </a:r>
            <a:r>
              <a:rPr lang="fr-FR" sz="1100" dirty="0">
                <a:solidFill>
                  <a:schemeClr val="bg1"/>
                </a:solidFill>
              </a:rPr>
              <a:t> de la </a:t>
            </a:r>
            <a:r>
              <a:rPr lang="fr-FR" sz="1100" b="1" dirty="0">
                <a:solidFill>
                  <a:schemeClr val="bg1"/>
                </a:solidFill>
              </a:rPr>
              <a:t>base de données </a:t>
            </a:r>
            <a:r>
              <a:rPr lang="fr-FR" sz="1100" dirty="0">
                <a:solidFill>
                  <a:schemeClr val="bg1"/>
                </a:solidFill>
              </a:rPr>
              <a:t>:</a:t>
            </a:r>
          </a:p>
          <a:p>
            <a:pPr>
              <a:buClr>
                <a:schemeClr val="bg1"/>
              </a:buClr>
              <a:tabLst>
                <a:tab pos="358775" algn="l"/>
              </a:tabLst>
            </a:pPr>
            <a:r>
              <a:rPr lang="fr-FR" sz="1100" dirty="0">
                <a:solidFill>
                  <a:schemeClr val="bg1"/>
                </a:solidFill>
              </a:rPr>
              <a:t>	- </a:t>
            </a:r>
            <a:r>
              <a:rPr lang="fr-FR" sz="1100" dirty="0">
                <a:solidFill>
                  <a:schemeClr val="bg1">
                    <a:lumMod val="65000"/>
                  </a:schemeClr>
                </a:solidFill>
              </a:rPr>
              <a:t>Récupérer le nombre de lignes dans chaque table </a:t>
            </a:r>
            <a:r>
              <a:rPr lang="fr-FR" sz="1100" i="1" dirty="0">
                <a:solidFill>
                  <a:schemeClr val="bg1">
                    <a:lumMod val="65000"/>
                  </a:schemeClr>
                </a:solidFill>
              </a:rPr>
              <a:t>(</a:t>
            </a:r>
            <a:r>
              <a:rPr lang="fr-FR" sz="1100" i="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SELECT count(*) FROM </a:t>
            </a:r>
            <a:r>
              <a:rPr lang="fr-FR" sz="1100" i="1" dirty="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nom_de_chaque_table</a:t>
            </a:r>
            <a:r>
              <a:rPr lang="fr-FR" sz="1100" i="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t>
            </a:r>
            <a:r>
              <a:rPr lang="fr-FR" sz="1100" i="1" dirty="0">
                <a:solidFill>
                  <a:schemeClr val="bg1">
                    <a:lumMod val="65000"/>
                  </a:schemeClr>
                </a:solidFill>
              </a:rPr>
              <a:t>)</a:t>
            </a:r>
            <a:r>
              <a:rPr lang="fr-FR" sz="1100" dirty="0">
                <a:solidFill>
                  <a:schemeClr val="bg1">
                    <a:lumMod val="65000"/>
                  </a:schemeClr>
                </a:solidFill>
              </a:rPr>
              <a:t>.</a:t>
            </a:r>
          </a:p>
          <a:p>
            <a:pPr>
              <a:buClr>
                <a:schemeClr val="bg1"/>
              </a:buClr>
              <a:tabLst>
                <a:tab pos="358775" algn="l"/>
              </a:tabLst>
            </a:pPr>
            <a:r>
              <a:rPr lang="fr-FR" sz="1100" dirty="0">
                <a:solidFill>
                  <a:schemeClr val="bg1">
                    <a:lumMod val="65000"/>
                  </a:schemeClr>
                </a:solidFill>
              </a:rPr>
              <a:t>	- Sauvegarder la base de données </a:t>
            </a:r>
            <a:r>
              <a:rPr lang="fr-FR" sz="1100" i="1" dirty="0">
                <a:solidFill>
                  <a:schemeClr val="bg1">
                    <a:lumMod val="65000"/>
                  </a:schemeClr>
                </a:solidFill>
              </a:rPr>
              <a:t>(en cas d’erreur, cette sauvegarde servira de point de restauration)</a:t>
            </a:r>
            <a:r>
              <a:rPr lang="fr-FR" sz="1100" dirty="0">
                <a:solidFill>
                  <a:schemeClr val="bg1">
                    <a:lumMod val="65000"/>
                  </a:schemeClr>
                </a:solidFill>
              </a:rPr>
              <a:t>.</a:t>
            </a:r>
          </a:p>
          <a:p>
            <a:pPr lvl="2">
              <a:buClr>
                <a:schemeClr val="bg1"/>
              </a:buClr>
              <a:tabLst>
                <a:tab pos="358775" algn="l"/>
              </a:tabLst>
            </a:pPr>
            <a:endParaRPr lang="fr-FR" sz="1100" dirty="0">
              <a:solidFill>
                <a:schemeClr val="bg1">
                  <a:lumMod val="65000"/>
                </a:schemeClr>
              </a:solidFill>
            </a:endParaRPr>
          </a:p>
          <a:p>
            <a:pPr marL="228600" indent="-228600">
              <a:buClr>
                <a:schemeClr val="bg1"/>
              </a:buClr>
              <a:buAutoNum type="arabicPeriod" startAt="3"/>
              <a:tabLst>
                <a:tab pos="358775" algn="l"/>
              </a:tabLst>
            </a:pPr>
            <a:r>
              <a:rPr lang="fr-FR" sz="1100" b="1" dirty="0">
                <a:solidFill>
                  <a:schemeClr val="bg1"/>
                </a:solidFill>
              </a:rPr>
              <a:t>Exécution</a:t>
            </a:r>
            <a:r>
              <a:rPr lang="fr-FR" sz="1100" dirty="0">
                <a:solidFill>
                  <a:schemeClr val="bg1"/>
                </a:solidFill>
              </a:rPr>
              <a:t> du </a:t>
            </a:r>
            <a:r>
              <a:rPr lang="fr-FR" sz="1100" b="1" dirty="0">
                <a:solidFill>
                  <a:schemeClr val="bg1"/>
                </a:solidFill>
              </a:rPr>
              <a:t>script</a:t>
            </a:r>
            <a:r>
              <a:rPr lang="fr-FR" sz="1100" dirty="0">
                <a:solidFill>
                  <a:schemeClr val="bg1"/>
                </a:solidFill>
              </a:rPr>
              <a:t> de modification de la base de données. </a:t>
            </a:r>
          </a:p>
          <a:p>
            <a:pPr>
              <a:buClr>
                <a:schemeClr val="bg1"/>
              </a:buClr>
              <a:tabLst>
                <a:tab pos="358775" algn="l"/>
              </a:tabLst>
            </a:pPr>
            <a:r>
              <a:rPr lang="fr-FR" sz="1100" dirty="0">
                <a:solidFill>
                  <a:schemeClr val="bg1"/>
                </a:solidFill>
              </a:rPr>
              <a:t>	</a:t>
            </a:r>
            <a:r>
              <a:rPr lang="fr-FR" sz="1100" dirty="0">
                <a:solidFill>
                  <a:schemeClr val="bg1">
                    <a:lumMod val="65000"/>
                  </a:schemeClr>
                </a:solidFill>
              </a:rPr>
              <a:t>- Attention aux erreurs éventuelles de la </a:t>
            </a:r>
            <a:r>
              <a:rPr lang="fr-FR" sz="1100" dirty="0" err="1">
                <a:solidFill>
                  <a:schemeClr val="bg1">
                    <a:lumMod val="65000"/>
                  </a:schemeClr>
                </a:solidFill>
              </a:rPr>
              <a:t>bdd</a:t>
            </a:r>
            <a:r>
              <a:rPr lang="fr-FR" sz="1100" dirty="0">
                <a:solidFill>
                  <a:schemeClr val="bg1">
                    <a:lumMod val="65000"/>
                  </a:schemeClr>
                </a:solidFill>
              </a:rPr>
              <a:t> </a:t>
            </a:r>
            <a:r>
              <a:rPr lang="fr-FR" sz="1100" i="1" dirty="0">
                <a:solidFill>
                  <a:schemeClr val="bg1">
                    <a:lumMod val="65000"/>
                  </a:schemeClr>
                </a:solidFill>
              </a:rPr>
              <a:t>(problème avec les caractères spéciaux et autre accent)</a:t>
            </a:r>
            <a:r>
              <a:rPr lang="fr-FR" sz="1100" dirty="0">
                <a:solidFill>
                  <a:schemeClr val="bg1">
                    <a:lumMod val="65000"/>
                  </a:schemeClr>
                </a:solidFill>
              </a:rPr>
              <a:t>.</a:t>
            </a:r>
          </a:p>
          <a:p>
            <a:pPr>
              <a:buClr>
                <a:schemeClr val="bg1"/>
              </a:buClr>
              <a:tabLst>
                <a:tab pos="358775" algn="l"/>
              </a:tabLst>
            </a:pPr>
            <a:endParaRPr lang="fr-FR" sz="1100" dirty="0">
              <a:solidFill>
                <a:schemeClr val="bg1"/>
              </a:solidFill>
            </a:endParaRPr>
          </a:p>
          <a:p>
            <a:pPr marL="228600" indent="-228600">
              <a:buClr>
                <a:schemeClr val="bg1"/>
              </a:buClr>
              <a:buAutoNum type="arabicPeriod" startAt="4"/>
              <a:tabLst>
                <a:tab pos="358775" algn="l"/>
              </a:tabLst>
            </a:pPr>
            <a:r>
              <a:rPr lang="fr-FR" sz="1100" b="1" dirty="0">
                <a:solidFill>
                  <a:schemeClr val="bg1"/>
                </a:solidFill>
              </a:rPr>
              <a:t>Vérifier</a:t>
            </a:r>
            <a:r>
              <a:rPr lang="fr-FR" sz="1100" dirty="0">
                <a:solidFill>
                  <a:schemeClr val="bg1"/>
                </a:solidFill>
              </a:rPr>
              <a:t> la </a:t>
            </a:r>
            <a:r>
              <a:rPr lang="fr-FR" sz="1100" b="1" dirty="0">
                <a:solidFill>
                  <a:schemeClr val="bg1"/>
                </a:solidFill>
              </a:rPr>
              <a:t>structure</a:t>
            </a:r>
            <a:r>
              <a:rPr lang="fr-FR" sz="1100" dirty="0">
                <a:solidFill>
                  <a:schemeClr val="bg1"/>
                </a:solidFill>
              </a:rPr>
              <a:t> et les </a:t>
            </a:r>
            <a:r>
              <a:rPr lang="fr-FR" sz="1100" b="1" dirty="0">
                <a:solidFill>
                  <a:schemeClr val="bg1"/>
                </a:solidFill>
              </a:rPr>
              <a:t>données</a:t>
            </a:r>
            <a:r>
              <a:rPr lang="fr-FR" sz="1100" dirty="0">
                <a:solidFill>
                  <a:schemeClr val="bg1"/>
                </a:solidFill>
              </a:rPr>
              <a:t> post-changement.</a:t>
            </a:r>
          </a:p>
          <a:p>
            <a:pPr>
              <a:buClr>
                <a:schemeClr val="bg1"/>
              </a:buClr>
              <a:tabLst>
                <a:tab pos="358775" algn="l"/>
              </a:tabLst>
            </a:pPr>
            <a:r>
              <a:rPr lang="fr-FR" sz="1100" dirty="0">
                <a:solidFill>
                  <a:schemeClr val="bg1"/>
                </a:solidFill>
              </a:rPr>
              <a:t>	</a:t>
            </a:r>
            <a:r>
              <a:rPr lang="fr-FR" sz="1100" dirty="0">
                <a:solidFill>
                  <a:schemeClr val="bg1">
                    <a:lumMod val="65000"/>
                  </a:schemeClr>
                </a:solidFill>
              </a:rPr>
              <a:t>- Comparer le nombre de ligne dans chaque table avant/après </a:t>
            </a:r>
            <a:r>
              <a:rPr lang="fr-FR" sz="1100" i="1" dirty="0">
                <a:solidFill>
                  <a:schemeClr val="bg1">
                    <a:lumMod val="65000"/>
                  </a:schemeClr>
                </a:solidFill>
              </a:rPr>
              <a:t>(</a:t>
            </a:r>
            <a:r>
              <a:rPr lang="fr-FR" sz="1100" i="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SELECT count(*) FROM </a:t>
            </a:r>
            <a:r>
              <a:rPr lang="fr-FR" sz="1100" i="1" dirty="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nom_de_chaque_table</a:t>
            </a:r>
            <a:r>
              <a:rPr lang="fr-FR" sz="1100" i="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t>
            </a:r>
            <a:r>
              <a:rPr lang="fr-FR" sz="1100" i="1" dirty="0">
                <a:solidFill>
                  <a:schemeClr val="bg1">
                    <a:lumMod val="65000"/>
                  </a:schemeClr>
                </a:solidFill>
              </a:rPr>
              <a:t>)</a:t>
            </a:r>
            <a:r>
              <a:rPr lang="fr-FR" sz="1100" dirty="0">
                <a:solidFill>
                  <a:schemeClr val="bg1">
                    <a:lumMod val="65000"/>
                  </a:schemeClr>
                </a:solidFill>
              </a:rPr>
              <a:t>.</a:t>
            </a:r>
          </a:p>
          <a:p>
            <a:pPr>
              <a:buClr>
                <a:schemeClr val="bg1"/>
              </a:buClr>
              <a:tabLst>
                <a:tab pos="358775" algn="l"/>
              </a:tabLst>
            </a:pPr>
            <a:endParaRPr lang="fr-FR" sz="1100" dirty="0">
              <a:solidFill>
                <a:schemeClr val="bg1"/>
              </a:solidFill>
            </a:endParaRPr>
          </a:p>
          <a:p>
            <a:pPr>
              <a:buClr>
                <a:schemeClr val="bg1"/>
              </a:buClr>
              <a:tabLst>
                <a:tab pos="358775" algn="l"/>
              </a:tabLst>
            </a:pPr>
            <a:r>
              <a:rPr lang="fr-FR" u="sng" dirty="0">
                <a:solidFill>
                  <a:schemeClr val="bg1"/>
                </a:solidFill>
              </a:rPr>
              <a:t>Pour l’équipe gérant le calendrier :</a:t>
            </a:r>
          </a:p>
          <a:p>
            <a:pPr>
              <a:buClr>
                <a:schemeClr val="bg1"/>
              </a:buClr>
              <a:tabLst>
                <a:tab pos="358775" algn="l"/>
              </a:tabLst>
            </a:pPr>
            <a:endParaRPr lang="fr-FR" sz="300" dirty="0">
              <a:solidFill>
                <a:schemeClr val="bg1"/>
              </a:solidFill>
            </a:endParaRPr>
          </a:p>
          <a:p>
            <a:pPr marL="228600" indent="-228600">
              <a:buClr>
                <a:schemeClr val="bg1"/>
              </a:buClr>
              <a:buAutoNum type="arabicPeriod"/>
              <a:tabLst>
                <a:tab pos="358775" algn="l"/>
              </a:tabLst>
            </a:pPr>
            <a:r>
              <a:rPr lang="fr-FR" sz="1100" dirty="0">
                <a:solidFill>
                  <a:schemeClr val="bg1"/>
                </a:solidFill>
              </a:rPr>
              <a:t>S'assurer que les </a:t>
            </a:r>
            <a:r>
              <a:rPr lang="fr-FR" sz="1100" b="1" dirty="0">
                <a:solidFill>
                  <a:schemeClr val="bg1"/>
                </a:solidFill>
              </a:rPr>
              <a:t>dates</a:t>
            </a:r>
            <a:r>
              <a:rPr lang="fr-FR" sz="1100" dirty="0">
                <a:solidFill>
                  <a:schemeClr val="bg1"/>
                </a:solidFill>
              </a:rPr>
              <a:t> de fermeture </a:t>
            </a:r>
            <a:r>
              <a:rPr lang="fr-FR" sz="1100" b="1" dirty="0">
                <a:solidFill>
                  <a:schemeClr val="bg1"/>
                </a:solidFill>
              </a:rPr>
              <a:t>sont correctement notifiées </a:t>
            </a:r>
            <a:r>
              <a:rPr lang="fr-FR" sz="1100" dirty="0">
                <a:solidFill>
                  <a:schemeClr val="bg1"/>
                </a:solidFill>
              </a:rPr>
              <a:t>dans la </a:t>
            </a:r>
            <a:r>
              <a:rPr lang="fr-FR" sz="1100" dirty="0" err="1">
                <a:solidFill>
                  <a:schemeClr val="bg1"/>
                </a:solidFill>
              </a:rPr>
              <a:t>bdd</a:t>
            </a:r>
            <a:r>
              <a:rPr lang="fr-FR" sz="1100" dirty="0">
                <a:solidFill>
                  <a:schemeClr val="bg1"/>
                </a:solidFill>
              </a:rPr>
              <a:t> :</a:t>
            </a:r>
          </a:p>
          <a:p>
            <a:pPr lvl="2">
              <a:buClr>
                <a:schemeClr val="bg1"/>
              </a:buClr>
              <a:tabLst>
                <a:tab pos="358775" algn="l"/>
              </a:tabLst>
            </a:pPr>
            <a:r>
              <a:rPr lang="fr-FR" sz="1100" dirty="0">
                <a:solidFill>
                  <a:schemeClr val="bg1"/>
                </a:solidFill>
              </a:rPr>
              <a:t>	</a:t>
            </a:r>
            <a:r>
              <a:rPr lang="fr-FR" sz="1100" dirty="0">
                <a:solidFill>
                  <a:schemeClr val="bg1">
                    <a:lumMod val="65000"/>
                  </a:schemeClr>
                </a:solidFill>
              </a:rPr>
              <a:t>- Préconisation d’avoir toujours un an d’avance dans la </a:t>
            </a:r>
            <a:r>
              <a:rPr lang="fr-FR" sz="1100" dirty="0" err="1">
                <a:solidFill>
                  <a:schemeClr val="bg1">
                    <a:lumMod val="65000"/>
                  </a:schemeClr>
                </a:solidFill>
              </a:rPr>
              <a:t>bdd</a:t>
            </a:r>
            <a:r>
              <a:rPr lang="fr-FR" sz="1100" dirty="0">
                <a:solidFill>
                  <a:schemeClr val="bg1">
                    <a:lumMod val="65000"/>
                  </a:schemeClr>
                </a:solidFill>
              </a:rPr>
              <a:t> </a:t>
            </a:r>
            <a:r>
              <a:rPr lang="fr-FR" sz="1100" i="1" dirty="0">
                <a:solidFill>
                  <a:schemeClr val="bg1">
                    <a:lumMod val="65000"/>
                  </a:schemeClr>
                </a:solidFill>
              </a:rPr>
              <a:t>(chaque début d’années vous devriez remplir pour l’année n+2)</a:t>
            </a:r>
            <a:r>
              <a:rPr lang="fr-FR" sz="1100" dirty="0">
                <a:solidFill>
                  <a:schemeClr val="bg1">
                    <a:lumMod val="65000"/>
                  </a:schemeClr>
                </a:solidFill>
              </a:rPr>
              <a:t>.</a:t>
            </a:r>
          </a:p>
        </p:txBody>
      </p:sp>
      <p:sp>
        <p:nvSpPr>
          <p:cNvPr id="3" name="Rectangle 1">
            <a:extLst>
              <a:ext uri="{FF2B5EF4-FFF2-40B4-BE49-F238E27FC236}">
                <a16:creationId xmlns:a16="http://schemas.microsoft.com/office/drawing/2014/main" id="{8AB3AFDF-3933-37BD-B766-CF545D22292F}"/>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a:ln>
                  <a:noFill/>
                </a:ln>
                <a:solidFill>
                  <a:schemeClr val="tx1"/>
                </a:solidFill>
                <a:effectLst/>
                <a:latin typeface="Roboto" panose="020F0502020204030204" pitchFamily="2" charset="0"/>
              </a:rPr>
              <a:t>.</a:t>
            </a:r>
            <a:r>
              <a:rPr kumimoji="0" lang="fr-FR" altLang="fr-FR" sz="1800" b="0" i="0" u="none" strike="noStrike" cap="none" normalizeH="0" baseline="0">
                <a:ln>
                  <a:noFill/>
                </a:ln>
                <a:solidFill>
                  <a:schemeClr val="tx1"/>
                </a:solidFill>
                <a:effectLst/>
              </a:rPr>
              <a:t>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7"/>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dirty="0">
                <a:latin typeface="Arial" panose="020B0604020202020204" pitchFamily="34" charset="0"/>
                <a:cs typeface="Arial" panose="020B0604020202020204" pitchFamily="34" charset="0"/>
              </a:rPr>
              <a:t>Recommandations pour l’entreprise</a:t>
            </a:r>
            <a:br>
              <a:rPr lang="fr" dirty="0">
                <a:latin typeface="Arial" panose="020B0604020202020204" pitchFamily="34" charset="0"/>
                <a:cs typeface="Arial" panose="020B0604020202020204" pitchFamily="34" charset="0"/>
              </a:rPr>
            </a:br>
            <a:r>
              <a:rPr lang="fr" sz="1850" dirty="0">
                <a:latin typeface="Arial" panose="020B0604020202020204" pitchFamily="34" charset="0"/>
                <a:cs typeface="Arial" panose="020B0604020202020204" pitchFamily="34" charset="0"/>
              </a:rPr>
              <a:t>Planning de mise en place et coût éventuel</a:t>
            </a:r>
            <a:endParaRPr sz="1850" dirty="0">
              <a:latin typeface="Arial" panose="020B0604020202020204" pitchFamily="34" charset="0"/>
              <a:cs typeface="Arial" panose="020B0604020202020204" pitchFamily="34" charset="0"/>
            </a:endParaRPr>
          </a:p>
        </p:txBody>
      </p:sp>
      <p:graphicFrame>
        <p:nvGraphicFramePr>
          <p:cNvPr id="8" name="Tableau 7">
            <a:extLst>
              <a:ext uri="{FF2B5EF4-FFF2-40B4-BE49-F238E27FC236}">
                <a16:creationId xmlns:a16="http://schemas.microsoft.com/office/drawing/2014/main" id="{E1C0C33D-ADE9-6850-97EA-AD9693520A9A}"/>
              </a:ext>
            </a:extLst>
          </p:cNvPr>
          <p:cNvGraphicFramePr>
            <a:graphicFrameLocks noGrp="1"/>
          </p:cNvGraphicFramePr>
          <p:nvPr>
            <p:extLst>
              <p:ext uri="{D42A27DB-BD31-4B8C-83A1-F6EECF244321}">
                <p14:modId xmlns:p14="http://schemas.microsoft.com/office/powerpoint/2010/main" val="854111973"/>
              </p:ext>
            </p:extLst>
          </p:nvPr>
        </p:nvGraphicFramePr>
        <p:xfrm>
          <a:off x="892277" y="1872627"/>
          <a:ext cx="7359445" cy="2664776"/>
        </p:xfrm>
        <a:graphic>
          <a:graphicData uri="http://schemas.openxmlformats.org/drawingml/2006/table">
            <a:tbl>
              <a:tblPr/>
              <a:tblGrid>
                <a:gridCol w="850491">
                  <a:extLst>
                    <a:ext uri="{9D8B030D-6E8A-4147-A177-3AD203B41FA5}">
                      <a16:colId xmlns:a16="http://schemas.microsoft.com/office/drawing/2014/main" val="3568677628"/>
                    </a:ext>
                  </a:extLst>
                </a:gridCol>
                <a:gridCol w="1347020">
                  <a:extLst>
                    <a:ext uri="{9D8B030D-6E8A-4147-A177-3AD203B41FA5}">
                      <a16:colId xmlns:a16="http://schemas.microsoft.com/office/drawing/2014/main" val="1300385336"/>
                    </a:ext>
                  </a:extLst>
                </a:gridCol>
                <a:gridCol w="2934929">
                  <a:extLst>
                    <a:ext uri="{9D8B030D-6E8A-4147-A177-3AD203B41FA5}">
                      <a16:colId xmlns:a16="http://schemas.microsoft.com/office/drawing/2014/main" val="778492193"/>
                    </a:ext>
                  </a:extLst>
                </a:gridCol>
                <a:gridCol w="1528916">
                  <a:extLst>
                    <a:ext uri="{9D8B030D-6E8A-4147-A177-3AD203B41FA5}">
                      <a16:colId xmlns:a16="http://schemas.microsoft.com/office/drawing/2014/main" val="3268200395"/>
                    </a:ext>
                  </a:extLst>
                </a:gridCol>
                <a:gridCol w="698089">
                  <a:extLst>
                    <a:ext uri="{9D8B030D-6E8A-4147-A177-3AD203B41FA5}">
                      <a16:colId xmlns:a16="http://schemas.microsoft.com/office/drawing/2014/main" val="3894015744"/>
                    </a:ext>
                  </a:extLst>
                </a:gridCol>
              </a:tblGrid>
              <a:tr h="176499">
                <a:tc>
                  <a:txBody>
                    <a:bodyPr/>
                    <a:lstStyle/>
                    <a:p>
                      <a:pPr algn="ctr" rtl="0">
                        <a:buNone/>
                      </a:pPr>
                      <a:r>
                        <a:rPr lang="fr-FR" sz="1000" b="1" dirty="0">
                          <a:solidFill>
                            <a:schemeClr val="bg1"/>
                          </a:solidFill>
                          <a:effectLst/>
                          <a:latin typeface="Arial" panose="020B0604020202020204" pitchFamily="34" charset="0"/>
                          <a:cs typeface="Arial" panose="020B0604020202020204" pitchFamily="34" charset="0"/>
                        </a:rPr>
                        <a:t>Phase</a:t>
                      </a: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fr-FR" sz="1000" b="1" dirty="0">
                          <a:solidFill>
                            <a:schemeClr val="bg1"/>
                          </a:solidFill>
                          <a:effectLst/>
                          <a:latin typeface="Arial" panose="020B0604020202020204" pitchFamily="34" charset="0"/>
                          <a:cs typeface="Arial" panose="020B0604020202020204" pitchFamily="34" charset="0"/>
                        </a:rPr>
                        <a:t>Objectif Principal</a:t>
                      </a: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fr-FR" sz="1000" b="1" dirty="0">
                          <a:solidFill>
                            <a:schemeClr val="bg1"/>
                          </a:solidFill>
                          <a:effectLst/>
                          <a:latin typeface="Arial" panose="020B0604020202020204" pitchFamily="34" charset="0"/>
                          <a:cs typeface="Arial" panose="020B0604020202020204" pitchFamily="34" charset="0"/>
                        </a:rPr>
                        <a:t>Actions Clés</a:t>
                      </a: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fr-FR" sz="1000" b="1" dirty="0">
                          <a:solidFill>
                            <a:schemeClr val="bg1"/>
                          </a:solidFill>
                          <a:effectLst/>
                          <a:latin typeface="Arial" panose="020B0604020202020204" pitchFamily="34" charset="0"/>
                          <a:cs typeface="Arial" panose="020B0604020202020204" pitchFamily="34" charset="0"/>
                        </a:rPr>
                        <a:t>Responsabilité</a:t>
                      </a: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fr-FR" sz="1000" b="1" dirty="0">
                          <a:solidFill>
                            <a:schemeClr val="bg1"/>
                          </a:solidFill>
                          <a:effectLst/>
                          <a:latin typeface="Arial" panose="020B0604020202020204" pitchFamily="34" charset="0"/>
                          <a:cs typeface="Arial" panose="020B0604020202020204" pitchFamily="34" charset="0"/>
                        </a:rPr>
                        <a:t>Délai</a:t>
                      </a: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899481135"/>
                  </a:ext>
                </a:extLst>
              </a:tr>
              <a:tr h="952262">
                <a:tc>
                  <a:txBody>
                    <a:bodyPr/>
                    <a:lstStyle/>
                    <a:p>
                      <a:pPr rtl="0">
                        <a:buNone/>
                      </a:pPr>
                      <a:r>
                        <a:rPr lang="fr-FR" sz="800" b="1" dirty="0">
                          <a:solidFill>
                            <a:schemeClr val="bg1"/>
                          </a:solidFill>
                          <a:effectLst/>
                          <a:latin typeface="Arial" panose="020B0604020202020204" pitchFamily="34" charset="0"/>
                          <a:cs typeface="Arial" panose="020B0604020202020204" pitchFamily="34" charset="0"/>
                        </a:rPr>
                        <a:t>1. Urgence et Stabilité</a:t>
                      </a:r>
                      <a:endParaRPr lang="fr-FR" sz="800" dirty="0">
                        <a:solidFill>
                          <a:schemeClr val="bg1"/>
                        </a:solidFill>
                        <a:effectLst/>
                        <a:latin typeface="Arial" panose="020B0604020202020204" pitchFamily="34" charset="0"/>
                        <a:cs typeface="Arial" panose="020B0604020202020204" pitchFamily="34" charset="0"/>
                      </a:endParaRP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b="1" dirty="0">
                          <a:solidFill>
                            <a:schemeClr val="bg1"/>
                          </a:solidFill>
                          <a:effectLst/>
                          <a:latin typeface="Arial" panose="020B0604020202020204" pitchFamily="34" charset="0"/>
                          <a:cs typeface="Arial" panose="020B0604020202020204" pitchFamily="34" charset="0"/>
                        </a:rPr>
                        <a:t>Stopper immédiatement l'instabilité du Chiffre d'Affaires.</a:t>
                      </a:r>
                      <a:endParaRPr lang="fr-FR" sz="800" dirty="0">
                        <a:solidFill>
                          <a:schemeClr val="bg1"/>
                        </a:solidFill>
                        <a:effectLst/>
                        <a:latin typeface="Arial" panose="020B0604020202020204" pitchFamily="34" charset="0"/>
                        <a:cs typeface="Arial" panose="020B0604020202020204" pitchFamily="34" charset="0"/>
                      </a:endParaRP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b="1" dirty="0">
                          <a:solidFill>
                            <a:schemeClr val="bg1"/>
                          </a:solidFill>
                          <a:effectLst/>
                          <a:latin typeface="Arial" panose="020B0604020202020204" pitchFamily="34" charset="0"/>
                          <a:cs typeface="Arial" panose="020B0604020202020204" pitchFamily="34" charset="0"/>
                        </a:rPr>
                        <a:t>Verrouillage Historique :</a:t>
                      </a:r>
                      <a:r>
                        <a:rPr lang="fr-FR" sz="800" dirty="0">
                          <a:solidFill>
                            <a:schemeClr val="bg1"/>
                          </a:solidFill>
                          <a:effectLst/>
                          <a:latin typeface="Arial" panose="020B0604020202020204" pitchFamily="34" charset="0"/>
                          <a:cs typeface="Arial" panose="020B0604020202020204" pitchFamily="34" charset="0"/>
                        </a:rPr>
                        <a:t> Mettre en place un </a:t>
                      </a:r>
                      <a:r>
                        <a:rPr lang="fr-FR" sz="800" i="1" dirty="0">
                          <a:solidFill>
                            <a:schemeClr val="bg1"/>
                          </a:solidFill>
                          <a:effectLst/>
                          <a:latin typeface="Arial" panose="020B0604020202020204" pitchFamily="34" charset="0"/>
                          <a:cs typeface="Arial" panose="020B0604020202020204" pitchFamily="34" charset="0"/>
                        </a:rPr>
                        <a:t>Trigger</a:t>
                      </a:r>
                      <a:r>
                        <a:rPr lang="fr-FR" sz="800" dirty="0">
                          <a:solidFill>
                            <a:schemeClr val="bg1"/>
                          </a:solidFill>
                          <a:effectLst/>
                          <a:latin typeface="Arial" panose="020B0604020202020204" pitchFamily="34" charset="0"/>
                          <a:cs typeface="Arial" panose="020B0604020202020204" pitchFamily="34" charset="0"/>
                        </a:rPr>
                        <a:t> pour bloquer les modifications post-clôture. </a:t>
                      </a:r>
                      <a:r>
                        <a:rPr lang="fr-FR" sz="800" b="1" dirty="0">
                          <a:solidFill>
                            <a:schemeClr val="bg1"/>
                          </a:solidFill>
                          <a:effectLst/>
                          <a:latin typeface="Arial" panose="020B0604020202020204" pitchFamily="34" charset="0"/>
                          <a:cs typeface="Arial" panose="020B0604020202020204" pitchFamily="34" charset="0"/>
                        </a:rPr>
                        <a:t>Contrôle d'Insertion :</a:t>
                      </a:r>
                      <a:r>
                        <a:rPr lang="fr-FR" sz="800" dirty="0">
                          <a:solidFill>
                            <a:schemeClr val="bg1"/>
                          </a:solidFill>
                          <a:effectLst/>
                          <a:latin typeface="Arial" panose="020B0604020202020204" pitchFamily="34" charset="0"/>
                          <a:cs typeface="Arial" panose="020B0604020202020204" pitchFamily="34" charset="0"/>
                        </a:rPr>
                        <a:t> Forcer l'utilisation de </a:t>
                      </a:r>
                      <a:r>
                        <a:rPr lang="fr-FR" sz="800" b="1" dirty="0">
                          <a:solidFill>
                            <a:schemeClr val="bg1"/>
                          </a:solidFill>
                          <a:effectLst/>
                          <a:latin typeface="Arial" panose="020B0604020202020204" pitchFamily="34" charset="0"/>
                          <a:cs typeface="Arial" panose="020B0604020202020204" pitchFamily="34" charset="0"/>
                        </a:rPr>
                        <a:t>Procédures Stockées</a:t>
                      </a:r>
                      <a:r>
                        <a:rPr lang="fr-FR" sz="800" dirty="0">
                          <a:solidFill>
                            <a:schemeClr val="bg1"/>
                          </a:solidFill>
                          <a:effectLst/>
                          <a:latin typeface="Arial" panose="020B0604020202020204" pitchFamily="34" charset="0"/>
                          <a:cs typeface="Arial" panose="020B0604020202020204" pitchFamily="34" charset="0"/>
                        </a:rPr>
                        <a:t> pour valider et formater les dates à la source. </a:t>
                      </a:r>
                      <a:r>
                        <a:rPr lang="fr-FR" sz="800" b="1" dirty="0">
                          <a:solidFill>
                            <a:schemeClr val="bg1"/>
                          </a:solidFill>
                          <a:effectLst/>
                          <a:latin typeface="Arial" panose="020B0604020202020204" pitchFamily="34" charset="0"/>
                          <a:cs typeface="Arial" panose="020B0604020202020204" pitchFamily="34" charset="0"/>
                        </a:rPr>
                        <a:t>Correction</a:t>
                      </a:r>
                      <a:r>
                        <a:rPr lang="fr-FR" sz="800" dirty="0">
                          <a:solidFill>
                            <a:schemeClr val="bg1"/>
                          </a:solidFill>
                          <a:effectLst/>
                          <a:latin typeface="Arial" panose="020B0604020202020204" pitchFamily="34" charset="0"/>
                          <a:cs typeface="Arial" panose="020B0604020202020204" pitchFamily="34" charset="0"/>
                        </a:rPr>
                        <a:t> des données passées (ex: écart du 14 août).</a:t>
                      </a: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dirty="0">
                          <a:solidFill>
                            <a:schemeClr val="bg1"/>
                          </a:solidFill>
                          <a:effectLst/>
                          <a:latin typeface="Arial" panose="020B0604020202020204" pitchFamily="34" charset="0"/>
                          <a:cs typeface="Arial" panose="020B0604020202020204" pitchFamily="34" charset="0"/>
                        </a:rPr>
                        <a:t>Data </a:t>
                      </a:r>
                      <a:r>
                        <a:rPr lang="fr-FR" sz="800" dirty="0" err="1">
                          <a:solidFill>
                            <a:schemeClr val="bg1"/>
                          </a:solidFill>
                          <a:effectLst/>
                          <a:latin typeface="Arial" panose="020B0604020202020204" pitchFamily="34" charset="0"/>
                          <a:cs typeface="Arial" panose="020B0604020202020204" pitchFamily="34" charset="0"/>
                        </a:rPr>
                        <a:t>Engineer</a:t>
                      </a:r>
                      <a:r>
                        <a:rPr lang="fr-FR" sz="800" dirty="0">
                          <a:solidFill>
                            <a:schemeClr val="bg1"/>
                          </a:solidFill>
                          <a:effectLst/>
                          <a:latin typeface="Arial" panose="020B0604020202020204" pitchFamily="34" charset="0"/>
                          <a:cs typeface="Arial" panose="020B0604020202020204" pitchFamily="34" charset="0"/>
                        </a:rPr>
                        <a:t> / Data </a:t>
                      </a:r>
                      <a:r>
                        <a:rPr lang="fr-FR" sz="800" dirty="0" err="1">
                          <a:solidFill>
                            <a:schemeClr val="bg1"/>
                          </a:solidFill>
                          <a:effectLst/>
                          <a:latin typeface="Arial" panose="020B0604020202020204" pitchFamily="34" charset="0"/>
                          <a:cs typeface="Arial" panose="020B0604020202020204" pitchFamily="34" charset="0"/>
                        </a:rPr>
                        <a:t>Analyst</a:t>
                      </a:r>
                      <a:endParaRPr lang="fr-FR" sz="800" dirty="0">
                        <a:solidFill>
                          <a:schemeClr val="bg1"/>
                        </a:solidFill>
                        <a:effectLst/>
                        <a:latin typeface="Arial" panose="020B0604020202020204" pitchFamily="34" charset="0"/>
                        <a:cs typeface="Arial" panose="020B0604020202020204" pitchFamily="34" charset="0"/>
                      </a:endParaRP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b="1" dirty="0">
                          <a:solidFill>
                            <a:schemeClr val="bg1"/>
                          </a:solidFill>
                          <a:effectLst/>
                          <a:latin typeface="Arial" panose="020B0604020202020204" pitchFamily="34" charset="0"/>
                          <a:cs typeface="Arial" panose="020B0604020202020204" pitchFamily="34" charset="0"/>
                        </a:rPr>
                        <a:t>3 Semaines</a:t>
                      </a:r>
                      <a:endParaRPr lang="fr-FR" sz="800" dirty="0">
                        <a:solidFill>
                          <a:schemeClr val="bg1"/>
                        </a:solidFill>
                        <a:effectLst/>
                        <a:latin typeface="Arial" panose="020B0604020202020204" pitchFamily="34" charset="0"/>
                        <a:cs typeface="Arial" panose="020B0604020202020204" pitchFamily="34" charset="0"/>
                      </a:endParaRP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872300885"/>
                  </a:ext>
                </a:extLst>
              </a:tr>
              <a:tr h="724371">
                <a:tc>
                  <a:txBody>
                    <a:bodyPr/>
                    <a:lstStyle/>
                    <a:p>
                      <a:pPr rtl="0">
                        <a:buNone/>
                      </a:pPr>
                      <a:r>
                        <a:rPr lang="fr-FR" sz="800" b="1" dirty="0">
                          <a:solidFill>
                            <a:schemeClr val="bg1"/>
                          </a:solidFill>
                          <a:effectLst/>
                          <a:latin typeface="Arial" panose="020B0604020202020204" pitchFamily="34" charset="0"/>
                          <a:cs typeface="Arial" panose="020B0604020202020204" pitchFamily="34" charset="0"/>
                        </a:rPr>
                        <a:t>2. Fondation et Pérennité</a:t>
                      </a:r>
                      <a:endParaRPr lang="fr-FR" sz="800" dirty="0">
                        <a:solidFill>
                          <a:schemeClr val="bg1"/>
                        </a:solidFill>
                        <a:effectLst/>
                        <a:latin typeface="Arial" panose="020B0604020202020204" pitchFamily="34" charset="0"/>
                        <a:cs typeface="Arial" panose="020B0604020202020204" pitchFamily="34" charset="0"/>
                      </a:endParaRP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b="1" dirty="0">
                          <a:solidFill>
                            <a:schemeClr val="bg1"/>
                          </a:solidFill>
                          <a:effectLst/>
                          <a:latin typeface="Arial" panose="020B0604020202020204" pitchFamily="34" charset="0"/>
                          <a:cs typeface="Arial" panose="020B0604020202020204" pitchFamily="34" charset="0"/>
                        </a:rPr>
                        <a:t>Renforcer l'intégrité structurelle de la base.</a:t>
                      </a:r>
                      <a:endParaRPr lang="fr-FR" sz="800" dirty="0">
                        <a:solidFill>
                          <a:schemeClr val="bg1"/>
                        </a:solidFill>
                        <a:effectLst/>
                        <a:latin typeface="Arial" panose="020B0604020202020204" pitchFamily="34" charset="0"/>
                        <a:cs typeface="Arial" panose="020B0604020202020204" pitchFamily="34" charset="0"/>
                      </a:endParaRP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b="1" dirty="0">
                          <a:solidFill>
                            <a:schemeClr val="bg1"/>
                          </a:solidFill>
                          <a:effectLst/>
                          <a:latin typeface="Arial" panose="020B0604020202020204" pitchFamily="34" charset="0"/>
                          <a:cs typeface="Arial" panose="020B0604020202020204" pitchFamily="34" charset="0"/>
                        </a:rPr>
                        <a:t>Intégrité Référentielle :</a:t>
                      </a:r>
                      <a:r>
                        <a:rPr lang="fr-FR" sz="800" dirty="0">
                          <a:solidFill>
                            <a:schemeClr val="bg1"/>
                          </a:solidFill>
                          <a:effectLst/>
                          <a:latin typeface="Arial" panose="020B0604020202020204" pitchFamily="34" charset="0"/>
                          <a:cs typeface="Arial" panose="020B0604020202020204" pitchFamily="34" charset="0"/>
                        </a:rPr>
                        <a:t> Appliquer toutes les </a:t>
                      </a:r>
                      <a:r>
                        <a:rPr lang="fr-FR" sz="800" b="1" dirty="0">
                          <a:solidFill>
                            <a:schemeClr val="bg1"/>
                          </a:solidFill>
                          <a:effectLst/>
                          <a:latin typeface="Arial" panose="020B0604020202020204" pitchFamily="34" charset="0"/>
                          <a:cs typeface="Arial" panose="020B0604020202020204" pitchFamily="34" charset="0"/>
                        </a:rPr>
                        <a:t>Clés Primaires (PK) et Étrangères (FK)</a:t>
                      </a:r>
                      <a:r>
                        <a:rPr lang="fr-FR" sz="800" dirty="0">
                          <a:solidFill>
                            <a:schemeClr val="bg1"/>
                          </a:solidFill>
                          <a:effectLst/>
                          <a:latin typeface="Arial" panose="020B0604020202020204" pitchFamily="34" charset="0"/>
                          <a:cs typeface="Arial" panose="020B0604020202020204" pitchFamily="34" charset="0"/>
                        </a:rPr>
                        <a:t> manquantes. </a:t>
                      </a:r>
                      <a:r>
                        <a:rPr lang="fr-FR" sz="800" b="1" dirty="0">
                          <a:solidFill>
                            <a:schemeClr val="bg1"/>
                          </a:solidFill>
                          <a:effectLst/>
                          <a:latin typeface="Arial" panose="020B0604020202020204" pitchFamily="34" charset="0"/>
                          <a:cs typeface="Arial" panose="020B0604020202020204" pitchFamily="34" charset="0"/>
                        </a:rPr>
                        <a:t>Mise à Jour des Flux :</a:t>
                      </a:r>
                      <a:r>
                        <a:rPr lang="fr-FR" sz="800" dirty="0">
                          <a:solidFill>
                            <a:schemeClr val="bg1"/>
                          </a:solidFill>
                          <a:effectLst/>
                          <a:latin typeface="Arial" panose="020B0604020202020204" pitchFamily="34" charset="0"/>
                          <a:cs typeface="Arial" panose="020B0604020202020204" pitchFamily="34" charset="0"/>
                        </a:rPr>
                        <a:t> Adapter les jobs ETL/ELT pour utiliser les nouvelles procédures de validation.</a:t>
                      </a: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dirty="0">
                          <a:solidFill>
                            <a:schemeClr val="bg1"/>
                          </a:solidFill>
                          <a:effectLst/>
                          <a:latin typeface="Arial" panose="020B0604020202020204" pitchFamily="34" charset="0"/>
                          <a:cs typeface="Arial" panose="020B0604020202020204" pitchFamily="34" charset="0"/>
                        </a:rPr>
                        <a:t>Data </a:t>
                      </a:r>
                      <a:r>
                        <a:rPr lang="fr-FR" sz="800" dirty="0" err="1">
                          <a:solidFill>
                            <a:schemeClr val="bg1"/>
                          </a:solidFill>
                          <a:effectLst/>
                          <a:latin typeface="Arial" panose="020B0604020202020204" pitchFamily="34" charset="0"/>
                          <a:cs typeface="Arial" panose="020B0604020202020204" pitchFamily="34" charset="0"/>
                        </a:rPr>
                        <a:t>Engineer</a:t>
                      </a:r>
                      <a:endParaRPr lang="fr-FR" sz="800" dirty="0">
                        <a:solidFill>
                          <a:schemeClr val="bg1"/>
                        </a:solidFill>
                        <a:effectLst/>
                        <a:latin typeface="Arial" panose="020B0604020202020204" pitchFamily="34" charset="0"/>
                        <a:cs typeface="Arial" panose="020B0604020202020204" pitchFamily="34" charset="0"/>
                      </a:endParaRP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b="1" dirty="0">
                          <a:solidFill>
                            <a:schemeClr val="bg1"/>
                          </a:solidFill>
                          <a:effectLst/>
                          <a:latin typeface="Arial" panose="020B0604020202020204" pitchFamily="34" charset="0"/>
                          <a:cs typeface="Arial" panose="020B0604020202020204" pitchFamily="34" charset="0"/>
                        </a:rPr>
                        <a:t>3 Semaines</a:t>
                      </a:r>
                      <a:endParaRPr lang="fr-FR" sz="800" dirty="0">
                        <a:solidFill>
                          <a:schemeClr val="bg1"/>
                        </a:solidFill>
                        <a:effectLst/>
                        <a:latin typeface="Arial" panose="020B0604020202020204" pitchFamily="34" charset="0"/>
                        <a:cs typeface="Arial" panose="020B0604020202020204" pitchFamily="34" charset="0"/>
                      </a:endParaRP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355098775"/>
                  </a:ext>
                </a:extLst>
              </a:tr>
              <a:tr h="781343">
                <a:tc>
                  <a:txBody>
                    <a:bodyPr/>
                    <a:lstStyle/>
                    <a:p>
                      <a:pPr rtl="0">
                        <a:buNone/>
                      </a:pPr>
                      <a:r>
                        <a:rPr lang="fr-FR" sz="800" b="1">
                          <a:solidFill>
                            <a:schemeClr val="bg1"/>
                          </a:solidFill>
                          <a:effectLst/>
                          <a:latin typeface="Arial" panose="020B0604020202020204" pitchFamily="34" charset="0"/>
                          <a:cs typeface="Arial" panose="020B0604020202020204" pitchFamily="34" charset="0"/>
                        </a:rPr>
                        <a:t>3. Gouvernance et Maintenance</a:t>
                      </a:r>
                      <a:endParaRPr lang="fr-FR" sz="800">
                        <a:solidFill>
                          <a:schemeClr val="bg1"/>
                        </a:solidFill>
                        <a:effectLst/>
                        <a:latin typeface="Arial" panose="020B0604020202020204" pitchFamily="34" charset="0"/>
                        <a:cs typeface="Arial" panose="020B0604020202020204" pitchFamily="34" charset="0"/>
                      </a:endParaRP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b="1">
                          <a:solidFill>
                            <a:schemeClr val="bg1"/>
                          </a:solidFill>
                          <a:effectLst/>
                          <a:latin typeface="Arial" panose="020B0604020202020204" pitchFamily="34" charset="0"/>
                          <a:cs typeface="Arial" panose="020B0604020202020204" pitchFamily="34" charset="0"/>
                        </a:rPr>
                        <a:t>Formaliser la connaissance et prévenir les problèmes futurs.</a:t>
                      </a:r>
                      <a:endParaRPr lang="fr-FR" sz="800">
                        <a:solidFill>
                          <a:schemeClr val="bg1"/>
                        </a:solidFill>
                        <a:effectLst/>
                        <a:latin typeface="Arial" panose="020B0604020202020204" pitchFamily="34" charset="0"/>
                        <a:cs typeface="Arial" panose="020B0604020202020204" pitchFamily="34" charset="0"/>
                      </a:endParaRP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b="1">
                          <a:solidFill>
                            <a:schemeClr val="bg1"/>
                          </a:solidFill>
                          <a:effectLst/>
                          <a:latin typeface="Arial" panose="020B0604020202020204" pitchFamily="34" charset="0"/>
                          <a:cs typeface="Arial" panose="020B0604020202020204" pitchFamily="34" charset="0"/>
                        </a:rPr>
                        <a:t>Documentation :</a:t>
                      </a:r>
                      <a:r>
                        <a:rPr lang="fr-FR" sz="800">
                          <a:solidFill>
                            <a:schemeClr val="bg1"/>
                          </a:solidFill>
                          <a:effectLst/>
                          <a:latin typeface="Arial" panose="020B0604020202020204" pitchFamily="34" charset="0"/>
                          <a:cs typeface="Arial" panose="020B0604020202020204" pitchFamily="34" charset="0"/>
                        </a:rPr>
                        <a:t> Finaliser et publier le </a:t>
                      </a:r>
                      <a:r>
                        <a:rPr lang="fr-FR" sz="800" b="1">
                          <a:solidFill>
                            <a:schemeClr val="bg1"/>
                          </a:solidFill>
                          <a:effectLst/>
                          <a:latin typeface="Arial" panose="020B0604020202020204" pitchFamily="34" charset="0"/>
                          <a:cs typeface="Arial" panose="020B0604020202020204" pitchFamily="34" charset="0"/>
                        </a:rPr>
                        <a:t>Dictionnaire des Données</a:t>
                      </a:r>
                      <a:r>
                        <a:rPr lang="fr-FR" sz="800">
                          <a:solidFill>
                            <a:schemeClr val="bg1"/>
                          </a:solidFill>
                          <a:effectLst/>
                          <a:latin typeface="Arial" panose="020B0604020202020204" pitchFamily="34" charset="0"/>
                          <a:cs typeface="Arial" panose="020B0604020202020204" pitchFamily="34" charset="0"/>
                        </a:rPr>
                        <a:t> et le Schéma Relationnel (OLAP). </a:t>
                      </a:r>
                      <a:r>
                        <a:rPr lang="fr-FR" sz="800" b="1">
                          <a:solidFill>
                            <a:schemeClr val="bg1"/>
                          </a:solidFill>
                          <a:effectLst/>
                          <a:latin typeface="Arial" panose="020B0604020202020204" pitchFamily="34" charset="0"/>
                          <a:cs typeface="Arial" panose="020B0604020202020204" pitchFamily="34" charset="0"/>
                        </a:rPr>
                        <a:t>Surveillance :</a:t>
                      </a:r>
                      <a:r>
                        <a:rPr lang="fr-FR" sz="800">
                          <a:solidFill>
                            <a:schemeClr val="bg1"/>
                          </a:solidFill>
                          <a:effectLst/>
                          <a:latin typeface="Arial" panose="020B0604020202020204" pitchFamily="34" charset="0"/>
                          <a:cs typeface="Arial" panose="020B0604020202020204" pitchFamily="34" charset="0"/>
                        </a:rPr>
                        <a:t> Mettre en place l'analyse des logs pour détecter les erreurs de contraintes ou les tentatives d'écriture illégales.</a:t>
                      </a: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dirty="0">
                          <a:solidFill>
                            <a:schemeClr val="bg1"/>
                          </a:solidFill>
                          <a:effectLst/>
                          <a:latin typeface="Arial" panose="020B0604020202020204" pitchFamily="34" charset="0"/>
                          <a:cs typeface="Arial" panose="020B0604020202020204" pitchFamily="34" charset="0"/>
                        </a:rPr>
                        <a:t>Data </a:t>
                      </a:r>
                      <a:r>
                        <a:rPr lang="fr-FR" sz="800" dirty="0" err="1">
                          <a:solidFill>
                            <a:schemeClr val="bg1"/>
                          </a:solidFill>
                          <a:effectLst/>
                          <a:latin typeface="Arial" panose="020B0604020202020204" pitchFamily="34" charset="0"/>
                          <a:cs typeface="Arial" panose="020B0604020202020204" pitchFamily="34" charset="0"/>
                        </a:rPr>
                        <a:t>Engineer</a:t>
                      </a:r>
                      <a:r>
                        <a:rPr lang="fr-FR" sz="800" dirty="0">
                          <a:solidFill>
                            <a:schemeClr val="bg1"/>
                          </a:solidFill>
                          <a:effectLst/>
                          <a:latin typeface="Arial" panose="020B0604020202020204" pitchFamily="34" charset="0"/>
                          <a:cs typeface="Arial" panose="020B0604020202020204" pitchFamily="34" charset="0"/>
                        </a:rPr>
                        <a:t> / Équipe Data</a:t>
                      </a: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b="1" dirty="0">
                          <a:solidFill>
                            <a:schemeClr val="bg1"/>
                          </a:solidFill>
                          <a:effectLst/>
                          <a:latin typeface="Arial" panose="020B0604020202020204" pitchFamily="34" charset="0"/>
                          <a:cs typeface="Arial" panose="020B0604020202020204" pitchFamily="34" charset="0"/>
                        </a:rPr>
                        <a:t>3 Semaines</a:t>
                      </a:r>
                      <a:endParaRPr lang="fr-FR" sz="800" dirty="0">
                        <a:solidFill>
                          <a:schemeClr val="bg1"/>
                        </a:solidFill>
                        <a:effectLst/>
                        <a:latin typeface="Arial" panose="020B0604020202020204" pitchFamily="34" charset="0"/>
                        <a:cs typeface="Arial" panose="020B0604020202020204" pitchFamily="34" charset="0"/>
                      </a:endParaRP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392062517"/>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8"/>
          <p:cNvSpPr txBox="1">
            <a:spLocks noGrp="1"/>
          </p:cNvSpPr>
          <p:nvPr>
            <p:ph type="title"/>
          </p:nvPr>
        </p:nvSpPr>
        <p:spPr>
          <a:xfrm>
            <a:off x="311700" y="385550"/>
            <a:ext cx="8520600" cy="841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fr" dirty="0">
                <a:latin typeface="+mj-lt"/>
              </a:rPr>
              <a:t>Conclusion</a:t>
            </a:r>
            <a:endParaRPr dirty="0">
              <a:latin typeface="+mj-lt"/>
            </a:endParaRPr>
          </a:p>
        </p:txBody>
      </p:sp>
      <p:sp>
        <p:nvSpPr>
          <p:cNvPr id="2" name="ZoneTexte 1">
            <a:extLst>
              <a:ext uri="{FF2B5EF4-FFF2-40B4-BE49-F238E27FC236}">
                <a16:creationId xmlns:a16="http://schemas.microsoft.com/office/drawing/2014/main" id="{098927B7-D48F-07D5-0DC2-BCE1D040F8B9}"/>
              </a:ext>
            </a:extLst>
          </p:cNvPr>
          <p:cNvSpPr txBox="1"/>
          <p:nvPr/>
        </p:nvSpPr>
        <p:spPr>
          <a:xfrm>
            <a:off x="489225" y="1227350"/>
            <a:ext cx="8165550" cy="3600986"/>
          </a:xfrm>
          <a:prstGeom prst="rect">
            <a:avLst/>
          </a:prstGeom>
          <a:noFill/>
        </p:spPr>
        <p:txBody>
          <a:bodyPr wrap="square" rtlCol="0">
            <a:spAutoFit/>
          </a:bodyPr>
          <a:lstStyle/>
          <a:p>
            <a:pPr marL="285750" indent="-285750">
              <a:buClr>
                <a:schemeClr val="bg1"/>
              </a:buClr>
              <a:buFontTx/>
              <a:buChar char="-"/>
            </a:pPr>
            <a:r>
              <a:rPr lang="fr-FR" sz="1200" b="1" dirty="0">
                <a:solidFill>
                  <a:schemeClr val="bg1"/>
                </a:solidFill>
              </a:rPr>
              <a:t>Le CA est Faussement Stable (Incohérence Critique) : </a:t>
            </a:r>
            <a:r>
              <a:rPr lang="fr-FR" sz="1200" dirty="0">
                <a:solidFill>
                  <a:schemeClr val="bg1">
                    <a:lumMod val="65000"/>
                  </a:schemeClr>
                </a:solidFill>
              </a:rPr>
              <a:t>L'instabilité du Chiffre d'Affaires (CA) est avérée. Les données historiques changent sans raison claire, ce qui rend toutes les décisions stratégiques et d'</a:t>
            </a:r>
            <a:r>
              <a:rPr lang="fr-FR" sz="1200" dirty="0" err="1">
                <a:solidFill>
                  <a:schemeClr val="bg1">
                    <a:lumMod val="65000"/>
                  </a:schemeClr>
                </a:solidFill>
              </a:rPr>
              <a:t>hyper-personnalisation</a:t>
            </a:r>
            <a:r>
              <a:rPr lang="fr-FR" sz="1200" dirty="0">
                <a:solidFill>
                  <a:schemeClr val="bg1">
                    <a:lumMod val="65000"/>
                  </a:schemeClr>
                </a:solidFill>
              </a:rPr>
              <a:t> dangereuses et non fiables.</a:t>
            </a:r>
          </a:p>
          <a:p>
            <a:pPr marL="285750" indent="-285750">
              <a:buClr>
                <a:schemeClr val="bg1"/>
              </a:buClr>
              <a:buFontTx/>
              <a:buChar char="-"/>
            </a:pPr>
            <a:endParaRPr lang="fr-FR" sz="1200" dirty="0">
              <a:solidFill>
                <a:schemeClr val="bg1"/>
              </a:solidFill>
            </a:endParaRPr>
          </a:p>
          <a:p>
            <a:pPr marL="285750" indent="-285750">
              <a:buClr>
                <a:schemeClr val="bg1"/>
              </a:buClr>
              <a:buFontTx/>
              <a:buChar char="-"/>
            </a:pPr>
            <a:r>
              <a:rPr lang="fr-FR" sz="1200" b="1" dirty="0">
                <a:solidFill>
                  <a:schemeClr val="bg1"/>
                </a:solidFill>
              </a:rPr>
              <a:t>Cause Racine Technique : Défaut d'Intégrité Temporelle : </a:t>
            </a:r>
            <a:r>
              <a:rPr lang="fr-FR" sz="1200" dirty="0">
                <a:solidFill>
                  <a:schemeClr val="bg1">
                    <a:lumMod val="65000"/>
                  </a:schemeClr>
                </a:solidFill>
              </a:rPr>
              <a:t>La source du problème est l'absence de contrôles sur les dates dans la base de données. Le système permet l'insertion tardive de données avec une date passée, ce qui corrompt le CA déjà clôturé.</a:t>
            </a:r>
          </a:p>
          <a:p>
            <a:pPr marL="285750" indent="-285750">
              <a:buClr>
                <a:schemeClr val="bg1"/>
              </a:buClr>
              <a:buFontTx/>
              <a:buChar char="-"/>
            </a:pPr>
            <a:endParaRPr lang="fr-FR" sz="1200" dirty="0">
              <a:solidFill>
                <a:schemeClr val="bg1"/>
              </a:solidFill>
            </a:endParaRPr>
          </a:p>
          <a:p>
            <a:pPr marL="285750" indent="-285750">
              <a:buClr>
                <a:schemeClr val="bg1"/>
              </a:buClr>
              <a:buFontTx/>
              <a:buChar char="-"/>
            </a:pPr>
            <a:r>
              <a:rPr lang="fr-FR" sz="1200" b="1" dirty="0">
                <a:solidFill>
                  <a:schemeClr val="bg1"/>
                </a:solidFill>
              </a:rPr>
              <a:t>Priorité Absolue : Stopper la Contamination (P1) :</a:t>
            </a:r>
            <a:r>
              <a:rPr lang="fr-FR" sz="1200" dirty="0">
                <a:solidFill>
                  <a:schemeClr val="bg1"/>
                </a:solidFill>
              </a:rPr>
              <a:t> </a:t>
            </a:r>
            <a:r>
              <a:rPr lang="fr-FR" sz="1200" dirty="0">
                <a:solidFill>
                  <a:schemeClr val="bg1">
                    <a:lumMod val="65000"/>
                  </a:schemeClr>
                </a:solidFill>
              </a:rPr>
              <a:t>Il est critique d'agir immédiatement en déployant les Triggers et les contrôles de dates (CHECK). Cette action doit être mise en œuvre dans les trois prochaines semaines pour garantir que les données financières deviennent enfin immuables.</a:t>
            </a:r>
          </a:p>
          <a:p>
            <a:pPr marL="285750" indent="-285750">
              <a:buClr>
                <a:schemeClr val="bg1"/>
              </a:buClr>
              <a:buFontTx/>
              <a:buChar char="-"/>
            </a:pPr>
            <a:endParaRPr lang="fr-FR" sz="1200" dirty="0">
              <a:solidFill>
                <a:schemeClr val="bg1"/>
              </a:solidFill>
            </a:endParaRPr>
          </a:p>
          <a:p>
            <a:pPr marL="285750" indent="-285750">
              <a:buClr>
                <a:schemeClr val="bg1"/>
              </a:buClr>
              <a:buFontTx/>
              <a:buChar char="-"/>
            </a:pPr>
            <a:r>
              <a:rPr lang="fr-FR" sz="1200" b="1" dirty="0">
                <a:solidFill>
                  <a:schemeClr val="bg1"/>
                </a:solidFill>
              </a:rPr>
              <a:t>Assurer la Pérennité (P2) : </a:t>
            </a:r>
            <a:r>
              <a:rPr lang="fr-FR" sz="1200" dirty="0">
                <a:solidFill>
                  <a:schemeClr val="bg1">
                    <a:lumMod val="65000"/>
                  </a:schemeClr>
                </a:solidFill>
              </a:rPr>
              <a:t>Renforcer l'Architecture : Après l'urgence, l'application des clés primaires et étrangères (PK/FK) est essentielle. Il faut également formaliser la documentation pour sécuriser l'entrepôt et réduire l'inertie opérationnelle.</a:t>
            </a:r>
          </a:p>
          <a:p>
            <a:pPr marL="285750" indent="-285750">
              <a:buClr>
                <a:schemeClr val="bg1"/>
              </a:buClr>
              <a:buFontTx/>
              <a:buChar char="-"/>
            </a:pPr>
            <a:endParaRPr lang="fr-FR" sz="1200" dirty="0">
              <a:solidFill>
                <a:schemeClr val="bg1"/>
              </a:solidFill>
            </a:endParaRPr>
          </a:p>
          <a:p>
            <a:pPr marL="285750" indent="-285750">
              <a:buClr>
                <a:schemeClr val="bg1"/>
              </a:buClr>
              <a:buFontTx/>
              <a:buChar char="-"/>
            </a:pPr>
            <a:r>
              <a:rPr lang="fr-FR" sz="1200" b="1" dirty="0">
                <a:solidFill>
                  <a:schemeClr val="bg1"/>
                </a:solidFill>
              </a:rPr>
              <a:t>Prochaine Étape : </a:t>
            </a:r>
            <a:r>
              <a:rPr lang="fr-FR" sz="1200" dirty="0">
                <a:solidFill>
                  <a:schemeClr val="bg1">
                    <a:lumMod val="65000"/>
                  </a:schemeClr>
                </a:solidFill>
              </a:rPr>
              <a:t>Validation et Lancement du Plan : Nous demandons la validation immédiate du Plan d'Action pour lancer la Phase 1 sans délai. Le suivi sera assuré par une révision hebdomadaire de la progression du Data </a:t>
            </a:r>
            <a:r>
              <a:rPr lang="fr-FR" sz="1200" dirty="0" err="1">
                <a:solidFill>
                  <a:schemeClr val="bg1">
                    <a:lumMod val="65000"/>
                  </a:schemeClr>
                </a:solidFill>
              </a:rPr>
              <a:t>Engineer</a:t>
            </a:r>
            <a:r>
              <a:rPr lang="fr-FR" sz="1200" dirty="0">
                <a:solidFill>
                  <a:schemeClr val="bg1">
                    <a:lumMod val="65000"/>
                  </a:schemeClr>
                </a:solidFill>
              </a:rPr>
              <a:t>.</a:t>
            </a:r>
          </a:p>
        </p:txBody>
      </p:sp>
    </p:spTree>
  </p:cSld>
  <p:clrMapOvr>
    <a:masterClrMapping/>
  </p:clrMapOvr>
</p:sld>
</file>

<file path=ppt/theme/theme1.xml><?xml version="1.0" encoding="utf-8"?>
<a:theme xmlns:a="http://schemas.openxmlformats.org/drawingml/2006/main"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1419</TotalTime>
  <Words>2159</Words>
  <Application>Microsoft Office PowerPoint</Application>
  <PresentationFormat>Affichage à l'écran (16:9)</PresentationFormat>
  <Paragraphs>235</Paragraphs>
  <Slides>20</Slides>
  <Notes>20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20</vt:i4>
      </vt:variant>
    </vt:vector>
  </HeadingPairs>
  <TitlesOfParts>
    <vt:vector size="28" baseType="lpstr">
      <vt:lpstr>Lato</vt:lpstr>
      <vt:lpstr>Wingdings</vt:lpstr>
      <vt:lpstr>Inter</vt:lpstr>
      <vt:lpstr>Calibri</vt:lpstr>
      <vt:lpstr>Roboto</vt:lpstr>
      <vt:lpstr>Arial</vt:lpstr>
      <vt:lpstr>Montserrat</vt:lpstr>
      <vt:lpstr>Focus</vt:lpstr>
      <vt:lpstr>AUDIT :  Erreur sur le Cube OLAP </vt:lpstr>
      <vt:lpstr>Présentation de la mission</vt:lpstr>
      <vt:lpstr>Analyse de la base de données Architecture de l’entreprise</vt:lpstr>
      <vt:lpstr>Analyse de la base de données Dictionnaire des données du fichier OLAP et schéma relationnel</vt:lpstr>
      <vt:lpstr>Analyse de la base de données Dictionnaire des données du fichier OLAP et schéma relationnel</vt:lpstr>
      <vt:lpstr>Présentation du prototype de BDD Explication de la base de données</vt:lpstr>
      <vt:lpstr>Résultat des requêtes SQL Le chiffre d’affaires total pour le 14 Août</vt:lpstr>
      <vt:lpstr>Résultat des requêtes SQL Le chiffre d’affaires par client pour le top 10 des clients</vt:lpstr>
      <vt:lpstr>Résultat des requêtes SQL Part de chiffre d’affaires encaissé par employé (limité a 10) </vt:lpstr>
      <vt:lpstr>Analyse des logs Dictionnaire des données et explications</vt:lpstr>
      <vt:lpstr>Analyse des logs Dictionnaire des données et explications</vt:lpstr>
      <vt:lpstr>Compréhension des problèmes sur la base des logs</vt:lpstr>
      <vt:lpstr>Compréhension des problèmes sur la base des logs</vt:lpstr>
      <vt:lpstr>Compréhension des problèmes sur la base des logs</vt:lpstr>
      <vt:lpstr>Recommandations pour l’entreprise</vt:lpstr>
      <vt:lpstr>Recommandations pour l’entreprise</vt:lpstr>
      <vt:lpstr>Recommandations pour l’entreprise Avantages et inconvénients de la solution</vt:lpstr>
      <vt:lpstr>Recommandations pour l’entreprise Implications pour l’organisation actuelle </vt:lpstr>
      <vt:lpstr>Recommandations pour l’entreprise Planning de mise en place et coût éventuel</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Aymeric Bailleul</dc:creator>
  <cp:lastModifiedBy>Aymeric Bailleul</cp:lastModifiedBy>
  <cp:revision>22</cp:revision>
  <dcterms:modified xsi:type="dcterms:W3CDTF">2025-09-29T09:34:28Z</dcterms:modified>
</cp:coreProperties>
</file>