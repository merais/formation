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2F61"/>
    <a:srgbClr val="0F49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5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510484E-67CE-3BC2-1343-FD3B44766632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énergétique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bâtiments</a:t>
            </a:r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destinés à l’habitation </a:t>
            </a:r>
            <a:r>
              <a:rPr lang="fr-FR" sz="5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Seattle</a:t>
            </a:r>
          </a:p>
        </p:txBody>
      </p:sp>
    </p:spTree>
    <p:extLst>
      <p:ext uri="{BB962C8B-B14F-4D97-AF65-F5344CB8AC3E}">
        <p14:creationId xmlns:p14="http://schemas.microsoft.com/office/powerpoint/2010/main" val="618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200AA92-5B97-A1F7-DD2F-B5F200F097DE}"/>
              </a:ext>
            </a:extLst>
          </p:cNvPr>
          <p:cNvSpPr/>
          <p:nvPr/>
        </p:nvSpPr>
        <p:spPr>
          <a:xfrm>
            <a:off x="397800" y="3369600"/>
            <a:ext cx="11396400" cy="3139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/>
              <a:t>🎯 </a:t>
            </a:r>
            <a:r>
              <a:rPr lang="fr-FR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Objectifs spécifiques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F784F1-23A6-EFCA-2DF2-997A88577AB6}"/>
              </a:ext>
            </a:extLst>
          </p:cNvPr>
          <p:cNvSpPr txBox="1"/>
          <p:nvPr/>
        </p:nvSpPr>
        <p:spPr>
          <a:xfrm>
            <a:off x="4982507" y="0"/>
            <a:ext cx="222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D799A1D-F7A2-9010-A475-8943591C2203}"/>
              </a:ext>
            </a:extLst>
          </p:cNvPr>
          <p:cNvSpPr txBox="1"/>
          <p:nvPr/>
        </p:nvSpPr>
        <p:spPr>
          <a:xfrm>
            <a:off x="719624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Analyser les données de consommation énergétique 2016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CD20D9-EA49-593D-54E3-20382FC3BBDD}"/>
              </a:ext>
            </a:extLst>
          </p:cNvPr>
          <p:cNvSpPr txBox="1"/>
          <p:nvPr/>
        </p:nvSpPr>
        <p:spPr>
          <a:xfrm>
            <a:off x="3449600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Modélisation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Développer un modèle ML performant et interprétable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3EBBBA9-4DCE-9911-EEAB-CD5780C050D8}"/>
              </a:ext>
            </a:extLst>
          </p:cNvPr>
          <p:cNvSpPr txBox="1"/>
          <p:nvPr/>
        </p:nvSpPr>
        <p:spPr>
          <a:xfrm>
            <a:off x="6179576" y="40392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Identifier les features les plus impactantes</a:t>
            </a:r>
          </a:p>
          <a:p>
            <a:pPr algn="ctr"/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21FEFB-51E9-7506-7016-3F2515745F50}"/>
              </a:ext>
            </a:extLst>
          </p:cNvPr>
          <p:cNvSpPr txBox="1"/>
          <p:nvPr/>
        </p:nvSpPr>
        <p:spPr>
          <a:xfrm>
            <a:off x="8909552" y="4046400"/>
            <a:ext cx="2576600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</a:t>
            </a:r>
          </a:p>
          <a:p>
            <a:pPr algn="ctr"/>
            <a:endParaRPr lang="fr-FR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Fournir des recommandations opérationnelles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8163FF9-9085-1753-2FF4-C5F8BAE839DD}"/>
              </a:ext>
            </a:extLst>
          </p:cNvPr>
          <p:cNvSpPr/>
          <p:nvPr/>
        </p:nvSpPr>
        <p:spPr>
          <a:xfrm>
            <a:off x="397800" y="979200"/>
            <a:ext cx="11396400" cy="1943999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/>
              <a:t>🎯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: 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Atteindre la neutralité carbone d'ici 2050 pour la ville de Seattle.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b="1" dirty="0"/>
              <a:t>📈 </a:t>
            </a:r>
            <a:r>
              <a:rPr lang="fr-FR" sz="20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 :</a:t>
            </a: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Développement d'un modèle prédictif pour anticiper les besoins énergétiques des bâtiments et accompagner la transition écologique de la ville.</a:t>
            </a:r>
          </a:p>
        </p:txBody>
      </p:sp>
    </p:spTree>
    <p:extLst>
      <p:ext uri="{BB962C8B-B14F-4D97-AF65-F5344CB8AC3E}">
        <p14:creationId xmlns:p14="http://schemas.microsoft.com/office/powerpoint/2010/main" val="214983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86E6-4C46-C7BB-112D-836E0E29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B58EA3E-F1FD-F7A7-E8E1-9B7E8ECC83E1}"/>
              </a:ext>
            </a:extLst>
          </p:cNvPr>
          <p:cNvSpPr txBox="1"/>
          <p:nvPr/>
        </p:nvSpPr>
        <p:spPr>
          <a:xfrm>
            <a:off x="5151970" y="0"/>
            <a:ext cx="2263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</a:t>
            </a:r>
            <a:endParaRPr lang="fr-FR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D369EC-5A83-6CFF-EFB4-6A89C78A184F}"/>
              </a:ext>
            </a:extLst>
          </p:cNvPr>
          <p:cNvSpPr txBox="1"/>
          <p:nvPr/>
        </p:nvSpPr>
        <p:spPr>
          <a:xfrm>
            <a:off x="668656" y="1160213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bâtiments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5287EE-09D4-40DE-9975-9E634415B9D5}"/>
              </a:ext>
            </a:extLst>
          </p:cNvPr>
          <p:cNvSpPr txBox="1"/>
          <p:nvPr/>
        </p:nvSpPr>
        <p:spPr>
          <a:xfrm>
            <a:off x="2611757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3,376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initiaux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1DC0C9-E5FD-DCD6-B3BD-E2712FDA625E}"/>
              </a:ext>
            </a:extLst>
          </p:cNvPr>
          <p:cNvSpPr txBox="1"/>
          <p:nvPr/>
        </p:nvSpPr>
        <p:spPr>
          <a:xfrm>
            <a:off x="5894706" y="11313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1,441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nettoyage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66D543-D2E9-5866-794F-C264401637BD}"/>
              </a:ext>
            </a:extLst>
          </p:cNvPr>
          <p:cNvSpPr txBox="1"/>
          <p:nvPr/>
        </p:nvSpPr>
        <p:spPr>
          <a:xfrm>
            <a:off x="9177655" y="1118680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1,277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filtrage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A08F7F-5E3E-3E50-BEE8-0D618FEF3163}"/>
              </a:ext>
            </a:extLst>
          </p:cNvPr>
          <p:cNvSpPr txBox="1"/>
          <p:nvPr/>
        </p:nvSpPr>
        <p:spPr>
          <a:xfrm>
            <a:off x="2988524" y="1918899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398DA1D-41AD-EFDF-3EC8-D17CBE1058CB}"/>
              </a:ext>
            </a:extLst>
          </p:cNvPr>
          <p:cNvSpPr txBox="1"/>
          <p:nvPr/>
        </p:nvSpPr>
        <p:spPr>
          <a:xfrm>
            <a:off x="5890084" y="1918899"/>
            <a:ext cx="21128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Bâtiments non résidentiels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FFDDBF-C724-1B39-F359-C0F460383C73}"/>
              </a:ext>
            </a:extLst>
          </p:cNvPr>
          <p:cNvSpPr txBox="1"/>
          <p:nvPr/>
        </p:nvSpPr>
        <p:spPr>
          <a:xfrm>
            <a:off x="8903889" y="1916520"/>
            <a:ext cx="2746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sans outliers ni cellule vide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DC7ACC0-496A-E271-3B5F-9FDDD6E84B5D}"/>
              </a:ext>
            </a:extLst>
          </p:cNvPr>
          <p:cNvCxnSpPr>
            <a:cxnSpLocks/>
          </p:cNvCxnSpPr>
          <p:nvPr/>
        </p:nvCxnSpPr>
        <p:spPr>
          <a:xfrm>
            <a:off x="5006570" y="1504432"/>
            <a:ext cx="591954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7E7CFC6-92FD-93AC-EF42-6EB4D02C128F}"/>
              </a:ext>
            </a:extLst>
          </p:cNvPr>
          <p:cNvCxnSpPr>
            <a:cxnSpLocks/>
          </p:cNvCxnSpPr>
          <p:nvPr/>
        </p:nvCxnSpPr>
        <p:spPr>
          <a:xfrm>
            <a:off x="8291830" y="15314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6AEE7D8-23B1-0719-A799-AA180AE4416B}"/>
              </a:ext>
            </a:extLst>
          </p:cNvPr>
          <p:cNvSpPr txBox="1"/>
          <p:nvPr/>
        </p:nvSpPr>
        <p:spPr>
          <a:xfrm>
            <a:off x="668656" y="2672349"/>
            <a:ext cx="1562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Nombres de variables 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251D6B8-2B97-6F1A-2C9F-40B373F2017C}"/>
              </a:ext>
            </a:extLst>
          </p:cNvPr>
          <p:cNvSpPr txBox="1"/>
          <p:nvPr/>
        </p:nvSpPr>
        <p:spPr>
          <a:xfrm>
            <a:off x="2611757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d’origines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BC5BDB9-262C-98BB-FB19-42B179178AA2}"/>
              </a:ext>
            </a:extLst>
          </p:cNvPr>
          <p:cNvSpPr txBox="1"/>
          <p:nvPr/>
        </p:nvSpPr>
        <p:spPr>
          <a:xfrm>
            <a:off x="5845040" y="2729439"/>
            <a:ext cx="220291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pertinentes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A7C42E-599B-4A71-8F1A-206A9FA95E17}"/>
              </a:ext>
            </a:extLst>
          </p:cNvPr>
          <p:cNvSpPr txBox="1"/>
          <p:nvPr/>
        </p:nvSpPr>
        <p:spPr>
          <a:xfrm>
            <a:off x="9223049" y="2729439"/>
            <a:ext cx="2108200" cy="80021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</a:t>
            </a:r>
            <a:r>
              <a:rPr lang="fr-F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featuring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0BEB005-4D56-DBA5-B33B-59E8EF5C1826}"/>
              </a:ext>
            </a:extLst>
          </p:cNvPr>
          <p:cNvCxnSpPr>
            <a:cxnSpLocks/>
          </p:cNvCxnSpPr>
          <p:nvPr/>
        </p:nvCxnSpPr>
        <p:spPr>
          <a:xfrm>
            <a:off x="5001624" y="3127722"/>
            <a:ext cx="596900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93491BE-B2DD-6D02-8F47-09B01E105504}"/>
              </a:ext>
            </a:extLst>
          </p:cNvPr>
          <p:cNvCxnSpPr>
            <a:cxnSpLocks/>
          </p:cNvCxnSpPr>
          <p:nvPr/>
        </p:nvCxnSpPr>
        <p:spPr>
          <a:xfrm>
            <a:off x="8291830" y="3145055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3FD53DDA-266B-D76B-77B9-A5E15CB1ECE3}"/>
              </a:ext>
            </a:extLst>
          </p:cNvPr>
          <p:cNvSpPr txBox="1"/>
          <p:nvPr/>
        </p:nvSpPr>
        <p:spPr>
          <a:xfrm>
            <a:off x="2988524" y="3527832"/>
            <a:ext cx="1354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 base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8F0A7E46-D6BA-6E6A-9080-F78E436B769F}"/>
              </a:ext>
            </a:extLst>
          </p:cNvPr>
          <p:cNvSpPr txBox="1"/>
          <p:nvPr/>
        </p:nvSpPr>
        <p:spPr>
          <a:xfrm>
            <a:off x="5951992" y="3527832"/>
            <a:ext cx="1989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liées à la conso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7D14B59-B7A3-FC52-6DAD-6D4CB28C060C}"/>
              </a:ext>
            </a:extLst>
          </p:cNvPr>
          <p:cNvSpPr txBox="1"/>
          <p:nvPr/>
        </p:nvSpPr>
        <p:spPr>
          <a:xfrm>
            <a:off x="9097404" y="3527832"/>
            <a:ext cx="2359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Ajout de variables pertinentes</a:t>
            </a:r>
            <a:endParaRPr lang="fr-F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09A8079-0892-934D-9CF5-DCBD838121AB}"/>
              </a:ext>
            </a:extLst>
          </p:cNvPr>
          <p:cNvSpPr/>
          <p:nvPr/>
        </p:nvSpPr>
        <p:spPr>
          <a:xfrm>
            <a:off x="308041" y="4633704"/>
            <a:ext cx="11575915" cy="1726286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⚠️ </a:t>
            </a:r>
            <a:r>
              <a:rPr lang="fr-FR" b="1" u="sng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 de Vigilance :</a:t>
            </a:r>
            <a:r>
              <a:rPr lang="fr-FR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Nettoyage des Données</a:t>
            </a:r>
          </a:p>
          <a:p>
            <a:endParaRPr lang="fr-FR" sz="1000" b="1" dirty="0">
              <a:solidFill>
                <a:schemeClr val="accent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nettoyage rigoureux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nécessaire pour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garantir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fiabilité du modèle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57.3%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des données initiales ont été écartées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(valeurs manquantes, données non fiables, outliers extrêmes)</a:t>
            </a:r>
          </a:p>
          <a:p>
            <a:pPr marL="285750" indent="-285750">
              <a:buFontTx/>
              <a:buChar char="-"/>
            </a:pP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Résultat :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Le </a:t>
            </a:r>
            <a:r>
              <a:rPr lang="fr-FR" sz="1600" dirty="0" err="1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final </a:t>
            </a:r>
            <a:r>
              <a:rPr lang="fr-FR" sz="1600" i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(1,441 bâtiments) 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plus petit, mais de </a:t>
            </a:r>
            <a:r>
              <a:rPr lang="fr-FR" sz="16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bien meilleure qualité</a:t>
            </a:r>
            <a:r>
              <a:rPr lang="fr-FR" sz="1600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préservant la représentativité des types principaux</a:t>
            </a:r>
          </a:p>
        </p:txBody>
      </p:sp>
      <p:pic>
        <p:nvPicPr>
          <p:cNvPr id="29" name="Graphique 28" descr="Base de données avec un remplissage uni">
            <a:extLst>
              <a:ext uri="{FF2B5EF4-FFF2-40B4-BE49-F238E27FC236}">
                <a16:creationId xmlns:a16="http://schemas.microsoft.com/office/drawing/2014/main" id="{48FA17EC-E7FB-7893-0022-44DB22360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770" y="91499"/>
            <a:ext cx="517200" cy="5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3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7595E6C-B3A6-A335-2644-38ED990BACF0}"/>
              </a:ext>
            </a:extLst>
          </p:cNvPr>
          <p:cNvSpPr txBox="1"/>
          <p:nvPr/>
        </p:nvSpPr>
        <p:spPr>
          <a:xfrm>
            <a:off x="2089647" y="-43971"/>
            <a:ext cx="8012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EXPLORATOIRE </a:t>
            </a:r>
            <a:r>
              <a:rPr lang="fr-FR" sz="36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(INSIGHTS CLÉS)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F1B2423-202F-6FE4-9221-2C3627B89E0E}"/>
              </a:ext>
            </a:extLst>
          </p:cNvPr>
          <p:cNvSpPr/>
          <p:nvPr/>
        </p:nvSpPr>
        <p:spPr>
          <a:xfrm>
            <a:off x="573600" y="707886"/>
            <a:ext cx="11044800" cy="18409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1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 Consommation est Extrêmement Hétérogène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distribution de la consommation énergétique est fortement asymétrique.</a:t>
            </a:r>
          </a:p>
          <a:p>
            <a:pPr marL="720725" indent="-180975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Moyenne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(~2,3 millions de 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3x supérieure à la 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Médiane (~774 000 kWh)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595B4A-C332-FA83-3512-341B1C281B9C}"/>
              </a:ext>
            </a:extLst>
          </p:cNvPr>
          <p:cNvSpPr txBox="1"/>
          <p:nvPr/>
        </p:nvSpPr>
        <p:spPr>
          <a:xfrm>
            <a:off x="819599" y="1839541"/>
            <a:ext cx="10504800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Implication Métier :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L'essentiel de la consommation totale est concentré sur un petit nombre de très gros bâtiments/utilisateurs. Ce sont eux qui doivent être ciblés en priorité pour maximiser l'impact carbone.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B9F4E0-EADB-D969-0B9F-CB88CAC9F672}"/>
              </a:ext>
            </a:extLst>
          </p:cNvPr>
          <p:cNvSpPr/>
          <p:nvPr/>
        </p:nvSpPr>
        <p:spPr>
          <a:xfrm>
            <a:off x="549599" y="2653686"/>
            <a:ext cx="11044800" cy="1417915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🏢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2 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L'Usage est Déterminant</a:t>
            </a:r>
          </a:p>
          <a:p>
            <a:endParaRPr lang="fr-FR" sz="7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L'énergie consommée est fortement corrélée avec l'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du bâtiment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42067F0-C801-3E2E-C570-B03F4B7B87C9}"/>
              </a:ext>
            </a:extLst>
          </p:cNvPr>
          <p:cNvSpPr txBox="1"/>
          <p:nvPr/>
        </p:nvSpPr>
        <p:spPr>
          <a:xfrm>
            <a:off x="1661260" y="3442856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Hôtels &amp; Hôpitaux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Besoins intrinsèquement élevés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2506B4-FE87-9880-3CFB-B54A21E28707}"/>
              </a:ext>
            </a:extLst>
          </p:cNvPr>
          <p:cNvSpPr txBox="1"/>
          <p:nvPr/>
        </p:nvSpPr>
        <p:spPr>
          <a:xfrm>
            <a:off x="6527542" y="3442855"/>
            <a:ext cx="4003200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Bureaux &amp; Entrepôts</a:t>
            </a:r>
          </a:p>
          <a:p>
            <a:pPr algn="ctr"/>
            <a:r>
              <a:rPr lang="fr-FR" sz="1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 plus modérée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783D940-C333-6764-2B77-DC33159FD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671929"/>
              </p:ext>
            </p:extLst>
          </p:nvPr>
        </p:nvGraphicFramePr>
        <p:xfrm>
          <a:off x="4768057" y="4432068"/>
          <a:ext cx="6826344" cy="1915560"/>
        </p:xfrm>
        <a:graphic>
          <a:graphicData uri="http://schemas.openxmlformats.org/drawingml/2006/table">
            <a:tbl>
              <a:tblPr/>
              <a:tblGrid>
                <a:gridCol w="1706586">
                  <a:extLst>
                    <a:ext uri="{9D8B030D-6E8A-4147-A177-3AD203B41FA5}">
                      <a16:colId xmlns:a16="http://schemas.microsoft.com/office/drawing/2014/main" val="1062925541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4178315518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2418979737"/>
                    </a:ext>
                  </a:extLst>
                </a:gridCol>
                <a:gridCol w="1706586">
                  <a:extLst>
                    <a:ext uri="{9D8B030D-6E8A-4147-A177-3AD203B41FA5}">
                      <a16:colId xmlns:a16="http://schemas.microsoft.com/office/drawing/2014/main" val="3718645298"/>
                    </a:ext>
                  </a:extLst>
                </a:gridCol>
              </a:tblGrid>
              <a:tr h="245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 de Bâtiment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 err="1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Quantitée</a:t>
                      </a:r>
                      <a:endParaRPr lang="fr-FR" sz="1400" b="1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du Total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2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Consommation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005813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Warehouse</a:t>
                      </a:r>
                      <a:endParaRPr lang="fr-FR" sz="11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180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Modérée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98148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Large Office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11.5%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04900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Retail Store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89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348891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75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5.2%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Élevée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008395"/>
                  </a:ext>
                </a:extLst>
              </a:tr>
              <a:tr h="279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1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Other</a:t>
                      </a:r>
                      <a:endParaRPr lang="fr-FR" sz="11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932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64.6%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1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 marL="72000" marR="72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235284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7B1F1FFA-C73D-7D31-FBFB-4A3FC15AAB96}"/>
              </a:ext>
            </a:extLst>
          </p:cNvPr>
          <p:cNvSpPr txBox="1"/>
          <p:nvPr/>
        </p:nvSpPr>
        <p:spPr>
          <a:xfrm>
            <a:off x="549599" y="4432068"/>
            <a:ext cx="3338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0000"/>
                    <a:lumOff val="80000"/>
                  </a:schemeClr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📈 Répartition par Type (Top 5)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67C8603-2129-A38F-B9C5-A7DA4379E27E}"/>
              </a:ext>
            </a:extLst>
          </p:cNvPr>
          <p:cNvCxnSpPr>
            <a:cxnSpLocks/>
          </p:cNvCxnSpPr>
          <p:nvPr/>
        </p:nvCxnSpPr>
        <p:spPr>
          <a:xfrm>
            <a:off x="3943030" y="4620289"/>
            <a:ext cx="612059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1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0FFFEB8-29B0-DB56-4EF8-3C36846F52A1}"/>
              </a:ext>
            </a:extLst>
          </p:cNvPr>
          <p:cNvSpPr txBox="1"/>
          <p:nvPr/>
        </p:nvSpPr>
        <p:spPr>
          <a:xfrm>
            <a:off x="3043850" y="0"/>
            <a:ext cx="6104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DÉMARCHE DE MODÉLISATION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73D06CE-F1E7-57BF-6A68-DBD2230BD23C}"/>
              </a:ext>
            </a:extLst>
          </p:cNvPr>
          <p:cNvSpPr/>
          <p:nvPr/>
        </p:nvSpPr>
        <p:spPr>
          <a:xfrm>
            <a:off x="364800" y="818514"/>
            <a:ext cx="11462400" cy="10512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 des Outliers :</a:t>
            </a:r>
          </a:p>
          <a:p>
            <a:endParaRPr lang="fr-FR" sz="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variable cible </a:t>
            </a:r>
            <a:r>
              <a:rPr lang="fr-FR" sz="1600" b="1" dirty="0" err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SiteEnergyUse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 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été transformée en appliquant un logarithme </a:t>
            </a:r>
            <a:r>
              <a:rPr lang="fr-FR" sz="16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(log1p)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1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 :</a:t>
            </a:r>
            <a:r>
              <a:rPr lang="fr-FR" sz="1100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Cette transformation normalise la distribution et permet aux modèles (en particulier la Régression Linéaire) de respecter les hypothèses statistiques pour de meilleures performances.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FF565FB-D244-95DD-627A-1A7883C81398}"/>
              </a:ext>
            </a:extLst>
          </p:cNvPr>
          <p:cNvSpPr/>
          <p:nvPr/>
        </p:nvSpPr>
        <p:spPr>
          <a:xfrm>
            <a:off x="364800" y="1986204"/>
            <a:ext cx="11462400" cy="2885591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de Préparation 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AF4726-C4CC-D81F-B02B-97999F72F257}"/>
              </a:ext>
            </a:extLst>
          </p:cNvPr>
          <p:cNvSpPr txBox="1"/>
          <p:nvPr/>
        </p:nvSpPr>
        <p:spPr>
          <a:xfrm>
            <a:off x="679424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Création de variables clés :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Âge du bâtiment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Consommation par étage</a:t>
            </a:r>
            <a:b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Ratios énergétiques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6BF8A8-9BDD-BC66-CDAD-3A3DAC80144C}"/>
              </a:ext>
            </a:extLst>
          </p:cNvPr>
          <p:cNvSpPr txBox="1"/>
          <p:nvPr/>
        </p:nvSpPr>
        <p:spPr>
          <a:xfrm>
            <a:off x="3409400" y="25118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Conversion des variables catégorielles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(Type de Propriété)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format numérique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Encoding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2D8A84-7BDA-1BB7-2ADE-C7A4F3075FF9}"/>
              </a:ext>
            </a:extLst>
          </p:cNvPr>
          <p:cNvSpPr txBox="1"/>
          <p:nvPr/>
        </p:nvSpPr>
        <p:spPr>
          <a:xfrm>
            <a:off x="6139376" y="2504604"/>
            <a:ext cx="2591522" cy="22159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Normalisation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 à l'échelle des variables numériques 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fr-FR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éviter la dominance d'une variable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C33957B-1314-F94D-9BE2-C7AF22248D4C}"/>
              </a:ext>
            </a:extLst>
          </p:cNvPr>
          <p:cNvSpPr txBox="1"/>
          <p:nvPr/>
        </p:nvSpPr>
        <p:spPr>
          <a:xfrm>
            <a:off x="8869352" y="2511804"/>
            <a:ext cx="2591522" cy="2208791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Séparation</a:t>
            </a:r>
          </a:p>
          <a:p>
            <a:pPr algn="ctr"/>
            <a:endParaRPr lang="fr-FR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Jeu d'entraînement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(Train)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Jeu de Test 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(Test)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validation croisée</a:t>
            </a:r>
          </a:p>
          <a:p>
            <a:pPr algn="ctr"/>
            <a:endParaRPr lang="fr-FR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6BBFD9E-B25F-586F-53B0-CC3590AFCE69}"/>
              </a:ext>
            </a:extLst>
          </p:cNvPr>
          <p:cNvSpPr/>
          <p:nvPr/>
        </p:nvSpPr>
        <p:spPr>
          <a:xfrm>
            <a:off x="364800" y="4988285"/>
            <a:ext cx="11462400" cy="166320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 Clés de la Préparation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 logarithmique pour normaliser la distribution asymétrique.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nouvelles variables créées par </a:t>
            </a:r>
            <a:r>
              <a:rPr lang="fr-FR" sz="1600" dirty="0" err="1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engineering.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Standardisation cruciale pour les modèles sensibles </a:t>
            </a:r>
            <a:r>
              <a:rPr lang="fr-FR" sz="1600" i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(SVM, Régression Linéaire).</a:t>
            </a:r>
          </a:p>
          <a:p>
            <a:pPr marL="1433513" indent="-360363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 croisée 80/20 pour tester la généralisation.</a:t>
            </a:r>
          </a:p>
        </p:txBody>
      </p:sp>
    </p:spTree>
    <p:extLst>
      <p:ext uri="{BB962C8B-B14F-4D97-AF65-F5344CB8AC3E}">
        <p14:creationId xmlns:p14="http://schemas.microsoft.com/office/powerpoint/2010/main" val="1482233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E595E4B-070C-EEFE-A19F-B23A9BA95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2" y="1412364"/>
            <a:ext cx="5819638" cy="46455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A7AB312-660C-2F0E-3389-6D85A71B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822" y="1412364"/>
            <a:ext cx="5819638" cy="46486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707631A-B832-39CC-196D-888BBFF7E71C}"/>
              </a:ext>
            </a:extLst>
          </p:cNvPr>
          <p:cNvSpPr txBox="1"/>
          <p:nvPr/>
        </p:nvSpPr>
        <p:spPr>
          <a:xfrm>
            <a:off x="486964" y="0"/>
            <a:ext cx="1121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AVANT/APRÈS MODÉLISATION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4C1D1E-CEA8-EFA8-7307-9DCE5D77E709}"/>
              </a:ext>
            </a:extLst>
          </p:cNvPr>
          <p:cNvSpPr txBox="1"/>
          <p:nvPr/>
        </p:nvSpPr>
        <p:spPr>
          <a:xfrm>
            <a:off x="192540" y="1073810"/>
            <a:ext cx="1940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Avant modélisation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1EFEFA3-E133-30C2-6749-10195D1616A8}"/>
              </a:ext>
            </a:extLst>
          </p:cNvPr>
          <p:cNvSpPr txBox="1"/>
          <p:nvPr/>
        </p:nvSpPr>
        <p:spPr>
          <a:xfrm>
            <a:off x="6179822" y="1073810"/>
            <a:ext cx="1937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Après modélisation :</a:t>
            </a:r>
          </a:p>
        </p:txBody>
      </p:sp>
    </p:spTree>
    <p:extLst>
      <p:ext uri="{BB962C8B-B14F-4D97-AF65-F5344CB8AC3E}">
        <p14:creationId xmlns:p14="http://schemas.microsoft.com/office/powerpoint/2010/main" val="153572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934A8AF-D9B7-D2F7-6A8E-70C209909856}"/>
              </a:ext>
            </a:extLst>
          </p:cNvPr>
          <p:cNvSpPr txBox="1"/>
          <p:nvPr/>
        </p:nvSpPr>
        <p:spPr>
          <a:xfrm>
            <a:off x="1326240" y="0"/>
            <a:ext cx="105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MODÈLES ET PERFORMANCE</a:t>
            </a:r>
            <a:endParaRPr lang="fr-FR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6A7B364-DE41-B6A1-7BE7-19534BBA919B}"/>
              </a:ext>
            </a:extLst>
          </p:cNvPr>
          <p:cNvSpPr/>
          <p:nvPr/>
        </p:nvSpPr>
        <p:spPr>
          <a:xfrm>
            <a:off x="559200" y="707886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🧪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Algorithmes de Régression Testés :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B708916-7E21-9124-9798-E98611326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82667"/>
              </p:ext>
            </p:extLst>
          </p:nvPr>
        </p:nvGraphicFramePr>
        <p:xfrm>
          <a:off x="2185200" y="1191922"/>
          <a:ext cx="7821600" cy="1574800"/>
        </p:xfrm>
        <a:graphic>
          <a:graphicData uri="http://schemas.openxmlformats.org/drawingml/2006/table">
            <a:tbl>
              <a:tblPr/>
              <a:tblGrid>
                <a:gridCol w="2208546">
                  <a:extLst>
                    <a:ext uri="{9D8B030D-6E8A-4147-A177-3AD203B41FA5}">
                      <a16:colId xmlns:a16="http://schemas.microsoft.com/office/drawing/2014/main" val="1068696621"/>
                    </a:ext>
                  </a:extLst>
                </a:gridCol>
                <a:gridCol w="5613054">
                  <a:extLst>
                    <a:ext uri="{9D8B030D-6E8A-4147-A177-3AD203B41FA5}">
                      <a16:colId xmlns:a16="http://schemas.microsoft.com/office/drawing/2014/main" val="748486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Modèle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Sensibilité / Interprétabilité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962409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Simple, très interprétable, sensible aux outliers et aux échelles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242317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 Forest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Très performant, robuste aux outliers, moins interprétable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(boîte noire)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002735"/>
                  </a:ext>
                </a:extLst>
              </a:tr>
              <a:tr h="2558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Support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dirty="0" err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Regressor</a:t>
                      </a: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(SVR)</a:t>
                      </a:r>
                      <a:endParaRPr lang="fr-FR" sz="1200" i="1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Performant sur données normalisées, mais souvent lent et très sensible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217242"/>
                  </a:ext>
                </a:extLst>
              </a:tr>
            </a:tbl>
          </a:graphicData>
        </a:graphic>
      </p:graphicFrame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2973578-9FE5-784B-E571-FC9AFE5CEBC0}"/>
              </a:ext>
            </a:extLst>
          </p:cNvPr>
          <p:cNvSpPr/>
          <p:nvPr/>
        </p:nvSpPr>
        <p:spPr>
          <a:xfrm>
            <a:off x="559200" y="3068568"/>
            <a:ext cx="11073600" cy="2179314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des Performances </a:t>
            </a:r>
            <a:r>
              <a:rPr lang="fr-FR" sz="1600" b="1" i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(sur Jeu de Test)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1600" u="sng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85B4888F-54A2-92D5-CCB2-16F9A4C22F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4968"/>
              </p:ext>
            </p:extLst>
          </p:nvPr>
        </p:nvGraphicFramePr>
        <p:xfrm>
          <a:off x="908399" y="3562776"/>
          <a:ext cx="10375202" cy="1526280"/>
        </p:xfrm>
        <a:graphic>
          <a:graphicData uri="http://schemas.openxmlformats.org/drawingml/2006/table">
            <a:tbl>
              <a:tblPr/>
              <a:tblGrid>
                <a:gridCol w="1577675">
                  <a:extLst>
                    <a:ext uri="{9D8B030D-6E8A-4147-A177-3AD203B41FA5}">
                      <a16:colId xmlns:a16="http://schemas.microsoft.com/office/drawing/2014/main" val="1386397879"/>
                    </a:ext>
                  </a:extLst>
                </a:gridCol>
                <a:gridCol w="3129904">
                  <a:extLst>
                    <a:ext uri="{9D8B030D-6E8A-4147-A177-3AD203B41FA5}">
                      <a16:colId xmlns:a16="http://schemas.microsoft.com/office/drawing/2014/main" val="2146707225"/>
                    </a:ext>
                  </a:extLst>
                </a:gridCol>
                <a:gridCol w="2144562">
                  <a:extLst>
                    <a:ext uri="{9D8B030D-6E8A-4147-A177-3AD203B41FA5}">
                      <a16:colId xmlns:a16="http://schemas.microsoft.com/office/drawing/2014/main" val="3530695105"/>
                    </a:ext>
                  </a:extLst>
                </a:gridCol>
                <a:gridCol w="1899997">
                  <a:extLst>
                    <a:ext uri="{9D8B030D-6E8A-4147-A177-3AD203B41FA5}">
                      <a16:colId xmlns:a16="http://schemas.microsoft.com/office/drawing/2014/main" val="912835101"/>
                    </a:ext>
                  </a:extLst>
                </a:gridCol>
                <a:gridCol w="1623064">
                  <a:extLst>
                    <a:ext uri="{9D8B030D-6E8A-4147-A177-3AD203B41FA5}">
                      <a16:colId xmlns:a16="http://schemas.microsoft.com/office/drawing/2014/main" val="442511574"/>
                    </a:ext>
                  </a:extLst>
                </a:gridCol>
              </a:tblGrid>
              <a:tr h="299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Métrique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Interprétation Métier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Régression Linéaire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Random</a:t>
                      </a: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Forest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4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SVR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4193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R²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Qualité de l'ajustement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(0 à 1)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0.9343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0.9185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0.9168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2128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Moyenne Absolue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90,144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93,179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147,981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24209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RMSE</a:t>
                      </a:r>
                      <a:endParaRPr lang="fr-FR" sz="120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Erreur Quadratique Moyenne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(kWh)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1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261,530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b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291,226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294,325 kWh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63205"/>
                  </a:ext>
                </a:extLst>
              </a:tr>
              <a:tr h="2774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b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Surapprentissage</a:t>
                      </a:r>
                      <a:endParaRPr lang="fr-FR" sz="1200" dirty="0">
                        <a:solidFill>
                          <a:schemeClr val="accen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Mémorisation excessive, généralisation faible.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</a:t>
                      </a:r>
                      <a:r>
                        <a:rPr lang="fr-FR" sz="1200" b="1" i="1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(4.66%)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Moyen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(7.68)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i="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Bon </a:t>
                      </a:r>
                      <a:r>
                        <a:rPr lang="fr-FR" sz="1200" i="1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(2.21%)</a:t>
                      </a:r>
                    </a:p>
                  </a:txBody>
                  <a:tcPr marL="101600" marR="101600" marT="36000" marB="36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76593"/>
                  </a:ext>
                </a:extLst>
              </a:tr>
            </a:tbl>
          </a:graphicData>
        </a:graphic>
      </p:graphicFrame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76E28B-21A9-ABB5-7283-1B79FE5C7A37}"/>
              </a:ext>
            </a:extLst>
          </p:cNvPr>
          <p:cNvSpPr/>
          <p:nvPr/>
        </p:nvSpPr>
        <p:spPr>
          <a:xfrm>
            <a:off x="559200" y="5429250"/>
            <a:ext cx="11073600" cy="1152525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🏆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des Performances :</a:t>
            </a:r>
          </a:p>
          <a:p>
            <a:endParaRPr lang="fr-FR" sz="8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 à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linéaire 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le plus précis, avec un R² de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93,4 %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moyenne, le modèle se 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trompe de plus ou moins 90,144 kWh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dans son estimation de la consommation d'énergie.</a:t>
            </a:r>
          </a:p>
        </p:txBody>
      </p:sp>
    </p:spTree>
    <p:extLst>
      <p:ext uri="{BB962C8B-B14F-4D97-AF65-F5344CB8AC3E}">
        <p14:creationId xmlns:p14="http://schemas.microsoft.com/office/powerpoint/2010/main" val="64712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0E9797A-6438-C68D-E04B-128C75837432}"/>
              </a:ext>
            </a:extLst>
          </p:cNvPr>
          <p:cNvSpPr txBox="1"/>
          <p:nvPr/>
        </p:nvSpPr>
        <p:spPr>
          <a:xfrm>
            <a:off x="1687068" y="0"/>
            <a:ext cx="8817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GRAPHIQUE DE COMPARAISON DES MODÈLES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5164711-376D-3E7A-0931-32A1FAE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81" y="1049923"/>
            <a:ext cx="9167836" cy="253260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AB7F7CD-102A-3641-F980-AEB4D713D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81" y="3888846"/>
            <a:ext cx="9167836" cy="253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92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0787AFA-5B4B-234E-DA84-5940A7A17E24}"/>
              </a:ext>
            </a:extLst>
          </p:cNvPr>
          <p:cNvSpPr txBox="1"/>
          <p:nvPr/>
        </p:nvSpPr>
        <p:spPr>
          <a:xfrm>
            <a:off x="2214232" y="0"/>
            <a:ext cx="7763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RECOMMANDATIONS ET FACTEURS CLÉS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29F6F4F-E99F-3190-6498-90BFEEACD489}"/>
              </a:ext>
            </a:extLst>
          </p:cNvPr>
          <p:cNvSpPr/>
          <p:nvPr/>
        </p:nvSpPr>
        <p:spPr>
          <a:xfrm>
            <a:off x="367200" y="997330"/>
            <a:ext cx="10987200" cy="1024069"/>
          </a:xfrm>
          <a:prstGeom prst="round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 </a:t>
            </a:r>
            <a:r>
              <a:rPr lang="fr-FR" sz="1600" b="1" u="sng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Modèle Final Retenu :</a:t>
            </a:r>
          </a:p>
          <a:p>
            <a:endParaRPr lang="fr-FR" sz="800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model à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Régression Linéaire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avec un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R²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supérieur à 0.9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est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recommandée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pour le modèle final grâce à sa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simplicité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son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interprétabilité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sa </a:t>
            </a:r>
            <a:r>
              <a:rPr lang="fr-FR" sz="16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facilité d'intégration</a:t>
            </a:r>
            <a:r>
              <a:rPr lang="fr-FR" sz="16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 production.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6FB23FC-E765-54EE-7621-7499250071D7}"/>
              </a:ext>
            </a:extLst>
          </p:cNvPr>
          <p:cNvSpPr/>
          <p:nvPr/>
        </p:nvSpPr>
        <p:spPr>
          <a:xfrm>
            <a:off x="367200" y="2372400"/>
            <a:ext cx="10987200" cy="199439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🔑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5 Facteurs Clés de la Consommation 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262CFDA-A688-83C5-471F-1D716813DC10}"/>
              </a:ext>
            </a:extLst>
          </p:cNvPr>
          <p:cNvSpPr txBox="1"/>
          <p:nvPr/>
        </p:nvSpPr>
        <p:spPr>
          <a:xfrm>
            <a:off x="547904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Consommations</a:t>
            </a:r>
          </a:p>
          <a:p>
            <a:pPr algn="ctr"/>
            <a:endParaRPr lang="fr-FR" sz="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Electricity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</a:t>
            </a:r>
            <a:b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NaturalGas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(kWh)</a:t>
            </a: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Prédicteurs très forts</a:t>
            </a:r>
            <a:endParaRPr lang="fr-FR" sz="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9E6A4F0-5A6F-A3DF-7400-C89B3F9CAC78}"/>
              </a:ext>
            </a:extLst>
          </p:cNvPr>
          <p:cNvSpPr txBox="1"/>
          <p:nvPr/>
        </p:nvSpPr>
        <p:spPr>
          <a:xfrm>
            <a:off x="2781650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du Bâtiment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PropertyGFABuilding</a:t>
            </a:r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(s)</a:t>
            </a: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Plus grand = plus de consommation</a:t>
            </a:r>
            <a:endParaRPr lang="fr-FR" sz="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9437316-9BE6-EDF3-10D5-B987C21CA87A}"/>
              </a:ext>
            </a:extLst>
          </p:cNvPr>
          <p:cNvSpPr txBox="1"/>
          <p:nvPr/>
        </p:nvSpPr>
        <p:spPr>
          <a:xfrm>
            <a:off x="5015396" y="2896330"/>
            <a:ext cx="1690808" cy="1292662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Intensité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Consommation_par_etage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</a:t>
            </a:r>
            <a:r>
              <a:rPr lang="fr-FR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engineerée</a:t>
            </a:r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essentielle</a:t>
            </a:r>
            <a:endParaRPr lang="fr-FR" sz="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49D1C92-DB4B-03BC-3E2D-A1FCB08BC61B}"/>
              </a:ext>
            </a:extLst>
          </p:cNvPr>
          <p:cNvSpPr txBox="1"/>
          <p:nvPr/>
        </p:nvSpPr>
        <p:spPr>
          <a:xfrm>
            <a:off x="7165846" y="2897735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Nombre d'Étages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NumberofFloors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Indicateur de complexité structurelle</a:t>
            </a:r>
            <a:endParaRPr lang="fr-FR" sz="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20574D7-632C-0A4E-6D62-C74E44F2737F}"/>
              </a:ext>
            </a:extLst>
          </p:cNvPr>
          <p:cNvSpPr txBox="1"/>
          <p:nvPr/>
        </p:nvSpPr>
        <p:spPr>
          <a:xfrm>
            <a:off x="9399592" y="2896330"/>
            <a:ext cx="1769768" cy="1319198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36000" tIns="36000" rIns="36000" bIns="36000" rtlCol="0">
            <a:noAutofit/>
          </a:bodyPr>
          <a:lstStyle/>
          <a:p>
            <a:pPr algn="ctr"/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d'Usage</a:t>
            </a:r>
          </a:p>
          <a:p>
            <a:pPr algn="ctr"/>
            <a:endParaRPr lang="fr-FR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1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PrimaryPropertyType</a:t>
            </a: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Détermine le profil de consommation</a:t>
            </a:r>
            <a:endParaRPr lang="fr-FR" sz="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0226CC5-A7E3-D41F-0713-008673058BA1}"/>
              </a:ext>
            </a:extLst>
          </p:cNvPr>
          <p:cNvSpPr/>
          <p:nvPr/>
        </p:nvSpPr>
        <p:spPr>
          <a:xfrm>
            <a:off x="369046" y="4712922"/>
            <a:ext cx="10987200" cy="13464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💼 </a:t>
            </a:r>
            <a:r>
              <a:rPr lang="fr-FR" sz="1600" b="1" u="sng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Synthèse Métier :</a:t>
            </a:r>
          </a:p>
          <a:p>
            <a:endParaRPr lang="fr-FR" sz="8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modèle confirme que la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taille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l'intensité d'usage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sont les leviers majeurs pour estimer la consommation.</a:t>
            </a:r>
          </a:p>
          <a:p>
            <a:pPr marL="285750" indent="-285750">
              <a:buFontTx/>
              <a:buChar char="-"/>
            </a:pP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prédire l'énergie d'un nouveau bâtiment, il est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vital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d'avoir une estimation fiable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totale 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de sa </a:t>
            </a:r>
            <a:r>
              <a:rPr lang="fr-FR" sz="16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destination </a:t>
            </a:r>
            <a:r>
              <a:rPr lang="fr-FR" sz="1600" b="1" i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(usage)</a:t>
            </a:r>
            <a:r>
              <a:rPr lang="fr-FR" sz="1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1080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B525DEA-BFC0-B69C-431D-0B4B27E8464D}"/>
              </a:ext>
            </a:extLst>
          </p:cNvPr>
          <p:cNvSpPr/>
          <p:nvPr/>
        </p:nvSpPr>
        <p:spPr>
          <a:xfrm>
            <a:off x="555600" y="1948500"/>
            <a:ext cx="11080800" cy="2961000"/>
          </a:xfrm>
          <a:prstGeom prst="roundRect">
            <a:avLst/>
          </a:prstGeom>
          <a:solidFill>
            <a:schemeClr val="tx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5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END</a:t>
            </a:r>
            <a:endParaRPr lang="fr-FR" sz="54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418922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340</TotalTime>
  <Words>886</Words>
  <Application>Microsoft Office PowerPoint</Application>
  <PresentationFormat>Grand écran</PresentationFormat>
  <Paragraphs>209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Wingdings 3</vt:lpstr>
      <vt:lpstr>Secteur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Bailleul</dc:creator>
  <cp:lastModifiedBy>Aymeric Bailleul</cp:lastModifiedBy>
  <cp:revision>10</cp:revision>
  <dcterms:created xsi:type="dcterms:W3CDTF">2025-10-29T09:26:48Z</dcterms:created>
  <dcterms:modified xsi:type="dcterms:W3CDTF">2025-10-30T13:15:50Z</dcterms:modified>
</cp:coreProperties>
</file>