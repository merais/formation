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71" r:id="rId3"/>
    <p:sldId id="259" r:id="rId4"/>
    <p:sldId id="283" r:id="rId5"/>
    <p:sldId id="272" r:id="rId6"/>
    <p:sldId id="285" r:id="rId7"/>
    <p:sldId id="263" r:id="rId8"/>
    <p:sldId id="275" r:id="rId9"/>
    <p:sldId id="268" r:id="rId10"/>
    <p:sldId id="273" r:id="rId11"/>
    <p:sldId id="282" r:id="rId12"/>
    <p:sldId id="261" r:id="rId13"/>
    <p:sldId id="264" r:id="rId14"/>
    <p:sldId id="274" r:id="rId15"/>
    <p:sldId id="265" r:id="rId16"/>
    <p:sldId id="267" r:id="rId17"/>
    <p:sldId id="278" r:id="rId18"/>
    <p:sldId id="276" r:id="rId19"/>
    <p:sldId id="269" r:id="rId20"/>
    <p:sldId id="277" r:id="rId21"/>
    <p:sldId id="286" r:id="rId22"/>
    <p:sldId id="270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7B00"/>
    <a:srgbClr val="7030A0"/>
    <a:srgbClr val="006C31"/>
    <a:srgbClr val="B7FF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0219" autoAdjust="0"/>
  </p:normalViewPr>
  <p:slideViewPr>
    <p:cSldViewPr snapToGrid="0">
      <p:cViewPr varScale="1">
        <p:scale>
          <a:sx n="140" d="100"/>
          <a:sy n="140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5C20B4B-EC45-A737-8960-36CECC21B1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9BC586-6ABD-EA2B-F8CF-FFF5E17EE0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3E1E6-30BC-40E4-9813-DC590AE7B576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0DE1CDA-4213-ED23-013A-AF9771C425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5BC8091-B5BD-D70E-62D4-C9985F07F8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C406D-B88D-4266-9B39-AC2ADA97F2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0119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A5FB3B-753F-4CD7-82D2-4F11553236B4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71DC9-7783-45BF-A97C-2CB98E8644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92523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286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48EA3-B66D-EF48-8097-2EC08FECD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BC344E6-52C1-3F96-5003-42CEF202A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1EC70E8-A713-770E-7F6E-7414AFD52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985E95-6C3C-2F6F-455D-D3370DC3D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812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90B26-979C-750F-5B95-A00E2795F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0BB8645-33C5-8531-B92D-52C1AFDE9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09268C2-A33B-F49B-906C-98DAFD2CD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EA5551-CCAE-BC22-2CF8-9EC9DD52D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8338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8A2D4-491C-1B9E-F44B-396D8444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F31F08B-D873-8B2A-31AB-E9152D1E1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0DF5ACD-98E5-C90B-C7D8-EB0088C7C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ADCD1C-D144-31A8-E900-4634E5A15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9101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AB48-0091-985A-CE5D-32AE2CFD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E94DF0E-DF27-73F6-46F9-54BAFA352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B5FE7B-87F0-F5B3-567D-669A7C789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2E02F2-2FDF-57CC-60A6-C1B9ABBD2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64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D41F9-83B1-000A-A624-B7D09D3E4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73422B8-FF58-D094-0122-8BC5D0DD3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12D025-C8BF-708E-B552-A0284992B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5CBFE1-82CB-7D9F-E296-91FD4B18C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2884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7EB9D-9102-9117-B1E5-9AF8C9124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CE86641-751C-9D3E-F3B0-15D5D30E6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21E46C3-ABB4-9B77-9A32-043EBCDB3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4A5AF5-9B64-9E4F-C1CC-098B15FA0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8333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0A3A6-5B44-A0BE-B9F7-7BDCB774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C55485B-B03B-07FB-BF4D-212CF6BAC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C84119E-0D20-BB7C-5A4C-B9668C332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47F310-AE9C-90F5-8A34-76EE4B962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3900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E2AC4-219E-D221-D233-D5F55D9FD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74C80D1-1F26-3E9E-1922-3CC577F68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BF7D51F-899D-C3B3-DA88-C71E66C95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1E90B2-F7D7-8660-2804-8F25077F8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359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C1795-5889-E09E-04FC-4A72B1CF5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1D8DD23-5133-0848-17E2-3695F61A5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D3DBF5B-1AC6-1826-22FB-E80804F6E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892F04-8B6C-254D-486E-F9C4178F4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145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6D112-DAD1-BA53-AE78-337F18EFF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7FB4744-BC1E-25CB-92F2-1F58C6BA7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CC9B51A-4AFE-4DDA-7E8E-33D7BB628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D2C5E3-FCB9-C230-F1A2-1F60CC98E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5898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4005-35E6-9832-C1CB-67F489E7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E03E30B-5CD1-343F-4A81-076CF20AD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00BF019-3D98-ADD8-2C94-E768B8A18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E494A3-DC1E-3812-99A9-219A79305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70738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1A481-4386-8A11-A825-8A2B958A6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EA9FF6E-8C69-A4B1-FBB9-8B738C6C2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6C42EF4-EADE-E36F-4B72-392C61D99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81F5D9-9742-34A3-69B7-9F507BD9B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1785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D2D37-486C-1F40-BBAE-21AEFCC55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F4FA5FC-B3AD-2C31-FF48-9FE04A862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12D9F1E-BFE0-1BDE-7910-FA4DF02E4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7DCB5E-CA11-B1A5-4767-71D29A3E8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7606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E9CB-AEFF-8579-D12D-B7DF36C0F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9AE40BC-F1AC-948A-847B-0234BE6C4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92CB541-46CC-A3CA-F747-047D104EC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🏗️ Infrastructure AWS Complète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Orchestration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 ECS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Fargate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-pipeline-cluster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 Insights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Activé pour monitoring avancé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Versions déployées (mongodb:2, mongo-express:2, weather-etl:3, importer:3, cleanup:3)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 Réseau (VPC)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VPC Privé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CIDR 10.0.0.0/16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privés (eu-west-1a: 10.0.1.0/24, eu-west-1b: 10.0.2.0/24)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publics (eu-west-1a: 10.0.101.0/24, eu-west-1b: 10.0.102.0/24)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Security Groups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</a:p>
          <a:p>
            <a:pPr lvl="2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sg-mongodb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Port 27017 (interne uniquement)</a:t>
            </a:r>
          </a:p>
          <a:p>
            <a:pPr lvl="2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-mongo-express : Port 8081 (accès web public)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Internet Gateway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Pour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publics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 Tables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Configuration routage Multi-AZ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 Service Discovery (DNS)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Namespace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weather-pipeline.local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Discovery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mongodb.weather-pipeline.local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résolution DNS interne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 Stockage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EFS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 system: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-pipeline-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(321 MB)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Mount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Multi-AZ (eu-west-1a, eu-west-1b)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Chiffrement AES-256 activé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Type: General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Bucket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 p8-weather-data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Structure: 01_raw / 02_cleaned / 03_archived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objets, 13.15 MB</a:t>
            </a:r>
          </a:p>
          <a:p>
            <a:pPr lvl="2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Lifecycle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Policy: Archivage Glacier après 90 jours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Versioning configuré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5️⃣ Monitoring &amp; Logs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CloudWatch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-pipeline-monitoring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Log Groups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weather-mongodb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-mongo-express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weather-etl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-importer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/s3-cleanup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 Insights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Métriques ECS (CPU, RAM, réseau)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Metrics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Configuration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Collecte quotidienne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BucketSizeBytes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NumberOfObjects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6️⃣ Sécurité &amp; Secrets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Secrets Manager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</a:p>
          <a:p>
            <a:pPr lvl="2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-pipeline/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mongodb-credentials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(admin/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password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MongoDB)</a:t>
            </a:r>
          </a:p>
          <a:p>
            <a:pPr lvl="2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-pipeline/mongo-express-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credentials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(admin/admin123)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IAM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</a:t>
            </a:r>
          </a:p>
          <a:p>
            <a:pPr lvl="2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(pour ECS pull images ECR, récupérer secrets)</a:t>
            </a:r>
          </a:p>
          <a:p>
            <a:pPr lvl="2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(pour accès S3,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CloudWatch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Logs)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7️⃣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Registry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Docker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ECR Repositories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(5 repositories) :</a:t>
            </a:r>
          </a:p>
          <a:p>
            <a:pPr lvl="2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weather-mongodb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-mongo-express</a:t>
            </a:r>
          </a:p>
          <a:p>
            <a:pPr lvl="2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weather-etl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-importer</a:t>
            </a:r>
          </a:p>
          <a:p>
            <a:pPr lvl="2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s3-cleanup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8️⃣ Configuration Avancée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ECS Service Auto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Configuré (scalabilité automatique possible)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Checks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Configurés pour chaque service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 Mode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awsvpc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(IP privée par tâche)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Configuration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Rolling updates activé</a:t>
            </a:r>
          </a:p>
          <a:p>
            <a:pPr lvl="2"/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1ECB234-40E1-EBBB-AA59-2D6854113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418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1CF57-0C50-B91E-839C-FCF9C3A45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CA3390C-BC44-15CE-E096-EABB9D212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D1B44C7-969B-3283-3A3D-E65905BF5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FCF9B6-AC20-06BC-A771-E326A2F75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71DC9-7783-45BF-A97C-2CB98E86449F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4001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280DA-2C14-42F1-B8EA-2EBBD063A98A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06E72-7F42-42AD-A66F-B4FC45441BBF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F75D3-0A01-4A88-B8FB-5DE8D5ABA152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C6D75-ABBE-4E19-B3B1-11237CE93E6E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9FF8B-328C-407F-945B-0A37ECCD5810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86E2-6F3F-434F-A444-617AE3899653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7684A-AD06-4EBB-9234-7B0C6B636787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7D90-09F8-44DD-88F8-88949A515FF4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7858E-8B67-403C-8D21-98816AC951BE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48DC-6039-4A4D-AA6A-3710C562B974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32CF-C543-45C5-BE80-DE04628EDC5D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D754-58C2-4486-A35C-A2DA81E55520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B134D-C116-41A5-B198-38FFE3BB2C48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60BD6-78E1-4AC5-AF54-878DA3A98B08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86FC5-ACDF-46FE-80C5-09A060A2CFB7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086A-1052-4CBF-A9D1-AE6558B0D70F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DBE66-239A-4076-83CF-EF76E4714144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6BCA43-4166-8D0A-8853-C56628564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3453942"/>
            <a:ext cx="8915399" cy="1323439"/>
          </a:xfrm>
        </p:spPr>
        <p:txBody>
          <a:bodyPr>
            <a:spAutoFit/>
          </a:bodyPr>
          <a:lstStyle/>
          <a:p>
            <a:r>
              <a:rPr lang="fr-FR" sz="8000" dirty="0" err="1"/>
              <a:t>Forecast</a:t>
            </a:r>
            <a:r>
              <a:rPr lang="fr-FR" sz="8000" dirty="0"/>
              <a:t> 2.0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F993AEA-4F9A-1BF8-B205-9AA82EBFE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80"/>
            <a:ext cx="8915399" cy="369332"/>
          </a:xfrm>
        </p:spPr>
        <p:txBody>
          <a:bodyPr>
            <a:spAutoFit/>
          </a:bodyPr>
          <a:lstStyle/>
          <a:p>
            <a:r>
              <a:rPr lang="fr-FR" dirty="0"/>
              <a:t>Pipeline de Données Météorologiques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100A0ADE-B239-9CB6-A0D3-BFED8C56714B}"/>
              </a:ext>
            </a:extLst>
          </p:cNvPr>
          <p:cNvSpPr txBox="1">
            <a:spLocks/>
          </p:cNvSpPr>
          <p:nvPr/>
        </p:nvSpPr>
        <p:spPr>
          <a:xfrm>
            <a:off x="10922723" y="0"/>
            <a:ext cx="1269277" cy="26161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50" dirty="0" err="1">
                <a:solidFill>
                  <a:schemeClr val="tx1">
                    <a:lumMod val="65000"/>
                    <a:lumOff val="35000"/>
                    <a:alpha val="50000"/>
                  </a:schemeClr>
                </a:solidFill>
              </a:rPr>
              <a:t>GreenAndCoop</a:t>
            </a:r>
            <a:endParaRPr lang="fr-FR" dirty="0">
              <a:solidFill>
                <a:schemeClr val="tx1">
                  <a:lumMod val="65000"/>
                  <a:lumOff val="35000"/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879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5B0784-A2CE-6247-1D3D-3C6069735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9924196-19BB-20D2-8B03-F5130FB6F609}"/>
              </a:ext>
            </a:extLst>
          </p:cNvPr>
          <p:cNvSpPr txBox="1">
            <a:spLocks/>
          </p:cNvSpPr>
          <p:nvPr/>
        </p:nvSpPr>
        <p:spPr>
          <a:xfrm>
            <a:off x="2570163" y="3072758"/>
            <a:ext cx="8915399" cy="707886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Présentation</a:t>
            </a:r>
          </a:p>
        </p:txBody>
      </p:sp>
    </p:spTree>
    <p:extLst>
      <p:ext uri="{BB962C8B-B14F-4D97-AF65-F5344CB8AC3E}">
        <p14:creationId xmlns:p14="http://schemas.microsoft.com/office/powerpoint/2010/main" val="422002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798C8-2165-E2F5-09F5-423B640D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5E80AA-AA13-3284-3E6E-263811408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3725" y="1152907"/>
            <a:ext cx="8948207" cy="4770537"/>
          </a:xfrm>
        </p:spPr>
        <p:txBody>
          <a:bodyPr>
            <a:spAutoFit/>
          </a:bodyPr>
          <a:lstStyle/>
          <a:p>
            <a:r>
              <a:rPr lang="fr-FR" b="1" u="sng" dirty="0" err="1"/>
              <a:t>GreenAndCoop</a:t>
            </a:r>
            <a:r>
              <a:rPr lang="fr-FR" b="1" dirty="0"/>
              <a:t> : </a:t>
            </a:r>
          </a:p>
          <a:p>
            <a:pPr lvl="1"/>
            <a:r>
              <a:rPr lang="fr-FR" dirty="0"/>
              <a:t>Fournisseur d'électricité renouvelable dans les Hauts-de-France.</a:t>
            </a:r>
          </a:p>
          <a:p>
            <a:endParaRPr lang="fr-FR" sz="1400" dirty="0"/>
          </a:p>
          <a:p>
            <a:r>
              <a:rPr lang="fr-FR" b="1" u="sng" dirty="0"/>
              <a:t>Enjeux</a:t>
            </a:r>
            <a:r>
              <a:rPr lang="fr-FR" b="1" dirty="0"/>
              <a:t> :</a:t>
            </a:r>
          </a:p>
          <a:p>
            <a:pPr lvl="1"/>
            <a:r>
              <a:rPr lang="fr-FR" dirty="0"/>
              <a:t>Nécessité d'une </a:t>
            </a:r>
            <a:r>
              <a:rPr lang="fr-FR" b="1" dirty="0"/>
              <a:t>prévision de demande précise</a:t>
            </a:r>
            <a:r>
              <a:rPr lang="fr-FR" dirty="0"/>
              <a:t> pour :</a:t>
            </a:r>
          </a:p>
          <a:p>
            <a:pPr lvl="2"/>
            <a:r>
              <a:rPr lang="fr-FR" dirty="0"/>
              <a:t> </a:t>
            </a:r>
            <a:r>
              <a:rPr lang="fr-FR" b="1" dirty="0"/>
              <a:t>Équilibrer le réseau</a:t>
            </a:r>
          </a:p>
          <a:p>
            <a:pPr lvl="2"/>
            <a:r>
              <a:rPr lang="fr-FR" b="1" dirty="0"/>
              <a:t>Optimiser la production</a:t>
            </a:r>
          </a:p>
          <a:p>
            <a:pPr lvl="2"/>
            <a:r>
              <a:rPr lang="fr-FR" b="1" dirty="0"/>
              <a:t>Gérer les coûts</a:t>
            </a:r>
          </a:p>
          <a:p>
            <a:endParaRPr lang="fr-FR" sz="1400" b="1" dirty="0"/>
          </a:p>
          <a:p>
            <a:r>
              <a:rPr lang="fr-FR" b="1" u="sng" dirty="0"/>
              <a:t>Objectifs</a:t>
            </a:r>
            <a:r>
              <a:rPr lang="fr-FR" b="1" dirty="0"/>
              <a:t> :</a:t>
            </a:r>
          </a:p>
          <a:p>
            <a:pPr lvl="1"/>
            <a:r>
              <a:rPr lang="fr-FR" b="1" dirty="0"/>
              <a:t>Intégrer</a:t>
            </a:r>
            <a:r>
              <a:rPr lang="fr-FR" dirty="0"/>
              <a:t> nouvelles </a:t>
            </a:r>
            <a:r>
              <a:rPr lang="fr-FR" b="1" dirty="0"/>
              <a:t>sources météo </a:t>
            </a:r>
            <a:r>
              <a:rPr lang="fr-FR" i="1" u="sng" dirty="0"/>
              <a:t>(</a:t>
            </a:r>
            <a:r>
              <a:rPr lang="fr-FR" i="1" u="sng" dirty="0" err="1"/>
              <a:t>InfoClimat</a:t>
            </a:r>
            <a:r>
              <a:rPr lang="fr-FR" i="1" u="sng" dirty="0"/>
              <a:t> + </a:t>
            </a:r>
            <a:r>
              <a:rPr lang="fr-FR" i="1" u="sng" dirty="0" err="1"/>
              <a:t>Weather</a:t>
            </a:r>
            <a:r>
              <a:rPr lang="fr-FR" i="1" u="sng" dirty="0"/>
              <a:t> Underground)</a:t>
            </a:r>
          </a:p>
          <a:p>
            <a:pPr lvl="1"/>
            <a:r>
              <a:rPr lang="fr-FR" b="1" dirty="0"/>
              <a:t>Héberger</a:t>
            </a:r>
            <a:r>
              <a:rPr lang="fr-FR" dirty="0"/>
              <a:t> dans MongoDB sur </a:t>
            </a:r>
            <a:r>
              <a:rPr lang="fr-FR" b="1" dirty="0"/>
              <a:t>AWS</a:t>
            </a:r>
          </a:p>
          <a:p>
            <a:pPr lvl="1"/>
            <a:r>
              <a:rPr lang="fr-FR" b="1" dirty="0"/>
              <a:t>Enrichir</a:t>
            </a:r>
            <a:r>
              <a:rPr lang="fr-FR" dirty="0"/>
              <a:t> les modèles de </a:t>
            </a:r>
            <a:r>
              <a:rPr lang="fr-FR" b="1" dirty="0"/>
              <a:t>prévision</a:t>
            </a:r>
            <a:r>
              <a:rPr lang="fr-FR" dirty="0"/>
              <a:t> des </a:t>
            </a:r>
            <a:r>
              <a:rPr lang="fr-FR" b="1" dirty="0"/>
              <a:t>Data Scientists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9A0CDF-0E19-E1C4-CBDB-F1A018706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B1373D99-A046-74A7-AF2E-FF94F9DC5422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8948207" cy="584775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Contexte est objectifs</a:t>
            </a:r>
          </a:p>
        </p:txBody>
      </p:sp>
    </p:spTree>
    <p:extLst>
      <p:ext uri="{BB962C8B-B14F-4D97-AF65-F5344CB8AC3E}">
        <p14:creationId xmlns:p14="http://schemas.microsoft.com/office/powerpoint/2010/main" val="163853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5B759-433B-A50D-A718-6CC918F5C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3AD5753-367C-B384-DD01-D2A6384E9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683" y="787237"/>
            <a:ext cx="779767" cy="365125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BAB2013B-C339-D58E-5F8D-704957A84B6B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8948207" cy="584775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sz="3200" b="1" dirty="0" err="1">
                <a:solidFill>
                  <a:schemeClr val="accent2">
                    <a:lumMod val="75000"/>
                  </a:schemeClr>
                </a:solidFill>
              </a:rPr>
              <a:t>Overview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 : Architecture du Pipeline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9E5C407-008A-0C3D-DAC3-0B807BE48644}"/>
              </a:ext>
            </a:extLst>
          </p:cNvPr>
          <p:cNvSpPr/>
          <p:nvPr/>
        </p:nvSpPr>
        <p:spPr>
          <a:xfrm>
            <a:off x="556723" y="2887584"/>
            <a:ext cx="1960419" cy="3744242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fr-FR" dirty="0"/>
              <a:t>AIREBYTE</a:t>
            </a:r>
          </a:p>
          <a:p>
            <a:pPr algn="ctr"/>
            <a:r>
              <a:rPr lang="fr-FR" sz="800" i="1" dirty="0"/>
              <a:t>(</a:t>
            </a:r>
            <a:r>
              <a:rPr lang="fr-FR" sz="800" i="1" u="sng" dirty="0"/>
              <a:t>Source</a:t>
            </a:r>
            <a:r>
              <a:rPr lang="fr-FR" sz="800" i="1" dirty="0"/>
              <a:t> : URL / </a:t>
            </a:r>
            <a:r>
              <a:rPr lang="fr-FR" sz="800" i="1" u="sng" dirty="0"/>
              <a:t>Destination</a:t>
            </a:r>
            <a:r>
              <a:rPr lang="fr-FR" sz="800" i="1" dirty="0"/>
              <a:t> : JSONL)</a:t>
            </a:r>
          </a:p>
          <a:p>
            <a:pPr algn="ctr"/>
            <a:endParaRPr lang="fr-FR" sz="800" i="1" dirty="0"/>
          </a:p>
          <a:p>
            <a:pPr algn="ctr"/>
            <a:endParaRPr lang="fr-FR" sz="800" i="1" dirty="0"/>
          </a:p>
          <a:p>
            <a:pPr algn="ctr"/>
            <a:endParaRPr lang="fr-FR" sz="800" i="1" dirty="0"/>
          </a:p>
          <a:p>
            <a:pPr algn="ctr"/>
            <a:endParaRPr lang="fr-FR" sz="800" i="1" dirty="0"/>
          </a:p>
          <a:p>
            <a:pPr algn="ctr"/>
            <a:endParaRPr lang="fr-FR" sz="800" i="1" dirty="0"/>
          </a:p>
          <a:p>
            <a:pPr algn="ctr"/>
            <a:endParaRPr lang="fr-FR" sz="800" i="1" dirty="0"/>
          </a:p>
          <a:p>
            <a:pPr algn="ctr"/>
            <a:r>
              <a:rPr lang="fr-FR" sz="800" i="1" dirty="0"/>
              <a:t>          Stock</a:t>
            </a:r>
          </a:p>
          <a:p>
            <a:pPr algn="ctr"/>
            <a:endParaRPr lang="fr-FR" sz="800" i="1" dirty="0"/>
          </a:p>
          <a:p>
            <a:pPr algn="ctr"/>
            <a:endParaRPr lang="fr-FR" sz="800" i="1" dirty="0"/>
          </a:p>
          <a:p>
            <a:pPr algn="ctr"/>
            <a:endParaRPr lang="fr-FR" sz="800" i="1" dirty="0"/>
          </a:p>
          <a:p>
            <a:pPr algn="ctr"/>
            <a:endParaRPr lang="fr-FR" sz="800" i="1" dirty="0"/>
          </a:p>
          <a:p>
            <a:pPr algn="ctr"/>
            <a:endParaRPr lang="fr-FR" sz="800" i="1" dirty="0"/>
          </a:p>
          <a:p>
            <a:pPr algn="ctr"/>
            <a:endParaRPr lang="fr-FR" sz="800" i="1" dirty="0"/>
          </a:p>
          <a:p>
            <a:pPr algn="ctr"/>
            <a:endParaRPr lang="fr-FR" sz="800" dirty="0"/>
          </a:p>
          <a:p>
            <a:pPr algn="ctr"/>
            <a:r>
              <a:rPr lang="fr-FR" sz="1400" dirty="0" err="1"/>
              <a:t>Bucket</a:t>
            </a:r>
            <a:r>
              <a:rPr lang="fr-FR" sz="1400" dirty="0"/>
              <a:t> S3 </a:t>
            </a:r>
            <a:r>
              <a:rPr lang="fr-FR" sz="1400" dirty="0">
                <a:sym typeface="Wingdings" panose="05000000000000000000" pitchFamily="2" charset="2"/>
              </a:rPr>
              <a:t></a:t>
            </a:r>
            <a:r>
              <a:rPr lang="fr-FR" sz="1400" dirty="0"/>
              <a:t> </a:t>
            </a:r>
            <a:r>
              <a:rPr lang="fr-FR" sz="1400" b="1" dirty="0"/>
              <a:t>01_raw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61A9370-C8BD-2333-E928-07959A790052}"/>
              </a:ext>
            </a:extLst>
          </p:cNvPr>
          <p:cNvSpPr txBox="1"/>
          <p:nvPr/>
        </p:nvSpPr>
        <p:spPr>
          <a:xfrm>
            <a:off x="967523" y="2506573"/>
            <a:ext cx="125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Ingestion</a:t>
            </a:r>
            <a:endParaRPr lang="fr-FR" sz="800" b="1" dirty="0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6774A491-EA9B-A406-F8A3-51A8574AB9DF}"/>
              </a:ext>
            </a:extLst>
          </p:cNvPr>
          <p:cNvSpPr/>
          <p:nvPr/>
        </p:nvSpPr>
        <p:spPr>
          <a:xfrm>
            <a:off x="2984209" y="2887583"/>
            <a:ext cx="5803838" cy="37442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fr-FR" b="1" dirty="0"/>
              <a:t>AWS ECS </a:t>
            </a:r>
            <a:r>
              <a:rPr lang="fr-FR" b="1" dirty="0" err="1"/>
              <a:t>Fargate</a:t>
            </a:r>
            <a:endParaRPr lang="fr-FR" b="1" dirty="0"/>
          </a:p>
          <a:p>
            <a:pPr algn="ctr"/>
            <a:r>
              <a:rPr lang="fr-FR" sz="800" i="1" dirty="0"/>
              <a:t>(</a:t>
            </a:r>
            <a:r>
              <a:rPr lang="fr-FR" sz="800" i="1" dirty="0" err="1"/>
              <a:t>Serverles</a:t>
            </a:r>
            <a:r>
              <a:rPr lang="fr-FR" sz="800" i="1" dirty="0"/>
              <a:t> / scalable)</a:t>
            </a:r>
            <a:endParaRPr lang="fr-FR" i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0AE365F-3118-0DAD-C6E0-55AB10968BF1}"/>
              </a:ext>
            </a:extLst>
          </p:cNvPr>
          <p:cNvSpPr/>
          <p:nvPr/>
        </p:nvSpPr>
        <p:spPr>
          <a:xfrm>
            <a:off x="3188376" y="3546234"/>
            <a:ext cx="2403315" cy="1197109"/>
          </a:xfrm>
          <a:prstGeom prst="rect">
            <a:avLst/>
          </a:prstGeom>
          <a:solidFill>
            <a:srgbClr val="006C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weather-etl</a:t>
            </a:r>
            <a:endParaRPr lang="fr-FR" dirty="0"/>
          </a:p>
          <a:p>
            <a:pPr algn="ctr"/>
            <a:r>
              <a:rPr lang="fr-FR" sz="800" i="1" dirty="0"/>
              <a:t>(lis, transforme, nettoie les données pour </a:t>
            </a:r>
            <a:r>
              <a:rPr lang="fr-FR" sz="800" i="1" dirty="0" err="1"/>
              <a:t>mongodb</a:t>
            </a:r>
            <a:r>
              <a:rPr lang="fr-FR" sz="800" i="1" dirty="0"/>
              <a:t> puis stocke sur S3)</a:t>
            </a:r>
          </a:p>
          <a:p>
            <a:pPr algn="ctr"/>
            <a:endParaRPr lang="fr-FR" sz="800" i="1" dirty="0"/>
          </a:p>
          <a:p>
            <a:pPr algn="ctr"/>
            <a:r>
              <a:rPr lang="fr-FR" sz="800" i="1" dirty="0"/>
              <a:t>          Stock</a:t>
            </a:r>
          </a:p>
          <a:p>
            <a:pPr algn="ctr"/>
            <a:endParaRPr lang="fr-FR" sz="800" i="1" dirty="0"/>
          </a:p>
          <a:p>
            <a:pPr algn="ctr"/>
            <a:r>
              <a:rPr lang="fr-FR" sz="1400" dirty="0" err="1"/>
              <a:t>Bucket</a:t>
            </a:r>
            <a:r>
              <a:rPr lang="fr-FR" sz="1400" dirty="0"/>
              <a:t> S3 </a:t>
            </a:r>
            <a:r>
              <a:rPr lang="fr-FR" sz="1400" dirty="0">
                <a:sym typeface="Wingdings" panose="05000000000000000000" pitchFamily="2" charset="2"/>
              </a:rPr>
              <a:t> </a:t>
            </a:r>
            <a:r>
              <a:rPr lang="fr-FR" sz="1400" b="1" dirty="0">
                <a:sym typeface="Wingdings" panose="05000000000000000000" pitchFamily="2" charset="2"/>
              </a:rPr>
              <a:t>02_cleaned</a:t>
            </a:r>
            <a:r>
              <a:rPr lang="fr-FR" sz="1400" b="1" dirty="0"/>
              <a:t>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CA352D-AA50-BB7D-30F5-B736A27BD47F}"/>
              </a:ext>
            </a:extLst>
          </p:cNvPr>
          <p:cNvSpPr/>
          <p:nvPr/>
        </p:nvSpPr>
        <p:spPr>
          <a:xfrm>
            <a:off x="6134982" y="3764898"/>
            <a:ext cx="2403315" cy="759780"/>
          </a:xfrm>
          <a:prstGeom prst="rect">
            <a:avLst/>
          </a:prstGeom>
          <a:solidFill>
            <a:srgbClr val="006C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mongodb</a:t>
            </a:r>
            <a:r>
              <a:rPr lang="fr-FR" dirty="0"/>
              <a:t>-importer</a:t>
            </a:r>
          </a:p>
          <a:p>
            <a:pPr algn="ctr"/>
            <a:r>
              <a:rPr lang="fr-FR" sz="800" i="1" dirty="0"/>
              <a:t>(importe et mets à jour les données de la base de données)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CAF695-5E8F-C150-01E4-A4B6F55D719C}"/>
              </a:ext>
            </a:extLst>
          </p:cNvPr>
          <p:cNvSpPr/>
          <p:nvPr/>
        </p:nvSpPr>
        <p:spPr>
          <a:xfrm>
            <a:off x="6134982" y="5067996"/>
            <a:ext cx="2403315" cy="1293695"/>
          </a:xfrm>
          <a:prstGeom prst="rect">
            <a:avLst/>
          </a:prstGeom>
          <a:solidFill>
            <a:srgbClr val="006C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s3-cleaner</a:t>
            </a:r>
          </a:p>
          <a:p>
            <a:pPr algn="ctr"/>
            <a:r>
              <a:rPr lang="fr-FR" sz="800" i="1" dirty="0"/>
              <a:t>(</a:t>
            </a:r>
            <a:r>
              <a:rPr lang="fr-FR" sz="800" b="1" i="1" dirty="0"/>
              <a:t>supprime</a:t>
            </a:r>
            <a:r>
              <a:rPr lang="fr-FR" sz="800" i="1" dirty="0"/>
              <a:t> les données de </a:t>
            </a:r>
            <a:r>
              <a:rPr lang="fr-FR" sz="800" b="1" i="1" dirty="0"/>
              <a:t>01_raw</a:t>
            </a:r>
            <a:r>
              <a:rPr lang="fr-FR" sz="800" i="1" dirty="0"/>
              <a:t> et déplace le </a:t>
            </a:r>
            <a:r>
              <a:rPr lang="fr-FR" sz="800" i="1" dirty="0" err="1"/>
              <a:t>json</a:t>
            </a:r>
            <a:r>
              <a:rPr lang="fr-FR" sz="800" i="1" dirty="0"/>
              <a:t> de 02_cleaned vers 03_archived)</a:t>
            </a:r>
          </a:p>
          <a:p>
            <a:pPr algn="ctr"/>
            <a:endParaRPr lang="fr-FR" sz="800" i="1" dirty="0"/>
          </a:p>
          <a:p>
            <a:pPr algn="ctr"/>
            <a:r>
              <a:rPr lang="fr-FR" sz="800" i="1" dirty="0"/>
              <a:t>           Stock</a:t>
            </a:r>
          </a:p>
          <a:p>
            <a:pPr algn="ctr"/>
            <a:endParaRPr lang="fr-FR" sz="800" i="1" dirty="0"/>
          </a:p>
          <a:p>
            <a:pPr algn="ctr"/>
            <a:r>
              <a:rPr lang="fr-FR" sz="1400" dirty="0" err="1"/>
              <a:t>Bucket</a:t>
            </a:r>
            <a:r>
              <a:rPr lang="fr-FR" sz="1400" dirty="0"/>
              <a:t> S3 </a:t>
            </a:r>
            <a:r>
              <a:rPr lang="fr-FR" sz="1400" dirty="0">
                <a:sym typeface="Wingdings" panose="05000000000000000000" pitchFamily="2" charset="2"/>
              </a:rPr>
              <a:t> </a:t>
            </a:r>
            <a:r>
              <a:rPr lang="fr-FR" sz="1400" b="1" dirty="0">
                <a:sym typeface="Wingdings" panose="05000000000000000000" pitchFamily="2" charset="2"/>
              </a:rPr>
              <a:t>03_archived</a:t>
            </a:r>
            <a:r>
              <a:rPr lang="fr-FR" sz="1400" b="1" dirty="0"/>
              <a:t> 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9CA66F62-9B6D-EB57-9D76-7A59C40A9637}"/>
              </a:ext>
            </a:extLst>
          </p:cNvPr>
          <p:cNvSpPr txBox="1"/>
          <p:nvPr/>
        </p:nvSpPr>
        <p:spPr>
          <a:xfrm>
            <a:off x="5174309" y="2505022"/>
            <a:ext cx="1380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Intégration</a:t>
            </a:r>
            <a:endParaRPr lang="fr-FR" sz="1200" b="1" dirty="0"/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435264BC-25C9-548B-8714-EEB5216C5610}"/>
              </a:ext>
            </a:extLst>
          </p:cNvPr>
          <p:cNvSpPr/>
          <p:nvPr/>
        </p:nvSpPr>
        <p:spPr>
          <a:xfrm>
            <a:off x="9207791" y="2887583"/>
            <a:ext cx="2502557" cy="3744243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fr-FR" b="1" dirty="0"/>
              <a:t>MongoDB</a:t>
            </a:r>
          </a:p>
        </p:txBody>
      </p:sp>
      <p:pic>
        <p:nvPicPr>
          <p:cNvPr id="47" name="Graphique 46" descr="Document avec un remplissage uni">
            <a:extLst>
              <a:ext uri="{FF2B5EF4-FFF2-40B4-BE49-F238E27FC236}">
                <a16:creationId xmlns:a16="http://schemas.microsoft.com/office/drawing/2014/main" id="{3D54E421-D54E-EBFA-7314-896935E87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8843" y="4387982"/>
            <a:ext cx="914400" cy="914400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A7484F53-8F05-BFB6-F2B3-0147FB1C7AE5}"/>
              </a:ext>
            </a:extLst>
          </p:cNvPr>
          <p:cNvSpPr txBox="1"/>
          <p:nvPr/>
        </p:nvSpPr>
        <p:spPr>
          <a:xfrm>
            <a:off x="9866574" y="4678146"/>
            <a:ext cx="1449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u="sng" dirty="0">
                <a:solidFill>
                  <a:schemeClr val="bg1"/>
                </a:solidFill>
              </a:rPr>
              <a:t>BDD :</a:t>
            </a:r>
            <a:r>
              <a:rPr lang="fr-FR" sz="1000" dirty="0">
                <a:solidFill>
                  <a:schemeClr val="bg1"/>
                </a:solidFill>
              </a:rPr>
              <a:t> weather_data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FE60CD72-117F-0B27-CDC3-F75AA859599E}"/>
              </a:ext>
            </a:extLst>
          </p:cNvPr>
          <p:cNvSpPr txBox="1"/>
          <p:nvPr/>
        </p:nvSpPr>
        <p:spPr>
          <a:xfrm>
            <a:off x="9866574" y="4888033"/>
            <a:ext cx="18437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u="sng" dirty="0">
                <a:solidFill>
                  <a:schemeClr val="bg1"/>
                </a:solidFill>
              </a:rPr>
              <a:t>Collection :</a:t>
            </a:r>
            <a:r>
              <a:rPr lang="fr-FR" sz="1000" dirty="0">
                <a:solidFill>
                  <a:schemeClr val="bg1"/>
                </a:solidFill>
              </a:rPr>
              <a:t> measurements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3CC96BC3-1CF3-98CD-25A5-57E2F47A51D2}"/>
              </a:ext>
            </a:extLst>
          </p:cNvPr>
          <p:cNvSpPr txBox="1"/>
          <p:nvPr/>
        </p:nvSpPr>
        <p:spPr>
          <a:xfrm>
            <a:off x="9397507" y="2511782"/>
            <a:ext cx="2123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Base de données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C620D73-19F5-C70D-0708-47A8E13323A4}"/>
              </a:ext>
            </a:extLst>
          </p:cNvPr>
          <p:cNvSpPr/>
          <p:nvPr/>
        </p:nvSpPr>
        <p:spPr>
          <a:xfrm>
            <a:off x="4659121" y="1240330"/>
            <a:ext cx="2359523" cy="976924"/>
          </a:xfrm>
          <a:prstGeom prst="ellipse">
            <a:avLst/>
          </a:prstGeom>
          <a:solidFill>
            <a:srgbClr val="C0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 err="1"/>
              <a:t>Cloudwatch</a:t>
            </a:r>
            <a:r>
              <a:rPr lang="fr-FR" b="1" dirty="0"/>
              <a:t> </a:t>
            </a:r>
          </a:p>
          <a:p>
            <a:pPr algn="ctr"/>
            <a:r>
              <a:rPr lang="fr-FR" sz="800" i="1" dirty="0"/>
              <a:t>(</a:t>
            </a:r>
            <a:r>
              <a:rPr lang="fr-FR" sz="800" i="1" dirty="0" err="1"/>
              <a:t>Daschboard</a:t>
            </a:r>
            <a:r>
              <a:rPr lang="fr-FR" sz="800" i="1" dirty="0"/>
              <a:t>, logs, </a:t>
            </a:r>
            <a:r>
              <a:rPr lang="fr-FR" sz="800" i="1" dirty="0" err="1"/>
              <a:t>metriques</a:t>
            </a:r>
            <a:r>
              <a:rPr lang="fr-FR" sz="800" i="1" dirty="0"/>
              <a:t>)</a:t>
            </a:r>
            <a:endParaRPr lang="fr-FR" i="1" dirty="0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461CFB0B-8C28-4C48-A57C-6DBCF5607F86}"/>
              </a:ext>
            </a:extLst>
          </p:cNvPr>
          <p:cNvSpPr/>
          <p:nvPr/>
        </p:nvSpPr>
        <p:spPr>
          <a:xfrm>
            <a:off x="9424401" y="1237557"/>
            <a:ext cx="2450400" cy="976924"/>
          </a:xfrm>
          <a:prstGeom prst="ellipse">
            <a:avLst/>
          </a:prstGeom>
          <a:solidFill>
            <a:srgbClr val="C0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/>
              <a:t>Mongo-express </a:t>
            </a:r>
          </a:p>
          <a:p>
            <a:pPr algn="ctr"/>
            <a:r>
              <a:rPr lang="fr-FR" sz="800" i="1" dirty="0"/>
              <a:t>(</a:t>
            </a:r>
            <a:r>
              <a:rPr lang="fr-FR" sz="800" i="1" dirty="0" err="1"/>
              <a:t>Requette</a:t>
            </a:r>
            <a:r>
              <a:rPr lang="fr-FR" sz="800" i="1" dirty="0"/>
              <a:t> </a:t>
            </a:r>
            <a:r>
              <a:rPr lang="fr-FR" sz="800" i="1" dirty="0" err="1"/>
              <a:t>bdd</a:t>
            </a:r>
            <a:r>
              <a:rPr lang="fr-FR" sz="800" i="1" dirty="0"/>
              <a:t> mongo)</a:t>
            </a:r>
            <a:endParaRPr lang="fr-FR" i="1" dirty="0"/>
          </a:p>
        </p:txBody>
      </p: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90EFBCC7-306A-A47D-F948-AEE221B34DE3}"/>
              </a:ext>
            </a:extLst>
          </p:cNvPr>
          <p:cNvCxnSpPr>
            <a:cxnSpLocks/>
            <a:stCxn id="53" idx="5"/>
          </p:cNvCxnSpPr>
          <p:nvPr/>
        </p:nvCxnSpPr>
        <p:spPr>
          <a:xfrm>
            <a:off x="6673100" y="2074187"/>
            <a:ext cx="2593730" cy="153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B30B4622-E78C-F973-D33D-B0556B28BFC7}"/>
              </a:ext>
            </a:extLst>
          </p:cNvPr>
          <p:cNvCxnSpPr>
            <a:cxnSpLocks/>
            <a:stCxn id="55" idx="4"/>
            <a:endCxn id="45" idx="0"/>
          </p:cNvCxnSpPr>
          <p:nvPr/>
        </p:nvCxnSpPr>
        <p:spPr>
          <a:xfrm flipH="1">
            <a:off x="10459070" y="2214481"/>
            <a:ext cx="190531" cy="673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E71840D7-BC06-4477-AF7D-1ECE6309DD10}"/>
              </a:ext>
            </a:extLst>
          </p:cNvPr>
          <p:cNvSpPr/>
          <p:nvPr/>
        </p:nvSpPr>
        <p:spPr>
          <a:xfrm>
            <a:off x="4594860" y="1173997"/>
            <a:ext cx="7338060" cy="1127898"/>
          </a:xfrm>
          <a:prstGeom prst="roundRect">
            <a:avLst/>
          </a:prstGeom>
          <a:noFill/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EFB68EAD-7A6C-8E44-941A-3AA43A009758}"/>
              </a:ext>
            </a:extLst>
          </p:cNvPr>
          <p:cNvSpPr txBox="1"/>
          <p:nvPr/>
        </p:nvSpPr>
        <p:spPr>
          <a:xfrm>
            <a:off x="7577447" y="1544720"/>
            <a:ext cx="1372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Monitoring</a:t>
            </a:r>
            <a:endParaRPr lang="fr-FR" sz="1200" b="1" dirty="0"/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96A69DD2-088F-306A-DCFE-77E5A7DE5D12}"/>
              </a:ext>
            </a:extLst>
          </p:cNvPr>
          <p:cNvCxnSpPr>
            <a:cxnSpLocks/>
          </p:cNvCxnSpPr>
          <p:nvPr/>
        </p:nvCxnSpPr>
        <p:spPr>
          <a:xfrm>
            <a:off x="1514941" y="4087959"/>
            <a:ext cx="0" cy="151444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0C4B4298-43C3-AAD5-AE5F-BA149AE7CE08}"/>
              </a:ext>
            </a:extLst>
          </p:cNvPr>
          <p:cNvCxnSpPr>
            <a:cxnSpLocks/>
          </p:cNvCxnSpPr>
          <p:nvPr/>
        </p:nvCxnSpPr>
        <p:spPr>
          <a:xfrm>
            <a:off x="4376385" y="4164123"/>
            <a:ext cx="0" cy="2870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001807F9-1B86-82C9-9C86-B33A0FBC1DEB}"/>
              </a:ext>
            </a:extLst>
          </p:cNvPr>
          <p:cNvCxnSpPr>
            <a:cxnSpLocks/>
          </p:cNvCxnSpPr>
          <p:nvPr/>
        </p:nvCxnSpPr>
        <p:spPr>
          <a:xfrm>
            <a:off x="7336639" y="5804129"/>
            <a:ext cx="0" cy="2870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F5C82DB3-DA77-9761-2683-E745324A7F89}"/>
              </a:ext>
            </a:extLst>
          </p:cNvPr>
          <p:cNvCxnSpPr>
            <a:cxnSpLocks/>
            <a:stCxn id="53" idx="3"/>
            <a:endCxn id="32" idx="0"/>
          </p:cNvCxnSpPr>
          <p:nvPr/>
        </p:nvCxnSpPr>
        <p:spPr>
          <a:xfrm flipH="1">
            <a:off x="4390034" y="2074187"/>
            <a:ext cx="614631" cy="1472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4D15A9B0-56DE-F346-E563-01A1049683DC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6295527" y="2182595"/>
            <a:ext cx="1041113" cy="158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èche : droite 35">
            <a:extLst>
              <a:ext uri="{FF2B5EF4-FFF2-40B4-BE49-F238E27FC236}">
                <a16:creationId xmlns:a16="http://schemas.microsoft.com/office/drawing/2014/main" id="{80199C04-7580-6502-EF4B-FE4E0E5CFCB0}"/>
              </a:ext>
            </a:extLst>
          </p:cNvPr>
          <p:cNvSpPr/>
          <p:nvPr/>
        </p:nvSpPr>
        <p:spPr>
          <a:xfrm>
            <a:off x="2473160" y="4030387"/>
            <a:ext cx="745665" cy="2179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lèche : droite 36">
            <a:extLst>
              <a:ext uri="{FF2B5EF4-FFF2-40B4-BE49-F238E27FC236}">
                <a16:creationId xmlns:a16="http://schemas.microsoft.com/office/drawing/2014/main" id="{ADFC5A6A-3664-53D8-A254-9A89BEA08B93}"/>
              </a:ext>
            </a:extLst>
          </p:cNvPr>
          <p:cNvSpPr/>
          <p:nvPr/>
        </p:nvSpPr>
        <p:spPr>
          <a:xfrm>
            <a:off x="5533945" y="4041184"/>
            <a:ext cx="658783" cy="2179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lèche : droite 45">
            <a:extLst>
              <a:ext uri="{FF2B5EF4-FFF2-40B4-BE49-F238E27FC236}">
                <a16:creationId xmlns:a16="http://schemas.microsoft.com/office/drawing/2014/main" id="{6CBDFAF8-2A7B-6443-1430-E7932CEA6024}"/>
              </a:ext>
            </a:extLst>
          </p:cNvPr>
          <p:cNvSpPr/>
          <p:nvPr/>
        </p:nvSpPr>
        <p:spPr>
          <a:xfrm>
            <a:off x="8454788" y="4027536"/>
            <a:ext cx="800326" cy="2179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Flèche : droite 49">
            <a:extLst>
              <a:ext uri="{FF2B5EF4-FFF2-40B4-BE49-F238E27FC236}">
                <a16:creationId xmlns:a16="http://schemas.microsoft.com/office/drawing/2014/main" id="{5B8E15C8-F561-3F21-6F6C-1B3F50276B16}"/>
              </a:ext>
            </a:extLst>
          </p:cNvPr>
          <p:cNvSpPr/>
          <p:nvPr/>
        </p:nvSpPr>
        <p:spPr>
          <a:xfrm rot="5400000">
            <a:off x="7007247" y="4707585"/>
            <a:ext cx="658783" cy="2179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290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1783B-3874-73ED-2930-EC81B94E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588E07-49CE-8B8C-DBEB-EE8BD90C1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E18EF91-279A-BC3F-49DD-50CD9BE9A14D}"/>
              </a:ext>
            </a:extLst>
          </p:cNvPr>
          <p:cNvSpPr txBox="1">
            <a:spLocks/>
          </p:cNvSpPr>
          <p:nvPr/>
        </p:nvSpPr>
        <p:spPr>
          <a:xfrm>
            <a:off x="2570163" y="3072758"/>
            <a:ext cx="8915399" cy="707886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Les données</a:t>
            </a:r>
          </a:p>
        </p:txBody>
      </p:sp>
    </p:spTree>
    <p:extLst>
      <p:ext uri="{BB962C8B-B14F-4D97-AF65-F5344CB8AC3E}">
        <p14:creationId xmlns:p14="http://schemas.microsoft.com/office/powerpoint/2010/main" val="3904304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0AB00-3858-D17D-E3DF-4AD980DEB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9F77F7-E40B-D92D-7AEB-29B4A2A82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3724" y="1152578"/>
            <a:ext cx="8948207" cy="5509200"/>
          </a:xfr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fr-FR" sz="1200" b="1" u="sng" dirty="0"/>
              <a:t>Nettoyage des températures</a:t>
            </a:r>
            <a:r>
              <a:rPr lang="fr-FR" sz="1200" b="1" dirty="0"/>
              <a:t> </a:t>
            </a:r>
            <a:r>
              <a:rPr lang="fr-FR" sz="1200" i="1" dirty="0"/>
              <a:t>(</a:t>
            </a:r>
            <a:r>
              <a:rPr lang="fr-FR" sz="1200" i="1" dirty="0" err="1"/>
              <a:t>Temperature</a:t>
            </a:r>
            <a:r>
              <a:rPr lang="fr-FR" sz="1200" i="1" dirty="0"/>
              <a:t>, </a:t>
            </a:r>
            <a:r>
              <a:rPr lang="fr-FR" sz="1200" i="1" dirty="0" err="1"/>
              <a:t>Dew</a:t>
            </a:r>
            <a:r>
              <a:rPr lang="fr-FR" sz="1200" i="1" dirty="0"/>
              <a:t> Point) 		</a:t>
            </a:r>
            <a:r>
              <a:rPr lang="fr-FR" sz="1200" dirty="0">
                <a:sym typeface="Wingdings" panose="05000000000000000000" pitchFamily="2" charset="2"/>
              </a:rPr>
              <a:t> </a:t>
            </a:r>
            <a:r>
              <a:rPr lang="fr-FR" sz="1200" dirty="0"/>
              <a:t>Conversion Fahrenheit → Celsius : (°F - 32) × 5/9</a:t>
            </a:r>
          </a:p>
          <a:p>
            <a:pPr>
              <a:spcBef>
                <a:spcPts val="600"/>
              </a:spcBef>
            </a:pPr>
            <a:r>
              <a:rPr lang="fr-FR" sz="1200" b="1" u="sng" dirty="0"/>
              <a:t>Nettoyage des vitesses</a:t>
            </a:r>
            <a:r>
              <a:rPr lang="fr-FR" sz="1200" dirty="0"/>
              <a:t> </a:t>
            </a:r>
            <a:r>
              <a:rPr lang="fr-FR" sz="1200" i="1" dirty="0"/>
              <a:t>(Speed, Gust, Wind Speed)</a:t>
            </a:r>
            <a:r>
              <a:rPr lang="fr-FR" sz="1200" dirty="0"/>
              <a:t> 		</a:t>
            </a:r>
            <a:r>
              <a:rPr lang="fr-FR" sz="1200" dirty="0">
                <a:sym typeface="Wingdings" panose="05000000000000000000" pitchFamily="2" charset="2"/>
              </a:rPr>
              <a:t></a:t>
            </a:r>
            <a:r>
              <a:rPr lang="fr-FR" sz="1200" dirty="0"/>
              <a:t> Conversion </a:t>
            </a:r>
            <a:r>
              <a:rPr lang="fr-FR" sz="1200" dirty="0" err="1"/>
              <a:t>mph</a:t>
            </a:r>
            <a:r>
              <a:rPr lang="fr-FR" sz="1200" dirty="0"/>
              <a:t> → km/h</a:t>
            </a:r>
          </a:p>
          <a:p>
            <a:pPr>
              <a:spcBef>
                <a:spcPts val="600"/>
              </a:spcBef>
            </a:pPr>
            <a:r>
              <a:rPr lang="fr-FR" sz="1200" b="1" u="sng" dirty="0"/>
              <a:t>Nettoyage de la pression</a:t>
            </a:r>
            <a:r>
              <a:rPr lang="fr-FR" sz="1200" b="1" dirty="0"/>
              <a:t> </a:t>
            </a:r>
            <a:r>
              <a:rPr lang="fr-FR" sz="1200" i="1" u="sng" dirty="0"/>
              <a:t>(Pressure)</a:t>
            </a:r>
            <a:r>
              <a:rPr lang="fr-FR" sz="1200" dirty="0"/>
              <a:t> 					</a:t>
            </a:r>
            <a:r>
              <a:rPr lang="fr-FR" sz="1200" dirty="0">
                <a:sym typeface="Wingdings" panose="05000000000000000000" pitchFamily="2" charset="2"/>
              </a:rPr>
              <a:t></a:t>
            </a:r>
            <a:r>
              <a:rPr lang="fr-FR" sz="1200" dirty="0"/>
              <a:t> Conversion </a:t>
            </a:r>
            <a:r>
              <a:rPr lang="fr-FR" sz="1200" dirty="0" err="1"/>
              <a:t>inHg</a:t>
            </a:r>
            <a:r>
              <a:rPr lang="fr-FR" sz="1200" dirty="0"/>
              <a:t> → hPa : × 33.8639</a:t>
            </a:r>
          </a:p>
          <a:p>
            <a:pPr>
              <a:spcBef>
                <a:spcPts val="600"/>
              </a:spcBef>
            </a:pPr>
            <a:r>
              <a:rPr lang="fr-FR" sz="1200" b="1" u="sng" dirty="0"/>
              <a:t>Nettoyage des précipitations</a:t>
            </a:r>
            <a:r>
              <a:rPr lang="fr-FR" sz="1200" dirty="0"/>
              <a:t> </a:t>
            </a:r>
            <a:r>
              <a:rPr lang="fr-FR" sz="1200" i="1" dirty="0"/>
              <a:t>(</a:t>
            </a:r>
            <a:r>
              <a:rPr lang="fr-FR" sz="1200" i="1" dirty="0" err="1"/>
              <a:t>Precip</a:t>
            </a:r>
            <a:r>
              <a:rPr lang="fr-FR" sz="1200" i="1" dirty="0"/>
              <a:t>. Rate., </a:t>
            </a:r>
            <a:r>
              <a:rPr lang="fr-FR" sz="1200" i="1" dirty="0" err="1"/>
              <a:t>Precip</a:t>
            </a:r>
            <a:r>
              <a:rPr lang="fr-FR" sz="1200" i="1" dirty="0"/>
              <a:t>. </a:t>
            </a:r>
            <a:r>
              <a:rPr lang="fr-FR" sz="1200" i="1" dirty="0" err="1"/>
              <a:t>Accum</a:t>
            </a:r>
            <a:r>
              <a:rPr lang="fr-FR" sz="1200" i="1" dirty="0"/>
              <a:t>.)</a:t>
            </a:r>
            <a:r>
              <a:rPr lang="fr-FR" sz="1200" dirty="0"/>
              <a:t> 	</a:t>
            </a:r>
            <a:r>
              <a:rPr lang="fr-FR" sz="1200" dirty="0">
                <a:sym typeface="Wingdings" panose="05000000000000000000" pitchFamily="2" charset="2"/>
              </a:rPr>
              <a:t></a:t>
            </a:r>
            <a:r>
              <a:rPr lang="fr-FR" sz="1200" dirty="0"/>
              <a:t> Conversion pouces → millimètres : × 25.4</a:t>
            </a:r>
          </a:p>
          <a:p>
            <a:pPr>
              <a:spcBef>
                <a:spcPts val="600"/>
              </a:spcBef>
            </a:pPr>
            <a:r>
              <a:rPr lang="fr-FR" sz="1200" b="1" u="sng" dirty="0"/>
              <a:t>Nettoyage du rayonnement solaire</a:t>
            </a:r>
            <a:r>
              <a:rPr lang="fr-FR" sz="1200" dirty="0"/>
              <a:t> </a:t>
            </a:r>
            <a:r>
              <a:rPr lang="fr-FR" sz="1200" i="1" dirty="0"/>
              <a:t>(Solar)</a:t>
            </a:r>
            <a:r>
              <a:rPr lang="fr-FR" sz="1200" dirty="0"/>
              <a:t> 				</a:t>
            </a:r>
            <a:r>
              <a:rPr lang="fr-FR" sz="1200" dirty="0">
                <a:sym typeface="Wingdings" panose="05000000000000000000" pitchFamily="2" charset="2"/>
              </a:rPr>
              <a:t></a:t>
            </a:r>
            <a:r>
              <a:rPr lang="fr-FR" sz="1200" dirty="0"/>
              <a:t> Conversion en nombre</a:t>
            </a:r>
          </a:p>
          <a:p>
            <a:pPr>
              <a:spcBef>
                <a:spcPts val="600"/>
              </a:spcBef>
            </a:pPr>
            <a:r>
              <a:rPr lang="fr-FR" sz="1200" b="1" u="sng" dirty="0"/>
              <a:t>Nettoyage de l'humidité</a:t>
            </a:r>
            <a:r>
              <a:rPr lang="fr-FR" sz="1200" b="1" dirty="0"/>
              <a:t> </a:t>
            </a:r>
            <a:r>
              <a:rPr lang="fr-FR" sz="1200" i="1" dirty="0"/>
              <a:t>(</a:t>
            </a:r>
            <a:r>
              <a:rPr lang="fr-FR" sz="1200" i="1" dirty="0" err="1"/>
              <a:t>Humidity</a:t>
            </a:r>
            <a:r>
              <a:rPr lang="fr-FR" sz="1200" i="1" dirty="0"/>
              <a:t>)</a:t>
            </a:r>
            <a:r>
              <a:rPr lang="fr-FR" sz="1200" dirty="0"/>
              <a:t> 					</a:t>
            </a:r>
            <a:r>
              <a:rPr lang="fr-FR" sz="1200" dirty="0">
                <a:sym typeface="Wingdings" panose="05000000000000000000" pitchFamily="2" charset="2"/>
              </a:rPr>
              <a:t></a:t>
            </a:r>
            <a:r>
              <a:rPr lang="fr-FR" sz="1200" dirty="0"/>
              <a:t> Conversion en nombre</a:t>
            </a:r>
          </a:p>
          <a:p>
            <a:pPr>
              <a:spcBef>
                <a:spcPts val="600"/>
              </a:spcBef>
            </a:pPr>
            <a:r>
              <a:rPr lang="fr-FR" sz="1200" b="1" u="sng" dirty="0"/>
              <a:t>Nettoyage de la direction du vent</a:t>
            </a:r>
            <a:r>
              <a:rPr lang="fr-FR" sz="1200" dirty="0"/>
              <a:t> </a:t>
            </a:r>
            <a:r>
              <a:rPr lang="fr-FR" sz="1200" i="1" dirty="0"/>
              <a:t>(Wind)</a:t>
            </a:r>
            <a:r>
              <a:rPr lang="fr-FR" sz="1200" dirty="0"/>
              <a:t> 				</a:t>
            </a:r>
            <a:r>
              <a:rPr lang="fr-FR" sz="1200" dirty="0">
                <a:sym typeface="Wingdings" panose="05000000000000000000" pitchFamily="2" charset="2"/>
              </a:rPr>
              <a:t></a:t>
            </a:r>
            <a:r>
              <a:rPr lang="fr-FR" sz="1200" dirty="0"/>
              <a:t> Conversion texte → degrés (0-360°)</a:t>
            </a:r>
          </a:p>
          <a:p>
            <a:pPr>
              <a:spcBef>
                <a:spcPts val="600"/>
              </a:spcBef>
            </a:pPr>
            <a:r>
              <a:rPr lang="fr-FR" sz="1200" b="1" u="sng" dirty="0"/>
              <a:t>Standardisation des noms de colonnes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 err="1"/>
              <a:t>Temperature</a:t>
            </a:r>
            <a:r>
              <a:rPr lang="fr-FR" sz="1000" dirty="0"/>
              <a:t> → </a:t>
            </a:r>
            <a:r>
              <a:rPr lang="fr-FR" sz="1000" dirty="0" err="1"/>
              <a:t>temperature</a:t>
            </a:r>
            <a:endParaRPr lang="fr-FR" sz="1000" dirty="0"/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 err="1"/>
              <a:t>Dew</a:t>
            </a:r>
            <a:r>
              <a:rPr lang="fr-FR" sz="1000" dirty="0"/>
              <a:t> Point → </a:t>
            </a:r>
            <a:r>
              <a:rPr lang="fr-FR" sz="1000" dirty="0" err="1"/>
              <a:t>point_de_rosee</a:t>
            </a:r>
            <a:endParaRPr lang="fr-FR" sz="1000" dirty="0"/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 err="1"/>
              <a:t>Humidity</a:t>
            </a:r>
            <a:r>
              <a:rPr lang="fr-FR" sz="1000" dirty="0"/>
              <a:t> → </a:t>
            </a:r>
            <a:r>
              <a:rPr lang="fr-FR" sz="1000" dirty="0" err="1"/>
              <a:t>humidite</a:t>
            </a:r>
            <a:endParaRPr lang="fr-FR" sz="1000" dirty="0"/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Wind → </a:t>
            </a:r>
            <a:r>
              <a:rPr lang="fr-FR" sz="1000" dirty="0" err="1"/>
              <a:t>vent_direction</a:t>
            </a:r>
            <a:endParaRPr lang="fr-FR" sz="1000" dirty="0"/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Speed → </a:t>
            </a:r>
            <a:r>
              <a:rPr lang="fr-FR" sz="1000" dirty="0" err="1"/>
              <a:t>vent_moyen</a:t>
            </a:r>
            <a:endParaRPr lang="fr-FR" sz="1000" dirty="0"/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Gust → </a:t>
            </a:r>
            <a:r>
              <a:rPr lang="fr-FR" sz="1000" dirty="0" err="1"/>
              <a:t>vent_rafales</a:t>
            </a:r>
            <a:endParaRPr lang="fr-FR" sz="1000" dirty="0"/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Pressure → pression</a:t>
            </a:r>
            <a:endParaRPr lang="fr-FR" sz="1000" b="1" u="sng" dirty="0"/>
          </a:p>
          <a:p>
            <a:pPr>
              <a:spcBef>
                <a:spcPts val="600"/>
              </a:spcBef>
              <a:tabLst>
                <a:tab pos="5022850" algn="l"/>
                <a:tab pos="5199063" algn="l"/>
              </a:tabLst>
            </a:pPr>
            <a:r>
              <a:rPr lang="fr-FR" sz="1200" b="1" u="sng" dirty="0"/>
              <a:t>Gestion des colonnes dupliquées</a:t>
            </a:r>
            <a:r>
              <a:rPr lang="fr-FR" sz="1200" b="1" dirty="0"/>
              <a:t> </a:t>
            </a:r>
            <a:endParaRPr lang="fr-FR" sz="1200" dirty="0"/>
          </a:p>
          <a:p>
            <a:pPr lvl="1">
              <a:spcBef>
                <a:spcPts val="0"/>
              </a:spcBef>
              <a:buFontTx/>
              <a:buChar char="-"/>
              <a:tabLst>
                <a:tab pos="5022850" algn="l"/>
                <a:tab pos="5199063" algn="l"/>
              </a:tabLst>
            </a:pPr>
            <a:r>
              <a:rPr lang="fr-FR" sz="1000" dirty="0"/>
              <a:t>Fusion en conservant les valeurs non-nulles</a:t>
            </a:r>
          </a:p>
          <a:p>
            <a:pPr lvl="1">
              <a:spcBef>
                <a:spcPts val="0"/>
              </a:spcBef>
              <a:buFontTx/>
              <a:buChar char="-"/>
              <a:tabLst>
                <a:tab pos="5022850" algn="l"/>
                <a:tab pos="5199063" algn="l"/>
              </a:tabLst>
            </a:pPr>
            <a:r>
              <a:rPr lang="fr-FR" sz="1000" dirty="0"/>
              <a:t>Suppression des doublons</a:t>
            </a:r>
            <a:endParaRPr lang="fr-FR" sz="1200" dirty="0"/>
          </a:p>
          <a:p>
            <a:pPr>
              <a:spcBef>
                <a:spcPts val="600"/>
              </a:spcBef>
            </a:pPr>
            <a:r>
              <a:rPr lang="fr-FR" sz="1200" b="1" u="sng" dirty="0"/>
              <a:t>Création de la colonne temporelle</a:t>
            </a:r>
            <a:r>
              <a:rPr lang="fr-FR" sz="1200" dirty="0"/>
              <a:t> </a:t>
            </a:r>
            <a:r>
              <a:rPr lang="fr-FR" sz="1200" i="1" dirty="0"/>
              <a:t>(</a:t>
            </a:r>
            <a:r>
              <a:rPr lang="fr-FR" sz="1200" i="1" dirty="0" err="1"/>
              <a:t>dh_utc</a:t>
            </a:r>
            <a:r>
              <a:rPr lang="fr-FR" sz="1200" i="1" dirty="0"/>
              <a:t>)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Génération à partir de Time pour les fichiers Excel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Conversion en format </a:t>
            </a:r>
            <a:r>
              <a:rPr lang="fr-FR" sz="1000" dirty="0" err="1"/>
              <a:t>datetime</a:t>
            </a:r>
            <a:endParaRPr lang="fr-FR" sz="1200" i="1" dirty="0"/>
          </a:p>
          <a:p>
            <a:pPr>
              <a:spcBef>
                <a:spcPts val="600"/>
              </a:spcBef>
            </a:pPr>
            <a:r>
              <a:rPr lang="fr-FR" sz="1200" b="1" u="sng" dirty="0"/>
              <a:t>Préparation pour MongoDB en un seul fichier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Conversion des dates en format ISO (YYYY-MM-DDTHH:MM:SS.000Z)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Remplacement des NaN par None (</a:t>
            </a:r>
            <a:r>
              <a:rPr lang="fr-FR" sz="1000" dirty="0" err="1"/>
              <a:t>null</a:t>
            </a:r>
            <a:r>
              <a:rPr lang="fr-FR" sz="1000" dirty="0"/>
              <a:t> en JSON)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Ajout de </a:t>
            </a:r>
            <a:r>
              <a:rPr lang="fr-FR" sz="1000" dirty="0" err="1"/>
              <a:t>source_file</a:t>
            </a:r>
            <a:r>
              <a:rPr lang="fr-FR" sz="1000" dirty="0"/>
              <a:t> pour la traçabilité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Ajout de </a:t>
            </a:r>
            <a:r>
              <a:rPr lang="fr-FR" sz="1000" dirty="0" err="1"/>
              <a:t>processed_at</a:t>
            </a:r>
            <a:r>
              <a:rPr lang="fr-FR" sz="1000" dirty="0"/>
              <a:t> (timestamp de traitement)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Génération d'une clé unique : </a:t>
            </a:r>
            <a:r>
              <a:rPr lang="fr-FR" sz="1000" dirty="0" err="1"/>
              <a:t>id_station_timestamp</a:t>
            </a:r>
            <a:endParaRPr lang="fr-FR" sz="1000" dirty="0"/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Mapping des noms de stations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1CC4D7F-3C67-A27B-1881-EB24BE3D6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59235E07-865E-8EDE-B50F-ECBBC199C8D0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8948207" cy="584775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Transformation des données brutes</a:t>
            </a:r>
            <a:endParaRPr lang="fr-FR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396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01F3E-0C52-3D86-A249-76CCF8685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1C884E2-CACB-E430-E721-6221BD61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20AC5890-9980-A2BD-F0FB-C8979FFCB7D3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8948207" cy="584775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Schéma de la BDD </a:t>
            </a:r>
            <a:r>
              <a:rPr lang="fr-FR" sz="1400" b="1" i="1" dirty="0">
                <a:solidFill>
                  <a:schemeClr val="accent2">
                    <a:lumMod val="75000"/>
                  </a:schemeClr>
                </a:solidFill>
              </a:rPr>
              <a:t>(Collection : </a:t>
            </a:r>
            <a:r>
              <a:rPr lang="fr-FR" sz="1400" b="1" i="1" dirty="0" err="1">
                <a:solidFill>
                  <a:schemeClr val="accent2">
                    <a:lumMod val="75000"/>
                  </a:schemeClr>
                </a:solidFill>
              </a:rPr>
              <a:t>measurements</a:t>
            </a:r>
            <a:r>
              <a:rPr lang="fr-FR" sz="1400" b="1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A2717736-148F-DA82-EA35-98ECF0F7B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202471"/>
              </p:ext>
            </p:extLst>
          </p:nvPr>
        </p:nvGraphicFramePr>
        <p:xfrm>
          <a:off x="2151824" y="1299172"/>
          <a:ext cx="7888351" cy="505036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01441">
                  <a:extLst>
                    <a:ext uri="{9D8B030D-6E8A-4147-A177-3AD203B41FA5}">
                      <a16:colId xmlns:a16="http://schemas.microsoft.com/office/drawing/2014/main" val="1311888403"/>
                    </a:ext>
                  </a:extLst>
                </a:gridCol>
                <a:gridCol w="1966791">
                  <a:extLst>
                    <a:ext uri="{9D8B030D-6E8A-4147-A177-3AD203B41FA5}">
                      <a16:colId xmlns:a16="http://schemas.microsoft.com/office/drawing/2014/main" val="2413026711"/>
                    </a:ext>
                  </a:extLst>
                </a:gridCol>
                <a:gridCol w="3534383">
                  <a:extLst>
                    <a:ext uri="{9D8B030D-6E8A-4147-A177-3AD203B41FA5}">
                      <a16:colId xmlns:a16="http://schemas.microsoft.com/office/drawing/2014/main" val="3362853235"/>
                    </a:ext>
                  </a:extLst>
                </a:gridCol>
                <a:gridCol w="985736">
                  <a:extLst>
                    <a:ext uri="{9D8B030D-6E8A-4147-A177-3AD203B41FA5}">
                      <a16:colId xmlns:a16="http://schemas.microsoft.com/office/drawing/2014/main" val="965470589"/>
                    </a:ext>
                  </a:extLst>
                </a:gridCol>
              </a:tblGrid>
              <a:tr h="2865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>
                          <a:effectLst/>
                        </a:rPr>
                        <a:t>Champ</a:t>
                      </a:r>
                      <a:endParaRPr lang="fr-FR" sz="16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>
                          <a:effectLst/>
                        </a:rPr>
                        <a:t>Type MongoDB</a:t>
                      </a:r>
                      <a:endParaRPr lang="fr-FR" sz="16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>
                          <a:effectLst/>
                        </a:rPr>
                        <a:t>Description</a:t>
                      </a:r>
                      <a:endParaRPr lang="fr-FR" sz="16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>
                          <a:effectLst/>
                        </a:rPr>
                        <a:t>Unité</a:t>
                      </a:r>
                      <a:endParaRPr lang="fr-FR" sz="16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72714593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effectLst/>
                        </a:rPr>
                        <a:t>_id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 err="1">
                          <a:effectLst/>
                        </a:rPr>
                        <a:t>ObjectId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Identifiant MongoDB auto-généré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36806557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id_station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String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Identifiant unique de la station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643689543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nom_station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String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Nom de la station météorologique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587007888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dh_utc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Date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Date et heure UTC de la mesure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ISO 8601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8043352"/>
                  </a:ext>
                </a:extLst>
              </a:tr>
              <a:tr h="250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temperature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Double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Température de l'air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°C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568236785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effectLst/>
                        </a:rPr>
                        <a:t>pression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Double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Pression atmosphérique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hPa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9774963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humidite</a:t>
                      </a:r>
                      <a:endParaRPr lang="fr-FR" sz="1200" b="1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Double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Humidité relative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%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3992284204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point_de_rosee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Double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Point de rosée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°C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805560589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visibilite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Double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Visibilité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mètres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559905465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vent_moyen</a:t>
                      </a:r>
                      <a:endParaRPr lang="fr-FR" sz="1200" b="1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Double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Vitesse moyenne du vent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km/h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3234765009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vent_rafales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Double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Vitesse des rafales de vent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km/h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48985412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vent_direction</a:t>
                      </a:r>
                      <a:endParaRPr lang="fr-FR" sz="1200" b="1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Double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Direction du vent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degrés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2181695880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effectLst/>
                        </a:rPr>
                        <a:t>pluie_3h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Double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Précipitations sur 3 heures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mm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745803765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pluie_1h</a:t>
                      </a:r>
                      <a:endParaRPr lang="fr-FR" sz="1200" b="1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Double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Précipitations sur 1 heure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mm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25911563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neige_au_sol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Double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Hauteur de neige au sol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mm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343181435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precip_accum</a:t>
                      </a:r>
                      <a:endParaRPr lang="fr-FR" sz="1200" b="1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Double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Précipitations accumulées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mm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2557594263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solar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Double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Rayonnement solaire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W/m²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3176393801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precip_rate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Double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Taux de précipitations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mm/h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803402896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uv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Double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Indice UV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2539565232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source_file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String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Nom du fichier JSONL source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3579673060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processed_at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Date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Timestamp du traitement ETL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ISO 8601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485784298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unique_key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String</a:t>
                      </a:r>
                      <a:endParaRPr lang="fr-FR" sz="12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Clé composite unique (index)</a:t>
                      </a: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2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624458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75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76DC6-903D-8DCE-D7AD-36F9B46F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5CCAAE-70A4-4966-B87C-548B25BF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8971AC19-7496-AFFC-3345-D8D7FF5A1E4A}"/>
              </a:ext>
            </a:extLst>
          </p:cNvPr>
          <p:cNvSpPr txBox="1">
            <a:spLocks/>
          </p:cNvSpPr>
          <p:nvPr/>
        </p:nvSpPr>
        <p:spPr>
          <a:xfrm>
            <a:off x="2570163" y="3072758"/>
            <a:ext cx="8915399" cy="707886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Intégration des données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984249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4E0EC-BC5D-AD0C-F885-3028FAF8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F564A5B-1684-09B2-1933-FFEA07BE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9576414A-DD5A-2AC4-812C-60BA173D9708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9274800" cy="5847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Collecte des données : </a:t>
            </a:r>
            <a:r>
              <a:rPr lang="fr-FR" sz="3200" b="1" dirty="0" err="1">
                <a:solidFill>
                  <a:schemeClr val="accent2">
                    <a:lumMod val="75000"/>
                  </a:schemeClr>
                </a:solidFill>
              </a:rPr>
              <a:t>Airbyte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 alternatives</a:t>
            </a:r>
            <a:endParaRPr lang="fr-FR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Image 3" descr="Une image contenant capture d’écran, logiciel, Logiciel multimédia, texte&#10;&#10;Le contenu généré par l’IA peut être incorrect.">
            <a:extLst>
              <a:ext uri="{FF2B5EF4-FFF2-40B4-BE49-F238E27FC236}">
                <a16:creationId xmlns:a16="http://schemas.microsoft.com/office/drawing/2014/main" id="{A5A422F2-AB2B-0025-9196-2FC7F0191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567" y="1182849"/>
            <a:ext cx="6618699" cy="2430621"/>
          </a:xfrm>
          <a:prstGeom prst="rect">
            <a:avLst/>
          </a:prstGeo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51913851-4B57-99E9-62FD-4A0A16170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3199" y="3613471"/>
            <a:ext cx="3574833" cy="2231380"/>
          </a:xfrm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FR" sz="1400" dirty="0"/>
              <a:t>✅ </a:t>
            </a:r>
            <a:r>
              <a:rPr lang="fr-FR" sz="1200" b="1" u="sng" dirty="0" err="1"/>
              <a:t>Airbyte</a:t>
            </a:r>
            <a:r>
              <a:rPr lang="fr-FR" sz="1200" dirty="0"/>
              <a:t>:</a:t>
            </a:r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fr-FR" sz="1000" b="1" dirty="0"/>
              <a:t>Connecteurs prêts à l'emploi :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dirty="0"/>
              <a:t>S3 destination native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dirty="0"/>
              <a:t>+300 connecteurs disponibles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dirty="0"/>
              <a:t>Ajout nouvelles sources = quelques clics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dirty="0"/>
              <a:t>Pas de code Python custom à maintenir</a:t>
            </a:r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fr-FR" sz="1000" b="1" dirty="0"/>
              <a:t>Standardisation :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dirty="0"/>
              <a:t>Format JSONL </a:t>
            </a:r>
            <a:r>
              <a:rPr lang="fr-FR" sz="800" dirty="0" err="1"/>
              <a:t>Airbyte</a:t>
            </a:r>
            <a:r>
              <a:rPr lang="fr-FR" sz="800" dirty="0"/>
              <a:t> unifié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dirty="0"/>
              <a:t>Gestion erreurs/retries automatique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dirty="0" err="1"/>
              <a:t>Logging</a:t>
            </a:r>
            <a:r>
              <a:rPr lang="fr-FR" sz="800" dirty="0"/>
              <a:t> et monitoring intégré</a:t>
            </a:r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fr-FR" sz="1000" b="1" dirty="0"/>
              <a:t>Open-source :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dirty="0"/>
              <a:t>Gratuit, self-</a:t>
            </a:r>
            <a:r>
              <a:rPr lang="fr-FR" sz="800" dirty="0" err="1"/>
              <a:t>hosted</a:t>
            </a:r>
            <a:endParaRPr lang="fr-FR" sz="800" dirty="0"/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dirty="0"/>
              <a:t>Communauté active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dirty="0"/>
              <a:t>Pas de dépendance technologique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04C8852D-0A28-62FF-4E16-5DB450E6E9DF}"/>
              </a:ext>
            </a:extLst>
          </p:cNvPr>
          <p:cNvSpPr txBox="1">
            <a:spLocks/>
          </p:cNvSpPr>
          <p:nvPr/>
        </p:nvSpPr>
        <p:spPr>
          <a:xfrm>
            <a:off x="5603132" y="3613470"/>
            <a:ext cx="4740613" cy="223138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fr-FR" sz="1400" dirty="0"/>
              <a:t>❌ </a:t>
            </a:r>
            <a:r>
              <a:rPr lang="fr-FR" sz="1200" b="1" u="sng" dirty="0"/>
              <a:t>Autre solution</a:t>
            </a:r>
            <a:r>
              <a:rPr lang="fr-FR" sz="1200" dirty="0"/>
              <a:t>:</a:t>
            </a:r>
            <a:endParaRPr lang="fr-FR" sz="1200" i="1" dirty="0"/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r>
              <a:rPr lang="fr-FR" sz="1000" b="1" dirty="0"/>
              <a:t>Scripts Python maison </a:t>
            </a:r>
            <a:r>
              <a:rPr lang="fr-FR" sz="1000" dirty="0"/>
              <a:t>: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Maintenance</a:t>
            </a:r>
            <a:r>
              <a:rPr lang="fr-FR" sz="800" dirty="0"/>
              <a:t> : Code custom à maintenir pour chaque source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Gestion erreurs</a:t>
            </a:r>
            <a:r>
              <a:rPr lang="fr-FR" sz="800" dirty="0"/>
              <a:t> : Retries, </a:t>
            </a:r>
            <a:r>
              <a:rPr lang="fr-FR" sz="800" dirty="0" err="1"/>
              <a:t>exponential</a:t>
            </a:r>
            <a:r>
              <a:rPr lang="fr-FR" sz="800" dirty="0"/>
              <a:t> </a:t>
            </a:r>
            <a:r>
              <a:rPr lang="fr-FR" sz="800" dirty="0" err="1"/>
              <a:t>backoff</a:t>
            </a:r>
            <a:r>
              <a:rPr lang="fr-FR" sz="800" dirty="0"/>
              <a:t> à coder manuellement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Pas de monitoring</a:t>
            </a:r>
            <a:r>
              <a:rPr lang="fr-FR" sz="800" dirty="0"/>
              <a:t> : Logs manuels, pas de </a:t>
            </a:r>
            <a:r>
              <a:rPr lang="fr-FR" sz="800" dirty="0" err="1"/>
              <a:t>dashboard</a:t>
            </a:r>
            <a:endParaRPr lang="fr-FR" sz="800" dirty="0"/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Évolutivité</a:t>
            </a:r>
            <a:r>
              <a:rPr lang="fr-FR" sz="800" dirty="0"/>
              <a:t> : Ajouter source = coder nouveau script</a:t>
            </a:r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r>
              <a:rPr lang="fr-FR" sz="1000" b="1" dirty="0"/>
              <a:t>AWS Glue </a:t>
            </a:r>
            <a:r>
              <a:rPr lang="fr-FR" sz="1000" b="1" dirty="0" err="1"/>
              <a:t>Crawlers</a:t>
            </a:r>
            <a:r>
              <a:rPr lang="fr-FR" sz="1000" b="1" dirty="0"/>
              <a:t> :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Limité</a:t>
            </a:r>
            <a:r>
              <a:rPr lang="fr-FR" sz="800" dirty="0"/>
              <a:t> : Optimisé pour S3/RDS, pas pour API HTTP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Coût</a:t>
            </a:r>
            <a:r>
              <a:rPr lang="fr-FR" sz="800" dirty="0"/>
              <a:t> : $0.44/h par crawler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Moins</a:t>
            </a:r>
            <a:r>
              <a:rPr lang="fr-FR" sz="800" dirty="0"/>
              <a:t> flexible : </a:t>
            </a:r>
            <a:r>
              <a:rPr lang="fr-FR" sz="800" dirty="0" err="1"/>
              <a:t>Airbyte</a:t>
            </a:r>
            <a:r>
              <a:rPr lang="fr-FR" sz="800" dirty="0"/>
              <a:t> plus de connecteurs</a:t>
            </a:r>
            <a:endParaRPr lang="fr-FR" sz="1000" dirty="0"/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r>
              <a:rPr lang="fr-FR" sz="1000" b="1" dirty="0" err="1"/>
              <a:t>Fivetran</a:t>
            </a:r>
            <a:r>
              <a:rPr lang="fr-FR" sz="1000" dirty="0"/>
              <a:t> </a:t>
            </a:r>
            <a:r>
              <a:rPr lang="fr-FR" sz="1000" i="1" dirty="0"/>
              <a:t>(concurrent)</a:t>
            </a:r>
            <a:r>
              <a:rPr lang="fr-FR" sz="1000" dirty="0"/>
              <a:t>: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Coût</a:t>
            </a:r>
            <a:r>
              <a:rPr lang="fr-FR" sz="800" dirty="0"/>
              <a:t> : $1,000-2,000/mois (</a:t>
            </a:r>
            <a:r>
              <a:rPr lang="fr-FR" sz="800" dirty="0" err="1"/>
              <a:t>pricing</a:t>
            </a:r>
            <a:r>
              <a:rPr lang="fr-FR" sz="800" dirty="0"/>
              <a:t> entreprise)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Lock-in</a:t>
            </a:r>
            <a:r>
              <a:rPr lang="fr-FR" sz="800" dirty="0"/>
              <a:t> : SaaS propriétaire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 err="1"/>
              <a:t>Overkill</a:t>
            </a:r>
            <a:r>
              <a:rPr lang="fr-FR" sz="800" dirty="0"/>
              <a:t> : Pour 2-3 sources, trop cher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4BE70D6F-8D88-7C27-B3CC-E13C3531E5AC}"/>
              </a:ext>
            </a:extLst>
          </p:cNvPr>
          <p:cNvSpPr txBox="1">
            <a:spLocks/>
          </p:cNvSpPr>
          <p:nvPr/>
        </p:nvSpPr>
        <p:spPr>
          <a:xfrm>
            <a:off x="2023199" y="5856352"/>
            <a:ext cx="7408232" cy="46166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fr-FR" sz="1400" dirty="0"/>
              <a:t>🏆</a:t>
            </a:r>
            <a:r>
              <a:rPr lang="fr-FR" sz="1200" b="1" u="sng" dirty="0"/>
              <a:t>Conclusion</a:t>
            </a:r>
            <a:r>
              <a:rPr lang="fr-FR" sz="1200" b="1" dirty="0"/>
              <a:t> :</a:t>
            </a:r>
            <a:endParaRPr lang="fr-FR" sz="600" dirty="0"/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1000" b="1" dirty="0" err="1"/>
              <a:t>Airbyte</a:t>
            </a:r>
            <a:r>
              <a:rPr lang="fr-FR" sz="1000" dirty="0"/>
              <a:t> offre le </a:t>
            </a:r>
            <a:r>
              <a:rPr lang="fr-FR" sz="1000" b="1" dirty="0"/>
              <a:t>meilleur rapport simplicité/coût/flexibilité </a:t>
            </a:r>
            <a:r>
              <a:rPr lang="fr-FR" sz="1000" dirty="0"/>
              <a:t>pour l'ingestion de données hétérogènes.</a:t>
            </a:r>
          </a:p>
        </p:txBody>
      </p:sp>
    </p:spTree>
    <p:extLst>
      <p:ext uri="{BB962C8B-B14F-4D97-AF65-F5344CB8AC3E}">
        <p14:creationId xmlns:p14="http://schemas.microsoft.com/office/powerpoint/2010/main" val="2800732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20B68-62D9-0DE9-3D41-3ABC23DB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BF21E1-4CA6-CDE0-4B29-5AD120F2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0EEECB6-3C78-BB00-1AC0-4E4E3834C45F}"/>
              </a:ext>
            </a:extLst>
          </p:cNvPr>
          <p:cNvSpPr txBox="1">
            <a:spLocks/>
          </p:cNvSpPr>
          <p:nvPr/>
        </p:nvSpPr>
        <p:spPr>
          <a:xfrm>
            <a:off x="2570163" y="3072758"/>
            <a:ext cx="8915399" cy="707886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Pipeline ETL</a:t>
            </a:r>
          </a:p>
        </p:txBody>
      </p:sp>
    </p:spTree>
    <p:extLst>
      <p:ext uri="{BB962C8B-B14F-4D97-AF65-F5344CB8AC3E}">
        <p14:creationId xmlns:p14="http://schemas.microsoft.com/office/powerpoint/2010/main" val="2088709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0E897-7725-8E9C-3A71-6CD5346B4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63818F-1186-109B-F7C1-7D74103F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683" y="787237"/>
            <a:ext cx="779767" cy="365125"/>
          </a:xfrm>
        </p:spPr>
        <p:txBody>
          <a:bodyPr/>
          <a:lstStyle/>
          <a:p>
            <a:r>
              <a:rPr lang="en-US" dirty="0"/>
              <a:t>10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F1EBA862-63E5-5728-09CE-2E994200EC92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8948207" cy="584775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Logigramme du Pipeline</a:t>
            </a:r>
          </a:p>
        </p:txBody>
      </p:sp>
      <p:pic>
        <p:nvPicPr>
          <p:cNvPr id="4" name="Image 3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0F53A9B5-10C2-09E6-90A7-34AC42A3A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968" y="1545011"/>
            <a:ext cx="7802064" cy="467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45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FD623-DF79-B220-A367-0C4FB550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0EE332-4506-7C0E-F64C-8E30F0F83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3725" y="1152907"/>
            <a:ext cx="8948207" cy="4909036"/>
          </a:xfr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fr-FR" b="1" u="sng" dirty="0"/>
              <a:t>Récupération et stockage </a:t>
            </a:r>
            <a:r>
              <a:rPr lang="fr-FR" b="1" i="1" u="sng" dirty="0"/>
              <a:t>(</a:t>
            </a:r>
            <a:r>
              <a:rPr lang="fr-FR" b="1" i="1" u="sng" dirty="0" err="1"/>
              <a:t>Extract</a:t>
            </a:r>
            <a:r>
              <a:rPr lang="fr-FR" b="1" i="1" u="sng" dirty="0"/>
              <a:t>)</a:t>
            </a:r>
            <a:r>
              <a:rPr lang="fr-FR" b="1" dirty="0"/>
              <a:t> :</a:t>
            </a:r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fr-FR" sz="1400" dirty="0"/>
              <a:t>Collecte des informations météo</a:t>
            </a:r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fr-FR" sz="1400" dirty="0"/>
              <a:t>Stockage sur AWS </a:t>
            </a:r>
            <a:r>
              <a:rPr lang="fr-FR" sz="1400" dirty="0" err="1"/>
              <a:t>Bucket</a:t>
            </a:r>
            <a:r>
              <a:rPr lang="fr-FR" sz="1400" dirty="0"/>
              <a:t> S3</a:t>
            </a:r>
          </a:p>
          <a:p>
            <a:pPr lvl="1">
              <a:spcBef>
                <a:spcPts val="600"/>
              </a:spcBef>
              <a:buFontTx/>
              <a:buChar char="-"/>
            </a:pPr>
            <a:endParaRPr lang="fr-FR" sz="700" u="sng" dirty="0"/>
          </a:p>
          <a:p>
            <a:pPr>
              <a:spcBef>
                <a:spcPts val="600"/>
              </a:spcBef>
            </a:pPr>
            <a:r>
              <a:rPr lang="fr-FR" b="1" u="sng" dirty="0"/>
              <a:t>Uniformisation des données </a:t>
            </a:r>
            <a:r>
              <a:rPr lang="fr-FR" b="1" i="1" u="sng" dirty="0"/>
              <a:t>(</a:t>
            </a:r>
            <a:r>
              <a:rPr lang="fr-FR" b="1" i="1" u="sng" dirty="0" err="1"/>
              <a:t>Transform</a:t>
            </a:r>
            <a:r>
              <a:rPr lang="fr-FR" b="1" i="1" u="sng" dirty="0"/>
              <a:t>)</a:t>
            </a:r>
            <a:r>
              <a:rPr lang="fr-FR" b="1" dirty="0"/>
              <a:t> :</a:t>
            </a:r>
            <a:endParaRPr lang="fr-FR" b="1" i="1" dirty="0"/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r>
              <a:rPr lang="fr-FR" sz="1400" dirty="0"/>
              <a:t>Normalisation des formats </a:t>
            </a:r>
            <a:r>
              <a:rPr lang="fr-FR" sz="1400" i="1" dirty="0"/>
              <a:t>(data, numérique)</a:t>
            </a:r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r>
              <a:rPr lang="fr-FR" sz="1400" dirty="0"/>
              <a:t>Conversions d'unités </a:t>
            </a:r>
            <a:r>
              <a:rPr lang="fr-FR" sz="1400" i="1" dirty="0"/>
              <a:t>(°F→°C, </a:t>
            </a:r>
            <a:r>
              <a:rPr lang="fr-FR" sz="1400" i="1" dirty="0" err="1"/>
              <a:t>mph→km</a:t>
            </a:r>
            <a:r>
              <a:rPr lang="fr-FR" sz="1400" i="1" dirty="0"/>
              <a:t>/h, </a:t>
            </a:r>
            <a:r>
              <a:rPr lang="fr-FR" sz="1400" i="1" dirty="0" err="1"/>
              <a:t>inHg→hPa</a:t>
            </a:r>
            <a:r>
              <a:rPr lang="fr-FR" sz="1400" i="1" dirty="0"/>
              <a:t>, </a:t>
            </a:r>
            <a:r>
              <a:rPr lang="fr-FR" sz="1400" i="1" dirty="0" err="1"/>
              <a:t>in→mm</a:t>
            </a:r>
            <a:r>
              <a:rPr lang="fr-FR" sz="1400" i="1" dirty="0"/>
              <a:t>)</a:t>
            </a:r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r>
              <a:rPr lang="fr-FR" sz="1400" dirty="0"/>
              <a:t>Génération </a:t>
            </a:r>
            <a:r>
              <a:rPr lang="fr-FR" sz="1400" dirty="0" err="1"/>
              <a:t>unique_key</a:t>
            </a:r>
            <a:r>
              <a:rPr lang="fr-FR" sz="1400" dirty="0"/>
              <a:t> </a:t>
            </a:r>
            <a:r>
              <a:rPr lang="fr-FR" sz="1400" i="1" dirty="0"/>
              <a:t>(</a:t>
            </a:r>
            <a:r>
              <a:rPr lang="fr-FR" sz="1400" i="1" dirty="0" err="1"/>
              <a:t>station_date_time</a:t>
            </a:r>
            <a:r>
              <a:rPr lang="fr-FR" sz="1400" i="1" dirty="0"/>
              <a:t> + séquence)</a:t>
            </a:r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r>
              <a:rPr lang="fr-FR" sz="1400" dirty="0"/>
              <a:t>Validation qualité </a:t>
            </a:r>
            <a:r>
              <a:rPr lang="fr-FR" sz="1400" i="1" dirty="0"/>
              <a:t>(température, humidité, pression)</a:t>
            </a:r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r>
              <a:rPr lang="fr-FR" sz="1400" dirty="0"/>
              <a:t>Agrégation de toute les sources dans un seul </a:t>
            </a:r>
            <a:r>
              <a:rPr lang="fr-FR" sz="1400" dirty="0" err="1"/>
              <a:t>json</a:t>
            </a:r>
            <a:r>
              <a:rPr lang="fr-FR" sz="1400" dirty="0"/>
              <a:t> </a:t>
            </a:r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endParaRPr lang="fr-FR" sz="700" u="sng" dirty="0"/>
          </a:p>
          <a:p>
            <a:pPr>
              <a:spcBef>
                <a:spcPts val="600"/>
              </a:spcBef>
            </a:pPr>
            <a:r>
              <a:rPr lang="fr-FR" b="1" u="sng" dirty="0"/>
              <a:t>Ajoute les données a la base de données (</a:t>
            </a:r>
            <a:r>
              <a:rPr lang="fr-FR" b="1" u="sng" dirty="0" err="1"/>
              <a:t>Load</a:t>
            </a:r>
            <a:r>
              <a:rPr lang="fr-FR" b="1" u="sng" dirty="0"/>
              <a:t>)</a:t>
            </a:r>
            <a:r>
              <a:rPr lang="fr-FR" b="1" dirty="0"/>
              <a:t> :</a:t>
            </a:r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r>
              <a:rPr lang="fr-FR" sz="1400" dirty="0" err="1"/>
              <a:t>Upsert</a:t>
            </a:r>
            <a:r>
              <a:rPr lang="fr-FR" sz="1400" dirty="0"/>
              <a:t> dans MongoDB </a:t>
            </a:r>
            <a:r>
              <a:rPr lang="fr-FR" sz="1400" i="1" dirty="0"/>
              <a:t>(évite doublons)</a:t>
            </a:r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r>
              <a:rPr lang="fr-FR" sz="1400" dirty="0"/>
              <a:t>Métadonnées d'audit </a:t>
            </a:r>
            <a:r>
              <a:rPr lang="fr-FR" sz="1400" i="1" dirty="0"/>
              <a:t>(</a:t>
            </a:r>
            <a:r>
              <a:rPr lang="fr-FR" sz="1400" i="1" dirty="0" err="1"/>
              <a:t>source_file</a:t>
            </a:r>
            <a:r>
              <a:rPr lang="fr-FR" sz="1400" i="1" dirty="0"/>
              <a:t>, </a:t>
            </a:r>
            <a:r>
              <a:rPr lang="fr-FR" sz="1400" i="1" dirty="0" err="1"/>
              <a:t>processed_at</a:t>
            </a:r>
            <a:r>
              <a:rPr lang="fr-FR" sz="1400" i="1" dirty="0"/>
              <a:t>)</a:t>
            </a:r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endParaRPr lang="fr-FR" sz="700" i="1" dirty="0"/>
          </a:p>
          <a:p>
            <a:pPr>
              <a:spcBef>
                <a:spcPts val="600"/>
              </a:spcBef>
            </a:pPr>
            <a:r>
              <a:rPr lang="fr-FR" b="1" u="sng" dirty="0"/>
              <a:t>Test</a:t>
            </a:r>
            <a:r>
              <a:rPr lang="fr-FR" b="1" dirty="0"/>
              <a:t> :</a:t>
            </a:r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fr-FR" sz="1400" dirty="0"/>
              <a:t>CRUD complet, index, permissions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D1FAA3-8816-154E-B8C1-3DA16C763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5DDDE816-4A4E-6099-A35F-2B628808524D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8948207" cy="584775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Processus ETL </a:t>
            </a:r>
            <a:r>
              <a:rPr lang="fr-FR" sz="1400" b="1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fr-FR" sz="1400" b="1" i="1" dirty="0" err="1">
                <a:solidFill>
                  <a:schemeClr val="accent2">
                    <a:lumMod val="75000"/>
                  </a:schemeClr>
                </a:solidFill>
              </a:rPr>
              <a:t>Extract</a:t>
            </a:r>
            <a:r>
              <a:rPr lang="fr-FR" sz="1400" b="1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fr-FR" sz="1400" b="1" i="1" dirty="0" err="1">
                <a:solidFill>
                  <a:schemeClr val="accent2">
                    <a:lumMod val="75000"/>
                  </a:schemeClr>
                </a:solidFill>
              </a:rPr>
              <a:t>Transform</a:t>
            </a:r>
            <a:r>
              <a:rPr lang="fr-FR" sz="1400" b="1" i="1" dirty="0">
                <a:solidFill>
                  <a:schemeClr val="accent2">
                    <a:lumMod val="75000"/>
                  </a:schemeClr>
                </a:solidFill>
              </a:rPr>
              <a:t> &amp; </a:t>
            </a:r>
            <a:r>
              <a:rPr lang="fr-FR" sz="1400" b="1" i="1" dirty="0" err="1">
                <a:solidFill>
                  <a:schemeClr val="accent2">
                    <a:lumMod val="75000"/>
                  </a:schemeClr>
                </a:solidFill>
              </a:rPr>
              <a:t>Load</a:t>
            </a:r>
            <a:r>
              <a:rPr lang="fr-FR" sz="1400" b="1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fr-FR" sz="32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331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39C66-C55D-EFDB-2633-FC35DF509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8CEFF2-0574-E722-1E8B-A26CE8863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3725" y="1152907"/>
            <a:ext cx="8948207" cy="4447371"/>
          </a:xfrm>
        </p:spPr>
        <p:txBody>
          <a:bodyPr>
            <a:spAutoFit/>
          </a:bodyPr>
          <a:lstStyle/>
          <a:p>
            <a:r>
              <a:rPr lang="fr-FR" b="1" u="sng" dirty="0"/>
              <a:t>Points de contrôle qualité</a:t>
            </a:r>
            <a:r>
              <a:rPr lang="fr-FR" b="1" dirty="0"/>
              <a:t> :</a:t>
            </a:r>
          </a:p>
          <a:p>
            <a:pPr lvl="1">
              <a:buFontTx/>
              <a:buChar char="-"/>
            </a:pPr>
            <a:r>
              <a:rPr lang="fr-FR" sz="1400" b="1" dirty="0"/>
              <a:t>Post-</a:t>
            </a:r>
            <a:r>
              <a:rPr lang="fr-FR" sz="1400" b="1" dirty="0" err="1"/>
              <a:t>Airbyte</a:t>
            </a:r>
            <a:r>
              <a:rPr lang="fr-FR" sz="1400" dirty="0"/>
              <a:t> : Vérification présence fichiers JSONL dans S3</a:t>
            </a:r>
          </a:p>
          <a:p>
            <a:pPr lvl="1">
              <a:buFontTx/>
              <a:buChar char="-"/>
            </a:pPr>
            <a:r>
              <a:rPr lang="fr-FR" sz="1400" b="1" dirty="0"/>
              <a:t>Post-ETL</a:t>
            </a:r>
            <a:r>
              <a:rPr lang="fr-FR" sz="1400" dirty="0"/>
              <a:t> : Validation doublons, types, valeurs manquantes</a:t>
            </a:r>
          </a:p>
          <a:p>
            <a:pPr lvl="1">
              <a:buFontTx/>
              <a:buChar char="-"/>
            </a:pPr>
            <a:r>
              <a:rPr lang="fr-FR" sz="1400" b="1" dirty="0"/>
              <a:t>Pré-Import</a:t>
            </a:r>
            <a:r>
              <a:rPr lang="fr-FR" sz="1400" dirty="0"/>
              <a:t> : Suite complète de tests MongoDB</a:t>
            </a:r>
          </a:p>
          <a:p>
            <a:pPr lvl="1">
              <a:buFontTx/>
              <a:buChar char="-"/>
            </a:pPr>
            <a:r>
              <a:rPr lang="fr-FR" sz="1400" b="1" dirty="0"/>
              <a:t>Post-Import</a:t>
            </a:r>
            <a:r>
              <a:rPr lang="fr-FR" sz="1400" dirty="0"/>
              <a:t> : Vérification count documents, métadonnées</a:t>
            </a:r>
          </a:p>
          <a:p>
            <a:pPr lvl="1">
              <a:buFontTx/>
              <a:buChar char="-"/>
            </a:pPr>
            <a:r>
              <a:rPr lang="fr-FR" sz="1400" b="1" dirty="0"/>
              <a:t>Pre-</a:t>
            </a:r>
            <a:r>
              <a:rPr lang="fr-FR" sz="1400" b="1" dirty="0" err="1"/>
              <a:t>Cleanup</a:t>
            </a:r>
            <a:r>
              <a:rPr lang="fr-FR" sz="1400" dirty="0"/>
              <a:t> : Confirmation présence données dans MongoDB</a:t>
            </a:r>
          </a:p>
          <a:p>
            <a:pPr lvl="1">
              <a:buFontTx/>
              <a:buChar char="-"/>
            </a:pPr>
            <a:endParaRPr lang="fr-FR" sz="700" u="sng" dirty="0"/>
          </a:p>
          <a:p>
            <a:r>
              <a:rPr lang="fr-FR" b="1" u="sng" dirty="0"/>
              <a:t>Gestion des erreurs</a:t>
            </a:r>
            <a:r>
              <a:rPr lang="fr-FR" b="1" dirty="0"/>
              <a:t> :</a:t>
            </a:r>
            <a:endParaRPr lang="fr-FR" b="1" i="1" dirty="0"/>
          </a:p>
          <a:p>
            <a:pPr lvl="1">
              <a:buFontTx/>
              <a:buChar char="-"/>
              <a:defRPr sz="1800"/>
            </a:pPr>
            <a:r>
              <a:rPr lang="fr-FR" sz="1400" b="1" dirty="0"/>
              <a:t>Échec </a:t>
            </a:r>
            <a:r>
              <a:rPr lang="fr-FR" sz="1400" b="1" dirty="0" err="1"/>
              <a:t>Airbyte</a:t>
            </a:r>
            <a:r>
              <a:rPr lang="fr-FR" sz="1400" b="1" dirty="0"/>
              <a:t> </a:t>
            </a:r>
            <a:r>
              <a:rPr lang="fr-FR" sz="1400" dirty="0"/>
              <a:t>: Logs </a:t>
            </a:r>
            <a:r>
              <a:rPr lang="fr-FR" sz="1400" dirty="0" err="1"/>
              <a:t>Airbyte</a:t>
            </a:r>
            <a:r>
              <a:rPr lang="fr-FR" sz="1400" dirty="0"/>
              <a:t> + alerte</a:t>
            </a:r>
          </a:p>
          <a:p>
            <a:pPr lvl="1">
              <a:buFontTx/>
              <a:buChar char="-"/>
              <a:defRPr sz="1800"/>
            </a:pPr>
            <a:r>
              <a:rPr lang="fr-FR" sz="1400" b="1" dirty="0"/>
              <a:t>Échec ETL </a:t>
            </a:r>
            <a:r>
              <a:rPr lang="fr-FR" sz="1400" dirty="0"/>
              <a:t>: Logs Python + fichier non traité reste dans 01_raw/</a:t>
            </a:r>
          </a:p>
          <a:p>
            <a:pPr lvl="1">
              <a:buFontTx/>
              <a:buChar char="-"/>
              <a:defRPr sz="1800"/>
            </a:pPr>
            <a:r>
              <a:rPr lang="fr-FR" sz="1400" b="1" dirty="0"/>
              <a:t>Échec Tests MongoDB </a:t>
            </a:r>
            <a:r>
              <a:rPr lang="fr-FR" sz="1400" dirty="0"/>
              <a:t>: Import annulé + logs détaillés</a:t>
            </a:r>
          </a:p>
          <a:p>
            <a:pPr lvl="1">
              <a:buFontTx/>
              <a:buChar char="-"/>
              <a:defRPr sz="1800"/>
            </a:pPr>
            <a:r>
              <a:rPr lang="fr-FR" sz="1400" b="1" dirty="0"/>
              <a:t>Échec Import </a:t>
            </a:r>
            <a:r>
              <a:rPr lang="fr-FR" sz="1400" dirty="0"/>
              <a:t>: Rollback + </a:t>
            </a:r>
            <a:r>
              <a:rPr lang="fr-FR" sz="1400" dirty="0" err="1"/>
              <a:t>retry</a:t>
            </a:r>
            <a:r>
              <a:rPr lang="fr-FR" sz="1400" dirty="0"/>
              <a:t> + </a:t>
            </a:r>
            <a:r>
              <a:rPr lang="fr-FR" sz="1400" dirty="0" err="1"/>
              <a:t>alert</a:t>
            </a:r>
            <a:endParaRPr lang="fr-FR" sz="1400" dirty="0"/>
          </a:p>
          <a:p>
            <a:pPr lvl="1">
              <a:buFontTx/>
              <a:buChar char="-"/>
              <a:defRPr sz="1800"/>
            </a:pPr>
            <a:r>
              <a:rPr lang="fr-FR" sz="1400" b="1" dirty="0"/>
              <a:t>Échec </a:t>
            </a:r>
            <a:r>
              <a:rPr lang="fr-FR" sz="1400" b="1" dirty="0" err="1"/>
              <a:t>Cleanup</a:t>
            </a:r>
            <a:r>
              <a:rPr lang="fr-FR" sz="1400" b="1" dirty="0"/>
              <a:t> </a:t>
            </a:r>
            <a:r>
              <a:rPr lang="fr-FR" sz="1400" dirty="0"/>
              <a:t>: Fichiers conservés pour investigation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725C01-0DF3-7216-9627-A2690B5C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2D0FE1BC-1758-F6FB-37A8-8C98092230CA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9653202" cy="5847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Points clés et gestion des erreurs</a:t>
            </a:r>
          </a:p>
        </p:txBody>
      </p:sp>
    </p:spTree>
    <p:extLst>
      <p:ext uri="{BB962C8B-B14F-4D97-AF65-F5344CB8AC3E}">
        <p14:creationId xmlns:p14="http://schemas.microsoft.com/office/powerpoint/2010/main" val="1988405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94F19-71A9-40D9-FC8D-4007F4672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3F8E36-C68B-247B-3348-03A5FC29D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13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E414B68-1B27-9C38-CD02-8680ECC9EE18}"/>
              </a:ext>
            </a:extLst>
          </p:cNvPr>
          <p:cNvSpPr txBox="1">
            <a:spLocks/>
          </p:cNvSpPr>
          <p:nvPr/>
        </p:nvSpPr>
        <p:spPr>
          <a:xfrm>
            <a:off x="2570163" y="3072758"/>
            <a:ext cx="8915399" cy="707886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Architecture de la BDD</a:t>
            </a:r>
          </a:p>
        </p:txBody>
      </p:sp>
    </p:spTree>
    <p:extLst>
      <p:ext uri="{BB962C8B-B14F-4D97-AF65-F5344CB8AC3E}">
        <p14:creationId xmlns:p14="http://schemas.microsoft.com/office/powerpoint/2010/main" val="1165379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08308-2CE2-FCC0-A98C-9025D88F6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88BB69C-1312-60F8-647C-9C4BB559E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14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8DEB3E33-F039-C7EB-682A-51537BF1D242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8948207" cy="584775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Architecture de la BDD </a:t>
            </a:r>
            <a:r>
              <a:rPr lang="fr-FR" sz="3200" b="1" i="1" dirty="0">
                <a:solidFill>
                  <a:schemeClr val="accent2">
                    <a:lumMod val="75000"/>
                  </a:schemeClr>
                </a:solidFill>
              </a:rPr>
              <a:t>avec réplication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6BF481-3EC8-58EF-9FB3-6C7D0132B662}"/>
              </a:ext>
            </a:extLst>
          </p:cNvPr>
          <p:cNvSpPr/>
          <p:nvPr/>
        </p:nvSpPr>
        <p:spPr>
          <a:xfrm>
            <a:off x="755526" y="1927653"/>
            <a:ext cx="3049052" cy="3978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 anchorCtr="0"/>
          <a:lstStyle/>
          <a:p>
            <a:pPr algn="ctr"/>
            <a:r>
              <a:rPr lang="fr-FR" b="1" dirty="0"/>
              <a:t>AWS ECS </a:t>
            </a:r>
            <a:r>
              <a:rPr lang="fr-FR" b="1" dirty="0" err="1"/>
              <a:t>Fargate</a:t>
            </a:r>
            <a:endParaRPr lang="fr-FR" b="1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08E71707-B75C-F25D-D858-77D35500AB3F}"/>
              </a:ext>
            </a:extLst>
          </p:cNvPr>
          <p:cNvSpPr/>
          <p:nvPr/>
        </p:nvSpPr>
        <p:spPr>
          <a:xfrm>
            <a:off x="975313" y="3446218"/>
            <a:ext cx="2508422" cy="103179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MongoDB Container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6A120-C0FD-BC97-1707-82FA9B86A61F}"/>
              </a:ext>
            </a:extLst>
          </p:cNvPr>
          <p:cNvSpPr/>
          <p:nvPr/>
        </p:nvSpPr>
        <p:spPr>
          <a:xfrm>
            <a:off x="4819135" y="1927653"/>
            <a:ext cx="6746788" cy="3978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 anchorCtr="0"/>
          <a:lstStyle/>
          <a:p>
            <a:pPr algn="ctr"/>
            <a:r>
              <a:rPr lang="fr-FR" b="1" dirty="0"/>
              <a:t>Amazon EFS – Multi-AZ</a:t>
            </a:r>
          </a:p>
        </p:txBody>
      </p:sp>
      <p:pic>
        <p:nvPicPr>
          <p:cNvPr id="9" name="Graphique 8" descr="Base de données avec un remplissage uni">
            <a:extLst>
              <a:ext uri="{FF2B5EF4-FFF2-40B4-BE49-F238E27FC236}">
                <a16:creationId xmlns:a16="http://schemas.microsoft.com/office/drawing/2014/main" id="{9E8A5853-1524-7A9E-7027-F058B104C3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2991" y="2162253"/>
            <a:ext cx="3509674" cy="3509674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699CBD28-3B74-B320-6764-7D84099BB5CA}"/>
              </a:ext>
            </a:extLst>
          </p:cNvPr>
          <p:cNvSpPr txBox="1"/>
          <p:nvPr/>
        </p:nvSpPr>
        <p:spPr>
          <a:xfrm>
            <a:off x="5346360" y="2607276"/>
            <a:ext cx="1822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EFS File System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4B2750D-BC8C-376C-E977-6D66BF36B099}"/>
              </a:ext>
            </a:extLst>
          </p:cNvPr>
          <p:cNvSpPr txBox="1"/>
          <p:nvPr/>
        </p:nvSpPr>
        <p:spPr>
          <a:xfrm>
            <a:off x="5638641" y="3300944"/>
            <a:ext cx="1127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Fs-xxxxxx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4E8E3D7-7159-3737-EC6B-857F9CDFBF39}"/>
              </a:ext>
            </a:extLst>
          </p:cNvPr>
          <p:cNvSpPr txBox="1"/>
          <p:nvPr/>
        </p:nvSpPr>
        <p:spPr>
          <a:xfrm>
            <a:off x="5635452" y="4063654"/>
            <a:ext cx="125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/data/</a:t>
            </a:r>
            <a:r>
              <a:rPr lang="fr-FR" dirty="0" err="1">
                <a:solidFill>
                  <a:schemeClr val="bg1"/>
                </a:solidFill>
              </a:rPr>
              <a:t>db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1CB76AB4-B93E-7917-E3D9-8C4139618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949" y="2606015"/>
            <a:ext cx="1311075" cy="1311075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18A2A21A-80FB-9D81-D8F9-9859FCA5A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949" y="4063654"/>
            <a:ext cx="1311075" cy="1311075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8B253162-1118-1F60-B4A1-60CBCDBB7EB9}"/>
              </a:ext>
            </a:extLst>
          </p:cNvPr>
          <p:cNvSpPr/>
          <p:nvPr/>
        </p:nvSpPr>
        <p:spPr>
          <a:xfrm>
            <a:off x="9261373" y="2537937"/>
            <a:ext cx="1800225" cy="115636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 dirty="0"/>
              <a:t>AZ eu-west-1b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053B7A-0C9C-3AC9-60DC-0D256D4D5766}"/>
              </a:ext>
            </a:extLst>
          </p:cNvPr>
          <p:cNvSpPr/>
          <p:nvPr/>
        </p:nvSpPr>
        <p:spPr>
          <a:xfrm>
            <a:off x="9261373" y="4010820"/>
            <a:ext cx="1800225" cy="115636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b="1" dirty="0"/>
              <a:t>AZ eu-west-1a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6383502-2172-AA84-CD55-EFCBD090F49B}"/>
              </a:ext>
            </a:extLst>
          </p:cNvPr>
          <p:cNvSpPr txBox="1"/>
          <p:nvPr/>
        </p:nvSpPr>
        <p:spPr>
          <a:xfrm>
            <a:off x="9600930" y="4534525"/>
            <a:ext cx="122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Réplica 1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F6694FB-5CD0-D7B7-B3B2-5AC155CD73AE}"/>
              </a:ext>
            </a:extLst>
          </p:cNvPr>
          <p:cNvSpPr txBox="1"/>
          <p:nvPr/>
        </p:nvSpPr>
        <p:spPr>
          <a:xfrm>
            <a:off x="9600930" y="3076886"/>
            <a:ext cx="122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Réplica 2</a:t>
            </a: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6700592E-E44B-1163-6FEB-CDC2DBC683B9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483735" y="3962114"/>
            <a:ext cx="1767887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38E9F7C5-7548-47E1-7FA3-6D6BB638EDE2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7273151" y="3928897"/>
            <a:ext cx="1988222" cy="660103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740DBBFE-93FB-4CCA-D861-A17B9918FB92}"/>
              </a:ext>
            </a:extLst>
          </p:cNvPr>
          <p:cNvCxnSpPr>
            <a:cxnSpLocks/>
          </p:cNvCxnSpPr>
          <p:nvPr/>
        </p:nvCxnSpPr>
        <p:spPr>
          <a:xfrm flipV="1">
            <a:off x="7273151" y="3369100"/>
            <a:ext cx="1988222" cy="545418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52A63699-F884-C9EA-309A-E9FBA3530CBC}"/>
              </a:ext>
            </a:extLst>
          </p:cNvPr>
          <p:cNvSpPr txBox="1"/>
          <p:nvPr/>
        </p:nvSpPr>
        <p:spPr>
          <a:xfrm>
            <a:off x="3858045" y="3592781"/>
            <a:ext cx="90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Mount</a:t>
            </a:r>
          </a:p>
        </p:txBody>
      </p:sp>
    </p:spTree>
    <p:extLst>
      <p:ext uri="{BB962C8B-B14F-4D97-AF65-F5344CB8AC3E}">
        <p14:creationId xmlns:p14="http://schemas.microsoft.com/office/powerpoint/2010/main" val="205059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3C306-7352-8D44-9075-60D90FE14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9CD992B-B948-75A8-5FFE-C44EE754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15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3CF2897-990C-1686-E130-F9F458B42F31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9653202" cy="5847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Orchestration : ECS </a:t>
            </a:r>
            <a:r>
              <a:rPr lang="fr-FR" sz="3200" b="1" dirty="0" err="1">
                <a:solidFill>
                  <a:schemeClr val="accent2">
                    <a:lumMod val="75000"/>
                  </a:schemeClr>
                </a:solidFill>
              </a:rPr>
              <a:t>Fargate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 EC2 + Docker</a:t>
            </a:r>
            <a:endParaRPr lang="fr-FR" sz="32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9394C725-AD24-85A2-0B69-9C37B0E7C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575079"/>
              </p:ext>
            </p:extLst>
          </p:nvPr>
        </p:nvGraphicFramePr>
        <p:xfrm>
          <a:off x="1269399" y="1390879"/>
          <a:ext cx="9653202" cy="19358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24296">
                  <a:extLst>
                    <a:ext uri="{9D8B030D-6E8A-4147-A177-3AD203B41FA5}">
                      <a16:colId xmlns:a16="http://schemas.microsoft.com/office/drawing/2014/main" val="56042120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695668281"/>
                    </a:ext>
                  </a:extLst>
                </a:gridCol>
                <a:gridCol w="4418906">
                  <a:extLst>
                    <a:ext uri="{9D8B030D-6E8A-4147-A177-3AD203B41FA5}">
                      <a16:colId xmlns:a16="http://schemas.microsoft.com/office/drawing/2014/main" val="6614193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Critère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4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✅ ECS </a:t>
                      </a:r>
                      <a:r>
                        <a:rPr lang="fr-FR" sz="1400" b="1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Fargate</a:t>
                      </a:r>
                      <a:endParaRPr lang="fr-FR" sz="140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❌ EC2 + Docker Compose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193130586"/>
                  </a:ext>
                </a:extLst>
              </a:tr>
              <a:tr h="279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Haute disponibilité</a:t>
                      </a:r>
                      <a:endParaRPr lang="fr-FR" sz="105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Multi-AZ automatique </a:t>
                      </a:r>
                      <a:r>
                        <a:rPr lang="fr-FR" sz="1050" i="1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(Pas de single point of </a:t>
                      </a:r>
                      <a:r>
                        <a:rPr lang="fr-FR" sz="1050" i="1" dirty="0" err="1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failure</a:t>
                      </a:r>
                      <a:r>
                        <a:rPr lang="fr-FR" sz="1050" i="1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Single-AZ (Si EC2 tombe, tout s'arrête)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837192841"/>
                  </a:ext>
                </a:extLst>
              </a:tr>
              <a:tr h="279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Maintenance</a:t>
                      </a:r>
                      <a:endParaRPr lang="fr-FR" sz="105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Zéro maintenance </a:t>
                      </a:r>
                      <a:r>
                        <a:rPr lang="fr-FR" sz="1050" i="1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(AWS gère OS + patchs)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5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~16h/mois (Patchs OS + Docker manuels)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005829057"/>
                  </a:ext>
                </a:extLst>
              </a:tr>
              <a:tr h="199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b="1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Scaling</a:t>
                      </a:r>
                      <a:endParaRPr lang="fr-FR" sz="105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Automatique </a:t>
                      </a:r>
                      <a:r>
                        <a:rPr lang="fr-FR" sz="1050" i="1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(Selon charge CPU/RAM)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Manuel (Provisionner instance plus grosse)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696901922"/>
                  </a:ext>
                </a:extLst>
              </a:tr>
              <a:tr h="279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Coût avec HA</a:t>
                      </a:r>
                      <a:endParaRPr lang="fr-FR" sz="105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$100-120/mois </a:t>
                      </a:r>
                      <a:r>
                        <a:rPr lang="fr-FR" sz="1050" i="1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(HA incluse)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$120-160/mois (2 instances + </a:t>
                      </a:r>
                      <a:r>
                        <a:rPr lang="fr-FR" sz="1050" dirty="0" err="1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Load</a:t>
                      </a:r>
                      <a:r>
                        <a:rPr lang="fr-FR" sz="105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 Balancer)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259890678"/>
                  </a:ext>
                </a:extLst>
              </a:tr>
              <a:tr h="199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Déploiement</a:t>
                      </a:r>
                      <a:endParaRPr lang="fr-FR" sz="105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 clic </a:t>
                      </a:r>
                      <a:r>
                        <a:rPr lang="fr-FR" sz="1050" i="1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(Rollback instantané)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SSH </a:t>
                      </a:r>
                      <a:r>
                        <a:rPr lang="en-US" sz="1050" dirty="0" err="1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manuel</a:t>
                      </a:r>
                      <a:r>
                        <a:rPr lang="en-US" sz="105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 pull + docker-compose up)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783019938"/>
                  </a:ext>
                </a:extLst>
              </a:tr>
              <a:tr h="279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Monitoring</a:t>
                      </a:r>
                      <a:endParaRPr lang="fr-FR" sz="105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 err="1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CloudWatch</a:t>
                      </a:r>
                      <a:r>
                        <a:rPr lang="fr-FR" sz="1050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 intégré </a:t>
                      </a:r>
                      <a:r>
                        <a:rPr lang="fr-FR" sz="1050" i="1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(Métriques + Logs centralisés)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Logs locaux (Scripts custom requis)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142469900"/>
                  </a:ext>
                </a:extLst>
              </a:tr>
            </a:tbl>
          </a:graphicData>
        </a:graphic>
      </p:graphicFrame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39E992-432A-13EC-91EE-AB892C18556E}"/>
              </a:ext>
            </a:extLst>
          </p:cNvPr>
          <p:cNvSpPr txBox="1">
            <a:spLocks/>
          </p:cNvSpPr>
          <p:nvPr/>
        </p:nvSpPr>
        <p:spPr>
          <a:xfrm>
            <a:off x="1269398" y="5885750"/>
            <a:ext cx="7408232" cy="61555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fr-FR" sz="1400" dirty="0"/>
              <a:t>🏆</a:t>
            </a:r>
            <a:r>
              <a:rPr lang="fr-FR" sz="1200" b="1" u="sng" dirty="0"/>
              <a:t>Conclusion</a:t>
            </a:r>
            <a:r>
              <a:rPr lang="fr-FR" sz="1200" b="1" dirty="0"/>
              <a:t> :</a:t>
            </a:r>
            <a:endParaRPr lang="fr-FR" sz="600" dirty="0"/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1000" dirty="0"/>
              <a:t>ECS </a:t>
            </a:r>
            <a:r>
              <a:rPr lang="fr-FR" sz="1000" dirty="0" err="1"/>
              <a:t>Fargate</a:t>
            </a:r>
            <a:r>
              <a:rPr lang="fr-FR" sz="1000" dirty="0"/>
              <a:t> offre la simplicité de Docker avec le </a:t>
            </a:r>
            <a:r>
              <a:rPr lang="fr-FR" sz="1000" dirty="0" err="1"/>
              <a:t>scaling</a:t>
            </a:r>
            <a:r>
              <a:rPr lang="fr-FR" sz="1000" dirty="0"/>
              <a:t> et la résilience du cloud, sans la complexité de </a:t>
            </a:r>
            <a:r>
              <a:rPr lang="fr-FR" sz="1000" dirty="0" err="1"/>
              <a:t>Kubernetes</a:t>
            </a:r>
            <a:r>
              <a:rPr lang="fr-FR" sz="1000" dirty="0"/>
              <a:t>..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8B0F3E6-826D-316E-2E55-D367E2F4F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401" y="3531259"/>
            <a:ext cx="4740612" cy="2354491"/>
          </a:xfrm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FR" sz="1400" dirty="0"/>
              <a:t>✅ </a:t>
            </a:r>
            <a:r>
              <a:rPr lang="fr-FR" sz="1200" b="1" u="sng" dirty="0"/>
              <a:t>ECS </a:t>
            </a:r>
            <a:r>
              <a:rPr lang="fr-FR" sz="1200" b="1" u="sng" dirty="0" err="1"/>
              <a:t>Fargete</a:t>
            </a:r>
            <a:r>
              <a:rPr lang="fr-FR" sz="1200" dirty="0"/>
              <a:t>:</a:t>
            </a:r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fr-FR" sz="1000" b="1" dirty="0"/>
              <a:t>Containerisation </a:t>
            </a:r>
            <a:r>
              <a:rPr lang="fr-FR" sz="1000" b="1" i="1" dirty="0"/>
              <a:t>(Docker) </a:t>
            </a:r>
            <a:r>
              <a:rPr lang="fr-FR" sz="1000" b="1" dirty="0"/>
              <a:t>: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u="sng" dirty="0"/>
              <a:t>Reproductibilité</a:t>
            </a:r>
            <a:r>
              <a:rPr lang="fr-FR" sz="800" dirty="0"/>
              <a:t> : Environnement identique local ↔ production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u="sng" dirty="0"/>
              <a:t>Isolation</a:t>
            </a:r>
            <a:r>
              <a:rPr lang="fr-FR" sz="800" dirty="0"/>
              <a:t> : Chaque service est dans son conteneur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u="sng" dirty="0"/>
              <a:t>Portabilité</a:t>
            </a:r>
            <a:r>
              <a:rPr lang="fr-FR" sz="800" dirty="0"/>
              <a:t> : Peut migrer vers GCP ou Azure sans refonte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u="sng" dirty="0"/>
              <a:t>Versioning</a:t>
            </a:r>
            <a:r>
              <a:rPr lang="fr-FR" sz="800" dirty="0"/>
              <a:t> : ECR permet de rollback facilement (tags d'image)</a:t>
            </a:r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fr-FR" sz="1000" b="1" dirty="0"/>
              <a:t>ECS </a:t>
            </a:r>
            <a:r>
              <a:rPr lang="fr-FR" sz="1000" b="1" dirty="0" err="1"/>
              <a:t>Fargate</a:t>
            </a:r>
            <a:r>
              <a:rPr lang="fr-FR" sz="1000" b="1" dirty="0"/>
              <a:t> </a:t>
            </a:r>
            <a:r>
              <a:rPr lang="fr-FR" sz="1000" b="1" i="1" dirty="0"/>
              <a:t>(</a:t>
            </a:r>
            <a:r>
              <a:rPr lang="fr-FR" sz="1000" b="1" i="1" dirty="0" err="1"/>
              <a:t>serverless</a:t>
            </a:r>
            <a:r>
              <a:rPr lang="fr-FR" sz="1000" b="1" i="1" dirty="0"/>
              <a:t>)</a:t>
            </a:r>
            <a:r>
              <a:rPr lang="fr-FR" sz="1000" b="1" dirty="0"/>
              <a:t> :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u="sng" dirty="0"/>
              <a:t>Pas de gestion de serveurs</a:t>
            </a:r>
            <a:r>
              <a:rPr lang="fr-FR" sz="800" dirty="0"/>
              <a:t> : AWS gère l'infrastructure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u="sng" dirty="0" err="1"/>
              <a:t>Scaling</a:t>
            </a:r>
            <a:r>
              <a:rPr lang="fr-FR" sz="800" u="sng" dirty="0"/>
              <a:t> automatique</a:t>
            </a:r>
            <a:r>
              <a:rPr lang="fr-FR" sz="800" dirty="0"/>
              <a:t> : ECS peut gérer la charge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u="sng" dirty="0"/>
              <a:t>Coût optimisé</a:t>
            </a:r>
            <a:r>
              <a:rPr lang="fr-FR" sz="800" dirty="0"/>
              <a:t> : Paiement à l'usage (0.5 </a:t>
            </a:r>
            <a:r>
              <a:rPr lang="fr-FR" sz="800" dirty="0" err="1"/>
              <a:t>vCPU</a:t>
            </a:r>
            <a:r>
              <a:rPr lang="fr-FR" sz="800" dirty="0"/>
              <a:t> = $0.028/h)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u="sng" dirty="0"/>
              <a:t>Intégration AWS</a:t>
            </a:r>
            <a:r>
              <a:rPr lang="fr-FR" sz="800" dirty="0"/>
              <a:t> : </a:t>
            </a:r>
            <a:r>
              <a:rPr lang="fr-FR" sz="800" dirty="0" err="1"/>
              <a:t>CloudWatch</a:t>
            </a:r>
            <a:r>
              <a:rPr lang="fr-FR" sz="800" dirty="0"/>
              <a:t>, Secrets Manager, VPC natifs</a:t>
            </a:r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fr-FR" sz="1000" b="1" dirty="0"/>
              <a:t>Simplicité :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u="sng" dirty="0"/>
              <a:t>Facilité d'apprentissage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u="sng" dirty="0"/>
              <a:t>Maintenance réduite</a:t>
            </a:r>
            <a:r>
              <a:rPr lang="fr-FR" sz="800" dirty="0"/>
              <a:t> : Pas de cluster control plane à gérer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800" u="sng" dirty="0"/>
              <a:t>Suffisant pour notre échelle</a:t>
            </a:r>
            <a:r>
              <a:rPr lang="fr-FR" sz="800" dirty="0"/>
              <a:t> : 5 services uniquement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74D7F5EB-BF03-21A1-EAEE-56DEE98EE925}"/>
              </a:ext>
            </a:extLst>
          </p:cNvPr>
          <p:cNvSpPr txBox="1">
            <a:spLocks/>
          </p:cNvSpPr>
          <p:nvPr/>
        </p:nvSpPr>
        <p:spPr>
          <a:xfrm>
            <a:off x="6181989" y="3531259"/>
            <a:ext cx="4740613" cy="235449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fr-FR" sz="1400" dirty="0"/>
              <a:t>❌ </a:t>
            </a:r>
            <a:r>
              <a:rPr lang="fr-FR" sz="1200" b="1" u="sng" dirty="0"/>
              <a:t>Autre solution</a:t>
            </a:r>
            <a:r>
              <a:rPr lang="fr-FR" sz="1200" dirty="0"/>
              <a:t>:</a:t>
            </a:r>
            <a:endParaRPr lang="fr-FR" sz="1200" i="1" dirty="0"/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r>
              <a:rPr lang="fr-FR" sz="1000" b="1" dirty="0" err="1"/>
              <a:t>Kubernetes</a:t>
            </a:r>
            <a:r>
              <a:rPr lang="fr-FR" sz="1000" b="1" dirty="0"/>
              <a:t> </a:t>
            </a:r>
            <a:r>
              <a:rPr lang="fr-FR" sz="1000" b="1" i="1" dirty="0"/>
              <a:t>(EKS)</a:t>
            </a:r>
            <a:r>
              <a:rPr lang="fr-FR" sz="1000" b="1" dirty="0"/>
              <a:t> </a:t>
            </a:r>
            <a:r>
              <a:rPr lang="fr-FR" sz="1000" dirty="0"/>
              <a:t>: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Complexité excessive</a:t>
            </a:r>
            <a:r>
              <a:rPr lang="fr-FR" sz="800" dirty="0"/>
              <a:t> : </a:t>
            </a:r>
            <a:r>
              <a:rPr lang="fr-FR" sz="800" dirty="0" err="1"/>
              <a:t>Overhead</a:t>
            </a:r>
            <a:r>
              <a:rPr lang="fr-FR" sz="800" dirty="0"/>
              <a:t> de gestion du cluster K8s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Coût élevé</a:t>
            </a:r>
            <a:r>
              <a:rPr lang="fr-FR" sz="800" dirty="0"/>
              <a:t> : Control plane EKS = $73/mois + </a:t>
            </a:r>
            <a:r>
              <a:rPr lang="fr-FR" sz="800" dirty="0" err="1"/>
              <a:t>worker</a:t>
            </a:r>
            <a:r>
              <a:rPr lang="fr-FR" sz="800" dirty="0"/>
              <a:t> </a:t>
            </a:r>
            <a:r>
              <a:rPr lang="fr-FR" sz="800" dirty="0" err="1"/>
              <a:t>nodes</a:t>
            </a:r>
            <a:endParaRPr lang="fr-FR" sz="800" dirty="0"/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Over-engineering</a:t>
            </a:r>
            <a:r>
              <a:rPr lang="fr-FR" sz="800" dirty="0"/>
              <a:t> : 5 services ne nécessitent pas K8s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Compétences</a:t>
            </a:r>
            <a:r>
              <a:rPr lang="fr-FR" sz="800" dirty="0"/>
              <a:t> : Équipe plus familière avec Docker qu'avec K8s</a:t>
            </a:r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r>
              <a:rPr lang="fr-FR" sz="1000" b="1" dirty="0"/>
              <a:t>AWS Lambda </a:t>
            </a:r>
            <a:r>
              <a:rPr lang="fr-FR" sz="1000" b="1" i="1" dirty="0"/>
              <a:t>(service de calcul)</a:t>
            </a:r>
            <a:r>
              <a:rPr lang="fr-FR" sz="1000" b="1" dirty="0"/>
              <a:t> :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Timeout</a:t>
            </a:r>
            <a:r>
              <a:rPr lang="fr-FR" sz="800" dirty="0"/>
              <a:t> : 15 min max, ETL peut prendre être plus long si volume élevé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Cold start</a:t>
            </a:r>
            <a:r>
              <a:rPr lang="fr-FR" sz="800" dirty="0"/>
              <a:t> : Latence initiale pas idéale pour </a:t>
            </a:r>
            <a:r>
              <a:rPr lang="fr-FR" sz="800" dirty="0" err="1"/>
              <a:t>watch</a:t>
            </a:r>
            <a:r>
              <a:rPr lang="fr-FR" sz="800" dirty="0"/>
              <a:t> S3 fréquent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State</a:t>
            </a:r>
            <a:r>
              <a:rPr lang="fr-FR" sz="800" dirty="0"/>
              <a:t> : Lambda </a:t>
            </a:r>
            <a:r>
              <a:rPr lang="fr-FR" sz="800" dirty="0" err="1"/>
              <a:t>stateless</a:t>
            </a:r>
            <a:r>
              <a:rPr lang="fr-FR" sz="800" dirty="0"/>
              <a:t>, MongoDB nécessite état persistant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Complexité</a:t>
            </a:r>
            <a:r>
              <a:rPr lang="fr-FR" sz="800" dirty="0"/>
              <a:t> : </a:t>
            </a:r>
            <a:r>
              <a:rPr lang="fr-FR" sz="800" dirty="0" err="1"/>
              <a:t>Step</a:t>
            </a:r>
            <a:r>
              <a:rPr lang="fr-FR" sz="800" dirty="0"/>
              <a:t> </a:t>
            </a:r>
            <a:r>
              <a:rPr lang="fr-FR" sz="800" dirty="0" err="1"/>
              <a:t>Functions</a:t>
            </a:r>
            <a:r>
              <a:rPr lang="fr-FR" sz="800" dirty="0"/>
              <a:t> complexifie l'orchestration vs ECS simple</a:t>
            </a:r>
            <a:endParaRPr lang="fr-FR" sz="1000" dirty="0"/>
          </a:p>
          <a:p>
            <a:pPr lvl="1">
              <a:spcBef>
                <a:spcPts val="600"/>
              </a:spcBef>
              <a:buFontTx/>
              <a:buChar char="-"/>
              <a:defRPr sz="1800"/>
            </a:pPr>
            <a:r>
              <a:rPr lang="fr-FR" sz="1000" b="1" dirty="0"/>
              <a:t>EC2 + Docker Compose</a:t>
            </a:r>
            <a:r>
              <a:rPr lang="fr-FR" sz="1000" dirty="0"/>
              <a:t>: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Gestion serveurs</a:t>
            </a:r>
            <a:r>
              <a:rPr lang="fr-FR" sz="800" dirty="0"/>
              <a:t> : Patchs OS, monitoring, </a:t>
            </a:r>
            <a:r>
              <a:rPr lang="fr-FR" sz="800" dirty="0" err="1"/>
              <a:t>scaling</a:t>
            </a:r>
            <a:r>
              <a:rPr lang="fr-FR" sz="800" dirty="0"/>
              <a:t> manuel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Coût</a:t>
            </a:r>
            <a:r>
              <a:rPr lang="fr-FR" sz="800" dirty="0"/>
              <a:t> : EC2 toujours allumée ($30-50/mois) vs </a:t>
            </a:r>
            <a:r>
              <a:rPr lang="fr-FR" sz="800" dirty="0" err="1"/>
              <a:t>Fargate</a:t>
            </a:r>
            <a:r>
              <a:rPr lang="fr-FR" sz="800" dirty="0"/>
              <a:t> à l'usage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800" u="sng" dirty="0"/>
              <a:t>Disponibilité</a:t>
            </a:r>
            <a:r>
              <a:rPr lang="fr-FR" sz="800" dirty="0"/>
              <a:t> : Pas de haute disponibilité automatique</a:t>
            </a:r>
          </a:p>
        </p:txBody>
      </p:sp>
    </p:spTree>
    <p:extLst>
      <p:ext uri="{BB962C8B-B14F-4D97-AF65-F5344CB8AC3E}">
        <p14:creationId xmlns:p14="http://schemas.microsoft.com/office/powerpoint/2010/main" val="4212853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F9FC5-BE83-93F8-3C5A-06567F1D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B932987-B3A0-26C0-1406-7169266D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16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5CCE72B6-36E6-11FE-CE89-8F1F01024262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9653202" cy="5847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Résilience : EFS Multi-AZ 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 MongoDB </a:t>
            </a:r>
            <a:r>
              <a:rPr lang="fr-FR" sz="3200" b="1" dirty="0" err="1">
                <a:solidFill>
                  <a:schemeClr val="accent2">
                    <a:lumMod val="75000"/>
                  </a:schemeClr>
                </a:solidFill>
              </a:rPr>
              <a:t>ReplicaSet</a:t>
            </a:r>
            <a:endParaRPr lang="fr-FR" sz="32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485DDCC-FC7F-7898-82E0-F1D8C0B0BCE8}"/>
              </a:ext>
            </a:extLst>
          </p:cNvPr>
          <p:cNvSpPr txBox="1"/>
          <p:nvPr/>
        </p:nvSpPr>
        <p:spPr>
          <a:xfrm>
            <a:off x="7829551" y="6471905"/>
            <a:ext cx="4600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>
                    <a:lumMod val="65000"/>
                  </a:schemeClr>
                </a:solidFill>
              </a:rPr>
              <a:t>*RTO : </a:t>
            </a:r>
            <a:r>
              <a:rPr lang="fr-FR" sz="1000" dirty="0" err="1">
                <a:solidFill>
                  <a:schemeClr val="bg1">
                    <a:lumMod val="65000"/>
                  </a:schemeClr>
                </a:solidFill>
              </a:rPr>
              <a:t>Recovery</a:t>
            </a:r>
            <a:r>
              <a:rPr lang="fr-FR" sz="1000" dirty="0">
                <a:solidFill>
                  <a:schemeClr val="bg1">
                    <a:lumMod val="65000"/>
                  </a:schemeClr>
                </a:solidFill>
              </a:rPr>
              <a:t> Time Objective </a:t>
            </a:r>
            <a:r>
              <a:rPr lang="fr-FR" sz="1000" i="1" dirty="0">
                <a:solidFill>
                  <a:schemeClr val="bg1">
                    <a:lumMod val="65000"/>
                  </a:schemeClr>
                </a:solidFill>
              </a:rPr>
              <a:t>(Temps de restauration)</a:t>
            </a:r>
          </a:p>
          <a:p>
            <a:r>
              <a:rPr lang="fr-FR" sz="1000" dirty="0">
                <a:solidFill>
                  <a:schemeClr val="bg1">
                    <a:lumMod val="65000"/>
                  </a:schemeClr>
                </a:solidFill>
              </a:rPr>
              <a:t>**RPO : </a:t>
            </a:r>
            <a:r>
              <a:rPr lang="fr-FR" sz="1000" dirty="0" err="1">
                <a:solidFill>
                  <a:schemeClr val="bg1">
                    <a:lumMod val="65000"/>
                  </a:schemeClr>
                </a:solidFill>
              </a:rPr>
              <a:t>Recovery</a:t>
            </a:r>
            <a:r>
              <a:rPr lang="fr-FR" sz="1000" dirty="0">
                <a:solidFill>
                  <a:schemeClr val="bg1">
                    <a:lumMod val="65000"/>
                  </a:schemeClr>
                </a:solidFill>
              </a:rPr>
              <a:t> Point Objective </a:t>
            </a:r>
            <a:r>
              <a:rPr lang="fr-FR" sz="1000" i="1" dirty="0">
                <a:solidFill>
                  <a:schemeClr val="bg1">
                    <a:lumMod val="65000"/>
                  </a:schemeClr>
                </a:solidFill>
              </a:rPr>
              <a:t>(Temps max de perte de données)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5C4201B0-CC73-3EF1-0BE8-5F7895B38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497121"/>
              </p:ext>
            </p:extLst>
          </p:nvPr>
        </p:nvGraphicFramePr>
        <p:xfrm>
          <a:off x="2266618" y="1372208"/>
          <a:ext cx="7656598" cy="29965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71294">
                  <a:extLst>
                    <a:ext uri="{9D8B030D-6E8A-4147-A177-3AD203B41FA5}">
                      <a16:colId xmlns:a16="http://schemas.microsoft.com/office/drawing/2014/main" val="560421202"/>
                    </a:ext>
                  </a:extLst>
                </a:gridCol>
                <a:gridCol w="2664928">
                  <a:extLst>
                    <a:ext uri="{9D8B030D-6E8A-4147-A177-3AD203B41FA5}">
                      <a16:colId xmlns:a16="http://schemas.microsoft.com/office/drawing/2014/main" val="1306747372"/>
                    </a:ext>
                  </a:extLst>
                </a:gridCol>
                <a:gridCol w="3320376">
                  <a:extLst>
                    <a:ext uri="{9D8B030D-6E8A-4147-A177-3AD203B41FA5}">
                      <a16:colId xmlns:a16="http://schemas.microsoft.com/office/drawing/2014/main" val="6614193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>
                          <a:effectLst/>
                        </a:rPr>
                        <a:t>Critère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>
                          <a:effectLst/>
                        </a:rPr>
                        <a:t>EFS Multi-AZ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>
                          <a:effectLst/>
                        </a:rPr>
                        <a:t>MongoDB </a:t>
                      </a:r>
                      <a:r>
                        <a:rPr lang="fr-FR" sz="1600" dirty="0" err="1">
                          <a:effectLst/>
                        </a:rPr>
                        <a:t>Replica</a:t>
                      </a:r>
                      <a:r>
                        <a:rPr lang="fr-FR" sz="1600" dirty="0">
                          <a:effectLst/>
                        </a:rPr>
                        <a:t> Set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93130586"/>
                  </a:ext>
                </a:extLst>
              </a:tr>
              <a:tr h="344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effectLst/>
                        </a:rPr>
                        <a:t>Résilience</a:t>
                      </a:r>
                      <a:endParaRPr lang="fr-FR" sz="12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00B050"/>
                          </a:solidFill>
                          <a:effectLst/>
                        </a:rPr>
                        <a:t>Infrastructure (zones AWS)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C00000"/>
                          </a:solidFill>
                          <a:effectLst/>
                        </a:rPr>
                        <a:t>Application (nœuds MongoDB)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309250595"/>
                  </a:ext>
                </a:extLst>
              </a:tr>
              <a:tr h="254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effectLst/>
                        </a:rPr>
                        <a:t>Nœuds requis</a:t>
                      </a:r>
                      <a:endParaRPr lang="fr-FR" sz="12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00B050"/>
                          </a:solidFill>
                          <a:effectLst/>
                        </a:rPr>
                        <a:t>1 conteneur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C00000"/>
                          </a:solidFill>
                          <a:effectLst/>
                        </a:rPr>
                        <a:t>3</a:t>
                      </a:r>
                      <a:r>
                        <a:rPr lang="fr-FR" sz="120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conteneurs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044152904"/>
                  </a:ext>
                </a:extLst>
              </a:tr>
              <a:tr h="254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Coût/mois</a:t>
                      </a:r>
                      <a:endParaRPr lang="fr-FR" sz="12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00B050"/>
                          </a:solidFill>
                          <a:effectLst/>
                        </a:rPr>
                        <a:t>~35$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C00000"/>
                          </a:solidFill>
                          <a:effectLst/>
                        </a:rPr>
                        <a:t>~120$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365423724"/>
                  </a:ext>
                </a:extLst>
              </a:tr>
              <a:tr h="254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Complexité</a:t>
                      </a:r>
                      <a:endParaRPr lang="fr-FR" sz="12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00B050"/>
                          </a:solidFill>
                          <a:effectLst/>
                        </a:rPr>
                        <a:t>Faible (géré AWS)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C00000"/>
                          </a:solidFill>
                          <a:effectLst/>
                        </a:rPr>
                        <a:t>Élevée (config cluster)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037033394"/>
                  </a:ext>
                </a:extLst>
              </a:tr>
              <a:tr h="254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effectLst/>
                        </a:rPr>
                        <a:t>RTO*</a:t>
                      </a:r>
                      <a:endParaRPr lang="fr-FR" sz="12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C00000"/>
                          </a:solidFill>
                          <a:effectLst/>
                        </a:rPr>
                        <a:t>10-15 min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00B050"/>
                          </a:solidFill>
                          <a:effectLst/>
                        </a:rPr>
                        <a:t>&lt; 1 min (fail over auto)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766776116"/>
                  </a:ext>
                </a:extLst>
              </a:tr>
              <a:tr h="254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effectLst/>
                        </a:rPr>
                        <a:t>RPO**</a:t>
                      </a:r>
                      <a:endParaRPr lang="fr-FR" sz="12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C00000"/>
                          </a:solidFill>
                          <a:effectLst/>
                        </a:rPr>
                        <a:t>24h (backup quotidien)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00B050"/>
                          </a:solidFill>
                          <a:effectLst/>
                        </a:rPr>
                        <a:t>0 (réplication temps réel)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837585"/>
                  </a:ext>
                </a:extLst>
              </a:tr>
              <a:tr h="254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Perte de données</a:t>
                      </a:r>
                      <a:endParaRPr lang="fr-FR" sz="12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C00000"/>
                          </a:solidFill>
                          <a:effectLst/>
                        </a:rPr>
                        <a:t>Jusqu'à 24h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00B050"/>
                          </a:solidFill>
                          <a:effectLst/>
                        </a:rPr>
                        <a:t>Aucune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490707779"/>
                  </a:ext>
                </a:extLst>
              </a:tr>
              <a:tr h="254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CPU/RAM</a:t>
                      </a:r>
                      <a:endParaRPr lang="fr-FR" sz="12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00B050"/>
                          </a:solidFill>
                          <a:effectLst/>
                        </a:rPr>
                        <a:t>0.5 </a:t>
                      </a:r>
                      <a:r>
                        <a:rPr lang="fr-FR" sz="1200" dirty="0" err="1">
                          <a:solidFill>
                            <a:srgbClr val="00B050"/>
                          </a:solidFill>
                          <a:effectLst/>
                        </a:rPr>
                        <a:t>vCPU</a:t>
                      </a:r>
                      <a:r>
                        <a:rPr lang="fr-FR" sz="1200" dirty="0">
                          <a:solidFill>
                            <a:srgbClr val="00B050"/>
                          </a:solidFill>
                          <a:effectLst/>
                        </a:rPr>
                        <a:t>, 1GB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C00000"/>
                          </a:solidFill>
                          <a:effectLst/>
                        </a:rPr>
                        <a:t>1.5 </a:t>
                      </a:r>
                      <a:r>
                        <a:rPr lang="fr-FR" sz="1200" dirty="0" err="1">
                          <a:solidFill>
                            <a:srgbClr val="C00000"/>
                          </a:solidFill>
                          <a:effectLst/>
                        </a:rPr>
                        <a:t>vCPU</a:t>
                      </a:r>
                      <a:r>
                        <a:rPr lang="fr-FR" sz="1200" dirty="0">
                          <a:solidFill>
                            <a:srgbClr val="C00000"/>
                          </a:solidFill>
                          <a:effectLst/>
                        </a:rPr>
                        <a:t>, 3GB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59514751"/>
                  </a:ext>
                </a:extLst>
              </a:tr>
              <a:tr h="219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Gestion</a:t>
                      </a:r>
                      <a:endParaRPr lang="fr-FR" sz="12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C00000"/>
                          </a:solidFill>
                          <a:effectLst/>
                        </a:rPr>
                        <a:t>AWS Backup automatique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solidFill>
                            <a:srgbClr val="C00000"/>
                          </a:solidFill>
                          <a:effectLst/>
                        </a:rPr>
                        <a:t>Scripts monitoring custom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575777278"/>
                  </a:ext>
                </a:extLst>
              </a:tr>
              <a:tr h="254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Use case</a:t>
                      </a:r>
                      <a:endParaRPr lang="fr-FR" sz="12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  <a:effectLst/>
                        </a:rPr>
                        <a:t>Données non-critiques</a:t>
                      </a:r>
                      <a:endParaRPr lang="fr-FR" sz="1200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rgbClr val="C00000"/>
                          </a:solidFill>
                          <a:effectLst/>
                        </a:rPr>
                        <a:t>Prod haute disponibilité</a:t>
                      </a:r>
                      <a:endParaRPr lang="fr-FR" sz="120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674228948"/>
                  </a:ext>
                </a:extLst>
              </a:tr>
            </a:tbl>
          </a:graphicData>
        </a:graphic>
      </p:graphicFrame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DCEE8D9A-FF15-EB41-CD2D-AF524119B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067" y="4716351"/>
            <a:ext cx="3578850" cy="769441"/>
          </a:xfrm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FR" sz="1400" dirty="0"/>
              <a:t>✅ </a:t>
            </a:r>
            <a:r>
              <a:rPr lang="fr-FR" sz="1200" b="1" u="sng" dirty="0"/>
              <a:t>EFS Multi-AZ</a:t>
            </a:r>
            <a:r>
              <a:rPr lang="fr-FR" sz="1200" b="1" dirty="0"/>
              <a:t> :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Données météo = non-critiques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Budget optimisé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000" dirty="0"/>
              <a:t>Simplicité maximale</a:t>
            </a:r>
            <a:endParaRPr lang="fr-FR" sz="300" u="sng" dirty="0"/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EE332470-DF9D-F973-A255-BB3F5CF0FA28}"/>
              </a:ext>
            </a:extLst>
          </p:cNvPr>
          <p:cNvSpPr txBox="1">
            <a:spLocks/>
          </p:cNvSpPr>
          <p:nvPr/>
        </p:nvSpPr>
        <p:spPr>
          <a:xfrm>
            <a:off x="6096000" y="4716350"/>
            <a:ext cx="3578850" cy="79252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fr-FR" sz="1400" dirty="0"/>
              <a:t>❌ </a:t>
            </a:r>
            <a:r>
              <a:rPr lang="fr-FR" sz="1200" b="1" u="sng" dirty="0"/>
              <a:t>MongoDB </a:t>
            </a:r>
            <a:r>
              <a:rPr lang="fr-FR" sz="1200" b="1" u="sng" dirty="0" err="1"/>
              <a:t>Replica</a:t>
            </a:r>
            <a:r>
              <a:rPr lang="fr-FR" sz="1200" b="1" u="sng" dirty="0"/>
              <a:t> Set</a:t>
            </a:r>
            <a:r>
              <a:rPr lang="fr-FR" sz="1200" b="1" dirty="0"/>
              <a:t> :</a:t>
            </a:r>
            <a:endParaRPr lang="fr-FR" sz="1200" b="1" i="1" dirty="0"/>
          </a:p>
          <a:p>
            <a:pPr lvl="1">
              <a:spcBef>
                <a:spcPts val="0"/>
              </a:spcBef>
              <a:buFontTx/>
              <a:buChar char="-"/>
              <a:defRPr sz="1800"/>
            </a:pPr>
            <a:r>
              <a:rPr lang="fr-FR" sz="1000" dirty="0" err="1"/>
              <a:t>Overkill</a:t>
            </a:r>
            <a:r>
              <a:rPr lang="fr-FR" sz="1000" dirty="0"/>
              <a:t> pour ce projet</a:t>
            </a:r>
          </a:p>
          <a:p>
            <a:pPr lvl="1">
              <a:spcBef>
                <a:spcPts val="0"/>
              </a:spcBef>
              <a:buFontTx/>
              <a:buChar char="-"/>
              <a:defRPr sz="1800"/>
            </a:pPr>
            <a:r>
              <a:rPr lang="fr-FR" sz="1000" dirty="0"/>
              <a:t>Coût x3.5</a:t>
            </a:r>
          </a:p>
          <a:p>
            <a:pPr lvl="1">
              <a:spcBef>
                <a:spcPts val="0"/>
              </a:spcBef>
              <a:buFontTx/>
              <a:buChar char="-"/>
              <a:defRPr sz="1800"/>
            </a:pPr>
            <a:r>
              <a:rPr lang="fr-FR" sz="1000" dirty="0"/>
              <a:t>Complexité inutile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16BD2A-D969-3602-C4E4-BF25996F1D7B}"/>
              </a:ext>
            </a:extLst>
          </p:cNvPr>
          <p:cNvSpPr txBox="1">
            <a:spLocks/>
          </p:cNvSpPr>
          <p:nvPr/>
        </p:nvSpPr>
        <p:spPr>
          <a:xfrm>
            <a:off x="2516067" y="5682613"/>
            <a:ext cx="7408232" cy="61555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fr-FR" sz="1400" dirty="0"/>
              <a:t>🏆</a:t>
            </a:r>
            <a:r>
              <a:rPr lang="fr-FR" sz="1200" b="1" u="sng" dirty="0"/>
              <a:t>Conclusion</a:t>
            </a:r>
            <a:r>
              <a:rPr lang="fr-FR" sz="1200" b="1" dirty="0"/>
              <a:t> :</a:t>
            </a:r>
            <a:endParaRPr lang="fr-FR" sz="600" dirty="0"/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1000" dirty="0"/>
              <a:t>EFS Multi-AZ offre une résilience infrastructure adéquate avec backup quotidien, évitant la complexité et le surcoût d'un </a:t>
            </a:r>
            <a:r>
              <a:rPr lang="fr-FR" sz="1000" dirty="0" err="1"/>
              <a:t>ReplicaSet</a:t>
            </a:r>
            <a:r>
              <a:rPr lang="fr-FR" sz="1000" dirty="0"/>
              <a:t> MongoDB pour des données météo non-critiques.</a:t>
            </a:r>
          </a:p>
        </p:txBody>
      </p:sp>
    </p:spTree>
    <p:extLst>
      <p:ext uri="{BB962C8B-B14F-4D97-AF65-F5344CB8AC3E}">
        <p14:creationId xmlns:p14="http://schemas.microsoft.com/office/powerpoint/2010/main" val="3998456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0C5BB-402D-7DC8-22EB-1881CCE7C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B9E60D-2E09-E8DD-1568-D475B0BB4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17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B1E3752-6175-A80B-BA50-60C4833FAC8D}"/>
              </a:ext>
            </a:extLst>
          </p:cNvPr>
          <p:cNvSpPr txBox="1">
            <a:spLocks/>
          </p:cNvSpPr>
          <p:nvPr/>
        </p:nvSpPr>
        <p:spPr>
          <a:xfrm>
            <a:off x="2570163" y="3072758"/>
            <a:ext cx="8915399" cy="707886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Reporting et Monitoring</a:t>
            </a:r>
          </a:p>
        </p:txBody>
      </p:sp>
    </p:spTree>
    <p:extLst>
      <p:ext uri="{BB962C8B-B14F-4D97-AF65-F5344CB8AC3E}">
        <p14:creationId xmlns:p14="http://schemas.microsoft.com/office/powerpoint/2010/main" val="3417282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B7AF2-BBA9-A822-EBF8-B5976B5A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8C7E03C-5EC8-4A15-FE98-C6F6EC1D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18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DCB7BC7C-154F-527A-3F14-A622AFF6DA34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10113000" cy="5847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Reporting : Temps d’accès et qualité des données</a:t>
            </a:r>
            <a:endParaRPr lang="fr-FR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80192D4C-DB3C-8C96-96EB-DDB7E2DCB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81774"/>
              </p:ext>
            </p:extLst>
          </p:nvPr>
        </p:nvGraphicFramePr>
        <p:xfrm>
          <a:off x="2192816" y="2662161"/>
          <a:ext cx="7806368" cy="99392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76033">
                  <a:extLst>
                    <a:ext uri="{9D8B030D-6E8A-4147-A177-3AD203B41FA5}">
                      <a16:colId xmlns:a16="http://schemas.microsoft.com/office/drawing/2014/main" val="1311888403"/>
                    </a:ext>
                  </a:extLst>
                </a:gridCol>
                <a:gridCol w="1796410">
                  <a:extLst>
                    <a:ext uri="{9D8B030D-6E8A-4147-A177-3AD203B41FA5}">
                      <a16:colId xmlns:a16="http://schemas.microsoft.com/office/drawing/2014/main" val="2413026711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3362853235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965470589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effectLst/>
                        </a:rPr>
                        <a:t>Opérations</a:t>
                      </a:r>
                      <a:endParaRPr lang="fr-FR" sz="14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effectLst/>
                        </a:rPr>
                        <a:t>Temps moyen local</a:t>
                      </a:r>
                      <a:endParaRPr lang="fr-FR" sz="14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effectLst/>
                        </a:rPr>
                        <a:t>Temps moyen AWS</a:t>
                      </a:r>
                      <a:endParaRPr lang="fr-FR" sz="14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effectLst/>
                        </a:rPr>
                        <a:t>Méthode</a:t>
                      </a:r>
                      <a:endParaRPr lang="fr-FR" sz="14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72714593"/>
                  </a:ext>
                </a:extLst>
              </a:tr>
              <a:tr h="176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Lecture indexée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0,35 ms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0,54</a:t>
                      </a:r>
                      <a:r>
                        <a:rPr lang="fr-F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ms</a:t>
                      </a:r>
                      <a:endParaRPr lang="fr-FR" sz="1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Moyenne 100 </a:t>
                      </a:r>
                      <a:r>
                        <a:rPr lang="fr-FR" sz="1000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find_one</a:t>
                      </a: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() par </a:t>
                      </a:r>
                      <a:r>
                        <a:rPr lang="fr-FR" sz="1000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unique_key</a:t>
                      </a:r>
                      <a:endParaRPr lang="fr-FR" sz="1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36806557"/>
                  </a:ext>
                </a:extLst>
              </a:tr>
              <a:tr h="176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Lecture batch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12,</a:t>
                      </a:r>
                      <a:r>
                        <a:rPr lang="fr-F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 ms</a:t>
                      </a:r>
                      <a:endParaRPr lang="fr-FR" sz="1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16,90</a:t>
                      </a:r>
                      <a:r>
                        <a:rPr lang="fr-F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ms</a:t>
                      </a:r>
                      <a:endParaRPr lang="fr-FR" sz="1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Moyenne 5 </a:t>
                      </a:r>
                      <a:r>
                        <a:rPr lang="fr-FR" sz="1000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find</a:t>
                      </a: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().</a:t>
                      </a:r>
                      <a:r>
                        <a:rPr lang="fr-FR" sz="1000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limit</a:t>
                      </a: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(1000)</a:t>
                      </a: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643689543"/>
                  </a:ext>
                </a:extLst>
              </a:tr>
              <a:tr h="174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Écriture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28,50</a:t>
                      </a:r>
                      <a:r>
                        <a:rPr lang="fr-F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ms</a:t>
                      </a:r>
                      <a:endParaRPr lang="fr-FR" sz="1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37,7</a:t>
                      </a:r>
                      <a:r>
                        <a:rPr lang="fr-F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ms</a:t>
                      </a:r>
                      <a:endParaRPr lang="fr-FR" sz="1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Moyenne 5 </a:t>
                      </a:r>
                      <a:r>
                        <a:rPr lang="fr-FR" sz="1000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insert_many</a:t>
                      </a: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(1000)</a:t>
                      </a: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587007888"/>
                  </a:ext>
                </a:extLst>
              </a:tr>
              <a:tr h="176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Agrégation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3,10</a:t>
                      </a:r>
                      <a:r>
                        <a:rPr lang="fr-F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ms</a:t>
                      </a:r>
                      <a:endParaRPr lang="fr-FR" sz="1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4,1</a:t>
                      </a:r>
                      <a:r>
                        <a:rPr lang="fr-F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ms</a:t>
                      </a:r>
                      <a:endParaRPr lang="fr-FR" sz="1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Moyenne 5 </a:t>
                      </a:r>
                      <a:r>
                        <a:rPr lang="fr-FR" sz="1000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aggregate</a:t>
                      </a: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([{$group}]) par station</a:t>
                      </a: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8043352"/>
                  </a:ext>
                </a:extLst>
              </a:tr>
            </a:tbl>
          </a:graphicData>
        </a:graphic>
      </p:graphicFrame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A2ADC4CC-F158-0076-CF46-5F1A4C935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3723" y="2207800"/>
            <a:ext cx="8948207" cy="369332"/>
          </a:xfrm>
        </p:spPr>
        <p:txBody>
          <a:bodyPr>
            <a:spAutoFit/>
          </a:bodyPr>
          <a:lstStyle/>
          <a:p>
            <a:r>
              <a:rPr lang="fr-FR" b="1" u="sng" dirty="0"/>
              <a:t>Temps d’</a:t>
            </a:r>
            <a:r>
              <a:rPr lang="fr-FR" b="1" u="sng" dirty="0" err="1"/>
              <a:t>accéssibilité</a:t>
            </a:r>
            <a:r>
              <a:rPr lang="fr-FR" b="1" u="sng" dirty="0"/>
              <a:t> aux données</a:t>
            </a:r>
            <a:r>
              <a:rPr lang="fr-FR" b="1" dirty="0"/>
              <a:t> :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1CB2124A-1371-A254-8B63-9C481A0F0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41132"/>
              </p:ext>
            </p:extLst>
          </p:nvPr>
        </p:nvGraphicFramePr>
        <p:xfrm>
          <a:off x="1461196" y="4272784"/>
          <a:ext cx="9593259" cy="112204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20147">
                  <a:extLst>
                    <a:ext uri="{9D8B030D-6E8A-4147-A177-3AD203B41FA5}">
                      <a16:colId xmlns:a16="http://schemas.microsoft.com/office/drawing/2014/main" val="1311888403"/>
                    </a:ext>
                  </a:extLst>
                </a:gridCol>
                <a:gridCol w="2131017">
                  <a:extLst>
                    <a:ext uri="{9D8B030D-6E8A-4147-A177-3AD203B41FA5}">
                      <a16:colId xmlns:a16="http://schemas.microsoft.com/office/drawing/2014/main" val="2413026711"/>
                    </a:ext>
                  </a:extLst>
                </a:gridCol>
                <a:gridCol w="2116049">
                  <a:extLst>
                    <a:ext uri="{9D8B030D-6E8A-4147-A177-3AD203B41FA5}">
                      <a16:colId xmlns:a16="http://schemas.microsoft.com/office/drawing/2014/main" val="3362853235"/>
                    </a:ext>
                  </a:extLst>
                </a:gridCol>
                <a:gridCol w="3626046">
                  <a:extLst>
                    <a:ext uri="{9D8B030D-6E8A-4147-A177-3AD203B41FA5}">
                      <a16:colId xmlns:a16="http://schemas.microsoft.com/office/drawing/2014/main" val="965470589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effectLst/>
                        </a:rPr>
                        <a:t>Opérations</a:t>
                      </a:r>
                      <a:endParaRPr lang="fr-FR" sz="14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effectLst/>
                        </a:rPr>
                        <a:t>Taux</a:t>
                      </a:r>
                      <a:endParaRPr lang="fr-FR" sz="14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Valeurs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dirty="0">
                          <a:effectLst/>
                        </a:rPr>
                        <a:t>Méthode</a:t>
                      </a:r>
                      <a:endParaRPr lang="fr-FR" sz="14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72714593"/>
                  </a:ext>
                </a:extLst>
              </a:tr>
              <a:tr h="176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Import réussi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100 %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4950/4950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Docs_imported</a:t>
                      </a: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/ </a:t>
                      </a:r>
                      <a:r>
                        <a:rPr lang="fr-FR" sz="1000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docs_total</a:t>
                      </a: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depuis logs ETL</a:t>
                      </a: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36806557"/>
                  </a:ext>
                </a:extLst>
              </a:tr>
              <a:tr h="176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Intégrité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100 %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doublons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countDocuments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() - distinct(</a:t>
                      </a:r>
                      <a:r>
                        <a:rPr lang="en-US" sz="1000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unique_key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).length </a:t>
                      </a:r>
                      <a:endParaRPr lang="fr-FR" sz="1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643689543"/>
                  </a:ext>
                </a:extLst>
              </a:tr>
              <a:tr h="174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Complétude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98.7%+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valeurs validées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count({field: {$ne: null}}) / total </a:t>
                      </a:r>
                      <a:endParaRPr lang="fr-FR" sz="1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587007888"/>
                  </a:ext>
                </a:extLst>
              </a:tr>
              <a:tr h="176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Cohérence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100 %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champs principaux</a:t>
                      </a: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Validation ranges: -10°C&lt;T&lt;40°C, 0%≤H≤100%, 950&lt;P&lt;1050 hPa </a:t>
                      </a: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8043352"/>
                  </a:ext>
                </a:extLst>
              </a:tr>
            </a:tbl>
          </a:graphicData>
        </a:graphic>
      </p:graphicFrame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2453A1D1-5898-49BB-2D75-7D48E6B1FCDC}"/>
              </a:ext>
            </a:extLst>
          </p:cNvPr>
          <p:cNvSpPr txBox="1">
            <a:spLocks/>
          </p:cNvSpPr>
          <p:nvPr/>
        </p:nvSpPr>
        <p:spPr>
          <a:xfrm>
            <a:off x="1783723" y="3818423"/>
            <a:ext cx="8948207" cy="36933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u="sng" dirty="0"/>
              <a:t>Qualité des données</a:t>
            </a:r>
            <a:r>
              <a:rPr lang="fr-FR" b="1" dirty="0"/>
              <a:t> :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3A02E907-558E-DCA2-6336-E69ABDFF8175}"/>
              </a:ext>
            </a:extLst>
          </p:cNvPr>
          <p:cNvSpPr txBox="1">
            <a:spLocks/>
          </p:cNvSpPr>
          <p:nvPr/>
        </p:nvSpPr>
        <p:spPr>
          <a:xfrm>
            <a:off x="1783725" y="1152907"/>
            <a:ext cx="8948207" cy="89255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u="sng" dirty="0"/>
              <a:t>Couverture des données</a:t>
            </a:r>
            <a:r>
              <a:rPr lang="fr-FR" b="1" dirty="0"/>
              <a:t> :</a:t>
            </a:r>
            <a:endParaRPr lang="fr-FR" sz="1200" b="1" dirty="0"/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fr-FR" sz="1200" u="sng" dirty="0"/>
              <a:t>Station météo</a:t>
            </a:r>
            <a:r>
              <a:rPr lang="fr-FR" sz="1200" dirty="0"/>
              <a:t> : </a:t>
            </a:r>
            <a:r>
              <a:rPr lang="fr-FR" sz="1200" b="1" dirty="0"/>
              <a:t>6</a:t>
            </a:r>
            <a:r>
              <a:rPr lang="fr-FR" sz="1200" dirty="0"/>
              <a:t> </a:t>
            </a:r>
            <a:r>
              <a:rPr lang="fr-FR" sz="1200" i="1" dirty="0"/>
              <a:t>(</a:t>
            </a:r>
            <a:r>
              <a:rPr lang="fr-FR" sz="1200" i="1" dirty="0" err="1"/>
              <a:t>LaMadeleine</a:t>
            </a:r>
            <a:r>
              <a:rPr lang="fr-FR" sz="1200" i="1" dirty="0"/>
              <a:t>, Ichtegem, Bergues, Hazebrouck, Armentières, Lille-Lesquin).</a:t>
            </a:r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fr-FR" sz="1200" dirty="0"/>
              <a:t>Nombre de mesures : </a:t>
            </a:r>
            <a:r>
              <a:rPr lang="fr-FR" sz="1200" b="1" dirty="0"/>
              <a:t>4950</a:t>
            </a:r>
            <a:r>
              <a:rPr lang="fr-FR" sz="1200" dirty="0"/>
              <a:t>.</a:t>
            </a:r>
            <a:endParaRPr lang="fr-FR" sz="2400" dirty="0"/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7111B91A-9C62-5011-3A40-6B4562DD0F75}"/>
              </a:ext>
            </a:extLst>
          </p:cNvPr>
          <p:cNvSpPr txBox="1">
            <a:spLocks/>
          </p:cNvSpPr>
          <p:nvPr/>
        </p:nvSpPr>
        <p:spPr>
          <a:xfrm>
            <a:off x="1783722" y="5443916"/>
            <a:ext cx="9270732" cy="129779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u="sng" dirty="0"/>
              <a:t>Conclusion</a:t>
            </a:r>
            <a:r>
              <a:rPr lang="fr-FR" b="1" dirty="0"/>
              <a:t> :</a:t>
            </a:r>
          </a:p>
          <a:p>
            <a:pPr>
              <a:spcBef>
                <a:spcPts val="600"/>
              </a:spcBef>
              <a:buFontTx/>
              <a:buChar char="-"/>
            </a:pPr>
            <a:r>
              <a:rPr lang="fr-FR" sz="1200" dirty="0"/>
              <a:t>Latence inférieure à 20ms pour la plupart des mesures avec un écart d’environ 30 % par rapport aux mesures local.</a:t>
            </a:r>
          </a:p>
          <a:p>
            <a:pPr>
              <a:spcBef>
                <a:spcPts val="600"/>
              </a:spcBef>
              <a:buFontTx/>
              <a:buChar char="-"/>
            </a:pPr>
            <a:r>
              <a:rPr lang="fr-FR" sz="1200" dirty="0"/>
              <a:t>Données prêtes pour analyses.</a:t>
            </a:r>
          </a:p>
          <a:p>
            <a:pPr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0372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2574-D284-50D3-E0E0-E9C4328F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E59A86-F28D-AFF7-0A17-563DC1BF7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19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4BF04CD4-7CA0-1238-538F-2D2157D1E275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10113000" cy="5847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Monitoring : </a:t>
            </a:r>
            <a:r>
              <a:rPr lang="fr-FR" sz="3200" b="1" dirty="0" err="1">
                <a:solidFill>
                  <a:schemeClr val="accent2">
                    <a:lumMod val="75000"/>
                  </a:schemeClr>
                </a:solidFill>
              </a:rPr>
              <a:t>CloudWatch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 et Mongo-Express</a:t>
            </a:r>
            <a:endParaRPr lang="fr-FR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7D9CD9C-3897-8EB1-6639-8899C3E48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52" y="1152907"/>
            <a:ext cx="2718316" cy="3101593"/>
          </a:xfrm>
          <a:prstGeom prst="rect">
            <a:avLst/>
          </a:prstGeom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40F2B941-D7C8-30A7-81AC-7B7199AE3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523" y="1505028"/>
            <a:ext cx="5956925" cy="1669688"/>
          </a:xfrm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FR" sz="1400" dirty="0">
                <a:solidFill>
                  <a:schemeClr val="tx1"/>
                </a:solidFill>
              </a:rPr>
              <a:t>✅</a:t>
            </a:r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400" b="1" u="sng" dirty="0" err="1">
                <a:solidFill>
                  <a:schemeClr val="tx1"/>
                </a:solidFill>
              </a:rPr>
              <a:t>CloudWash</a:t>
            </a:r>
            <a:r>
              <a:rPr lang="fr-FR" sz="1400" b="1" u="sng" dirty="0">
                <a:solidFill>
                  <a:schemeClr val="tx1"/>
                </a:solidFill>
              </a:rPr>
              <a:t> et Mongo- express</a:t>
            </a:r>
            <a:r>
              <a:rPr lang="fr-FR" sz="1400" b="1" dirty="0">
                <a:solidFill>
                  <a:schemeClr val="tx1"/>
                </a:solidFill>
              </a:rPr>
              <a:t> :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100" u="sng" dirty="0" err="1">
                <a:solidFill>
                  <a:schemeClr val="tx1"/>
                </a:solidFill>
              </a:rPr>
              <a:t>CloudWatch</a:t>
            </a:r>
            <a:r>
              <a:rPr lang="fr-FR" sz="1100" dirty="0">
                <a:solidFill>
                  <a:schemeClr val="tx1"/>
                </a:solidFill>
              </a:rPr>
              <a:t> :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Intégration native AWS : </a:t>
            </a:r>
            <a:r>
              <a:rPr lang="fr-F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Métriques ECS automatiques (CPU, RAM), Logs centralisés (/</a:t>
            </a:r>
            <a:r>
              <a:rPr lang="fr-FR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ecs</a:t>
            </a:r>
            <a:r>
              <a:rPr lang="fr-F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/*), Dashboard créé en 1 commande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Coût : </a:t>
            </a:r>
            <a:r>
              <a:rPr lang="fr-F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Gratuit pour 3 </a:t>
            </a:r>
            <a:r>
              <a:rPr lang="fr-FR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dashboards</a:t>
            </a:r>
            <a:r>
              <a:rPr lang="fr-F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+ 10 métriques, Logs : $0.50/GB (&lt; $1/mois pour nous)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Simplicité : </a:t>
            </a:r>
            <a:r>
              <a:rPr lang="fr-F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Pas d'installation requise, API/CLI pour automation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100" u="sng" dirty="0">
                <a:solidFill>
                  <a:schemeClr val="tx1"/>
                </a:solidFill>
              </a:rPr>
              <a:t>Mongo-Express</a:t>
            </a:r>
            <a:r>
              <a:rPr lang="fr-FR" sz="1100" dirty="0">
                <a:solidFill>
                  <a:schemeClr val="tx1"/>
                </a:solidFill>
              </a:rPr>
              <a:t> :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Simplicité : </a:t>
            </a:r>
            <a:r>
              <a:rPr lang="fr-F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(Interface web, Authentification intégrée)</a:t>
            </a:r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Fonctionnalités : </a:t>
            </a:r>
            <a:r>
              <a:rPr lang="fr-F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CRUD documents, Exécution requêtes, Visualisation index)</a:t>
            </a:r>
          </a:p>
          <a:p>
            <a:pPr lvl="2">
              <a:spcBef>
                <a:spcPts val="0"/>
              </a:spcBef>
              <a:buFontTx/>
              <a:buChar char="-"/>
            </a:pPr>
            <a:endParaRPr lang="fr-FR" sz="200" u="sng" dirty="0">
              <a:solidFill>
                <a:schemeClr val="tx1"/>
              </a:solidFill>
            </a:endParaRP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5638495F-71C0-0606-D34C-D72D2607A2A5}"/>
              </a:ext>
            </a:extLst>
          </p:cNvPr>
          <p:cNvSpPr txBox="1">
            <a:spLocks/>
          </p:cNvSpPr>
          <p:nvPr/>
        </p:nvSpPr>
        <p:spPr>
          <a:xfrm>
            <a:off x="1453524" y="3429000"/>
            <a:ext cx="5956924" cy="133882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fr-FR" sz="1400" dirty="0"/>
              <a:t>❌ </a:t>
            </a:r>
            <a:r>
              <a:rPr lang="fr-FR" sz="1400" b="1" u="sng" dirty="0"/>
              <a:t>Solution alternative</a:t>
            </a:r>
            <a:r>
              <a:rPr lang="fr-FR" sz="1400" b="1" dirty="0"/>
              <a:t>:</a:t>
            </a:r>
            <a:endParaRPr lang="fr-FR" sz="1400" b="1" i="1" dirty="0"/>
          </a:p>
          <a:p>
            <a:pPr lvl="1">
              <a:spcBef>
                <a:spcPts val="0"/>
              </a:spcBef>
              <a:buFontTx/>
              <a:buChar char="-"/>
              <a:defRPr sz="1800"/>
            </a:pPr>
            <a:r>
              <a:rPr lang="fr-FR" sz="1100" u="sng" dirty="0" err="1"/>
              <a:t>Grafana</a:t>
            </a:r>
            <a:r>
              <a:rPr lang="fr-FR" sz="1100" u="sng" dirty="0"/>
              <a:t> + </a:t>
            </a:r>
            <a:r>
              <a:rPr lang="fr-FR" sz="1100" u="sng" dirty="0" err="1"/>
              <a:t>Prometheus</a:t>
            </a:r>
            <a:r>
              <a:rPr lang="fr-FR" sz="1100" dirty="0"/>
              <a:t> :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900" b="1" dirty="0"/>
              <a:t>Complexité : </a:t>
            </a:r>
            <a:r>
              <a:rPr lang="fr-FR" sz="900" dirty="0"/>
              <a:t>Nécessite installer </a:t>
            </a:r>
            <a:r>
              <a:rPr lang="fr-FR" sz="900" dirty="0" err="1"/>
              <a:t>Prometheus</a:t>
            </a:r>
            <a:r>
              <a:rPr lang="fr-FR" sz="900" dirty="0"/>
              <a:t> + </a:t>
            </a:r>
            <a:r>
              <a:rPr lang="fr-FR" sz="900" dirty="0" err="1"/>
              <a:t>Grafana</a:t>
            </a:r>
            <a:r>
              <a:rPr lang="fr-FR" sz="900" dirty="0"/>
              <a:t> + </a:t>
            </a:r>
            <a:r>
              <a:rPr lang="fr-FR" sz="900" dirty="0" err="1"/>
              <a:t>Exporters</a:t>
            </a:r>
            <a:endParaRPr lang="fr-FR" sz="900" dirty="0"/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900" b="1" dirty="0"/>
              <a:t>Maintenance</a:t>
            </a:r>
            <a:r>
              <a:rPr lang="fr-FR" sz="900" dirty="0"/>
              <a:t> </a:t>
            </a:r>
            <a:r>
              <a:rPr lang="fr-FR" sz="900" b="1" dirty="0"/>
              <a:t>:</a:t>
            </a:r>
            <a:r>
              <a:rPr lang="fr-FR" sz="900" dirty="0"/>
              <a:t> Deux services supplémentaires à gérer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900" b="1" dirty="0"/>
              <a:t>Coût</a:t>
            </a:r>
            <a:r>
              <a:rPr lang="fr-FR" sz="900" dirty="0"/>
              <a:t> </a:t>
            </a:r>
            <a:r>
              <a:rPr lang="fr-FR" sz="900" b="1" dirty="0"/>
              <a:t>:</a:t>
            </a:r>
            <a:r>
              <a:rPr lang="fr-FR" sz="900" dirty="0"/>
              <a:t> 2 conteneurs ECS = $0.04/h = $30/mois</a:t>
            </a:r>
          </a:p>
          <a:p>
            <a:pPr lvl="1">
              <a:spcBef>
                <a:spcPts val="0"/>
              </a:spcBef>
              <a:buFontTx/>
              <a:buChar char="-"/>
              <a:defRPr sz="1800"/>
            </a:pPr>
            <a:r>
              <a:rPr lang="fr-FR" sz="1100" u="sng" dirty="0" err="1"/>
              <a:t>Datadog</a:t>
            </a:r>
            <a:r>
              <a:rPr lang="fr-FR" sz="1100" dirty="0"/>
              <a:t> :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900" b="1" dirty="0"/>
              <a:t>Coût : </a:t>
            </a:r>
            <a:r>
              <a:rPr lang="fr-FR" sz="900" dirty="0"/>
              <a:t>$15/host/mois minimum = $75/mois pour 5 services</a:t>
            </a:r>
          </a:p>
          <a:p>
            <a:pPr lvl="2">
              <a:spcBef>
                <a:spcPts val="0"/>
              </a:spcBef>
              <a:buFontTx/>
              <a:buChar char="-"/>
              <a:defRPr sz="1800"/>
            </a:pPr>
            <a:r>
              <a:rPr lang="fr-FR" sz="900" b="1" dirty="0" err="1"/>
              <a:t>Overkill</a:t>
            </a:r>
            <a:r>
              <a:rPr lang="fr-FR" sz="900" b="1" dirty="0"/>
              <a:t> : </a:t>
            </a:r>
            <a:r>
              <a:rPr lang="fr-FR" sz="900" dirty="0"/>
              <a:t>Pour monitoring basique, trop cher</a:t>
            </a:r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B38FD34A-C88D-86EB-2748-C34F4D33DB4E}"/>
              </a:ext>
            </a:extLst>
          </p:cNvPr>
          <p:cNvSpPr txBox="1">
            <a:spLocks/>
          </p:cNvSpPr>
          <p:nvPr/>
        </p:nvSpPr>
        <p:spPr>
          <a:xfrm>
            <a:off x="1507527" y="5022112"/>
            <a:ext cx="5956923" cy="5847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fr-FR" sz="1400" dirty="0"/>
              <a:t>🏆</a:t>
            </a:r>
            <a:r>
              <a:rPr lang="fr-FR" sz="1400" b="1" u="sng" dirty="0"/>
              <a:t>Conclusion</a:t>
            </a:r>
            <a:r>
              <a:rPr lang="fr-FR" sz="1400" b="1" dirty="0"/>
              <a:t> :</a:t>
            </a:r>
            <a:endParaRPr lang="fr-FR" sz="1400" dirty="0"/>
          </a:p>
          <a:p>
            <a:pPr lvl="2">
              <a:spcBef>
                <a:spcPts val="0"/>
              </a:spcBef>
              <a:buFontTx/>
              <a:buChar char="-"/>
            </a:pPr>
            <a:r>
              <a:rPr lang="fr-FR" sz="900" b="1" dirty="0" err="1"/>
              <a:t>CloudWatch</a:t>
            </a:r>
            <a:r>
              <a:rPr lang="fr-FR" sz="900" b="1" dirty="0"/>
              <a:t> + Mongo Express </a:t>
            </a:r>
            <a:r>
              <a:rPr lang="fr-FR" sz="900" dirty="0"/>
              <a:t>offrent un </a:t>
            </a:r>
            <a:r>
              <a:rPr lang="fr-FR" sz="900" b="1" dirty="0"/>
              <a:t>monitoring complet à coût quasi nul</a:t>
            </a:r>
            <a:r>
              <a:rPr lang="fr-FR" sz="900" dirty="0"/>
              <a:t>, avec intégration AWS native.</a:t>
            </a:r>
          </a:p>
        </p:txBody>
      </p:sp>
      <p:pic>
        <p:nvPicPr>
          <p:cNvPr id="18" name="Image 17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39F1D897-D7B0-4A3D-C329-1B3DD5C38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845" y="3423905"/>
            <a:ext cx="3477846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63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3C8A2-6395-CA95-6544-EF7872994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A272A83-F0A6-EE65-3F05-929D56526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20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1F17CE04-E19D-7835-2581-769D1F3FD0F9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10113000" cy="5847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Monitoring : Métrique surveillées</a:t>
            </a:r>
            <a:endParaRPr lang="fr-FR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A8CF17D-15F1-163A-35C8-C3E97436E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52" y="1152907"/>
            <a:ext cx="4259566" cy="4860156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6DE6A7-A0E0-18A1-EA6B-30B19A5F1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3725" y="2398045"/>
            <a:ext cx="5734727" cy="2369880"/>
          </a:xfr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fr-FR" sz="1400" b="1" u="sng" dirty="0"/>
              <a:t>Performance des services ECS </a:t>
            </a:r>
            <a:r>
              <a:rPr lang="fr-FR" sz="1400" b="1" i="1" u="sng" dirty="0"/>
              <a:t>(5 min)</a:t>
            </a:r>
            <a:r>
              <a:rPr lang="fr-FR" sz="1400" b="1" dirty="0"/>
              <a:t> :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US" sz="1200" b="1" dirty="0"/>
              <a:t>5 services</a:t>
            </a:r>
            <a:r>
              <a:rPr lang="en-US" sz="1200" dirty="0"/>
              <a:t> </a:t>
            </a:r>
            <a:r>
              <a:rPr lang="en-US" sz="1200" dirty="0" err="1"/>
              <a:t>surveillés</a:t>
            </a:r>
            <a:r>
              <a:rPr lang="en-US" sz="1200" dirty="0"/>
              <a:t> : MongoDB, Mongo Express, Weather ETL, Importer, S3 Cleanup</a:t>
            </a:r>
            <a:endParaRPr lang="fr-FR" sz="1200" dirty="0"/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200" b="1" dirty="0"/>
              <a:t>CPU</a:t>
            </a:r>
            <a:r>
              <a:rPr lang="fr-FR" sz="1200" dirty="0"/>
              <a:t> : 0-30% </a:t>
            </a:r>
            <a:r>
              <a:rPr lang="fr-FR" sz="1200" i="1" dirty="0"/>
              <a:t>(MongoDB seul : 0-20%)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200" b="1" dirty="0"/>
              <a:t>Mémoire</a:t>
            </a:r>
            <a:r>
              <a:rPr lang="fr-FR" sz="1200" dirty="0"/>
              <a:t> : 0-60% </a:t>
            </a:r>
            <a:r>
              <a:rPr lang="fr-FR" sz="1200" i="1" dirty="0"/>
              <a:t>(MongoDB seul : 0-50%)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200" b="1" dirty="0"/>
              <a:t>Tâches actives</a:t>
            </a:r>
            <a:r>
              <a:rPr lang="fr-FR" sz="1200" dirty="0"/>
              <a:t> : 1 par service attendu</a:t>
            </a:r>
            <a:endParaRPr lang="fr-FR" sz="1400" b="1" dirty="0"/>
          </a:p>
          <a:p>
            <a:pPr>
              <a:spcBef>
                <a:spcPts val="600"/>
              </a:spcBef>
            </a:pPr>
            <a:r>
              <a:rPr lang="fr-FR" sz="1400" b="1" u="sng" dirty="0"/>
              <a:t>Stockage S3 </a:t>
            </a:r>
            <a:r>
              <a:rPr lang="fr-FR" sz="1400" b="1" i="1" u="sng" dirty="0"/>
              <a:t>(quotidien)</a:t>
            </a:r>
            <a:r>
              <a:rPr lang="fr-FR" sz="1400" b="1" dirty="0"/>
              <a:t> :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200" b="1" dirty="0"/>
              <a:t>Taille du </a:t>
            </a:r>
            <a:r>
              <a:rPr lang="fr-FR" sz="1200" b="1" dirty="0" err="1"/>
              <a:t>bucket</a:t>
            </a:r>
            <a:r>
              <a:rPr lang="fr-FR" sz="1200" b="1" dirty="0"/>
              <a:t> </a:t>
            </a:r>
            <a:r>
              <a:rPr lang="fr-FR" sz="1200" dirty="0"/>
              <a:t>p8-weather-data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200" b="1" dirty="0"/>
              <a:t>Nombre d'objets :</a:t>
            </a:r>
            <a:r>
              <a:rPr lang="fr-FR" sz="1200" dirty="0"/>
              <a:t> max 20 objets</a:t>
            </a:r>
            <a:endParaRPr lang="fr-FR" sz="1400" b="1" dirty="0"/>
          </a:p>
          <a:p>
            <a:pPr>
              <a:spcBef>
                <a:spcPts val="600"/>
              </a:spcBef>
            </a:pPr>
            <a:r>
              <a:rPr lang="fr-FR" sz="1400" b="1" u="sng" dirty="0"/>
              <a:t>Logs (temps réel)</a:t>
            </a:r>
            <a:r>
              <a:rPr lang="fr-FR" sz="1400" b="1" dirty="0"/>
              <a:t> :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fr-FR" sz="1200" dirty="0"/>
              <a:t>Flux MongoDB : 50 dernières entrées</a:t>
            </a:r>
          </a:p>
        </p:txBody>
      </p:sp>
    </p:spTree>
    <p:extLst>
      <p:ext uri="{BB962C8B-B14F-4D97-AF65-F5344CB8AC3E}">
        <p14:creationId xmlns:p14="http://schemas.microsoft.com/office/powerpoint/2010/main" val="636077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EB289-98A5-E923-779D-80A600A6A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154E811-0C81-0995-BA83-8A782F92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21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C98BC46-2CE4-8311-8138-CABA3B8131B6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8855700" cy="5847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Architecture déployée sur AWS</a:t>
            </a:r>
            <a:endParaRPr lang="fr-FR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1" name="Image 10" descr="Une image contenant texte, capture d’écran, diagramme, ligne">
            <a:extLst>
              <a:ext uri="{FF2B5EF4-FFF2-40B4-BE49-F238E27FC236}">
                <a16:creationId xmlns:a16="http://schemas.microsoft.com/office/drawing/2014/main" id="{BFEC6229-1241-E7D2-403C-3D2C30B46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96" y="1739231"/>
            <a:ext cx="10679958" cy="449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59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F3EC1-0150-9F5E-F7C3-C66CDD76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CEA36E-6D08-D738-46D8-7835A3127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22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D0FAA56-C612-9554-38CD-BFB000ABBCC3}"/>
              </a:ext>
            </a:extLst>
          </p:cNvPr>
          <p:cNvSpPr txBox="1"/>
          <p:nvPr/>
        </p:nvSpPr>
        <p:spPr>
          <a:xfrm>
            <a:off x="1783725" y="1155887"/>
            <a:ext cx="653097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fr-F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Compute</a:t>
            </a: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&amp; Orchestration </a:t>
            </a:r>
            <a:endParaRPr 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628650" lvl="1" indent="-171450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Cluster ECS </a:t>
            </a:r>
            <a:r>
              <a:rPr lang="fr-F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Fargate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 : </a:t>
            </a: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weather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-pipeline-cluster</a:t>
            </a:r>
          </a:p>
          <a:p>
            <a:pPr marL="628650" lvl="1" indent="-171450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Container Insights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 : Activé pour monitoring avancé</a:t>
            </a:r>
          </a:p>
          <a:p>
            <a:pPr marL="628650" lvl="1" indent="-171450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5 </a:t>
            </a:r>
            <a:r>
              <a:rPr lang="fr-F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Task</a:t>
            </a: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</a:t>
            </a:r>
            <a:r>
              <a:rPr lang="fr-F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Definitions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 : </a:t>
            </a: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mongodb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, mongo-express, </a:t>
            </a: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weather-etl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, importer, </a:t>
            </a: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cleanup</a:t>
            </a:r>
            <a:endParaRPr lang="fr-FR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171450" indent="-171450" algn="l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Stockage</a:t>
            </a:r>
            <a:endParaRPr 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628650" lvl="1" indent="-171450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Amazon EFS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 </a:t>
            </a:r>
            <a:r>
              <a:rPr 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: 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File system: </a:t>
            </a: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weather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-pipeline-</a:t>
            </a: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efs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 </a:t>
            </a:r>
          </a:p>
          <a:p>
            <a:pPr marL="628650" lvl="1" indent="-171450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S3 </a:t>
            </a:r>
            <a:r>
              <a:rPr lang="fr-F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Bucket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 : p8-weather-data </a:t>
            </a:r>
            <a:r>
              <a:rPr lang="fr-FR" sz="1200" b="0" i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(Structure: 01_raw / 02_cleaned / 03_archive)</a:t>
            </a:r>
          </a:p>
          <a:p>
            <a:pPr marL="171450" indent="-171450" algn="l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Monitoring &amp; Logs</a:t>
            </a:r>
            <a:endParaRPr 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628650" lvl="1" indent="-171450">
              <a:buFontTx/>
              <a:buChar char="-"/>
            </a:pPr>
            <a:r>
              <a:rPr lang="fr-F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CloudWatch</a:t>
            </a: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Dashboard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 : </a:t>
            </a: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weather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-pipeline-monitoring</a:t>
            </a:r>
          </a:p>
          <a:p>
            <a:pPr marL="628650" lvl="1" indent="-171450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Container Insights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 : Métriques ECS </a:t>
            </a:r>
            <a:r>
              <a:rPr lang="fr-FR" sz="1200" b="0" i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(CPU, RAM, réseau)</a:t>
            </a:r>
          </a:p>
          <a:p>
            <a:pPr marL="628650" lvl="1" indent="-171450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S3 </a:t>
            </a:r>
            <a:r>
              <a:rPr lang="fr-F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Metrics</a:t>
            </a: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Configuration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 : Collecte quotidienne</a:t>
            </a:r>
            <a:endParaRPr 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171450" indent="-171450" algn="l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Sécurité &amp; Secrets</a:t>
            </a:r>
          </a:p>
          <a:p>
            <a:pPr marL="628650" lvl="1" indent="-171450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AWS Secrets Manager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 :</a:t>
            </a:r>
          </a:p>
          <a:p>
            <a:pPr marL="1085850" lvl="2" indent="-171450">
              <a:buFontTx/>
              <a:buChar char="-"/>
            </a:pP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weather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-pipeline/</a:t>
            </a: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mongodb-credentials</a:t>
            </a:r>
            <a:endParaRPr lang="fr-FR" sz="12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j-lt"/>
            </a:endParaRPr>
          </a:p>
          <a:p>
            <a:pPr marL="1085850" lvl="2" indent="-171450">
              <a:buFontTx/>
              <a:buChar char="-"/>
            </a:pP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weather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-pipeline/mongo-express-</a:t>
            </a: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credentials</a:t>
            </a:r>
            <a:endParaRPr lang="fr-FR" sz="12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j-lt"/>
            </a:endParaRPr>
          </a:p>
          <a:p>
            <a:pPr marL="628650" lvl="1" indent="-171450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IAM </a:t>
            </a:r>
            <a:r>
              <a:rPr lang="fr-F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Roles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 :</a:t>
            </a:r>
          </a:p>
          <a:p>
            <a:pPr marL="1085850" lvl="2" indent="-171450">
              <a:buFontTx/>
              <a:buChar char="-"/>
            </a:pP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Task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</a:t>
            </a: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Execution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</a:t>
            </a: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Role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</a:t>
            </a:r>
            <a:r>
              <a:rPr lang="fr-FR" sz="1200" b="0" i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(pour ECS pull images ECR, récupérer secrets)</a:t>
            </a:r>
          </a:p>
          <a:p>
            <a:pPr marL="1085850" lvl="2" indent="-171450">
              <a:buFontTx/>
              <a:buChar char="-"/>
            </a:pP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Task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</a:t>
            </a:r>
            <a:r>
              <a:rPr lang="fr-FR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Role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</a:t>
            </a:r>
            <a:r>
              <a:rPr lang="fr-FR" sz="1200" b="0" i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(pour accès S3, </a:t>
            </a:r>
            <a:r>
              <a:rPr lang="fr-FR" sz="1200" b="0" i="1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CloudWatch</a:t>
            </a:r>
            <a:r>
              <a:rPr lang="fr-FR" sz="1200" b="0" i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Logs</a:t>
            </a:r>
            <a:r>
              <a:rPr lang="fr-FR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, pour </a:t>
            </a:r>
            <a:r>
              <a:rPr lang="fr-FR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Airbyte</a:t>
            </a:r>
            <a:r>
              <a:rPr lang="fr-FR" sz="1200" b="0" i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)</a:t>
            </a:r>
            <a:endParaRPr lang="fr-FR" sz="1200" i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171450" indent="-171450">
              <a:buFontTx/>
              <a:buChar char="-"/>
            </a:pPr>
            <a:r>
              <a:rPr lang="fr-F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Registry</a:t>
            </a: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Docker</a:t>
            </a:r>
          </a:p>
          <a:p>
            <a:pPr marL="628650" lvl="1" indent="-171450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ECR Repositories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 </a:t>
            </a:r>
            <a:r>
              <a:rPr lang="fr-FR" sz="1200" b="0" i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(5 repositories) 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:</a:t>
            </a:r>
            <a:endParaRPr lang="fr-FR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1085850" lvl="2" indent="-171450">
              <a:buFontTx/>
              <a:buChar char="-"/>
            </a:pPr>
            <a:r>
              <a:rPr lang="fr-F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mongodb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: Base de données MongoDB </a:t>
            </a:r>
            <a:endParaRPr lang="fr-FR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1085850" lvl="2" indent="-171450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mongo-express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: Interface web d'administration MongoDB</a:t>
            </a:r>
          </a:p>
          <a:p>
            <a:pPr marL="1085850" lvl="2" indent="-171450">
              <a:buFontTx/>
              <a:buChar char="-"/>
            </a:pPr>
            <a:r>
              <a:rPr lang="fr-F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weather-etl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: Transformation des données </a:t>
            </a:r>
            <a:r>
              <a:rPr lang="fr-FR" sz="1200" b="0" i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(nettoyage, conversion)</a:t>
            </a:r>
          </a:p>
          <a:p>
            <a:pPr marL="1085850" lvl="2" indent="-171450">
              <a:buFontTx/>
              <a:buChar char="-"/>
            </a:pPr>
            <a:r>
              <a:rPr lang="fr-FR" sz="12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mongodb</a:t>
            </a: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-importer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: nettoyées dans MongoDB</a:t>
            </a:r>
          </a:p>
          <a:p>
            <a:pPr marL="1085850" lvl="2" indent="-171450">
              <a:buFontTx/>
              <a:buChar char="-"/>
            </a:pPr>
            <a:r>
              <a:rPr lang="fr-FR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3-cleanup</a:t>
            </a:r>
            <a:r>
              <a:rPr lang="fr-F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: Archivage et nettoyage des fichiers S3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871C3A1C-9DB7-633D-08C0-675A4341FB6A}"/>
              </a:ext>
            </a:extLst>
          </p:cNvPr>
          <p:cNvSpPr txBox="1">
            <a:spLocks/>
          </p:cNvSpPr>
          <p:nvPr/>
        </p:nvSpPr>
        <p:spPr>
          <a:xfrm>
            <a:off x="1783725" y="386095"/>
            <a:ext cx="8855700" cy="5847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Architecture déployée sur AWS</a:t>
            </a:r>
            <a:endParaRPr lang="fr-FR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355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65AA0-9311-A418-D139-A5E302A8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B8B52FD8-C4E6-3485-7B23-137EB955314D}"/>
              </a:ext>
            </a:extLst>
          </p:cNvPr>
          <p:cNvSpPr txBox="1">
            <a:spLocks/>
          </p:cNvSpPr>
          <p:nvPr/>
        </p:nvSpPr>
        <p:spPr>
          <a:xfrm>
            <a:off x="2570163" y="3072758"/>
            <a:ext cx="8915399" cy="707886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The end…</a:t>
            </a:r>
          </a:p>
        </p:txBody>
      </p:sp>
    </p:spTree>
    <p:extLst>
      <p:ext uri="{BB962C8B-B14F-4D97-AF65-F5344CB8AC3E}">
        <p14:creationId xmlns:p14="http://schemas.microsoft.com/office/powerpoint/2010/main" val="2089197106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1762</TotalTime>
  <Words>2802</Words>
  <Application>Microsoft Office PowerPoint</Application>
  <PresentationFormat>Grand écran</PresentationFormat>
  <Paragraphs>563</Paragraphs>
  <Slides>24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Century Gothic</vt:lpstr>
      <vt:lpstr>Wingdings</vt:lpstr>
      <vt:lpstr>Wingdings 3</vt:lpstr>
      <vt:lpstr>Brin</vt:lpstr>
      <vt:lpstr>Forecast 2.0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Bailleul</dc:creator>
  <cp:lastModifiedBy>Aymeric Bailleul</cp:lastModifiedBy>
  <cp:revision>29</cp:revision>
  <dcterms:created xsi:type="dcterms:W3CDTF">2025-12-11T08:03:20Z</dcterms:created>
  <dcterms:modified xsi:type="dcterms:W3CDTF">2025-12-17T11:31:09Z</dcterms:modified>
</cp:coreProperties>
</file>