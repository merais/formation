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5C6"/>
    <a:srgbClr val="E67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0438" autoAdjust="0"/>
  </p:normalViewPr>
  <p:slideViewPr>
    <p:cSldViewPr snapToGrid="0">
      <p:cViewPr varScale="1">
        <p:scale>
          <a:sx n="124" d="100"/>
          <a:sy n="124" d="100"/>
        </p:scale>
        <p:origin x="15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C8E4F-0DAC-4356-BEA1-595E35DECC8F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327DE-FF34-4005-B339-C64DE51792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08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projet porte sur la conception du plan de passage d'un POC fonctionnel à un MVP industrialisé pour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-Events, une plateforme d'événements culturels. Nous allons voir comment transformer une preuve de concept en un système réellement déployable, maintenable et économiquement viable ?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18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381A-061E-1D06-E7C1-D25355B9D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7572DB-4FC9-1B99-0CE7-45C6EC887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FFA942-97D0-EC1F-472B-37250EB64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POC a démontré qu'un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RAG sur données culturelles fonctionne - les scores Ragas le confirment quantitativement. Mais un POC n'est pas un produit : pas d'historique conversationnel, zone géographique limitée à l'Occitanie, données statiques, et aucun monitoring en production. C'est exactement ce que le MVP doit résoudre."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5C4CCD-6746-2875-FE87-BEBEFCB8D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08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8185-39EE-96E4-492F-01A8FBAE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3FADD3-9B58-9723-A3EE-A3D217F02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E68405-1F85-C362-6E8A-0CFC1EDF7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Ces quatre défis ne sont pas des améliorations cosmétiques - ce sont des prérequis fonctionnels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	- Sans mémoire, le </a:t>
            </a:r>
            <a:r>
              <a:rPr lang="fr-FR" dirty="0" err="1"/>
              <a:t>chatbot</a:t>
            </a:r>
            <a:r>
              <a:rPr lang="fr-FR" dirty="0"/>
              <a:t> est inutilisable en contexte conversationnel réel.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	- Sans géolocalisation dynamique, on ne peut pas servir l'ensemble du territoire national.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diagnostic du POC a permis d'identifier ces blocages avec précision avant de concevoir l'architecture.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Process </a:t>
            </a:r>
            <a:r>
              <a:rPr lang="fr-FR" dirty="0" err="1"/>
              <a:t>ia</a:t>
            </a:r>
            <a:r>
              <a:rPr lang="fr-FR" dirty="0"/>
              <a:t> auditable – conformité,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CA86EE-B51D-8B64-B4F7-4DE23279B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039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4C76-0C63-14BE-7C95-0065CB2B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0EA350-DB46-A1B3-9C7F-B9177A1F3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26B3AD-07CB-163B-102D-FB074F454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u="sng" dirty="0">
                <a:latin typeface="Segoe UI" panose="020B0502040204020203" pitchFamily="34" charset="0"/>
                <a:cs typeface="Segoe UI" panose="020B0502040204020203" pitchFamily="34" charset="0"/>
              </a:rPr>
              <a:t>Schéma d'architecture en 4 couches</a:t>
            </a: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Données 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Open Agenda API + Mistral `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`</a:t>
            </a: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Traitement IA 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Pipeline ingestion →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→ RAG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LangChain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Redis + Filtrage géo</a:t>
            </a: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API :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FastAPI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Streamlit</a:t>
            </a:r>
            <a:endParaRPr lang="fr-FR" b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Couche Monitoring :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BigQuery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+ Cloud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L'architecture est pensée pour évoluer sans refonte. Chaque service est un conteneur Cloud Run indépendant. Si demain on veut remplacer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 migrer vers un autre LLM &gt; il n'y a pas de couplage fort entre les couches. C'est précisément ce que permet une architecture micro-services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0" indent="-171450">
              <a:buFontTx/>
              <a:buChar char="-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7C15EA-A11C-1BFD-BCF1-E970800DC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288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DDF5-4224-4FBD-8BA0-D8796243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BABB7A-5A14-2CAA-FFC4-1AB53BB98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0CED44-AD3D-0B10-1E4A-D220FB6A7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passage de FAISS 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le choix technique le plus structurant. FAISS est une bibliothèque de recherche vectorielle en mémoire - elle ne supporte pas le filtrage par métadonnées. Or, pour filtrer les événements par localisation géographique à la requête, il nous faut un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vectorstore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stocke les coordonnées GPS comme métadonnées interrogeables comme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le fait nativement. C’est une nécessité fonctionnelle.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GCP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Continuité naturelle avec Mistral sur Vertex AI, $300 de crédits couvrent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intégré nativement.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Vectorstore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supporte le filtrage par métadonnées GPS/date à la requête, impossible avec FAISS.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mistral-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latest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modèle que le POC, meilleur ratio coût/performance pour des réponses déterministes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temperature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=0.0).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Stockage de session ultra-rapide avec TTL automatique, indispensable pour la fenêtre de contexte conversationnelle.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web_search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natif sur événements récents non indexés, sans dépendance à une API tierce. == Si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 trouve rien, Mistral cherche sur le web automatiquement.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Framework asynchrone léger, documentation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auto-générée, idéal pour conteneurisation Cloud Run.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 continu automatique sur chaque merge main, zéro intervention manuelle.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Langfuse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			Traçabilité complète des appels LLM, scores Ragas en continu, self-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hostable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éliminer les coûts SaaS.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D9A7C7-782B-C7B5-61EC-7CD283A8A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365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F6E2-E66D-162E-4AD6-F3D71D59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5FB8B6-D61F-EE0E-7D6C-E4896C64D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1A391E-670B-9A77-538A-23E66AEE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dirty="0">
                <a:solidFill>
                  <a:srgbClr val="2C82C9"/>
                </a:solidFill>
              </a:rPr>
              <a:t>37 jours estimés · 13 semaines · 1 développeur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priorisation Must-Have / Nice-to-Have est essentielle dans ce type de projet. Les 12 fonctionnalités must-have forment le MVP strict — sans elles, le produit n'est pas livrable. Les 7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nice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-to-have apportent de la valeur, mais ne bloquent pas la livraison. Cette distinction protège le planning des glissements classiques en projet IA, où la tentation d'ajouter des features est permanente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A6BA68-2146-BF27-9C6C-08C024001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89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3AD8-2778-DEDE-42DA-24AB3746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F4A8A1-09F5-83E1-24BA-E96334292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FA53E0-99D5-EF3B-C3D5-7D76574FA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0" dirty="0"/>
              <a:t>Calcul :</a:t>
            </a:r>
          </a:p>
          <a:p>
            <a:r>
              <a:rPr lang="fr-FR" i="0" dirty="0"/>
              <a:t>GCP : Google Cloud Pricing </a:t>
            </a:r>
            <a:r>
              <a:rPr lang="fr-FR" i="0" dirty="0" err="1"/>
              <a:t>Calculator</a:t>
            </a:r>
            <a:r>
              <a:rPr lang="fr-FR" i="0" dirty="0"/>
              <a:t> https://cloud.google.com/products/calculator - configure chaque service (Cloud Run, </a:t>
            </a:r>
            <a:r>
              <a:rPr lang="fr-FR" i="0" dirty="0" err="1"/>
              <a:t>Memorystore</a:t>
            </a:r>
            <a:r>
              <a:rPr lang="fr-FR" i="0" dirty="0"/>
              <a:t>, </a:t>
            </a:r>
            <a:r>
              <a:rPr lang="fr-FR" i="0" dirty="0" err="1"/>
              <a:t>BigQuery</a:t>
            </a:r>
            <a:r>
              <a:rPr lang="fr-FR" i="0" dirty="0"/>
              <a:t>…) avec tes paramètres réels</a:t>
            </a:r>
          </a:p>
          <a:p>
            <a:r>
              <a:rPr lang="fr-FR" i="0" dirty="0"/>
              <a:t>Mistral AI (LLM) → mistral.ai/</a:t>
            </a:r>
            <a:r>
              <a:rPr lang="fr-FR" i="0" dirty="0" err="1"/>
              <a:t>pricing</a:t>
            </a:r>
            <a:r>
              <a:rPr lang="fr-FR" i="0" dirty="0"/>
              <a:t> - grille publique par modèle et par million de </a:t>
            </a:r>
            <a:r>
              <a:rPr lang="fr-FR" i="0" dirty="0" err="1"/>
              <a:t>tokens</a:t>
            </a:r>
            <a:r>
              <a:rPr lang="fr-FR" i="0" dirty="0"/>
              <a:t> in/out</a:t>
            </a:r>
          </a:p>
          <a:p>
            <a:r>
              <a:rPr lang="fr-FR" i="0" dirty="0" err="1"/>
              <a:t>Langfuse</a:t>
            </a:r>
            <a:r>
              <a:rPr lang="fr-FR" i="0" dirty="0"/>
              <a:t> → langfuse.com/</a:t>
            </a:r>
            <a:r>
              <a:rPr lang="fr-FR" i="0" dirty="0" err="1"/>
              <a:t>pricing</a:t>
            </a:r>
            <a:r>
              <a:rPr lang="fr-FR" i="0" dirty="0"/>
              <a:t> - free tier jusqu'à 50K traces/mois, puis Cloud Pro ~$25/mois</a:t>
            </a:r>
          </a:p>
          <a:p>
            <a:r>
              <a:rPr lang="fr-FR" i="0" dirty="0" err="1"/>
              <a:t>Qdrant</a:t>
            </a:r>
            <a:r>
              <a:rPr lang="fr-FR" i="0" dirty="0"/>
              <a:t> Cloud → cloud.qdrant.io - calculateur intégré selon RAM / </a:t>
            </a:r>
            <a:r>
              <a:rPr lang="fr-FR" i="0" dirty="0" err="1"/>
              <a:t>vCPU</a:t>
            </a:r>
            <a:r>
              <a:rPr lang="fr-FR" i="0" dirty="0"/>
              <a:t> / stockage</a:t>
            </a:r>
          </a:p>
          <a:p>
            <a:endParaRPr lang="fr-FR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euros par mois pour 100 utilisateurs actifs par jour, c'est le coût d'un MVP IA conversationnel bien dimensionné sur GCP. La clé est le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-to-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Cloud Run : si personne n'interroge l'API à 3h du matin, on ne paie pas. C'est fondamentalement différent d'une VM toujours allumée. Et quand on monte à 10 000 utilisateurs, le coût par utilisateur a été divisé par deux - c'est l'effet de mutualisation des coûts fixes.</a:t>
            </a:r>
          </a:p>
          <a:p>
            <a:endParaRPr lang="fr-FR" i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81B692-E99D-5C4F-4032-F92987DE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216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9324-895B-69CF-FAB8-F8ABAAE0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FFA2F94-F1EE-DB2F-1956-939998458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972044-A33B-98E2-3F14-3858F721C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 géographique →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national + filtre runtime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Remplacement de FAISS (index statique Occitanie) par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stocke les coordonnées GPS en métadonnées et applique le filtre géographique directement à la requête, sans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re-indexer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Absence de mémoire → Redis session store + fenêtre glissante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session utilisateur est stockée dans Redis avec un TTL ; les N derniers échanges sont injectés dans le contexte du LLM à chaque requête, donnant l'illusion d'une conversation continue.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 obsolètes → Ingestion incrémentale + Mistral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web_search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pipeline d'ingestion tourne quotidiennement pour mettre à jour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; pour les événements trop récents pour être indexés, Mistral cherche en temps réel sur le web en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insuffisant →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Langfuse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Cloud Monitoring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Langfuse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chaque appel LLM (prompt, réponse, latence, score Ragas) pendant que Cloud Monitoring surveille l'infrastructure (CPU, mémoire, latence API) - deux niveaux complémentaires d'observabilité.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Coûts LLM à l'échelle → Cache Redis + sampling Ragas 10 %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questions fréquentes sont mises en cache Redis pour éviter les appels Mistral redondants ; l'évaluation Ragas ne porte que sur 10 % des requêtes, réduisant le coût du modèle juge en production.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 multi-services → CI/CD Cloud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Secret Manager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reconstruit et déploie automatiquement chaque service conteneurisé sur merge main, les secrets (clés API,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étant injectés au runtime via Secret Manager sans jamais apparaître dans le code.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4CA59D-C71C-1AE3-C425-2EE9ED952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167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E4358-2B22-A145-8705-39BAAB10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78EAB7-9AD1-68A0-6870-B97FEA0B1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F7556E-64B1-1FE2-B305-18AFAB6F1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F6FB3E-BF27-C81A-DA9C-7F9B83DCC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279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21F7-7E78-7A7E-5B2F-0B2067ED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421A23-CDE6-4146-18A4-9ADBEB8A7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F28F94-B2AE-F767-7365-09E44B51D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 13 projets ne sont pas des exercices académiques - ce sont 13 réponses à des problèmes réels : comment auditer une base de données, comment orchestrer un pipeline, comment déployer un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IA en production.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parcours m'a appris à raisonner en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pas seulement coder une solution, mais choisir la bonne, la documenter, la faire tenir dans un budget et la livrer dans les délais.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B92AB0-76CC-9FD5-BA4F-019BE8F32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6762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78E7-78F0-AF1C-50CA-A8C2104A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FFE4B2-5E67-918D-3E26-BCA08A684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C68B64-5290-5DB5-4112-D4ADF515B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"Pourquoi GCP plutôt qu'AWS, qui est plus répandu en entreprise ?"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Continuité stack Mistral (Vertex AI) · crédits $300 ·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BigQuery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natif ; AWS reste une option valide, ce choix est documenté et justifiable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"Comment gérez-vous les risques de coûts Mistral en production ?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Cache Redis sur prompts fréquents, sampling Ragas à 10 %, possibilité de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`open-mistral-7b`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Qdrant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self-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hosted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Cloud Run, c'est robuste ?"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Disque persistant GCP, possible migration vers Vertex AI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 la charge l'exige — architecture prévue pour ça</a:t>
            </a:r>
          </a:p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backlog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60 jours pour 13 semaines, c'est réaliste ?"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Must-Have = 35 j sur S3–S8 (6 semaines) · Must-Have uniquement = livraison J3 garantie · Nice-to-Have en parallèle si avance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5425D4-848F-2E94-DF35-AB483DC59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7DE-FF34-4005-B339-C64DE517924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780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2E36-9368-EF0B-2517-77D5288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4EC23-A6CF-59D9-595B-B6C06B9457C8}"/>
              </a:ext>
            </a:extLst>
          </p:cNvPr>
          <p:cNvSpPr txBox="1"/>
          <p:nvPr/>
        </p:nvSpPr>
        <p:spPr>
          <a:xfrm>
            <a:off x="976333" y="2114705"/>
            <a:ext cx="9966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Rapport de gestion de projet</a:t>
            </a:r>
          </a:p>
          <a:p>
            <a:pPr algn="ctr"/>
            <a:r>
              <a:rPr lang="fr-FR" sz="3200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Passage du POC au MVP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6EBCD-4974-24B9-D776-B02E6BBA6889}"/>
              </a:ext>
            </a:extLst>
          </p:cNvPr>
          <p:cNvSpPr txBox="1"/>
          <p:nvPr/>
        </p:nvSpPr>
        <p:spPr>
          <a:xfrm>
            <a:off x="1112520" y="3483864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0" i="0" dirty="0" err="1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Chatbot</a:t>
            </a:r>
            <a:r>
              <a:rPr lang="fr-FR" sz="3200" b="0" i="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RAG - </a:t>
            </a:r>
            <a:r>
              <a:rPr lang="fr-FR" sz="3200" b="0" i="0" dirty="0" err="1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Puls</a:t>
            </a:r>
            <a:r>
              <a:rPr lang="fr-FR" sz="3200" b="0" i="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-Events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112EE-D0CF-0911-DB1D-5D4481B60D56}"/>
              </a:ext>
            </a:extLst>
          </p:cNvPr>
          <p:cNvSpPr/>
          <p:nvPr/>
        </p:nvSpPr>
        <p:spPr>
          <a:xfrm>
            <a:off x="3993853" y="3447288"/>
            <a:ext cx="3931920" cy="36576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B89F9EF-CC78-3B36-EB90-E6A6E2A2F612}"/>
              </a:ext>
            </a:extLst>
          </p:cNvPr>
          <p:cNvSpPr txBox="1"/>
          <p:nvPr/>
        </p:nvSpPr>
        <p:spPr>
          <a:xfrm>
            <a:off x="11353800" y="6611779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Segoe UI" panose="020B0502040204020203" pitchFamily="34" charset="0"/>
                <a:cs typeface="Segoe UI" panose="020B0502040204020203" pitchFamily="34" charset="0"/>
              </a:rPr>
              <a:t>11/04/2026</a:t>
            </a:r>
          </a:p>
        </p:txBody>
      </p:sp>
    </p:spTree>
    <p:extLst>
      <p:ext uri="{BB962C8B-B14F-4D97-AF65-F5344CB8AC3E}">
        <p14:creationId xmlns:p14="http://schemas.microsoft.com/office/powerpoint/2010/main" val="36279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19A1-C271-6FA1-8CDD-BC3701646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31BFE3B-93D1-5709-B2B4-AC8B9ED93DE6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CONTEXTE &amp; ENJEUX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1A954B-2B72-248D-CF79-7F00D790946C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FA72F-AAB0-5606-01F4-9C6987DA8C9A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1DF7BBD-2040-02E0-64A3-5807175F78E3}"/>
              </a:ext>
            </a:extLst>
          </p:cNvPr>
          <p:cNvSpPr txBox="1"/>
          <p:nvPr/>
        </p:nvSpPr>
        <p:spPr>
          <a:xfrm>
            <a:off x="142875" y="950595"/>
            <a:ext cx="119062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Contexte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Puls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-Events est une plateforme de recommandation d'événements culturels qui agrège et expose à ses 	utilisateurs un catalogue de près d'un million d'événements publics à travers toute la France provenant d’Open Agenda, un outil de collecte et de gestion d’évènements culturels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(personnalisable par lieu, période, thématiques)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F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Clr>
                <a:srgbClr val="00B050"/>
              </a:buClr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 POC a prouvé la faisabilité d'interrogation de base de données en langage naturel.</a:t>
            </a:r>
          </a:p>
          <a:p>
            <a:pPr marL="0" lvl="1"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Enjeux stratégiques :</a:t>
            </a:r>
          </a:p>
          <a:p>
            <a:pPr marL="171450" indent="-171450">
              <a:buClr>
                <a:srgbClr val="3D85C6"/>
              </a:buClr>
              <a:buFont typeface="Wingdings" panose="05000000000000000000" pitchFamily="2" charset="2"/>
              <a:buChar char="Ø"/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Positionnement IA concurrentiel dans l'événementiel</a:t>
            </a: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Expérience conversationnelle personnalisée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(géo + historique)</a:t>
            </a: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Architecture cloud capable de monter en charge</a:t>
            </a:r>
          </a:p>
          <a:p>
            <a:pPr marL="735013" indent="-285750">
              <a:spcBef>
                <a:spcPts val="600"/>
              </a:spcBef>
              <a:buClr>
                <a:srgbClr val="3D85C6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Observabilité dès le départ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(monitoring qualité &amp; infra)</a:t>
            </a:r>
            <a:endParaRPr lang="fr-FR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267E0A7-FA32-30DB-7304-4BCC9B1113E7}"/>
              </a:ext>
            </a:extLst>
          </p:cNvPr>
          <p:cNvSpPr txBox="1"/>
          <p:nvPr/>
        </p:nvSpPr>
        <p:spPr>
          <a:xfrm>
            <a:off x="304800" y="5743575"/>
            <a:ext cx="11572875" cy="81915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fr-FR" sz="24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Comment transformer ce POC en MVP scalable, déployable en production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B1A4BE-1272-9379-6015-81C56BCCE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468" y="3165823"/>
            <a:ext cx="2443137" cy="2417732"/>
          </a:xfrm>
          <a:prstGeom prst="rect">
            <a:avLst/>
          </a:prstGeom>
          <a:scene3d>
            <a:camera prst="orthographicFront">
              <a:rot lat="0" lon="10799977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35728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2C7CE-AB9B-9664-4A05-9CE0EAB4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3BB7002-0F6A-D989-6F5E-AE86D82A34EF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4 DÉFIS TEHCNIQUES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1A9CB8-0F7C-B6E1-1687-0C9A3F540320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B6B88E-576B-B35E-73D6-C1BCF5AD0C3A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5B774-1AC9-9065-ED63-EE6D54BEA4FB}"/>
              </a:ext>
            </a:extLst>
          </p:cNvPr>
          <p:cNvSpPr/>
          <p:nvPr/>
        </p:nvSpPr>
        <p:spPr>
          <a:xfrm>
            <a:off x="541020" y="128968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81068-9D8A-D555-9451-1D2AF02CCEC2}"/>
              </a:ext>
            </a:extLst>
          </p:cNvPr>
          <p:cNvSpPr/>
          <p:nvPr/>
        </p:nvSpPr>
        <p:spPr>
          <a:xfrm>
            <a:off x="541020" y="1289685"/>
            <a:ext cx="73152" cy="1965960"/>
          </a:xfrm>
          <a:prstGeom prst="rect">
            <a:avLst/>
          </a:prstGeom>
          <a:solidFill>
            <a:srgbClr val="2C8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BB15088-8085-DA9D-D6EE-5DFCF7726696}"/>
              </a:ext>
            </a:extLst>
          </p:cNvPr>
          <p:cNvSpPr txBox="1"/>
          <p:nvPr/>
        </p:nvSpPr>
        <p:spPr>
          <a:xfrm>
            <a:off x="705612" y="139941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2C82C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🧠  Mémoire conversationnelle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86ED092-B9E8-853E-3B10-F4475B52111F}"/>
              </a:ext>
            </a:extLst>
          </p:cNvPr>
          <p:cNvSpPr txBox="1"/>
          <p:nvPr/>
        </p:nvSpPr>
        <p:spPr>
          <a:xfrm>
            <a:off x="705612" y="183832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</a:t>
            </a:r>
            <a:r>
              <a:rPr lang="fr-FR" sz="1400" b="1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447675" indent="-190500" algn="l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	C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haque question traitée indépendamment</a:t>
            </a:r>
          </a:p>
          <a:p>
            <a:pPr algn="l"/>
            <a:r>
              <a:rPr lang="fr-FR" sz="1000" b="1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
</a:t>
            </a:r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</a:p>
          <a:p>
            <a:pPr marL="447675" indent="-19050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Redis session store avec fenêtre de contexte glissante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1BDFE9-D72A-D7A2-6C32-F1D7D1739AA8}"/>
              </a:ext>
            </a:extLst>
          </p:cNvPr>
          <p:cNvSpPr/>
          <p:nvPr/>
        </p:nvSpPr>
        <p:spPr>
          <a:xfrm>
            <a:off x="6210300" y="128968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56FF8-7035-7E12-E954-3D71A3A49110}"/>
              </a:ext>
            </a:extLst>
          </p:cNvPr>
          <p:cNvSpPr/>
          <p:nvPr/>
        </p:nvSpPr>
        <p:spPr>
          <a:xfrm>
            <a:off x="6210300" y="1289685"/>
            <a:ext cx="73152" cy="1965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3941B46-FF05-8D05-2A41-49F2095187AC}"/>
              </a:ext>
            </a:extLst>
          </p:cNvPr>
          <p:cNvSpPr txBox="1"/>
          <p:nvPr/>
        </p:nvSpPr>
        <p:spPr>
          <a:xfrm>
            <a:off x="6374892" y="139941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27AE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📍  Géographie dynamique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0C8BCD-67FC-2591-F3A0-4A233AC2F905}"/>
              </a:ext>
            </a:extLst>
          </p:cNvPr>
          <p:cNvSpPr txBox="1"/>
          <p:nvPr/>
        </p:nvSpPr>
        <p:spPr>
          <a:xfrm>
            <a:off x="6374892" y="183832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</a:t>
            </a:r>
            <a:r>
              <a:rPr lang="fr-FR" sz="1400" b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447675" indent="-19050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Filtre Occitanie statique au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preprocessing</a:t>
            </a:r>
            <a:endParaRPr lang="fr-FR" sz="14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b="1" i="1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Index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national + filtre géospatial à la requête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70B282-B8FC-BFE1-499E-95AFE8213461}"/>
              </a:ext>
            </a:extLst>
          </p:cNvPr>
          <p:cNvSpPr/>
          <p:nvPr/>
        </p:nvSpPr>
        <p:spPr>
          <a:xfrm>
            <a:off x="541020" y="343852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B43B2C-224D-3BB3-70BB-065004C9CC01}"/>
              </a:ext>
            </a:extLst>
          </p:cNvPr>
          <p:cNvSpPr/>
          <p:nvPr/>
        </p:nvSpPr>
        <p:spPr>
          <a:xfrm>
            <a:off x="541020" y="3438525"/>
            <a:ext cx="73152" cy="1965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B90524C-1BF0-F273-538E-C390599285E4}"/>
              </a:ext>
            </a:extLst>
          </p:cNvPr>
          <p:cNvSpPr txBox="1"/>
          <p:nvPr/>
        </p:nvSpPr>
        <p:spPr>
          <a:xfrm>
            <a:off x="705612" y="354825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🌐  Données temps réel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F70E5D3-6727-182E-AE1C-7C1014F3A43C}"/>
              </a:ext>
            </a:extLst>
          </p:cNvPr>
          <p:cNvSpPr txBox="1"/>
          <p:nvPr/>
        </p:nvSpPr>
        <p:spPr>
          <a:xfrm>
            <a:off x="705612" y="398716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 </a:t>
            </a: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vectorielle statique </a:t>
            </a:r>
            <a:r>
              <a:rPr lang="fr-FR" sz="1050" b="0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(snapshot)</a:t>
            </a:r>
          </a:p>
          <a:p>
            <a:pPr algn="l"/>
            <a:endParaRPr lang="fr-FR" sz="10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  <a:endParaRPr lang="fr-FR" sz="14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Mistral Agents API </a:t>
            </a:r>
            <a:r>
              <a:rPr lang="fr-FR" sz="1400" b="0" i="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natif en </a:t>
            </a:r>
            <a:r>
              <a:rPr lang="fr-FR" sz="1400" b="0" i="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fallback</a:t>
            </a:r>
            <a:endParaRPr lang="fr-FR" sz="1400" b="0" i="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20770A-7E5A-D599-62EB-12347C4DCC6A}"/>
              </a:ext>
            </a:extLst>
          </p:cNvPr>
          <p:cNvSpPr/>
          <p:nvPr/>
        </p:nvSpPr>
        <p:spPr>
          <a:xfrm>
            <a:off x="6210300" y="3438525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1570EB-A414-9F45-62D5-D3D1EEC5425F}"/>
              </a:ext>
            </a:extLst>
          </p:cNvPr>
          <p:cNvSpPr/>
          <p:nvPr/>
        </p:nvSpPr>
        <p:spPr>
          <a:xfrm>
            <a:off x="6210300" y="3438525"/>
            <a:ext cx="73152" cy="1965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418A91F-E786-2C1E-0D1C-D8022EC92ADB}"/>
              </a:ext>
            </a:extLst>
          </p:cNvPr>
          <p:cNvSpPr txBox="1"/>
          <p:nvPr/>
        </p:nvSpPr>
        <p:spPr>
          <a:xfrm>
            <a:off x="6374892" y="3548253"/>
            <a:ext cx="5120640" cy="307777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fr-FR" b="1" i="0" dirty="0">
                <a:solidFill>
                  <a:srgbClr val="8E44A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📊  Monitoring production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60DB086-88E2-8F30-EFDF-DEDA29876E21}"/>
              </a:ext>
            </a:extLst>
          </p:cNvPr>
          <p:cNvSpPr txBox="1"/>
          <p:nvPr/>
        </p:nvSpPr>
        <p:spPr>
          <a:xfrm>
            <a:off x="6374892" y="3987165"/>
            <a:ext cx="5120640" cy="128016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Limite POC : </a:t>
            </a: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Évaluation Ragas offline ponctuelle</a:t>
            </a:r>
          </a:p>
          <a:p>
            <a:pPr algn="l"/>
            <a:endParaRPr lang="fr-FR" sz="10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proposée :</a:t>
            </a:r>
            <a:endParaRPr lang="fr-FR" sz="1400" b="0" i="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7675" lvl="1" indent="-190500">
              <a:buFont typeface="Arial" panose="020B0604020202020204" pitchFamily="34" charset="0"/>
              <a:buChar char="•"/>
            </a:pPr>
            <a:r>
              <a:rPr lang="fr-FR" sz="1400" b="0" i="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050" b="0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(traces LLM) </a:t>
            </a:r>
            <a:r>
              <a:rPr lang="fr-FR" sz="1400" b="0" i="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 Cloud Monitoring </a:t>
            </a:r>
            <a:r>
              <a:rPr lang="fr-FR" sz="1050" b="0" i="1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(infra)</a:t>
            </a:r>
            <a:endParaRPr lang="fr-FR" sz="1400" b="0" i="1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4D9C3C7-DDA6-F46A-CC07-DDA8649868C8}"/>
              </a:ext>
            </a:extLst>
          </p:cNvPr>
          <p:cNvSpPr txBox="1"/>
          <p:nvPr/>
        </p:nvSpPr>
        <p:spPr>
          <a:xfrm>
            <a:off x="304800" y="5743575"/>
            <a:ext cx="11572875" cy="81915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4476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UC1 : </a:t>
            </a:r>
            <a:r>
              <a:rPr lang="fr-FR" sz="1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Qu'est-ce qu'il y a à faire ce week-end à Lyon ? 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→ recherche sémantique + géo</a:t>
            </a:r>
          </a:p>
          <a:p>
            <a:pPr marL="4476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UC2 : </a:t>
            </a:r>
            <a:r>
              <a:rPr lang="fr-FR" sz="1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 plutôt pour des enfants ?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mémoire conversationnelle</a:t>
            </a:r>
          </a:p>
          <a:p>
            <a:pPr marL="4476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UC3 : </a:t>
            </a:r>
            <a:r>
              <a:rPr lang="fr-FR" sz="1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Événement très récent non indexé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‘</a:t>
            </a:r>
            <a:r>
              <a:rPr lang="fr-FR" sz="1200" dirty="0" err="1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sz="12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 automatique</a:t>
            </a:r>
          </a:p>
        </p:txBody>
      </p:sp>
    </p:spTree>
    <p:extLst>
      <p:ext uri="{BB962C8B-B14F-4D97-AF65-F5344CB8AC3E}">
        <p14:creationId xmlns:p14="http://schemas.microsoft.com/office/powerpoint/2010/main" val="136455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9302-ACF7-6A7C-B0D5-CF4B7F6F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9D22159-8D26-27A3-736D-DC21F734D1B1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 TECHNIQUE – Vue global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2D52549-1D7B-AB42-9B33-9E36A9CBB888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83041-EE46-E21D-1129-C30C1211CA92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0F1476C-2EC0-C2D2-9F96-E7DD7C2EACD7}"/>
              </a:ext>
            </a:extLst>
          </p:cNvPr>
          <p:cNvSpPr txBox="1"/>
          <p:nvPr/>
        </p:nvSpPr>
        <p:spPr>
          <a:xfrm>
            <a:off x="142875" y="950595"/>
            <a:ext cx="969645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Schéma d'architecture en 4 couches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6700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Cloud provider retenu :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GCP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(vs AWS / Azure)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Points forts de l'architecture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2925" indent="-28575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Scale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-to-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zero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sur Cloud Run → coût à l'usage uniquement</a:t>
            </a:r>
          </a:p>
          <a:p>
            <a:pPr marL="542925" indent="-28575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Zéro dépendance externe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pour la recherche web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(Mistral natif)</a:t>
            </a:r>
            <a:endParaRPr lang="fr-FR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2925" indent="-28575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Modularité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LLM,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vectorstore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frontend interchangeables sans refonte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DC0A8B9-65EA-9A1B-F008-3349231E2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08" y="1647825"/>
            <a:ext cx="10602183" cy="225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4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C85D-D665-1049-772E-8D42D218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2A68194-6BE6-19E7-E9C2-A6F215138A9A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 TECHNIQUE – Composants &amp; justifications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5F7231-3120-91BE-F51D-00B870564212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CB97BB-52E4-EFAC-0594-86FE82281328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6920E4CD-2639-6F02-C926-4502C5D0B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456537"/>
              </p:ext>
            </p:extLst>
          </p:nvPr>
        </p:nvGraphicFramePr>
        <p:xfrm>
          <a:off x="289560" y="1592578"/>
          <a:ext cx="11612880" cy="4488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687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Composant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Technologie retenue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Justification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provider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GCP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 sur Vertex AI / $300 crédits /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BigQuery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natif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Vectorstore</a:t>
                      </a:r>
                      <a:endParaRPr lang="fr-FR" sz="16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Qdrant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Filtre GPS/date/ville → </a:t>
                      </a:r>
                      <a:r>
                        <a:rPr lang="fr-FR" sz="1600" i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impossible avec FAISS </a:t>
                      </a:r>
                      <a:r>
                        <a:rPr lang="fr-FR" sz="1600" i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IndexFlatIP</a:t>
                      </a:r>
                      <a:endParaRPr lang="fr-FR" sz="1600" i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LLM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mistral-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small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Continuité POC / coût/performance optimal / temp=0.0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Mémoire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Redis </a:t>
                      </a:r>
                      <a:r>
                        <a:rPr lang="fr-FR" sz="1100" i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(Cloud </a:t>
                      </a:r>
                      <a:r>
                        <a:rPr lang="fr-FR" sz="1100" i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Memorystore</a:t>
                      </a:r>
                      <a:r>
                        <a:rPr lang="fr-FR" sz="1100" i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fr-FR" sz="1600" i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TTL session configurable / latence &lt; 1 ms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Recherche web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 Agents API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web_search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Natif / zéro dépendance / citations sources incluses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API Backend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FastAPI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Asynchrone / documentation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OpenAPI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auto / léger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CI/CD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Artifact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Registry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Pipeline auto 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build→test→push→deploy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sur merge main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687">
                <a:tc>
                  <a:txBody>
                    <a:bodyPr/>
                    <a:lstStyle/>
                    <a:p>
                      <a:r>
                        <a:rPr lang="fr-FR" sz="16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Monitoring LLM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endParaRPr lang="fr-FR" sz="1600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Self-</a:t>
                      </a:r>
                      <a:r>
                        <a:rPr lang="fr-FR" sz="16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hostable</a:t>
                      </a:r>
                      <a:r>
                        <a:rPr lang="fr-FR" sz="16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traces complètes / scores Ragas continus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40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CC22-4009-FADB-C29C-41CFF4F9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1971ABA-BC80-4904-89D3-313CEDFBB66D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 DE PROJET &amp; BACKLOG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DFEFBF-5EEA-2ECC-F504-23A45381D3EA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D3D475-68EB-63F9-9155-CC2F229772FF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6F31206-C5D1-A744-2DE4-3061BEBA71A2}"/>
              </a:ext>
            </a:extLst>
          </p:cNvPr>
          <p:cNvSpPr txBox="1"/>
          <p:nvPr/>
        </p:nvSpPr>
        <p:spPr>
          <a:xfrm>
            <a:off x="142875" y="950595"/>
            <a:ext cx="582072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Les jalons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 plan de projet structuré, ancré dans des jalons mesurables et un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priorisé par valeur métier.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S1-S2 : Cadrage, architecture, provisioning GCP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S3-S6 : Développement pipeline, RAG, API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S7-S8 : Déploiement, monitoring, tests de charge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S9-S11 : Recette UAT, corrections, homologation</a:t>
            </a: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S12-S13 :Vérification, support présentation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0FF247A-BA6D-596C-C45B-E5366A4C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483735"/>
              </p:ext>
            </p:extLst>
          </p:nvPr>
        </p:nvGraphicFramePr>
        <p:xfrm>
          <a:off x="652938" y="2346960"/>
          <a:ext cx="4800600" cy="2164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Jalon</a:t>
                      </a: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Date cible</a:t>
                      </a: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J1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Rapport validé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07/05/2026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J2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Architecture GCP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15/05/2026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J3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MVP développé &amp; testé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12/06/2026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J4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MVP déployé (</a:t>
                      </a:r>
                      <a:r>
                        <a:rPr lang="fr-FR" sz="1400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staging</a:t>
                      </a:r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26/06/2026</a:t>
                      </a:r>
                    </a:p>
                  </a:txBody>
                  <a:tcPr anchor="ctr"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J5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Recette UAT signée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17/07/2026</a:t>
                      </a:r>
                    </a:p>
                  </a:txBody>
                  <a:tcPr>
                    <a:solidFill>
                      <a:schemeClr val="accent5">
                        <a:tint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381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J6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Livraison finale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31/07/2026</a:t>
                      </a:r>
                    </a:p>
                  </a:txBody>
                  <a:tcPr>
                    <a:solidFill>
                      <a:schemeClr val="accent5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3C69356-92BC-6FC5-263F-619361E47D70}"/>
              </a:ext>
            </a:extLst>
          </p:cNvPr>
          <p:cNvSpPr/>
          <p:nvPr/>
        </p:nvSpPr>
        <p:spPr>
          <a:xfrm>
            <a:off x="6014085" y="1441848"/>
            <a:ext cx="5820727" cy="4723387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2EC30-D128-FED9-C96B-8EC72ECB4772}"/>
              </a:ext>
            </a:extLst>
          </p:cNvPr>
          <p:cNvSpPr/>
          <p:nvPr/>
        </p:nvSpPr>
        <p:spPr>
          <a:xfrm>
            <a:off x="6014085" y="1441847"/>
            <a:ext cx="5820727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76D5215A-639F-412B-046E-AB483A2850F5}"/>
              </a:ext>
            </a:extLst>
          </p:cNvPr>
          <p:cNvSpPr txBox="1"/>
          <p:nvPr/>
        </p:nvSpPr>
        <p:spPr>
          <a:xfrm>
            <a:off x="6059805" y="1455451"/>
            <a:ext cx="5603559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fr-FR" sz="1600" b="1" i="0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19 fonctionnalités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99FEA4-5EE4-D938-55D0-5B2A8DB34805}"/>
              </a:ext>
            </a:extLst>
          </p:cNvPr>
          <p:cNvSpPr/>
          <p:nvPr/>
        </p:nvSpPr>
        <p:spPr>
          <a:xfrm>
            <a:off x="6059805" y="1880759"/>
            <a:ext cx="5729287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BCC646-FC5E-A4DF-A732-DEDBFF1C6DF6}"/>
              </a:ext>
            </a:extLst>
          </p:cNvPr>
          <p:cNvSpPr txBox="1"/>
          <p:nvPr/>
        </p:nvSpPr>
        <p:spPr>
          <a:xfrm>
            <a:off x="6105526" y="1880647"/>
            <a:ext cx="5637846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 Must-Have - essentielles au MVP  </a:t>
            </a:r>
            <a:r>
              <a:rPr lang="fr-FR" sz="1100" b="1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(~35 jours)</a:t>
            </a:r>
            <a:endParaRPr lang="fr-FR" sz="1600" b="1" i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653C4047-636B-5900-9F4C-CF08FD588914}"/>
              </a:ext>
            </a:extLst>
          </p:cNvPr>
          <p:cNvSpPr txBox="1"/>
          <p:nvPr/>
        </p:nvSpPr>
        <p:spPr>
          <a:xfrm>
            <a:off x="6105525" y="2219087"/>
            <a:ext cx="5943600" cy="26776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MH-01  Pipeline ingestion national (Open Agenda → France entière)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MH-02  Vectorisation mistral-embed 1024D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MH-03  Index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métadonnées GPS/date/ville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MH-04  Filtre géospatial dynamique (rayon configurable)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MH-05  Mémoire conversationnelle Redis (TTL session)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MH-06  Pipeline RAG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LangChain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LCEL (MMR k=10)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MH-07  API REST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FastAPI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(/chat · /session · /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MH-08  Interface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Streamlit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feedback utilisateur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MH-09  Déploiement Cloud Run + 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MH-10  CI/CD Cloud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automatisé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MH-11  Monitoring LLM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(traces + Ragas)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MH-12  Monitoring infra Cloud Monitoring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70C2A9-B11B-EBE2-3247-BD8645C4D5F8}"/>
              </a:ext>
            </a:extLst>
          </p:cNvPr>
          <p:cNvSpPr/>
          <p:nvPr/>
        </p:nvSpPr>
        <p:spPr>
          <a:xfrm>
            <a:off x="6059805" y="4929126"/>
            <a:ext cx="5729287" cy="320040"/>
          </a:xfrm>
          <a:prstGeom prst="rect">
            <a:avLst/>
          </a:prstGeom>
          <a:solidFill>
            <a:srgbClr val="2C8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FD56274B-40F7-8096-0E69-1A7E3DF8CA34}"/>
              </a:ext>
            </a:extLst>
          </p:cNvPr>
          <p:cNvSpPr txBox="1"/>
          <p:nvPr/>
        </p:nvSpPr>
        <p:spPr>
          <a:xfrm>
            <a:off x="6105525" y="4919870"/>
            <a:ext cx="5637847" cy="338554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fr-FR" sz="1600" b="1" i="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 Nice-to-Have  </a:t>
            </a:r>
            <a:r>
              <a:rPr lang="fr-FR" sz="1100" b="1" i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(~25 jours)</a:t>
            </a:r>
            <a:endParaRPr lang="fr-FR" sz="1600" b="1" i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4A39E8BE-C11A-D7B8-A9EB-FC1B702C7BA0}"/>
              </a:ext>
            </a:extLst>
          </p:cNvPr>
          <p:cNvSpPr txBox="1"/>
          <p:nvPr/>
        </p:nvSpPr>
        <p:spPr>
          <a:xfrm>
            <a:off x="6105525" y="5258422"/>
            <a:ext cx="5943600" cy="906813"/>
          </a:xfrm>
          <a:prstGeom prst="rect">
            <a:avLst/>
          </a:prstGeom>
          <a:noFill/>
        </p:spPr>
        <p:txBody>
          <a:bodyPr wrap="square" numCol="2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NH-01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web_search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Mistral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NH-02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GeoIP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auto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NH-03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incrémental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NH-04 Ragas en prod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NH-05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React</a:t>
            </a: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NH-06 Multi-sources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NH-07 </a:t>
            </a:r>
            <a:r>
              <a:rPr lang="fr-FR" sz="1400" dirty="0" err="1">
                <a:solidFill>
                  <a:srgbClr val="1A25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BigQuery</a:t>
            </a:r>
            <a:endParaRPr lang="fr-FR" sz="1400" dirty="0">
              <a:solidFill>
                <a:srgbClr val="1A25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8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38BD-679E-E40A-5FFD-804B8C65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8091125-166D-B0BD-F66F-D73549F71C12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ESTIMATION DES COÛTS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280214D-0CF8-B367-02AD-EA12FB1E5E09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90175-468E-D888-F2E5-29AB433E2E83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91C2E9-9688-954F-8EAB-E3E9A0948121}"/>
              </a:ext>
            </a:extLst>
          </p:cNvPr>
          <p:cNvSpPr txBox="1"/>
          <p:nvPr/>
        </p:nvSpPr>
        <p:spPr>
          <a:xfrm>
            <a:off x="142875" y="950595"/>
            <a:ext cx="491680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Coûts </a:t>
            </a:r>
            <a:r>
              <a:rPr lang="fr-FR" sz="2400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build</a:t>
            </a: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600" i="1" u="sng" dirty="0">
                <a:latin typeface="Segoe UI" panose="020B0502040204020203" pitchFamily="34" charset="0"/>
                <a:cs typeface="Segoe UI" panose="020B0502040204020203" pitchFamily="34" charset="0"/>
              </a:rPr>
              <a:t>(infra dev/</a:t>
            </a:r>
            <a:r>
              <a:rPr lang="fr-FR" sz="1600" i="1" u="sng" dirty="0" err="1">
                <a:latin typeface="Segoe UI" panose="020B0502040204020203" pitchFamily="34" charset="0"/>
                <a:cs typeface="Segoe UI" panose="020B0502040204020203" pitchFamily="34" charset="0"/>
              </a:rPr>
              <a:t>staging</a:t>
            </a:r>
            <a:r>
              <a:rPr lang="fr-FR" sz="1600" i="1" u="sng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3D85C6"/>
              </a:buClr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Couverts intégralement par les crédits GCP </a:t>
            </a:r>
            <a:r>
              <a:rPr lang="fr-FR" sz="1100" i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($300)</a:t>
            </a:r>
            <a:endParaRPr lang="fr-FR" sz="1600" i="1" dirty="0">
              <a:solidFill>
                <a:srgbClr val="3D85C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102DB8-5B0C-C976-FD0E-05E941BFBEEC}"/>
              </a:ext>
            </a:extLst>
          </p:cNvPr>
          <p:cNvSpPr txBox="1"/>
          <p:nvPr/>
        </p:nvSpPr>
        <p:spPr>
          <a:xfrm>
            <a:off x="5227320" y="950595"/>
            <a:ext cx="68218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OPEX mensuel </a:t>
            </a:r>
            <a:r>
              <a:rPr lang="fr-FR" sz="1600" i="1" u="sng" dirty="0">
                <a:latin typeface="Segoe UI" panose="020B0502040204020203" pitchFamily="34" charset="0"/>
                <a:cs typeface="Segoe UI" panose="020B0502040204020203" pitchFamily="34" charset="0"/>
              </a:rPr>
              <a:t>(3 scénarios)</a:t>
            </a: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sz="1600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 coût par utilisateur décroît avec la montée en charge </a:t>
            </a:r>
          </a:p>
          <a:p>
            <a:pPr marL="449263"/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fr-FR" sz="1100" i="1" dirty="0" err="1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scale</a:t>
            </a:r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-to-</a:t>
            </a:r>
            <a:r>
              <a:rPr lang="fr-FR" sz="1100" i="1" dirty="0" err="1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zero</a:t>
            </a:r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Cloud Run + mutualisation des coûts fixes (Redis, </a:t>
            </a:r>
            <a:r>
              <a:rPr lang="fr-FR" sz="1100" i="1" dirty="0" err="1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sz="1100" i="1" dirty="0">
                <a:solidFill>
                  <a:srgbClr val="E67E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))</a:t>
            </a:r>
          </a:p>
        </p:txBody>
      </p:sp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F0096640-D555-49F6-EC35-F11FFE7C9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166780"/>
              </p:ext>
            </p:extLst>
          </p:nvPr>
        </p:nvGraphicFramePr>
        <p:xfrm>
          <a:off x="644628" y="1569720"/>
          <a:ext cx="3899032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762"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Service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 (11 sem.)</a:t>
                      </a:r>
                    </a:p>
                  </a:txBody>
                  <a:tcPr anchor="ctr"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Run (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dev+staging</a:t>
                      </a:r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~8 €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Redis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staging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~25 €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Mistral AI (tests)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~15 €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Cloud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Registry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Gratuit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601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infra </a:t>
                      </a:r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build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~50 €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5">
            <a:extLst>
              <a:ext uri="{FF2B5EF4-FFF2-40B4-BE49-F238E27FC236}">
                <a16:creationId xmlns:a16="http://schemas.microsoft.com/office/drawing/2014/main" id="{3F449EB3-3E6B-9B69-1EB6-E1E7797D9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366753"/>
              </p:ext>
            </p:extLst>
          </p:nvPr>
        </p:nvGraphicFramePr>
        <p:xfrm>
          <a:off x="5844857" y="1742271"/>
          <a:ext cx="558673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Scénario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Users</a:t>
                      </a:r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/j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OPEX/mois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Coût/user/mois</a:t>
                      </a:r>
                    </a:p>
                  </a:txBody>
                  <a:tcPr anchor="ctr">
                    <a:solidFill>
                      <a:srgbClr val="E67E22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MVP lancement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~50 €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~0,017 €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1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Croissance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1 000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~350 €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~0,012 €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1" noProof="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Scale</a:t>
                      </a:r>
                      <a:endParaRPr lang="fr-FR" sz="1400" b="1" noProof="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10 000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~2 265 €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noProof="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~0,008 €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Graphique 17" descr="Graphique de tendance à la baisse avec un remplissage uni">
            <a:extLst>
              <a:ext uri="{FF2B5EF4-FFF2-40B4-BE49-F238E27FC236}">
                <a16:creationId xmlns:a16="http://schemas.microsoft.com/office/drawing/2014/main" id="{269E259F-39A4-2CB4-42CA-5DB44A24E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1140" y="3539282"/>
            <a:ext cx="438954" cy="43895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200AD15-E81D-9F42-5F10-27A6A7F7AF91}"/>
              </a:ext>
            </a:extLst>
          </p:cNvPr>
          <p:cNvSpPr txBox="1"/>
          <p:nvPr/>
        </p:nvSpPr>
        <p:spPr>
          <a:xfrm>
            <a:off x="142873" y="3936027"/>
            <a:ext cx="4916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Leviers d’optimisation budgétaire:</a:t>
            </a: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8FDF489B-F099-F9D4-7A97-C293E70B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56635"/>
              </p:ext>
            </p:extLst>
          </p:nvPr>
        </p:nvGraphicFramePr>
        <p:xfrm>
          <a:off x="2594144" y="4492079"/>
          <a:ext cx="63119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Levier</a:t>
                      </a:r>
                    </a:p>
                  </a:txBody>
                  <a:tcPr anchor="ctr">
                    <a:solidFill>
                      <a:srgbClr val="00B05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Économie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potentielle</a:t>
                      </a:r>
                      <a:endParaRPr sz="16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00B05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Cache Redis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(questions </a:t>
                      </a:r>
                      <a:r>
                        <a:rPr sz="1100" b="1" i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répétées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-20 à 30 % Mistral API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Modèle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plus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léger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(open-mistral-7b)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-60 %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génération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Ingestion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incrémentale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uniquement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-50 %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coûts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embedding build</a:t>
                      </a: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Qdrant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auto-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hébergé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(Cloud Run + </a:t>
                      </a:r>
                      <a:r>
                        <a:rPr sz="1100" b="1" i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disque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-40 %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vectorstore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self-hosted </a:t>
                      </a:r>
                      <a:r>
                        <a:rPr sz="1100" b="1" i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(&gt; 50 K traces)</a:t>
                      </a:r>
                      <a:endParaRPr sz="1400" b="1" i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-25 €/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mois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30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D805-CC2B-6985-A8DF-815B195A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21A0373-2CB6-E0E9-5834-6D1FA701A991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BILAN &amp; JUSTIFICATION DES CHOIX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BE4CED-0A16-0509-382E-AC2FF48AF6A4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2535-16C1-02D5-89F9-05CCA904F1FE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59E9C9-AF97-85D0-D020-56FE9EF26DDD}"/>
              </a:ext>
            </a:extLst>
          </p:cNvPr>
          <p:cNvSpPr txBox="1"/>
          <p:nvPr/>
        </p:nvSpPr>
        <p:spPr>
          <a:xfrm>
            <a:off x="142875" y="950595"/>
            <a:ext cx="119062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Défis rencontrés &amp; solutions :</a:t>
            </a: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Les livrables :</a:t>
            </a:r>
          </a:p>
          <a:p>
            <a:pPr>
              <a:buClr>
                <a:srgbClr val="00B050"/>
              </a:buClr>
            </a:pP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Rapport de gestion complet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(analyse, architecture, </a:t>
            </a:r>
            <a:r>
              <a:rPr lang="fr-FR" sz="12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, coûts, bilan)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cloud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scalable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GCP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documentée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(schémas + justifications)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priorisé :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12 Must-Have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et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7 Nice-to-Have estimés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avec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risques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mitigations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Plan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de projet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13 semaines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avec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jalons mesurables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Estimation OPEX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sur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3 scénarios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avec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leviers d'optimisation</a:t>
            </a:r>
          </a:p>
          <a:p>
            <a:endParaRPr lang="fr-FR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24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D3180A91-821F-13B1-4988-2C21C9057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55145"/>
              </p:ext>
            </p:extLst>
          </p:nvPr>
        </p:nvGraphicFramePr>
        <p:xfrm>
          <a:off x="2594610" y="1597158"/>
          <a:ext cx="700278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55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Défi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rencontré</a:t>
                      </a:r>
                      <a:endParaRPr sz="16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Solution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appliquée</a:t>
                      </a:r>
                      <a:endParaRPr sz="16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3D85C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 géo trop restreint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FAISS →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Qdrant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national +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filtre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runtime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Absence de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mémoire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Redis session store +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fenêtre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glissante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Données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obsolètes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rapidement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Ingestion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incrémentale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web_search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natif</a:t>
                      </a:r>
                      <a:endParaRPr sz="1400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Monitoring </a:t>
                      </a:r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insuffisant</a:t>
                      </a:r>
                      <a:endParaRPr sz="1400" b="1" dirty="0">
                        <a:solidFill>
                          <a:srgbClr val="1A252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(LLM) + Cloud Monitoring (infra)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Coûts Mistral à l'échelle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Cache Redis + sampling Ragas 10 %</a:t>
                      </a:r>
                    </a:p>
                  </a:txBody>
                  <a:tcPr>
                    <a:solidFill>
                      <a:srgbClr val="F4F6F7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323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Déploiement</a:t>
                      </a:r>
                      <a:r>
                        <a:rPr sz="1400" b="1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multi-services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A252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CI/CD Cloud Build + Secret Manager</a:t>
                      </a:r>
                    </a:p>
                  </a:txBody>
                  <a:tcPr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18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4CA22-23F5-B7FE-CE50-FAF3E81F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184EA17-6813-70B7-A6B5-EE9E7E30BF7E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222DB9-25F5-98FC-1360-F41E9B61E9C2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DC25D-841D-43A5-4D90-438890EB097D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59D99F-5103-47A4-0C6A-73713DA5F8CA}"/>
              </a:ext>
            </a:extLst>
          </p:cNvPr>
          <p:cNvSpPr txBox="1"/>
          <p:nvPr/>
        </p:nvSpPr>
        <p:spPr>
          <a:xfrm>
            <a:off x="142874" y="950595"/>
            <a:ext cx="11906249" cy="551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Conclusion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En 13 semaines, avec un budget infra de 50 €/mois et un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de 12 fonctionnalités Must-Have clairement priorisées, ce projet est faisable, planifié et budgété. Les risques ont été identifiés, les mitigations documentées, et chaque jalon est associé à un livrable mesurable. </a:t>
            </a:r>
          </a:p>
          <a:p>
            <a:pPr marL="449263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9263"/>
            <a:r>
              <a:rPr lang="fr-FR" i="1" dirty="0">
                <a:latin typeface="Segoe UI" panose="020B0502040204020203" pitchFamily="34" charset="0"/>
                <a:cs typeface="Segoe UI" panose="020B0502040204020203" pitchFamily="34" charset="0"/>
              </a:rPr>
              <a:t>La question n'est plus ‘</a:t>
            </a:r>
            <a:r>
              <a:rPr lang="fr-FR" b="1" i="1" dirty="0">
                <a:latin typeface="Segoe UI" panose="020B0502040204020203" pitchFamily="34" charset="0"/>
                <a:cs typeface="Segoe UI" panose="020B0502040204020203" pitchFamily="34" charset="0"/>
              </a:rPr>
              <a:t>est-ce réalisable ?</a:t>
            </a:r>
            <a:r>
              <a:rPr lang="fr-FR" i="1" dirty="0">
                <a:latin typeface="Segoe UI" panose="020B0502040204020203" pitchFamily="34" charset="0"/>
                <a:cs typeface="Segoe UI" panose="020B0502040204020203" pitchFamily="34" charset="0"/>
              </a:rPr>
              <a:t>’ : c'est ‘</a:t>
            </a:r>
            <a:r>
              <a:rPr lang="fr-FR" b="1" i="1" dirty="0">
                <a:latin typeface="Segoe UI" panose="020B0502040204020203" pitchFamily="34" charset="0"/>
                <a:cs typeface="Segoe UI" panose="020B0502040204020203" pitchFamily="34" charset="0"/>
              </a:rPr>
              <a:t>quand démarre-t-on ?’</a:t>
            </a:r>
            <a:endParaRPr lang="fr-FR" sz="1000" b="1" i="1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Synthèse du MVP :</a:t>
            </a:r>
          </a:p>
          <a:p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Architecture GCP Cloud Run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/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Qdrant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Redis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LangChain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Mistral AI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Langfuse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Plan de réalisation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13 semaines / 37 jours / 6 jalons</a:t>
            </a:r>
          </a:p>
          <a:p>
            <a:pPr marL="715963" indent="-342900">
              <a:buFont typeface="Arial" panose="020B0604020202020204" pitchFamily="34" charset="0"/>
              <a:buChar char="•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OPEX démarrage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~50 €/mois pour 100 utilisateurs/jour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Ce que démontre ce projet :</a:t>
            </a:r>
          </a:p>
          <a:p>
            <a:endParaRPr lang="fr-FR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35013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Articuler contraintes métier, performance, gouvernance et coûts</a:t>
            </a:r>
          </a:p>
          <a:p>
            <a:pPr marL="735013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Concevoir une architecture à 50 €/mois tenant un SLA 99,5 %</a:t>
            </a:r>
          </a:p>
          <a:p>
            <a:pPr marL="735013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Mesurer la qualité RAG en continu, pas seulement en POC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75EF9F-4686-E892-ACC0-50C662B83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949" y="3830876"/>
            <a:ext cx="2820051" cy="27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3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05C1-BBC1-E518-C73A-73DC3CF4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AF30824-C5C7-4A83-0652-498B2C7EAD11}"/>
              </a:ext>
            </a:extLst>
          </p:cNvPr>
          <p:cNvSpPr txBox="1">
            <a:spLocks/>
          </p:cNvSpPr>
          <p:nvPr/>
        </p:nvSpPr>
        <p:spPr>
          <a:xfrm>
            <a:off x="1079500" y="0"/>
            <a:ext cx="11112500" cy="8001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fr-FR" sz="3200" b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BILAN DE FORMATION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7D6D64-F88A-DC17-B571-30535DEE1262}"/>
              </a:ext>
            </a:extLst>
          </p:cNvPr>
          <p:cNvSpPr txBox="1"/>
          <p:nvPr/>
        </p:nvSpPr>
        <p:spPr>
          <a:xfrm>
            <a:off x="0" y="0"/>
            <a:ext cx="1079500" cy="800100"/>
          </a:xfrm>
          <a:prstGeom prst="rect">
            <a:avLst/>
          </a:prstGeom>
          <a:solidFill>
            <a:srgbClr val="3D85C6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9ADD6-B978-8D73-5DA0-AFDAF466FEAA}"/>
              </a:ext>
            </a:extLst>
          </p:cNvPr>
          <p:cNvSpPr/>
          <p:nvPr/>
        </p:nvSpPr>
        <p:spPr>
          <a:xfrm>
            <a:off x="142875" y="950595"/>
            <a:ext cx="11906250" cy="5772150"/>
          </a:xfrm>
          <a:prstGeom prst="rect">
            <a:avLst/>
          </a:prstGeom>
          <a:solidFill>
            <a:schemeClr val="bg1">
              <a:lumMod val="75000"/>
              <a:lumOff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D18522-1880-57E3-E3CB-25C7F86B9D9A}"/>
              </a:ext>
            </a:extLst>
          </p:cNvPr>
          <p:cNvSpPr txBox="1"/>
          <p:nvPr/>
        </p:nvSpPr>
        <p:spPr>
          <a:xfrm>
            <a:off x="142875" y="950595"/>
            <a:ext cx="1190625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Contenu :</a:t>
            </a: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r>
              <a:rPr lang="fr-FR" sz="2400" u="sng" dirty="0">
                <a:latin typeface="Segoe UI" panose="020B0502040204020203" pitchFamily="34" charset="0"/>
                <a:cs typeface="Segoe UI" panose="020B0502040204020203" pitchFamily="34" charset="0"/>
              </a:rPr>
              <a:t>Ce que ce parcours démontre :</a:t>
            </a:r>
            <a:endParaRPr lang="fr-FR" sz="10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Progression cohérente du SQL au LLM en production</a:t>
            </a: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Capacité à travailler sur toute la chaîne data </a:t>
            </a:r>
            <a:r>
              <a:rPr lang="fr-FR" sz="1200" i="1" dirty="0">
                <a:latin typeface="Segoe UI" panose="020B0502040204020203" pitchFamily="34" charset="0"/>
                <a:cs typeface="Segoe UI" panose="020B0502040204020203" pitchFamily="34" charset="0"/>
              </a:rPr>
              <a:t>(collecte → traitement → exposition → monitoring)</a:t>
            </a:r>
            <a:endParaRPr lang="fr-FR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15963" indent="-342900">
              <a:spcBef>
                <a:spcPts val="600"/>
              </a:spcBef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Projets réels sur des problématiques métier concrètes</a:t>
            </a:r>
            <a:endParaRPr lang="fr-FR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sz="2400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B050"/>
              </a:buClr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4010811-E234-2B30-B804-9EF9E9E93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2689"/>
              </p:ext>
            </p:extLst>
          </p:nvPr>
        </p:nvGraphicFramePr>
        <p:xfrm>
          <a:off x="2788920" y="1534363"/>
          <a:ext cx="6614160" cy="2712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445065152"/>
                    </a:ext>
                  </a:extLst>
                </a:gridCol>
                <a:gridCol w="4099560">
                  <a:extLst>
                    <a:ext uri="{9D8B030D-6E8A-4147-A177-3AD203B41FA5}">
                      <a16:colId xmlns:a16="http://schemas.microsoft.com/office/drawing/2014/main" val="2640857068"/>
                    </a:ext>
                  </a:extLst>
                </a:gridCol>
              </a:tblGrid>
              <a:tr h="15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Domaine</a:t>
                      </a:r>
                    </a:p>
                  </a:txBody>
                  <a:tcPr marL="95250" marR="95250" marT="47625" marB="47625" anchor="ctr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Compétences acquises</a:t>
                      </a:r>
                    </a:p>
                  </a:txBody>
                  <a:tcPr marL="95250" marR="95250" marT="47625" marB="476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854892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Analyse &amp; stats</a:t>
                      </a:r>
                      <a:endParaRPr lang="fr-FR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Python / Pandas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Matplotlib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Seaborn</a:t>
                      </a:r>
                      <a:endParaRPr lang="fr-FR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17817254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SQL &amp; bases de données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PostgreSQL / modélisation / optimisation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603901856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NoSQL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MongoDB / conception schéma document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91060161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Infrastructure &amp; cloud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Docker / GCP / architecture cloud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35172241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Orchestration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Kestra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dbt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pipelines de données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06468136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IA &amp; LLM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LangChain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RAG / Mistral AI / </a:t>
                      </a: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Langfuse</a:t>
                      </a:r>
                      <a:endParaRPr lang="fr-FR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19536117"/>
                  </a:ext>
                </a:extLst>
              </a:tr>
              <a:tr h="24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Visualisation &amp; BI</a:t>
                      </a:r>
                      <a:endParaRPr lang="fr-FR" sz="160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 err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PowerBI</a:t>
                      </a:r>
                      <a:r>
                        <a:rPr lang="fr-FR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/ storytelling données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0828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12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E83E-5879-2E9F-7950-A9038025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9F3864-AFAC-FC0E-04E0-0B688F4CD904}"/>
              </a:ext>
            </a:extLst>
          </p:cNvPr>
          <p:cNvSpPr txBox="1"/>
          <p:nvPr/>
        </p:nvSpPr>
        <p:spPr>
          <a:xfrm>
            <a:off x="976333" y="2616291"/>
            <a:ext cx="9966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The END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82C89-F29D-893C-B016-13EB664FDC77}"/>
              </a:ext>
            </a:extLst>
          </p:cNvPr>
          <p:cNvSpPr txBox="1"/>
          <p:nvPr/>
        </p:nvSpPr>
        <p:spPr>
          <a:xfrm>
            <a:off x="1112520" y="3483864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0" i="1" dirty="0">
                <a:solidFill>
                  <a:srgbClr val="3D85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(Des questions ?)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6E206-AA0F-77C5-ADB3-D05B68D52875}"/>
              </a:ext>
            </a:extLst>
          </p:cNvPr>
          <p:cNvSpPr/>
          <p:nvPr/>
        </p:nvSpPr>
        <p:spPr>
          <a:xfrm>
            <a:off x="3993853" y="3447288"/>
            <a:ext cx="3931920" cy="36576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335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{EB48644F-BDA2-4F3A-9D7C-F42005234461}TF6d5feb1e-e145-43f1-b745-cb4b54c5ee97d1ca3ce8-604da7307be5</Template>
  <TotalTime>462</TotalTime>
  <Words>2571</Words>
  <Application>Microsoft Office PowerPoint</Application>
  <PresentationFormat>Grand écran</PresentationFormat>
  <Paragraphs>404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Segoe UI</vt:lpstr>
      <vt:lpstr>Tw Cen MT</vt:lpstr>
      <vt:lpstr>Wingdings</vt:lpstr>
      <vt:lpstr>Circuit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28</cp:revision>
  <dcterms:created xsi:type="dcterms:W3CDTF">2026-04-10T07:51:39Z</dcterms:created>
  <dcterms:modified xsi:type="dcterms:W3CDTF">2026-04-15T07:45:51Z</dcterms:modified>
</cp:coreProperties>
</file>