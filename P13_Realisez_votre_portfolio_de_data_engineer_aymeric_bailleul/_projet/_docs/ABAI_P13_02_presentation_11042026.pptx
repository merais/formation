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6" r:id="rId9"/>
    <p:sldId id="265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85C6"/>
    <a:srgbClr val="E67E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80438" autoAdjust="0"/>
  </p:normalViewPr>
  <p:slideViewPr>
    <p:cSldViewPr snapToGrid="0">
      <p:cViewPr varScale="1">
        <p:scale>
          <a:sx n="128" d="100"/>
          <a:sy n="128" d="100"/>
        </p:scale>
        <p:origin x="150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9C8E4F-0DAC-4356-BEA1-595E35DECC8F}" type="datetimeFigureOut">
              <a:rPr lang="fr-FR" smtClean="0"/>
              <a:t>20/04/2026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327DE-FF34-4005-B339-C64DE51792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6084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 projet porte sur la conception du plan de passage d'un POC fonctionnel à un MVP industrialisé pour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Puls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-Events, une plateforme d'événements culturels. Nous allons voir comment transformer ce POC en un système réellement déployable, maintenable et économiquement viable ?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327DE-FF34-4005-B339-C64DE5179243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3181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A381A-061E-1D06-E7C1-D25355B9D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07572DB-4FC9-1B99-0CE7-45C6EC887D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9FFA942-97D0-EC1F-472B-37250EB640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POC a démontré qu'un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chatbot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RAG sur données culturelles fonctionne - les scores Ragas le confirment quantitativement. Mais un POC n'est pas un produit : pas d'historique conversationnel, zone géographique limitée à l'Occitanie, données statiques, et aucun monitoring. C'est exactement ce que le MVP doit résoudre.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55C4CCD-6746-2875-FE87-BEBEFCB8D7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327DE-FF34-4005-B339-C64DE5179243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2080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68185-39EE-96E4-492F-01A8FBAE7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53FADD3-9B58-9723-A3EE-A3D217F027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9E68405-1F85-C362-6E8A-0CFC1EDF7B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Ces quatre défis ne sont pas des améliorations cosmétiques - ce sont des prérequis fonctionnels 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	- Sans mémoire, le </a:t>
            </a:r>
            <a:r>
              <a:rPr lang="fr-FR" dirty="0" err="1"/>
              <a:t>chatbot</a:t>
            </a:r>
            <a:r>
              <a:rPr lang="fr-FR" dirty="0"/>
              <a:t> est inutilisable en contexte conversationnel réel.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	- Sans géolocalisation dynamique, on ne peut pas servir l'ensemble du territoire national.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Le diagnostic du POC a permis d'identifier ces blocages avec précision avant de concevoir l'architecture.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Process </a:t>
            </a:r>
            <a:r>
              <a:rPr lang="fr-FR" dirty="0" err="1"/>
              <a:t>ia</a:t>
            </a:r>
            <a:r>
              <a:rPr lang="fr-FR" dirty="0"/>
              <a:t> auditable – conformité, </a:t>
            </a:r>
            <a:r>
              <a:rPr lang="fr-FR" dirty="0" err="1"/>
              <a:t>etc</a:t>
            </a: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err="1"/>
              <a:t>Langfuse</a:t>
            </a:r>
            <a:r>
              <a:rPr lang="fr-FR" dirty="0"/>
              <a:t> est une plateforme </a:t>
            </a:r>
            <a:r>
              <a:rPr lang="fr-FR" b="1" dirty="0"/>
              <a:t>open-source d'observabilité</a:t>
            </a:r>
            <a:r>
              <a:rPr lang="fr-FR" dirty="0"/>
              <a:t> pour applications LLM. Elle permet de </a:t>
            </a:r>
            <a:r>
              <a:rPr lang="fr-FR" b="1" dirty="0"/>
              <a:t>tracer</a:t>
            </a:r>
            <a:r>
              <a:rPr lang="fr-FR" dirty="0"/>
              <a:t> les requêtes, gérer les </a:t>
            </a:r>
            <a:r>
              <a:rPr lang="fr-FR" b="1" dirty="0"/>
              <a:t>prompts</a:t>
            </a:r>
            <a:r>
              <a:rPr lang="fr-FR" dirty="0"/>
              <a:t>, évaluer les réponses et suivre précisément les </a:t>
            </a:r>
            <a:r>
              <a:rPr lang="fr-FR" b="1" dirty="0"/>
              <a:t>coûts</a:t>
            </a:r>
            <a:r>
              <a:rPr lang="fr-FR" dirty="0"/>
              <a:t> et performances.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4CA86EE-B51D-8B64-B4F7-4DE23279B0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327DE-FF34-4005-B339-C64DE5179243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90398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64C76-0C63-14BE-7C95-0065CB2BF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30EA350-DB46-A1B3-9C7F-B9177A1F38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E26B3AD-07CB-163B-102D-FB074F4547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800" u="sng" dirty="0">
                <a:latin typeface="Segoe UI" panose="020B0502040204020203" pitchFamily="34" charset="0"/>
                <a:cs typeface="Segoe UI" panose="020B0502040204020203" pitchFamily="34" charset="0"/>
              </a:rPr>
              <a:t>Schéma d'architecture en 4 couches</a:t>
            </a:r>
          </a:p>
          <a:p>
            <a:pPr marL="171450" lvl="0" indent="-171450">
              <a:buFontTx/>
              <a:buChar char="-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Couche Données :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Open Agenda API + Mistral `</a:t>
            </a:r>
            <a:r>
              <a:rPr lang="fr-FR" dirty="0" err="1">
                <a:latin typeface="Segoe UI" panose="020B0502040204020203" pitchFamily="34" charset="0"/>
                <a:cs typeface="Segoe UI" panose="020B0502040204020203" pitchFamily="34" charset="0"/>
              </a:rPr>
              <a:t>web_search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`</a:t>
            </a:r>
          </a:p>
          <a:p>
            <a:pPr marL="171450" lvl="0" indent="-171450">
              <a:buFontTx/>
              <a:buChar char="-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Couche Traitement IA :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Pipeline ingestion → </a:t>
            </a:r>
            <a:r>
              <a:rPr lang="fr-FR" dirty="0" err="1">
                <a:latin typeface="Segoe UI" panose="020B0502040204020203" pitchFamily="34" charset="0"/>
                <a:cs typeface="Segoe UI" panose="020B0502040204020203" pitchFamily="34" charset="0"/>
              </a:rPr>
              <a:t>Qdrant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→ RAG LangChain + Redis + Filtrage géo :</a:t>
            </a:r>
          </a:p>
          <a:p>
            <a:pPr marL="457200" lvl="1" indent="0">
              <a:buFontTx/>
              <a:buNone/>
            </a:pP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événements Open Agenda sont ingérés et vectorisés dans 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Qdrant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puis le pipeline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LangChain RAG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interroge ce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vectorstore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 appliquant un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filtrage géospatial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à la requête, tandis que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maintient le contexte conversationnel entre chaque échange utilisateur.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lvl="0" indent="-171450">
              <a:buFontTx/>
              <a:buChar char="-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Couche API :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 err="1">
                <a:latin typeface="Segoe UI" panose="020B0502040204020203" pitchFamily="34" charset="0"/>
                <a:cs typeface="Segoe UI" panose="020B0502040204020203" pitchFamily="34" charset="0"/>
              </a:rPr>
              <a:t>FastAPI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+ Streamlit (voir </a:t>
            </a:r>
            <a:r>
              <a:rPr lang="fr-FR" dirty="0" err="1">
                <a:latin typeface="Segoe UI" panose="020B0502040204020203" pitchFamily="34" charset="0"/>
                <a:cs typeface="Segoe UI" panose="020B0502040204020203" pitchFamily="34" charset="0"/>
              </a:rPr>
              <a:t>React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par ex)</a:t>
            </a:r>
            <a:endParaRPr lang="fr-FR" b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lvl="0" indent="-171450">
              <a:buFontTx/>
              <a:buChar char="-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Couche Monitoring : </a:t>
            </a:r>
            <a:r>
              <a:rPr lang="fr-FR" dirty="0" err="1">
                <a:latin typeface="Segoe UI" panose="020B0502040204020203" pitchFamily="34" charset="0"/>
                <a:cs typeface="Segoe UI" panose="020B0502040204020203" pitchFamily="34" charset="0"/>
              </a:rPr>
              <a:t>Langfuse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+ </a:t>
            </a:r>
            <a:r>
              <a:rPr lang="fr-FR" dirty="0" err="1">
                <a:latin typeface="Segoe UI" panose="020B0502040204020203" pitchFamily="34" charset="0"/>
                <a:cs typeface="Segoe UI" panose="020B0502040204020203" pitchFamily="34" charset="0"/>
              </a:rPr>
              <a:t>BigQuery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+ Cloud Monitoring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0" kern="1200" dirty="0">
              <a:solidFill>
                <a:schemeClr val="tx1"/>
              </a:solidFill>
              <a:effectLst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L'architecture est pensée pour évoluer sans refonte. Chaque service est un conteneur Cloud Run indépendant. Si demain on veut remplacer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Streamlit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React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ou migrer vers un autre LLM &gt; il n'y a pas de couplage fort entre les couches. C'est précisément ce que permet une architecture micro-services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lvl="0" indent="-171450">
              <a:buFontTx/>
              <a:buChar char="-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lvl="0" indent="-171450">
              <a:buFontTx/>
              <a:buChar char="-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D7C15EA-A11C-1BFD-BCF1-E970800DCA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327DE-FF34-4005-B339-C64DE5179243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52884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7DDF5-4224-4FBD-8BA0-D87962439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FBABB7A-5A14-2CAA-FFC4-1AB53BB98D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60CED44-AD3D-0B10-1E4A-D220FB6A7D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passage de FAISS à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Qdrant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est le choix technique le plus structurant. FAISS est une bibliothèque de recherche vectorielle en mémoire - elle ne supporte pas le filtrage par métadonnées. Alors que  pour filtrer les événements par localisation géographique à la requête, il nous faut un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vectorstore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qui stocke les coordonnées GPS comme métadonnées interrogeables :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Qdrant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qui le fait nativement. C’est une nécessité fonctionnelle.</a:t>
            </a:r>
          </a:p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GCP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Continuité naturelle avec Mistral sur Vertex AI, $300 de crédits couvrent le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BigQuery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intégré nativement.</a:t>
            </a:r>
          </a:p>
          <a:p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Qdrant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			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Vectorstore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supporte le filtrage par métadonnées GPS/date à la requête, impossible avec FAISS.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mistral-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small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latest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 modèle que le POC, meilleur ratio coût/performance pour des réponses déterministes (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temperature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=0.0).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Stockage de session ultra-rapide avec TTL automatique (nettoyage de la session auto = pas de donnée perso stocker = RGPD), indispensable pour la fenêtre de contexte conversationnelle.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Mistral 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web_search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Fallback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 événements récents non indexés. Sans dépendance à une API tierce. == Si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Qdrant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 trouve rien, Mistral cherche sur le web automatiquement.</a:t>
            </a:r>
          </a:p>
          <a:p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FastAPI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Framework asynchrone léger, documentation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OpenAPI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auto-générée, idéal pour conteneurisation Cloud Run.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Registry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Déploiement continu automatique sur chaque merge, zéro intervention manuelle.</a:t>
            </a:r>
          </a:p>
          <a:p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Langfuse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			Traçabilité complète des appels LLM, scores Ragas en continu, self-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hostable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pour éliminer les coûts SaaS.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D9A7C7-782B-C7B5-61EC-7CD283A8AF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327DE-FF34-4005-B339-C64DE5179243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3657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2F6E2-E66D-162E-4AD6-F3D71D597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B5FB8B6-D61F-EE0E-7D6C-E4896C64D2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81A391E-670B-9A77-538A-23E66AEEE5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i="0" dirty="0">
                <a:solidFill>
                  <a:srgbClr val="2C82C9"/>
                </a:solidFill>
              </a:rPr>
              <a:t>37 jours estimés · 13 semaines · 1 développeur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priorisation Must-Have / Nice-to-Have est essentielle. Les 12 fonctionnalités must-have forment le MVP strict — sans elles, le produit n'est pas livrable. Les 7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nice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-to-have apportent de la valeur, mais ne bloquent pas la livraison. Cette distinction protège le planning des glissements classiques, où la tentation d'ajouter des features est permanente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CA6BA68-2146-BF27-9C6C-08C024001D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327DE-FF34-4005-B339-C64DE5179243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6896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83AD8-2778-DEDE-42DA-24AB37466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5F4A8A1-09F5-83E1-24BA-E963342920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0FA53E0-99D5-EF3B-C3D5-7D76574FA7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i="0" dirty="0"/>
              <a:t>Calcul :</a:t>
            </a:r>
          </a:p>
          <a:p>
            <a:r>
              <a:rPr lang="fr-FR" i="0" dirty="0"/>
              <a:t>GCP : Google Cloud Pricing </a:t>
            </a:r>
            <a:r>
              <a:rPr lang="fr-FR" i="0" dirty="0" err="1"/>
              <a:t>Calculator</a:t>
            </a:r>
            <a:r>
              <a:rPr lang="fr-FR" i="0" dirty="0"/>
              <a:t> https://cloud.google.com/products/calculator - configure chaque service (Cloud Run, </a:t>
            </a:r>
            <a:r>
              <a:rPr lang="fr-FR" i="0" dirty="0" err="1"/>
              <a:t>Memorystore</a:t>
            </a:r>
            <a:r>
              <a:rPr lang="fr-FR" i="0" dirty="0"/>
              <a:t>, </a:t>
            </a:r>
            <a:r>
              <a:rPr lang="fr-FR" i="0" dirty="0" err="1"/>
              <a:t>BigQuery</a:t>
            </a:r>
            <a:r>
              <a:rPr lang="fr-FR" i="0" dirty="0"/>
              <a:t>…) avec tes paramètres réels</a:t>
            </a:r>
          </a:p>
          <a:p>
            <a:r>
              <a:rPr lang="fr-FR" i="0" dirty="0"/>
              <a:t>Mistral AI (LLM) → mistral.ai/</a:t>
            </a:r>
            <a:r>
              <a:rPr lang="fr-FR" i="0" dirty="0" err="1"/>
              <a:t>pricing</a:t>
            </a:r>
            <a:r>
              <a:rPr lang="fr-FR" i="0" dirty="0"/>
              <a:t> - grille publique par modèle et par million de </a:t>
            </a:r>
            <a:r>
              <a:rPr lang="fr-FR" i="0" dirty="0" err="1"/>
              <a:t>tokens</a:t>
            </a:r>
            <a:r>
              <a:rPr lang="fr-FR" i="0" dirty="0"/>
              <a:t> in/out</a:t>
            </a:r>
          </a:p>
          <a:p>
            <a:r>
              <a:rPr lang="fr-FR" i="0" dirty="0" err="1"/>
              <a:t>Langfuse</a:t>
            </a:r>
            <a:r>
              <a:rPr lang="fr-FR" i="0" dirty="0"/>
              <a:t> → langfuse.com/</a:t>
            </a:r>
            <a:r>
              <a:rPr lang="fr-FR" i="0" dirty="0" err="1"/>
              <a:t>pricing</a:t>
            </a:r>
            <a:r>
              <a:rPr lang="fr-FR" i="0" dirty="0"/>
              <a:t> - free tier jusqu'à 50K traces/mois, puis Cloud Pro ~$25/mois</a:t>
            </a:r>
          </a:p>
          <a:p>
            <a:r>
              <a:rPr lang="fr-FR" i="0" dirty="0" err="1"/>
              <a:t>Qdrant</a:t>
            </a:r>
            <a:r>
              <a:rPr lang="fr-FR" i="0" dirty="0"/>
              <a:t> Cloud → cloud.qdrant.io - calculateur intégré selon RAM / </a:t>
            </a:r>
            <a:r>
              <a:rPr lang="fr-FR" i="0" dirty="0" err="1"/>
              <a:t>vCPU</a:t>
            </a:r>
            <a:r>
              <a:rPr lang="fr-FR" i="0" dirty="0"/>
              <a:t> / stockage</a:t>
            </a:r>
          </a:p>
          <a:p>
            <a:endParaRPr lang="fr-FR" i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 euros par mois pour 100 utilisateurs actifs par jour, c'est le coût d'un MVP IA conversationnel bien dimensionné sur GCP. La clé est le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scale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-to-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zero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Cloud Run : si personne n'interroge l'API à 3h du matin, on ne paie pas. C'est fondamentalement différent d'une VM toujours allumée. Et quand on monte à 10 000 utilisateurs, le coût par utilisateur a été divisé par deux - c'est l'effet de mutualisation des coûts fixes.</a:t>
            </a:r>
          </a:p>
          <a:p>
            <a:endParaRPr lang="fr-FR" i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681B692-E99D-5C4F-4032-F92987DEEF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327DE-FF34-4005-B339-C64DE5179243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22164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D9324-895B-69CF-FAB8-F8ABAAE05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FFA2F94-F1EE-DB2F-1956-9399984587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8972044-A33B-98E2-3F14-3858F721C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Index géographique →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Qdrant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national + filtre runtime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Remplacement de FAISS (index statique Occitanie) par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Qdrant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pour stocke les coordonnées GPS en métadonnées et applique le filtre géographique directement à la requête, sans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re-indexer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Absence de mémoire → Redis session store + fenêtre glissante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session utilisateur est stockée dans Redis avec un TTL ; les N derniers échanges sont injectés dans le contexte du LLM à chaque requête, donnant l'illusion d'une conversation continue.</a:t>
            </a:r>
          </a:p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Données obsolètes → Ingestion incrémentale + Mistral 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web_search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pipeline d'ingestion tourne quotidiennement pour mettre à jour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Qdrant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; pour les événements trop récents pour être indexés, Mistral cherche en temps réel sur le web en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fallback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Monitoring insuffisant →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Langfuse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Cloud Monitoring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Langfuse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trace chaque appel LLM (prompt, réponse, latence, score Ragas) pendant que Cloud Monitoring surveille l'infrastructure (CPU, mémoire, latence API) - deux niveaux complémentaires d'observabilité.</a:t>
            </a:r>
          </a:p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Coûts Mistral à l'échelle → Cache Redis + sampling Ragas 10 %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questions fréquentes sont mises en cache Redis pour éviter les appels Mistral redondants ; l'évaluation Ragas ne porte que sur 10 % des requêtes, réduisant le coût du modèle juge en production.</a:t>
            </a:r>
          </a:p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Déploiement multi-services → CI/CD Cloud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Secret Manager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reconstruit et déploie automatiquement chaque service conteneurisé sur merge main, les secrets (clés API,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credentials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étant injectés au runtime via Secret Manager sans jamais apparaître dans le code.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D4CA59D-C71C-1AE3-C425-2EE9ED9520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327DE-FF34-4005-B339-C64DE5179243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61677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E4358-2B22-A145-8705-39BAAB10C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878EAB7-9AD1-68A0-6870-B97FEA0B16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8F7556E-64B1-1FE2-B305-18AFAB6F1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EF6FB3E-BF27-C81A-DA9C-7F9B83DCC8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327DE-FF34-4005-B339-C64DE5179243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22799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021F7-7E78-7A7E-5B2F-0B2067ED0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0421A23-CDE6-4146-18A4-9ADBEB8A7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1F28F94-B2AE-F767-7365-09E44B51D9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Ces 13 projets ne sont pas des exercices académiques - ce sont 13 réponses à des problèmes réels : comment auditer une base de données, comment orchestrer un pipeline, comment déployer un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chatbot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IA en production. 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 parcours m'a appris à raisonner en Data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Engineer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pas seulement coder une solution, mais choisir la bonne, la documenter, la faire tenir dans un budget et la livrer dans les délais.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6B92AB0-76CC-9FD5-BA4F-019BE8F32D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327DE-FF34-4005-B339-C64DE5179243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67625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378E7-78F0-AF1C-50CA-A8C2104AB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4FFE4B2-5E67-918D-3E26-BCA08A684D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6C68B64-5290-5DB5-4112-D4ADF515BD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"Pourquoi GCP plutôt qu'AWS, qui est plus répandu en entreprise ?"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→ Continuité stack Mistral (Vertex AI) · crédits $300 ·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BigQuery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natif ; AWS reste une option valide, ce choix est documenté et justifiable</a:t>
            </a:r>
          </a:p>
          <a:p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"Comment gérez-vous les risques de coûts Mistral en production ?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→ Cache Redis sur prompts fréquents, sampling Ragas à 10 %, possibilité de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fallback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`open-mistral-7b`</a:t>
            </a:r>
          </a:p>
          <a:p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fr-F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Qdrant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self-</a:t>
            </a:r>
            <a:r>
              <a:rPr lang="fr-F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hosted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 Cloud Run, c'est robuste ?"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→ Disque persistant GCP, possible migration vers Vertex AI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Vector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Search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 la charge l'exige — architecture prévue pour ça</a:t>
            </a:r>
          </a:p>
          <a:p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"Le </a:t>
            </a:r>
            <a:r>
              <a:rPr lang="fr-F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backlog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60 jours pour 13 semaines, c'est réaliste ?"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→ Must-Have = 35 j sur S3–S8 (6 semaines) · Must-Have uniquement = livraison J3 garantie · Nice-to-Have en parallèle si avance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B5425D4-848F-2E94-DF35-AB483DC593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327DE-FF34-4005-B339-C64DE5179243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0780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12E36-9368-EF0B-2517-77D5288D2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54EC23-A6CF-59D9-595B-B6C06B9457C8}"/>
              </a:ext>
            </a:extLst>
          </p:cNvPr>
          <p:cNvSpPr txBox="1"/>
          <p:nvPr/>
        </p:nvSpPr>
        <p:spPr>
          <a:xfrm>
            <a:off x="976333" y="2114705"/>
            <a:ext cx="99669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800" b="1" dirty="0">
                <a:latin typeface="Segoe UI" panose="020B0502040204020203" pitchFamily="34" charset="0"/>
                <a:cs typeface="Segoe UI" panose="020B0502040204020203" pitchFamily="34" charset="0"/>
              </a:rPr>
              <a:t>Rapport de gestion de projet</a:t>
            </a:r>
          </a:p>
          <a:p>
            <a:pPr algn="ctr"/>
            <a:r>
              <a:rPr lang="fr-FR" sz="3200" i="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Passage du POC au MVP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F6EBCD-4974-24B9-D776-B02E6BBA6889}"/>
              </a:ext>
            </a:extLst>
          </p:cNvPr>
          <p:cNvSpPr txBox="1"/>
          <p:nvPr/>
        </p:nvSpPr>
        <p:spPr>
          <a:xfrm>
            <a:off x="1112520" y="3483864"/>
            <a:ext cx="9966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b="0" i="0" dirty="0" err="1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Chatbot</a:t>
            </a:r>
            <a:r>
              <a:rPr lang="fr-FR" sz="3200" b="0" i="0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RAG - </a:t>
            </a:r>
            <a:r>
              <a:rPr lang="fr-FR" sz="3200" b="0" i="0" dirty="0" err="1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Puls</a:t>
            </a:r>
            <a:r>
              <a:rPr lang="fr-FR" sz="3200" b="0" i="0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-Events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D112EE-D0CF-0911-DB1D-5D4481B60D56}"/>
              </a:ext>
            </a:extLst>
          </p:cNvPr>
          <p:cNvSpPr/>
          <p:nvPr/>
        </p:nvSpPr>
        <p:spPr>
          <a:xfrm>
            <a:off x="3993853" y="3447288"/>
            <a:ext cx="3931920" cy="36576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B89F9EF-CC78-3B36-EB90-E6A6E2A2F612}"/>
              </a:ext>
            </a:extLst>
          </p:cNvPr>
          <p:cNvSpPr txBox="1"/>
          <p:nvPr/>
        </p:nvSpPr>
        <p:spPr>
          <a:xfrm>
            <a:off x="11353800" y="6611779"/>
            <a:ext cx="838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Segoe UI" panose="020B0502040204020203" pitchFamily="34" charset="0"/>
                <a:cs typeface="Segoe UI" panose="020B0502040204020203" pitchFamily="34" charset="0"/>
              </a:rPr>
              <a:t>11/04/2026</a:t>
            </a:r>
          </a:p>
        </p:txBody>
      </p:sp>
    </p:spTree>
    <p:extLst>
      <p:ext uri="{BB962C8B-B14F-4D97-AF65-F5344CB8AC3E}">
        <p14:creationId xmlns:p14="http://schemas.microsoft.com/office/powerpoint/2010/main" val="362796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A19A1-C271-6FA1-8CDD-BC3701646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D31BFE3B-93D1-5709-B2B4-AC8B9ED93DE6}"/>
              </a:ext>
            </a:extLst>
          </p:cNvPr>
          <p:cNvSpPr txBox="1">
            <a:spLocks/>
          </p:cNvSpPr>
          <p:nvPr/>
        </p:nvSpPr>
        <p:spPr>
          <a:xfrm>
            <a:off x="1079500" y="0"/>
            <a:ext cx="11112500" cy="8001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</p:spPr>
        <p:txBody>
          <a:bodyPr wrap="square" rtlCol="0" anchor="ctr" anchorCtr="0">
            <a:noAutofit/>
          </a:bodyPr>
          <a:lstStyle/>
          <a:p>
            <a:r>
              <a:rPr lang="fr-FR" sz="3200" b="1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CONTEXTE &amp; ENJEUX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31A954B-2B72-248D-CF79-7F00D790946C}"/>
              </a:ext>
            </a:extLst>
          </p:cNvPr>
          <p:cNvSpPr txBox="1"/>
          <p:nvPr/>
        </p:nvSpPr>
        <p:spPr>
          <a:xfrm>
            <a:off x="0" y="0"/>
            <a:ext cx="1079500" cy="800100"/>
          </a:xfrm>
          <a:prstGeom prst="rect">
            <a:avLst/>
          </a:prstGeom>
          <a:solidFill>
            <a:srgbClr val="3D85C6"/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fr-FR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4FA72F-AAB0-5606-01F4-9C6987DA8C9A}"/>
              </a:ext>
            </a:extLst>
          </p:cNvPr>
          <p:cNvSpPr/>
          <p:nvPr/>
        </p:nvSpPr>
        <p:spPr>
          <a:xfrm>
            <a:off x="142875" y="950595"/>
            <a:ext cx="11906250" cy="5772150"/>
          </a:xfrm>
          <a:prstGeom prst="rect">
            <a:avLst/>
          </a:prstGeom>
          <a:solidFill>
            <a:schemeClr val="bg1">
              <a:lumMod val="75000"/>
              <a:lumOff val="2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1DF7BBD-2040-02E0-64A3-5807175F78E3}"/>
              </a:ext>
            </a:extLst>
          </p:cNvPr>
          <p:cNvSpPr txBox="1"/>
          <p:nvPr/>
        </p:nvSpPr>
        <p:spPr>
          <a:xfrm>
            <a:off x="142875" y="950595"/>
            <a:ext cx="119062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dirty="0">
                <a:latin typeface="Segoe UI" panose="020B0502040204020203" pitchFamily="34" charset="0"/>
                <a:cs typeface="Segoe UI" panose="020B0502040204020203" pitchFamily="34" charset="0"/>
              </a:rPr>
              <a:t>Contexte :</a:t>
            </a:r>
          </a:p>
          <a:p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49263"/>
            <a:r>
              <a:rPr lang="fr-FR" dirty="0" err="1">
                <a:latin typeface="Segoe UI" panose="020B0502040204020203" pitchFamily="34" charset="0"/>
                <a:cs typeface="Segoe UI" panose="020B0502040204020203" pitchFamily="34" charset="0"/>
              </a:rPr>
              <a:t>Puls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-Events est une plateforme de recommandation d'événements culturels qui agrège et expose à ses 	utilisateurs un catalogue de près d'un million d'événements publics à travers toute la France provenant d’Open Agenda, un outil de collecte et de gestion d’évènements culturels </a:t>
            </a:r>
            <a:r>
              <a:rPr lang="fr-FR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(personnalisable par lieu, période, thématiques)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fr-FR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buClr>
                <a:srgbClr val="00B050"/>
              </a:buClr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Le POC a prouvé la faisabilité d'interrogation de base de données en langage naturel.</a:t>
            </a:r>
          </a:p>
          <a:p>
            <a:pPr marL="0" lvl="1">
              <a:buClr>
                <a:srgbClr val="00B050"/>
              </a:buClr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1">
              <a:buClr>
                <a:srgbClr val="00B050"/>
              </a:buClr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FR" sz="2400" u="sng" dirty="0">
                <a:latin typeface="Segoe UI" panose="020B0502040204020203" pitchFamily="34" charset="0"/>
                <a:cs typeface="Segoe UI" panose="020B0502040204020203" pitchFamily="34" charset="0"/>
              </a:rPr>
              <a:t>Enjeux stratégiques :</a:t>
            </a:r>
          </a:p>
          <a:p>
            <a:pPr marL="171450" indent="-171450">
              <a:buClr>
                <a:srgbClr val="3D85C6"/>
              </a:buClr>
              <a:buFont typeface="Wingdings" panose="05000000000000000000" pitchFamily="2" charset="2"/>
              <a:buChar char="Ø"/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35013" indent="-285750">
              <a:spcBef>
                <a:spcPts val="600"/>
              </a:spcBef>
              <a:buClr>
                <a:srgbClr val="3D85C6"/>
              </a:buClr>
              <a:buFont typeface="Wingdings" panose="05000000000000000000" pitchFamily="2" charset="2"/>
              <a:buChar char="Ø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Positionnement IA concurrentiel dans l'événementiel</a:t>
            </a:r>
          </a:p>
          <a:p>
            <a:pPr marL="735013" indent="-285750">
              <a:spcBef>
                <a:spcPts val="600"/>
              </a:spcBef>
              <a:buClr>
                <a:srgbClr val="3D85C6"/>
              </a:buClr>
              <a:buFont typeface="Wingdings" panose="05000000000000000000" pitchFamily="2" charset="2"/>
              <a:buChar char="Ø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Expérience conversationnelle personnalisée </a:t>
            </a:r>
            <a:r>
              <a:rPr lang="fr-FR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(géo + historique)</a:t>
            </a:r>
          </a:p>
          <a:p>
            <a:pPr marL="735013" indent="-285750">
              <a:spcBef>
                <a:spcPts val="600"/>
              </a:spcBef>
              <a:buClr>
                <a:srgbClr val="3D85C6"/>
              </a:buClr>
              <a:buFont typeface="Wingdings" panose="05000000000000000000" pitchFamily="2" charset="2"/>
              <a:buChar char="Ø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Architecture cloud capable de monter en charge</a:t>
            </a:r>
          </a:p>
          <a:p>
            <a:pPr marL="735013" indent="-285750">
              <a:spcBef>
                <a:spcPts val="600"/>
              </a:spcBef>
              <a:buClr>
                <a:srgbClr val="3D85C6"/>
              </a:buClr>
              <a:buFont typeface="Wingdings" panose="05000000000000000000" pitchFamily="2" charset="2"/>
              <a:buChar char="Ø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Observabilité dès le départ </a:t>
            </a:r>
            <a:r>
              <a:rPr lang="fr-FR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(monitoring qualité &amp; infra)</a:t>
            </a:r>
            <a:endParaRPr lang="fr-FR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267E0A7-FA32-30DB-7304-4BCC9B1113E7}"/>
              </a:ext>
            </a:extLst>
          </p:cNvPr>
          <p:cNvSpPr txBox="1"/>
          <p:nvPr/>
        </p:nvSpPr>
        <p:spPr>
          <a:xfrm>
            <a:off x="304800" y="5743575"/>
            <a:ext cx="11572875" cy="819150"/>
          </a:xfrm>
          <a:prstGeom prst="rect">
            <a:avLst/>
          </a:prstGeom>
          <a:solidFill>
            <a:schemeClr val="tx1">
              <a:alpha val="80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fr-FR" sz="2400" b="1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Comment transformer ce POC en MVP scalable, déployable en production ?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AB1A4BE-1272-9379-6015-81C56BCCE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3468" y="3165823"/>
            <a:ext cx="2443137" cy="2417732"/>
          </a:xfrm>
          <a:prstGeom prst="rect">
            <a:avLst/>
          </a:prstGeom>
          <a:scene3d>
            <a:camera prst="orthographicFront">
              <a:rot lat="0" lon="10799977" rev="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357284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2C7CE-AB9B-9664-4A05-9CE0EAB4A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3BB7002-0F6A-D989-6F5E-AE86D82A34EF}"/>
              </a:ext>
            </a:extLst>
          </p:cNvPr>
          <p:cNvSpPr txBox="1">
            <a:spLocks/>
          </p:cNvSpPr>
          <p:nvPr/>
        </p:nvSpPr>
        <p:spPr>
          <a:xfrm>
            <a:off x="1079500" y="0"/>
            <a:ext cx="11112500" cy="8001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</p:spPr>
        <p:txBody>
          <a:bodyPr wrap="square" rtlCol="0" anchor="ctr" anchorCtr="0">
            <a:noAutofit/>
          </a:bodyPr>
          <a:lstStyle/>
          <a:p>
            <a:r>
              <a:rPr lang="fr-FR" sz="3200" b="1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LES 4 DÉFIS TEHCNIQUES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01A9CB8-0F7C-B6E1-1687-0C9A3F540320}"/>
              </a:ext>
            </a:extLst>
          </p:cNvPr>
          <p:cNvSpPr txBox="1"/>
          <p:nvPr/>
        </p:nvSpPr>
        <p:spPr>
          <a:xfrm>
            <a:off x="0" y="0"/>
            <a:ext cx="1079500" cy="800100"/>
          </a:xfrm>
          <a:prstGeom prst="rect">
            <a:avLst/>
          </a:prstGeom>
          <a:solidFill>
            <a:srgbClr val="3D85C6"/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fr-FR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B6B88E-576B-B35E-73D6-C1BCF5AD0C3A}"/>
              </a:ext>
            </a:extLst>
          </p:cNvPr>
          <p:cNvSpPr/>
          <p:nvPr/>
        </p:nvSpPr>
        <p:spPr>
          <a:xfrm>
            <a:off x="142875" y="950595"/>
            <a:ext cx="11906250" cy="5772150"/>
          </a:xfrm>
          <a:prstGeom prst="rect">
            <a:avLst/>
          </a:prstGeom>
          <a:solidFill>
            <a:schemeClr val="bg1">
              <a:lumMod val="75000"/>
              <a:lumOff val="2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A5B774-1AC9-9065-ED63-EE6D54BEA4FB}"/>
              </a:ext>
            </a:extLst>
          </p:cNvPr>
          <p:cNvSpPr/>
          <p:nvPr/>
        </p:nvSpPr>
        <p:spPr>
          <a:xfrm>
            <a:off x="541020" y="1289685"/>
            <a:ext cx="53949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781068-9D8A-D555-9451-1D2AF02CCEC2}"/>
              </a:ext>
            </a:extLst>
          </p:cNvPr>
          <p:cNvSpPr/>
          <p:nvPr/>
        </p:nvSpPr>
        <p:spPr>
          <a:xfrm>
            <a:off x="541020" y="1289685"/>
            <a:ext cx="73152" cy="1965960"/>
          </a:xfrm>
          <a:prstGeom prst="rect">
            <a:avLst/>
          </a:prstGeom>
          <a:solidFill>
            <a:srgbClr val="2C8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BB15088-8085-DA9D-D6EE-5DFCF7726696}"/>
              </a:ext>
            </a:extLst>
          </p:cNvPr>
          <p:cNvSpPr txBox="1"/>
          <p:nvPr/>
        </p:nvSpPr>
        <p:spPr>
          <a:xfrm>
            <a:off x="705612" y="1399413"/>
            <a:ext cx="5120640" cy="307777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ctr"/>
            <a:r>
              <a:rPr lang="fr-FR" b="1" i="0" dirty="0">
                <a:solidFill>
                  <a:srgbClr val="2C82C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🧠  Mémoire conversationnelle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86ED092-B9E8-853E-3B10-F4475B52111F}"/>
              </a:ext>
            </a:extLst>
          </p:cNvPr>
          <p:cNvSpPr txBox="1"/>
          <p:nvPr/>
        </p:nvSpPr>
        <p:spPr>
          <a:xfrm>
            <a:off x="705612" y="1838325"/>
            <a:ext cx="5120640" cy="128016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l"/>
            <a:r>
              <a:rPr lang="fr-FR" sz="1400" b="1" i="1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Limite POC :</a:t>
            </a:r>
            <a:r>
              <a:rPr lang="fr-FR" sz="1400" b="1" i="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447675" indent="-190500" algn="l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	C</a:t>
            </a:r>
            <a:r>
              <a:rPr lang="fr-FR" sz="1400" b="0" i="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haque question traitée indépendamment</a:t>
            </a:r>
          </a:p>
          <a:p>
            <a:pPr algn="l"/>
            <a:r>
              <a:rPr lang="fr-FR" sz="1000" b="1" i="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
</a:t>
            </a:r>
            <a:r>
              <a:rPr lang="fr-FR" sz="1400" b="1" i="1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Solution proposée :</a:t>
            </a:r>
          </a:p>
          <a:p>
            <a:pPr marL="447675" indent="-19050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Redis session store avec fenêtre de contexte glissante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1BDFE9-D72A-D7A2-6C32-F1D7D1739AA8}"/>
              </a:ext>
            </a:extLst>
          </p:cNvPr>
          <p:cNvSpPr/>
          <p:nvPr/>
        </p:nvSpPr>
        <p:spPr>
          <a:xfrm>
            <a:off x="6210300" y="1289685"/>
            <a:ext cx="53949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556FF8-7035-7E12-E954-3D71A3A49110}"/>
              </a:ext>
            </a:extLst>
          </p:cNvPr>
          <p:cNvSpPr/>
          <p:nvPr/>
        </p:nvSpPr>
        <p:spPr>
          <a:xfrm>
            <a:off x="6210300" y="1289685"/>
            <a:ext cx="73152" cy="1965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3941B46-FF05-8D05-2A41-49F2095187AC}"/>
              </a:ext>
            </a:extLst>
          </p:cNvPr>
          <p:cNvSpPr txBox="1"/>
          <p:nvPr/>
        </p:nvSpPr>
        <p:spPr>
          <a:xfrm>
            <a:off x="6374892" y="1399413"/>
            <a:ext cx="5120640" cy="307777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ctr"/>
            <a:r>
              <a:rPr lang="fr-FR" b="1" i="0" dirty="0">
                <a:solidFill>
                  <a:srgbClr val="27AE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📍  Géographie dynamique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C0C8BCD-67FC-2591-F3A0-4A233AC2F905}"/>
              </a:ext>
            </a:extLst>
          </p:cNvPr>
          <p:cNvSpPr txBox="1"/>
          <p:nvPr/>
        </p:nvSpPr>
        <p:spPr>
          <a:xfrm>
            <a:off x="6374892" y="1838325"/>
            <a:ext cx="5120640" cy="128016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l"/>
            <a:r>
              <a:rPr lang="fr-FR" sz="1400" b="1" i="1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Limite POC :</a:t>
            </a:r>
            <a:r>
              <a:rPr lang="fr-FR" sz="1400" b="1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447675" indent="-19050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Filtre Occitanie statique au </a:t>
            </a:r>
            <a:r>
              <a:rPr lang="fr-FR" sz="1400" dirty="0" err="1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preprocessing</a:t>
            </a:r>
            <a:endParaRPr lang="fr-FR" sz="1400" dirty="0">
              <a:solidFill>
                <a:srgbClr val="1A252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sz="1000" b="1" i="1" dirty="0">
              <a:solidFill>
                <a:srgbClr val="1A252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FR" sz="1400" b="1" i="1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Solution proposée :</a:t>
            </a:r>
          </a:p>
          <a:p>
            <a:pPr marL="447675" lvl="1" indent="-19050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Index </a:t>
            </a:r>
            <a:r>
              <a:rPr lang="fr-FR" sz="1400" dirty="0" err="1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Qdrant</a:t>
            </a: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national + filtre géospatial à la requête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70B282-B8FC-BFE1-499E-95AFE8213461}"/>
              </a:ext>
            </a:extLst>
          </p:cNvPr>
          <p:cNvSpPr/>
          <p:nvPr/>
        </p:nvSpPr>
        <p:spPr>
          <a:xfrm>
            <a:off x="541020" y="3438525"/>
            <a:ext cx="53949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B43B2C-224D-3BB3-70BB-065004C9CC01}"/>
              </a:ext>
            </a:extLst>
          </p:cNvPr>
          <p:cNvSpPr/>
          <p:nvPr/>
        </p:nvSpPr>
        <p:spPr>
          <a:xfrm>
            <a:off x="541020" y="3438525"/>
            <a:ext cx="73152" cy="1965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B90524C-1BF0-F273-538E-C390599285E4}"/>
              </a:ext>
            </a:extLst>
          </p:cNvPr>
          <p:cNvSpPr txBox="1"/>
          <p:nvPr/>
        </p:nvSpPr>
        <p:spPr>
          <a:xfrm>
            <a:off x="705612" y="3548253"/>
            <a:ext cx="5120640" cy="307777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ctr"/>
            <a:r>
              <a:rPr lang="fr-FR" b="1" i="0" dirty="0">
                <a:solidFill>
                  <a:srgbClr val="E67E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🌐  Données temps réel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9F70E5D3-6727-182E-AE1C-7C1014F3A43C}"/>
              </a:ext>
            </a:extLst>
          </p:cNvPr>
          <p:cNvSpPr txBox="1"/>
          <p:nvPr/>
        </p:nvSpPr>
        <p:spPr>
          <a:xfrm>
            <a:off x="705612" y="3987165"/>
            <a:ext cx="5120640" cy="128016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l"/>
            <a:r>
              <a:rPr lang="fr-FR" sz="1400" b="1" i="1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Limite POC : </a:t>
            </a:r>
          </a:p>
          <a:p>
            <a:pPr marL="447675" lvl="1" indent="-190500">
              <a:buFont typeface="Arial" panose="020B0604020202020204" pitchFamily="34" charset="0"/>
              <a:buChar char="•"/>
            </a:pPr>
            <a:r>
              <a:rPr lang="fr-FR" sz="1400" b="0" i="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Base vectorielle statique </a:t>
            </a:r>
            <a:r>
              <a:rPr lang="fr-FR" sz="1050" b="0" i="1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(snapshot)</a:t>
            </a:r>
          </a:p>
          <a:p>
            <a:pPr algn="l"/>
            <a:endParaRPr lang="fr-FR" sz="1000" dirty="0">
              <a:solidFill>
                <a:srgbClr val="1A252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FR" sz="1400" b="1" i="1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Solution proposée :</a:t>
            </a:r>
            <a:endParaRPr lang="fr-FR" sz="1400" dirty="0">
              <a:solidFill>
                <a:srgbClr val="1A252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47675" lvl="1" indent="-190500">
              <a:buFont typeface="Arial" panose="020B0604020202020204" pitchFamily="34" charset="0"/>
              <a:buChar char="•"/>
            </a:pPr>
            <a:r>
              <a:rPr lang="fr-FR" sz="1400" b="0" i="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Mistral Agents API </a:t>
            </a:r>
            <a:r>
              <a:rPr lang="fr-FR" sz="1400" b="0" i="0" dirty="0" err="1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web_search</a:t>
            </a:r>
            <a:r>
              <a:rPr lang="fr-FR" sz="1400" b="0" i="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natif en </a:t>
            </a:r>
            <a:r>
              <a:rPr lang="fr-FR" sz="1400" b="0" i="0" dirty="0" err="1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fallback</a:t>
            </a:r>
            <a:endParaRPr lang="fr-FR" sz="1400" b="0" i="0" dirty="0">
              <a:solidFill>
                <a:srgbClr val="1A252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20770A-7E5A-D599-62EB-12347C4DCC6A}"/>
              </a:ext>
            </a:extLst>
          </p:cNvPr>
          <p:cNvSpPr/>
          <p:nvPr/>
        </p:nvSpPr>
        <p:spPr>
          <a:xfrm>
            <a:off x="6210300" y="3438525"/>
            <a:ext cx="53949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1570EB-A414-9F45-62D5-D3D1EEC5425F}"/>
              </a:ext>
            </a:extLst>
          </p:cNvPr>
          <p:cNvSpPr/>
          <p:nvPr/>
        </p:nvSpPr>
        <p:spPr>
          <a:xfrm>
            <a:off x="6210300" y="3438525"/>
            <a:ext cx="73152" cy="19659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4418A91F-E786-2C1E-0D1C-D8022EC92ADB}"/>
              </a:ext>
            </a:extLst>
          </p:cNvPr>
          <p:cNvSpPr txBox="1"/>
          <p:nvPr/>
        </p:nvSpPr>
        <p:spPr>
          <a:xfrm>
            <a:off x="6374892" y="3548253"/>
            <a:ext cx="5120640" cy="307777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ctr"/>
            <a:r>
              <a:rPr lang="fr-FR" b="1" i="0" dirty="0">
                <a:solidFill>
                  <a:srgbClr val="8E44A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📊  Monitoring production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D60DB086-88E2-8F30-EFDF-DEDA29876E21}"/>
              </a:ext>
            </a:extLst>
          </p:cNvPr>
          <p:cNvSpPr txBox="1"/>
          <p:nvPr/>
        </p:nvSpPr>
        <p:spPr>
          <a:xfrm>
            <a:off x="6374892" y="3987165"/>
            <a:ext cx="5120640" cy="128016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l"/>
            <a:r>
              <a:rPr lang="fr-FR" sz="1400" b="1" i="1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Limite POC : </a:t>
            </a:r>
          </a:p>
          <a:p>
            <a:pPr marL="447675" lvl="1" indent="-190500">
              <a:buFont typeface="Arial" panose="020B0604020202020204" pitchFamily="34" charset="0"/>
              <a:buChar char="•"/>
            </a:pPr>
            <a:r>
              <a:rPr lang="fr-FR" sz="1400" b="0" i="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Évaluation Ragas offline ponctuelle</a:t>
            </a:r>
          </a:p>
          <a:p>
            <a:pPr algn="l"/>
            <a:endParaRPr lang="fr-FR" sz="1000" dirty="0">
              <a:solidFill>
                <a:srgbClr val="1A252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FR" sz="1400" b="1" i="1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Solution proposée :</a:t>
            </a:r>
            <a:endParaRPr lang="fr-FR" sz="1400" b="0" i="0" dirty="0">
              <a:solidFill>
                <a:srgbClr val="1A252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47675" lvl="1" indent="-190500">
              <a:buFont typeface="Arial" panose="020B0604020202020204" pitchFamily="34" charset="0"/>
              <a:buChar char="•"/>
            </a:pPr>
            <a:r>
              <a:rPr lang="fr-FR" sz="1400" b="0" i="0" dirty="0" err="1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Langfuse</a:t>
            </a:r>
            <a:r>
              <a:rPr lang="fr-FR" sz="1400" b="0" i="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z="1050" b="0" i="1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(traces LLM) </a:t>
            </a:r>
            <a:r>
              <a:rPr lang="fr-FR" sz="1400" b="0" i="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et Cloud Monitoring </a:t>
            </a:r>
            <a:r>
              <a:rPr lang="fr-FR" sz="1050" b="0" i="1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(infra)</a:t>
            </a:r>
            <a:endParaRPr lang="fr-FR" sz="1400" b="0" i="1" dirty="0">
              <a:solidFill>
                <a:srgbClr val="1A252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54D9C3C7-DDA6-F46A-CC07-DDA8649868C8}"/>
              </a:ext>
            </a:extLst>
          </p:cNvPr>
          <p:cNvSpPr txBox="1"/>
          <p:nvPr/>
        </p:nvSpPr>
        <p:spPr>
          <a:xfrm>
            <a:off x="304800" y="5743575"/>
            <a:ext cx="11572875" cy="819150"/>
          </a:xfrm>
          <a:prstGeom prst="rect">
            <a:avLst/>
          </a:prstGeom>
          <a:solidFill>
            <a:schemeClr val="tx1">
              <a:alpha val="80000"/>
            </a:schemeClr>
          </a:solidFill>
        </p:spPr>
        <p:txBody>
          <a:bodyPr wrap="square" rtlCol="0" anchor="ctr" anchorCtr="0">
            <a:noAutofit/>
          </a:bodyPr>
          <a:lstStyle/>
          <a:p>
            <a:pPr marL="4476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UC1 : </a:t>
            </a:r>
            <a:r>
              <a:rPr lang="fr-FR" sz="1200" b="1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Qu'est-ce qu'il y a à faire ce week-end à Lyon ? </a:t>
            </a:r>
            <a:r>
              <a:rPr lang="fr-FR" sz="1200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→ recherche sémantique + géo</a:t>
            </a:r>
          </a:p>
          <a:p>
            <a:pPr marL="4476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UC2 : </a:t>
            </a:r>
            <a:r>
              <a:rPr lang="fr-FR" sz="1200" b="1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Et plutôt pour des enfants ?</a:t>
            </a:r>
            <a:r>
              <a:rPr lang="fr-FR" sz="1200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→ mémoire conversationnelle</a:t>
            </a:r>
          </a:p>
          <a:p>
            <a:pPr marL="4476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UC3 : </a:t>
            </a:r>
            <a:r>
              <a:rPr lang="fr-FR" sz="1200" b="1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Événement très récent non indexé</a:t>
            </a:r>
            <a:r>
              <a:rPr lang="fr-FR" sz="1200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→ ‘</a:t>
            </a:r>
            <a:r>
              <a:rPr lang="fr-FR" sz="1200" dirty="0" err="1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web_search</a:t>
            </a:r>
            <a:r>
              <a:rPr lang="fr-FR" sz="1200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’ automatique</a:t>
            </a:r>
          </a:p>
        </p:txBody>
      </p:sp>
    </p:spTree>
    <p:extLst>
      <p:ext uri="{BB962C8B-B14F-4D97-AF65-F5344CB8AC3E}">
        <p14:creationId xmlns:p14="http://schemas.microsoft.com/office/powerpoint/2010/main" val="1364557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29302-ACF7-6A7C-B0D5-CF4B7F6F1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E9D22159-8D26-27A3-736D-DC21F734D1B1}"/>
              </a:ext>
            </a:extLst>
          </p:cNvPr>
          <p:cNvSpPr txBox="1">
            <a:spLocks/>
          </p:cNvSpPr>
          <p:nvPr/>
        </p:nvSpPr>
        <p:spPr>
          <a:xfrm>
            <a:off x="1079500" y="0"/>
            <a:ext cx="11112500" cy="8001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</p:spPr>
        <p:txBody>
          <a:bodyPr wrap="square" rtlCol="0" anchor="ctr" anchorCtr="0">
            <a:noAutofit/>
          </a:bodyPr>
          <a:lstStyle/>
          <a:p>
            <a:r>
              <a:rPr lang="fr-FR" sz="3200" b="1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ARCHI TECHNIQUE – Vue global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2D52549-1D7B-AB42-9B33-9E36A9CBB888}"/>
              </a:ext>
            </a:extLst>
          </p:cNvPr>
          <p:cNvSpPr txBox="1"/>
          <p:nvPr/>
        </p:nvSpPr>
        <p:spPr>
          <a:xfrm>
            <a:off x="0" y="0"/>
            <a:ext cx="1079500" cy="800100"/>
          </a:xfrm>
          <a:prstGeom prst="rect">
            <a:avLst/>
          </a:prstGeom>
          <a:solidFill>
            <a:srgbClr val="3D85C6"/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fr-FR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383041-EE46-E21D-1129-C30C1211CA92}"/>
              </a:ext>
            </a:extLst>
          </p:cNvPr>
          <p:cNvSpPr/>
          <p:nvPr/>
        </p:nvSpPr>
        <p:spPr>
          <a:xfrm>
            <a:off x="142875" y="950595"/>
            <a:ext cx="11906250" cy="5772150"/>
          </a:xfrm>
          <a:prstGeom prst="rect">
            <a:avLst/>
          </a:prstGeom>
          <a:solidFill>
            <a:schemeClr val="bg1">
              <a:lumMod val="75000"/>
              <a:lumOff val="2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0F1476C-2EC0-C2D2-9F96-E7DD7C2EACD7}"/>
              </a:ext>
            </a:extLst>
          </p:cNvPr>
          <p:cNvSpPr txBox="1"/>
          <p:nvPr/>
        </p:nvSpPr>
        <p:spPr>
          <a:xfrm>
            <a:off x="142875" y="950595"/>
            <a:ext cx="9696450" cy="5493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dirty="0">
                <a:latin typeface="Segoe UI" panose="020B0502040204020203" pitchFamily="34" charset="0"/>
                <a:cs typeface="Segoe UI" panose="020B0502040204020203" pitchFamily="34" charset="0"/>
              </a:rPr>
              <a:t>Schéma d'architecture en 4 couches</a:t>
            </a: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66700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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Cloud provider retenu : 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GCP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(vs AWS / Azure)</a:t>
            </a: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FR" sz="2400" u="sng" dirty="0">
                <a:latin typeface="Segoe UI" panose="020B0502040204020203" pitchFamily="34" charset="0"/>
                <a:cs typeface="Segoe UI" panose="020B0502040204020203" pitchFamily="34" charset="0"/>
              </a:rPr>
              <a:t>Points forts de l'architecture :</a:t>
            </a:r>
          </a:p>
          <a:p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542925" indent="-285750">
              <a:spcBef>
                <a:spcPts val="600"/>
              </a:spcBef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Scale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-to-</a:t>
            </a: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zero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sur Cloud Run → coût à l'usage uniquement</a:t>
            </a:r>
          </a:p>
          <a:p>
            <a:pPr marL="542925" indent="-285750">
              <a:spcBef>
                <a:spcPts val="600"/>
              </a:spcBef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Zéro dépendance externe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pour la recherche web </a:t>
            </a:r>
            <a:r>
              <a:rPr lang="fr-FR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(Mistral natif)</a:t>
            </a:r>
            <a:endParaRPr lang="fr-FR" i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542925" indent="-285750">
              <a:spcBef>
                <a:spcPts val="600"/>
              </a:spcBef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Modularité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: LLM, </a:t>
            </a:r>
            <a:r>
              <a:rPr lang="fr-FR" dirty="0" err="1">
                <a:latin typeface="Segoe UI" panose="020B0502040204020203" pitchFamily="34" charset="0"/>
                <a:cs typeface="Segoe UI" panose="020B0502040204020203" pitchFamily="34" charset="0"/>
              </a:rPr>
              <a:t>vectorstore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, frontend interchangeables sans refonte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BDC0A8B9-65EA-9A1B-F008-3349231E2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908" y="1647825"/>
            <a:ext cx="10602183" cy="225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449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3C85D-D665-1049-772E-8D42D218D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2A68194-6BE6-19E7-E9C2-A6F215138A9A}"/>
              </a:ext>
            </a:extLst>
          </p:cNvPr>
          <p:cNvSpPr txBox="1">
            <a:spLocks/>
          </p:cNvSpPr>
          <p:nvPr/>
        </p:nvSpPr>
        <p:spPr>
          <a:xfrm>
            <a:off x="1079500" y="0"/>
            <a:ext cx="11112500" cy="8001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</p:spPr>
        <p:txBody>
          <a:bodyPr wrap="square" rtlCol="0" anchor="ctr" anchorCtr="0">
            <a:noAutofit/>
          </a:bodyPr>
          <a:lstStyle/>
          <a:p>
            <a:r>
              <a:rPr lang="fr-FR" sz="3200" b="1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ARCHI TECHNIQUE – Composants &amp; justifications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C5F7231-3120-91BE-F51D-00B870564212}"/>
              </a:ext>
            </a:extLst>
          </p:cNvPr>
          <p:cNvSpPr txBox="1"/>
          <p:nvPr/>
        </p:nvSpPr>
        <p:spPr>
          <a:xfrm>
            <a:off x="0" y="0"/>
            <a:ext cx="1079500" cy="800100"/>
          </a:xfrm>
          <a:prstGeom prst="rect">
            <a:avLst/>
          </a:prstGeom>
          <a:solidFill>
            <a:srgbClr val="3D85C6"/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fr-FR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CB97BB-52E4-EFAC-0594-86FE82281328}"/>
              </a:ext>
            </a:extLst>
          </p:cNvPr>
          <p:cNvSpPr/>
          <p:nvPr/>
        </p:nvSpPr>
        <p:spPr>
          <a:xfrm>
            <a:off x="142875" y="950595"/>
            <a:ext cx="11906250" cy="5772150"/>
          </a:xfrm>
          <a:prstGeom prst="rect">
            <a:avLst/>
          </a:prstGeom>
          <a:solidFill>
            <a:schemeClr val="bg1">
              <a:lumMod val="75000"/>
              <a:lumOff val="2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6920E4CD-2639-6F02-C926-4502C5D0B1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456537"/>
              </p:ext>
            </p:extLst>
          </p:nvPr>
        </p:nvGraphicFramePr>
        <p:xfrm>
          <a:off x="289560" y="1592578"/>
          <a:ext cx="11612880" cy="44881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05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8687">
                <a:tc>
                  <a:txBody>
                    <a:bodyPr/>
                    <a:lstStyle/>
                    <a:p>
                      <a:pPr algn="ctr"/>
                      <a:r>
                        <a:rPr lang="fr-FR" sz="2000" b="1" noProof="0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Composant</a:t>
                      </a:r>
                    </a:p>
                  </a:txBody>
                  <a:tcPr anchor="ctr">
                    <a:solidFill>
                      <a:srgbClr val="3D85C6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noProof="0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Technologie retenue</a:t>
                      </a:r>
                    </a:p>
                  </a:txBody>
                  <a:tcPr anchor="ctr">
                    <a:solidFill>
                      <a:srgbClr val="3D85C6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noProof="0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Justification</a:t>
                      </a:r>
                    </a:p>
                  </a:txBody>
                  <a:tcPr anchor="ctr">
                    <a:solidFill>
                      <a:srgbClr val="3D85C6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687">
                <a:tc>
                  <a:txBody>
                    <a:bodyPr/>
                    <a:lstStyle/>
                    <a:p>
                      <a:r>
                        <a:rPr lang="fr-FR" sz="16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Cloud provider</a:t>
                      </a: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GCP</a:t>
                      </a: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Mistral sur Vertex AI / $300 crédits / </a:t>
                      </a:r>
                      <a:r>
                        <a:rPr lang="fr-FR" sz="1600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BigQuery</a:t>
                      </a:r>
                      <a:r>
                        <a:rPr lang="fr-FR" sz="16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natif</a:t>
                      </a: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687">
                <a:tc>
                  <a:txBody>
                    <a:bodyPr/>
                    <a:lstStyle/>
                    <a:p>
                      <a:r>
                        <a:rPr lang="fr-FR" sz="1600" b="1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Vectorstore</a:t>
                      </a:r>
                      <a:endParaRPr lang="fr-FR" sz="1600" b="1" noProof="0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Qdrant</a:t>
                      </a:r>
                      <a:endParaRPr lang="fr-FR" sz="1600" noProof="0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Filtre GPS/date/ville → </a:t>
                      </a:r>
                      <a:r>
                        <a:rPr lang="fr-FR" sz="1600" i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impossible avec FAISS </a:t>
                      </a:r>
                      <a:r>
                        <a:rPr lang="fr-FR" sz="1600" i="1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IndexFlatIP</a:t>
                      </a:r>
                      <a:endParaRPr lang="fr-FR" sz="1600" i="1" noProof="0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687">
                <a:tc>
                  <a:txBody>
                    <a:bodyPr/>
                    <a:lstStyle/>
                    <a:p>
                      <a:r>
                        <a:rPr lang="fr-FR" sz="16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LLM</a:t>
                      </a: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mistral-</a:t>
                      </a:r>
                      <a:r>
                        <a:rPr lang="fr-FR" sz="1600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small</a:t>
                      </a:r>
                      <a:r>
                        <a:rPr lang="fr-FR" sz="16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</a:t>
                      </a:r>
                      <a:r>
                        <a:rPr lang="fr-FR" sz="1600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latest</a:t>
                      </a:r>
                      <a:endParaRPr lang="fr-FR" sz="1600" noProof="0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Continuité POC / coût/performance optimal / temp=0.0</a:t>
                      </a: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687">
                <a:tc>
                  <a:txBody>
                    <a:bodyPr/>
                    <a:lstStyle/>
                    <a:p>
                      <a:r>
                        <a:rPr lang="fr-FR" sz="16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Mémoire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Redis </a:t>
                      </a:r>
                      <a:r>
                        <a:rPr lang="fr-FR" sz="1100" i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(Cloud </a:t>
                      </a:r>
                      <a:r>
                        <a:rPr lang="fr-FR" sz="1100" i="1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Memorystore</a:t>
                      </a:r>
                      <a:r>
                        <a:rPr lang="fr-FR" sz="1100" i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)</a:t>
                      </a:r>
                      <a:endParaRPr lang="fr-FR" sz="1600" i="1" noProof="0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TTL session configurable / latence &lt; 1 ms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687">
                <a:tc>
                  <a:txBody>
                    <a:bodyPr/>
                    <a:lstStyle/>
                    <a:p>
                      <a:r>
                        <a:rPr lang="fr-FR" sz="16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Recherche web</a:t>
                      </a: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Mistral Agents API </a:t>
                      </a:r>
                      <a:r>
                        <a:rPr lang="fr-FR" sz="1600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web_search</a:t>
                      </a:r>
                      <a:endParaRPr lang="fr-FR" sz="1600" noProof="0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Natif / zéro dépendance / citations sources incluses</a:t>
                      </a: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8687">
                <a:tc>
                  <a:txBody>
                    <a:bodyPr/>
                    <a:lstStyle/>
                    <a:p>
                      <a:r>
                        <a:rPr lang="fr-FR" sz="16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API Backend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FastAPI</a:t>
                      </a:r>
                      <a:endParaRPr lang="fr-FR" sz="1600" noProof="0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Asynchrone / documentation </a:t>
                      </a:r>
                      <a:r>
                        <a:rPr lang="fr-FR" sz="1600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OpenAPI</a:t>
                      </a:r>
                      <a:r>
                        <a:rPr lang="fr-FR" sz="16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auto / léger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8687">
                <a:tc>
                  <a:txBody>
                    <a:bodyPr/>
                    <a:lstStyle/>
                    <a:p>
                      <a:r>
                        <a:rPr lang="fr-FR" sz="16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CI/CD</a:t>
                      </a: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Cloud </a:t>
                      </a:r>
                      <a:r>
                        <a:rPr lang="fr-FR" sz="1600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Build</a:t>
                      </a:r>
                      <a:r>
                        <a:rPr lang="fr-FR" sz="16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+ </a:t>
                      </a:r>
                      <a:r>
                        <a:rPr lang="fr-FR" sz="1600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Artifact</a:t>
                      </a:r>
                      <a:r>
                        <a:rPr lang="fr-FR" sz="16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fr-FR" sz="1600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Registry</a:t>
                      </a:r>
                      <a:endParaRPr lang="fr-FR" sz="1600" noProof="0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Pipeline auto </a:t>
                      </a:r>
                      <a:r>
                        <a:rPr lang="fr-FR" sz="1600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build→test→push→deploy</a:t>
                      </a:r>
                      <a:r>
                        <a:rPr lang="fr-FR" sz="16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sur merge main</a:t>
                      </a: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8687">
                <a:tc>
                  <a:txBody>
                    <a:bodyPr/>
                    <a:lstStyle/>
                    <a:p>
                      <a:r>
                        <a:rPr lang="fr-FR" sz="16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Monitoring LLM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Langfuse</a:t>
                      </a:r>
                      <a:endParaRPr lang="fr-FR" sz="1600" noProof="0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Self-</a:t>
                      </a:r>
                      <a:r>
                        <a:rPr lang="fr-FR" sz="1600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hostable</a:t>
                      </a:r>
                      <a:r>
                        <a:rPr lang="fr-FR" sz="16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/ traces complètes / scores Ragas continus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7402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7CC22-4009-FADB-C29C-41CFF4F9E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1971ABA-BC80-4904-89D3-313CEDFBB66D}"/>
              </a:ext>
            </a:extLst>
          </p:cNvPr>
          <p:cNvSpPr txBox="1">
            <a:spLocks/>
          </p:cNvSpPr>
          <p:nvPr/>
        </p:nvSpPr>
        <p:spPr>
          <a:xfrm>
            <a:off x="1079500" y="0"/>
            <a:ext cx="11112500" cy="8001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</p:spPr>
        <p:txBody>
          <a:bodyPr wrap="square" rtlCol="0" anchor="ctr" anchorCtr="0">
            <a:noAutofit/>
          </a:bodyPr>
          <a:lstStyle/>
          <a:p>
            <a:r>
              <a:rPr lang="fr-FR" sz="3200" b="1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PLAN DE PROJET &amp; BACKLOG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CDFEFBF-5EEA-2ECC-F504-23A45381D3EA}"/>
              </a:ext>
            </a:extLst>
          </p:cNvPr>
          <p:cNvSpPr txBox="1"/>
          <p:nvPr/>
        </p:nvSpPr>
        <p:spPr>
          <a:xfrm>
            <a:off x="0" y="0"/>
            <a:ext cx="1079500" cy="800100"/>
          </a:xfrm>
          <a:prstGeom prst="rect">
            <a:avLst/>
          </a:prstGeom>
          <a:solidFill>
            <a:srgbClr val="3D85C6"/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fr-FR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D3D475-68EB-63F9-9155-CC2F229772FF}"/>
              </a:ext>
            </a:extLst>
          </p:cNvPr>
          <p:cNvSpPr/>
          <p:nvPr/>
        </p:nvSpPr>
        <p:spPr>
          <a:xfrm>
            <a:off x="142875" y="950595"/>
            <a:ext cx="11906250" cy="5772150"/>
          </a:xfrm>
          <a:prstGeom prst="rect">
            <a:avLst/>
          </a:prstGeom>
          <a:solidFill>
            <a:schemeClr val="bg1">
              <a:lumMod val="75000"/>
              <a:lumOff val="2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6F31206-C5D1-A744-2DE4-3061BEBA71A2}"/>
              </a:ext>
            </a:extLst>
          </p:cNvPr>
          <p:cNvSpPr txBox="1"/>
          <p:nvPr/>
        </p:nvSpPr>
        <p:spPr>
          <a:xfrm>
            <a:off x="142875" y="950595"/>
            <a:ext cx="5820727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dirty="0">
                <a:latin typeface="Segoe UI" panose="020B0502040204020203" pitchFamily="34" charset="0"/>
                <a:cs typeface="Segoe UI" panose="020B0502040204020203" pitchFamily="34" charset="0"/>
              </a:rPr>
              <a:t>Les jalons :</a:t>
            </a:r>
          </a:p>
          <a:p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49263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Un plan de projet structuré, ancré dans des jalons mesurables et un </a:t>
            </a:r>
            <a:r>
              <a:rPr lang="fr-FR" dirty="0" err="1">
                <a:latin typeface="Segoe UI" panose="020B0502040204020203" pitchFamily="34" charset="0"/>
                <a:cs typeface="Segoe UI" panose="020B0502040204020203" pitchFamily="34" charset="0"/>
              </a:rPr>
              <a:t>backlog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priorisé par valeur métier.</a:t>
            </a: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49263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S1-S2 : Cadrage, architecture, provisioning GCP</a:t>
            </a:r>
          </a:p>
          <a:p>
            <a:pPr marL="449263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S3-S6 : Développement pipeline, RAG, API</a:t>
            </a:r>
          </a:p>
          <a:p>
            <a:pPr marL="449263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S7-S8 : Déploiement, monitoring, tests de charge</a:t>
            </a:r>
          </a:p>
          <a:p>
            <a:pPr marL="449263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S9-S11 : Recette UAT, corrections, homologation</a:t>
            </a:r>
          </a:p>
          <a:p>
            <a:pPr marL="449263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S12-S13 :Vérification, support présentation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70FF247A-BA6D-596C-C45B-E5366A4CA3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483735"/>
              </p:ext>
            </p:extLst>
          </p:nvPr>
        </p:nvGraphicFramePr>
        <p:xfrm>
          <a:off x="652938" y="2346960"/>
          <a:ext cx="4800600" cy="21640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17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84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41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1600" b="1" noProof="0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#</a:t>
                      </a:r>
                    </a:p>
                  </a:txBody>
                  <a:tcPr>
                    <a:solidFill>
                      <a:srgbClr val="3D85C6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noProof="0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Jalon</a:t>
                      </a:r>
                    </a:p>
                  </a:txBody>
                  <a:tcPr>
                    <a:solidFill>
                      <a:srgbClr val="3D85C6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noProof="0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Date cible</a:t>
                      </a:r>
                    </a:p>
                  </a:txBody>
                  <a:tcPr>
                    <a:solidFill>
                      <a:srgbClr val="3D85C6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0"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J1</a:t>
                      </a:r>
                    </a:p>
                  </a:txBody>
                  <a:tcPr>
                    <a:solidFill>
                      <a:schemeClr val="accent5">
                        <a:tint val="4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Rapport validé</a:t>
                      </a:r>
                    </a:p>
                  </a:txBody>
                  <a:tcPr>
                    <a:solidFill>
                      <a:schemeClr val="accent5">
                        <a:tint val="4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07/05/2026</a:t>
                      </a:r>
                    </a:p>
                  </a:txBody>
                  <a:tcPr>
                    <a:solidFill>
                      <a:schemeClr val="accent5">
                        <a:tint val="40000"/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380"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J2</a:t>
                      </a:r>
                    </a:p>
                  </a:txBody>
                  <a:tcPr>
                    <a:solidFill>
                      <a:schemeClr val="accent5">
                        <a:tint val="2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Architecture GCP</a:t>
                      </a:r>
                    </a:p>
                  </a:txBody>
                  <a:tcPr>
                    <a:solidFill>
                      <a:schemeClr val="accent5">
                        <a:tint val="2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15/05/2026</a:t>
                      </a:r>
                    </a:p>
                  </a:txBody>
                  <a:tcPr>
                    <a:solidFill>
                      <a:schemeClr val="accent5">
                        <a:tint val="20000"/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380"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J3</a:t>
                      </a:r>
                    </a:p>
                  </a:txBody>
                  <a:tcPr>
                    <a:solidFill>
                      <a:schemeClr val="accent5">
                        <a:tint val="4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MVP développé &amp; testé</a:t>
                      </a:r>
                    </a:p>
                  </a:txBody>
                  <a:tcPr>
                    <a:solidFill>
                      <a:schemeClr val="accent5">
                        <a:tint val="4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12/06/2026</a:t>
                      </a:r>
                    </a:p>
                  </a:txBody>
                  <a:tcPr>
                    <a:solidFill>
                      <a:schemeClr val="accent5">
                        <a:tint val="40000"/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9380"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J4</a:t>
                      </a:r>
                    </a:p>
                  </a:txBody>
                  <a:tcPr>
                    <a:solidFill>
                      <a:schemeClr val="accent5">
                        <a:tint val="2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MVP déployé (</a:t>
                      </a:r>
                      <a:r>
                        <a:rPr lang="fr-FR" sz="1400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staging</a:t>
                      </a:r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5">
                        <a:tint val="2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26/06/2026</a:t>
                      </a:r>
                    </a:p>
                  </a:txBody>
                  <a:tcPr anchor="ctr">
                    <a:solidFill>
                      <a:schemeClr val="accent5">
                        <a:tint val="20000"/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9380"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J5</a:t>
                      </a:r>
                    </a:p>
                  </a:txBody>
                  <a:tcPr>
                    <a:solidFill>
                      <a:schemeClr val="accent5">
                        <a:tint val="4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Recette UAT signée</a:t>
                      </a:r>
                    </a:p>
                  </a:txBody>
                  <a:tcPr>
                    <a:solidFill>
                      <a:schemeClr val="accent5">
                        <a:tint val="4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17/07/2026</a:t>
                      </a:r>
                    </a:p>
                  </a:txBody>
                  <a:tcPr>
                    <a:solidFill>
                      <a:schemeClr val="accent5">
                        <a:tint val="40000"/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9381"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J6</a:t>
                      </a:r>
                    </a:p>
                  </a:txBody>
                  <a:tcPr>
                    <a:solidFill>
                      <a:schemeClr val="accent5">
                        <a:tint val="2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Livraison finale</a:t>
                      </a:r>
                    </a:p>
                  </a:txBody>
                  <a:tcPr>
                    <a:solidFill>
                      <a:schemeClr val="accent5">
                        <a:tint val="2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31/07/2026</a:t>
                      </a:r>
                    </a:p>
                  </a:txBody>
                  <a:tcPr>
                    <a:solidFill>
                      <a:schemeClr val="accent5">
                        <a:tint val="20000"/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53C69356-92BC-6FC5-263F-619361E47D70}"/>
              </a:ext>
            </a:extLst>
          </p:cNvPr>
          <p:cNvSpPr/>
          <p:nvPr/>
        </p:nvSpPr>
        <p:spPr>
          <a:xfrm>
            <a:off x="6014085" y="1441848"/>
            <a:ext cx="5820727" cy="4723387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52EC30-D128-FED9-C96B-8EC72ECB4772}"/>
              </a:ext>
            </a:extLst>
          </p:cNvPr>
          <p:cNvSpPr/>
          <p:nvPr/>
        </p:nvSpPr>
        <p:spPr>
          <a:xfrm>
            <a:off x="6014085" y="1441847"/>
            <a:ext cx="5820727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6">
            <a:extLst>
              <a:ext uri="{FF2B5EF4-FFF2-40B4-BE49-F238E27FC236}">
                <a16:creationId xmlns:a16="http://schemas.microsoft.com/office/drawing/2014/main" id="{76D5215A-639F-412B-046E-AB483A2850F5}"/>
              </a:ext>
            </a:extLst>
          </p:cNvPr>
          <p:cNvSpPr txBox="1"/>
          <p:nvPr/>
        </p:nvSpPr>
        <p:spPr>
          <a:xfrm>
            <a:off x="6059805" y="1455451"/>
            <a:ext cx="5603559" cy="338554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fr-FR" sz="1600" b="1" i="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Macro </a:t>
            </a:r>
            <a:r>
              <a:rPr lang="fr-FR" sz="1600" b="1" i="0" dirty="0" err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backlog</a:t>
            </a:r>
            <a:r>
              <a:rPr lang="fr-FR" sz="1600" b="1" i="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: 19 fonctionnalités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99FEA4-5EE4-D938-55D0-5B2A8DB34805}"/>
              </a:ext>
            </a:extLst>
          </p:cNvPr>
          <p:cNvSpPr/>
          <p:nvPr/>
        </p:nvSpPr>
        <p:spPr>
          <a:xfrm>
            <a:off x="6059805" y="1880759"/>
            <a:ext cx="5729287" cy="3383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Box 18">
            <a:extLst>
              <a:ext uri="{FF2B5EF4-FFF2-40B4-BE49-F238E27FC236}">
                <a16:creationId xmlns:a16="http://schemas.microsoft.com/office/drawing/2014/main" id="{C7BCC646-FC5E-A4DF-A732-DEDBFF1C6DF6}"/>
              </a:ext>
            </a:extLst>
          </p:cNvPr>
          <p:cNvSpPr txBox="1"/>
          <p:nvPr/>
        </p:nvSpPr>
        <p:spPr>
          <a:xfrm>
            <a:off x="6105526" y="1880647"/>
            <a:ext cx="5637846" cy="338554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fr-FR" sz="1600" b="1" i="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 Must-Have - essentielles au MVP  </a:t>
            </a:r>
            <a:r>
              <a:rPr lang="fr-FR" sz="1100" b="1" i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(~35 jours)</a:t>
            </a:r>
            <a:endParaRPr lang="fr-FR" sz="1600" b="1" i="1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Box 19">
            <a:extLst>
              <a:ext uri="{FF2B5EF4-FFF2-40B4-BE49-F238E27FC236}">
                <a16:creationId xmlns:a16="http://schemas.microsoft.com/office/drawing/2014/main" id="{653C4047-636B-5900-9F4C-CF08FD588914}"/>
              </a:ext>
            </a:extLst>
          </p:cNvPr>
          <p:cNvSpPr txBox="1"/>
          <p:nvPr/>
        </p:nvSpPr>
        <p:spPr>
          <a:xfrm>
            <a:off x="6105525" y="2219087"/>
            <a:ext cx="5943600" cy="2677656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MH-01  Pipeline ingestion national (Open Agenda → France entière)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MH-02  Vectorisation mistral-embed 1024D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MH-03  Index </a:t>
            </a:r>
            <a:r>
              <a:rPr lang="fr-FR" sz="1400" dirty="0" err="1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Qdrant</a:t>
            </a: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+ métadonnées GPS/date/ville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MH-04  Filtre géospatial dynamique (rayon configurable)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MH-05  Mémoire conversationnelle Redis (TTL session)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MH-06  Pipeline RAG </a:t>
            </a:r>
            <a:r>
              <a:rPr lang="fr-FR" sz="1400" dirty="0" err="1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LangChain</a:t>
            </a: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LCEL (MMR k=10)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MH-07  API REST </a:t>
            </a:r>
            <a:r>
              <a:rPr lang="fr-FR" sz="1400" dirty="0" err="1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FastAPI</a:t>
            </a: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(/chat · /session · /</a:t>
            </a:r>
            <a:r>
              <a:rPr lang="fr-FR" sz="1400" dirty="0" err="1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health</a:t>
            </a: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MH-08  Interface </a:t>
            </a:r>
            <a:r>
              <a:rPr lang="fr-FR" sz="1400" dirty="0" err="1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Streamlit</a:t>
            </a: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+ feedback utilisateur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MH-09  Déploiement Cloud Run + Docker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MH-10  CI/CD Cloud </a:t>
            </a:r>
            <a:r>
              <a:rPr lang="fr-FR" sz="1400" dirty="0" err="1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Build</a:t>
            </a: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automatisé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MH-11  Monitoring LLM </a:t>
            </a:r>
            <a:r>
              <a:rPr lang="fr-FR" sz="1400" dirty="0" err="1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Langfuse</a:t>
            </a: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(traces + Ragas)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MH-12  Monitoring infra Cloud Monitoring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70C2A9-B11B-EBE2-3247-BD8645C4D5F8}"/>
              </a:ext>
            </a:extLst>
          </p:cNvPr>
          <p:cNvSpPr/>
          <p:nvPr/>
        </p:nvSpPr>
        <p:spPr>
          <a:xfrm>
            <a:off x="6059805" y="4929126"/>
            <a:ext cx="5729287" cy="320040"/>
          </a:xfrm>
          <a:prstGeom prst="rect">
            <a:avLst/>
          </a:prstGeom>
          <a:solidFill>
            <a:srgbClr val="2C8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Box 21">
            <a:extLst>
              <a:ext uri="{FF2B5EF4-FFF2-40B4-BE49-F238E27FC236}">
                <a16:creationId xmlns:a16="http://schemas.microsoft.com/office/drawing/2014/main" id="{FD56274B-40F7-8096-0E69-1A7E3DF8CA34}"/>
              </a:ext>
            </a:extLst>
          </p:cNvPr>
          <p:cNvSpPr txBox="1"/>
          <p:nvPr/>
        </p:nvSpPr>
        <p:spPr>
          <a:xfrm>
            <a:off x="6105525" y="4919870"/>
            <a:ext cx="5637847" cy="338554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fr-FR" sz="1600" b="1" i="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7 Nice-to-Have  </a:t>
            </a:r>
            <a:r>
              <a:rPr lang="fr-FR" sz="1100" b="1" i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(~25 jours)</a:t>
            </a:r>
            <a:endParaRPr lang="fr-FR" sz="1600" b="1" i="1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22">
            <a:extLst>
              <a:ext uri="{FF2B5EF4-FFF2-40B4-BE49-F238E27FC236}">
                <a16:creationId xmlns:a16="http://schemas.microsoft.com/office/drawing/2014/main" id="{4A39E8BE-C11A-D7B8-A9EB-FC1B702C7BA0}"/>
              </a:ext>
            </a:extLst>
          </p:cNvPr>
          <p:cNvSpPr txBox="1"/>
          <p:nvPr/>
        </p:nvSpPr>
        <p:spPr>
          <a:xfrm>
            <a:off x="6105525" y="5258422"/>
            <a:ext cx="5943600" cy="906813"/>
          </a:xfrm>
          <a:prstGeom prst="rect">
            <a:avLst/>
          </a:prstGeom>
          <a:noFill/>
        </p:spPr>
        <p:txBody>
          <a:bodyPr wrap="square" numCol="2" anchor="ctr" anchorCtr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NH-01 </a:t>
            </a:r>
            <a:r>
              <a:rPr lang="fr-FR" sz="1400" dirty="0" err="1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web_search</a:t>
            </a: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Mistral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NH-02 </a:t>
            </a:r>
            <a:r>
              <a:rPr lang="fr-FR" sz="1400" dirty="0" err="1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GeoIP</a:t>
            </a: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auto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NH-03 </a:t>
            </a:r>
            <a:r>
              <a:rPr lang="fr-FR" sz="1400" dirty="0" err="1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Qdrant</a:t>
            </a: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incrémental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NH-04 Ragas en prod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NH-05 </a:t>
            </a:r>
            <a:r>
              <a:rPr lang="fr-FR" sz="1400" dirty="0" err="1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React</a:t>
            </a: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NH-06 Multi-sources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NH-07 </a:t>
            </a:r>
            <a:r>
              <a:rPr lang="fr-FR" sz="1400" dirty="0" err="1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BigQuery</a:t>
            </a:r>
            <a:endParaRPr lang="fr-FR" sz="1400" dirty="0">
              <a:solidFill>
                <a:srgbClr val="1A252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987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D38BD-679E-E40A-5FFD-804B8C651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8091125-166D-B0BD-F66F-D73549F71C12}"/>
              </a:ext>
            </a:extLst>
          </p:cNvPr>
          <p:cNvSpPr txBox="1">
            <a:spLocks/>
          </p:cNvSpPr>
          <p:nvPr/>
        </p:nvSpPr>
        <p:spPr>
          <a:xfrm>
            <a:off x="1079500" y="0"/>
            <a:ext cx="11112500" cy="8001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</p:spPr>
        <p:txBody>
          <a:bodyPr wrap="square" rtlCol="0" anchor="ctr" anchorCtr="0">
            <a:noAutofit/>
          </a:bodyPr>
          <a:lstStyle/>
          <a:p>
            <a:r>
              <a:rPr lang="fr-FR" sz="3200" b="1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ESTIMATION DES COÛTS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280214D-0CF8-B367-02AD-EA12FB1E5E09}"/>
              </a:ext>
            </a:extLst>
          </p:cNvPr>
          <p:cNvSpPr txBox="1"/>
          <p:nvPr/>
        </p:nvSpPr>
        <p:spPr>
          <a:xfrm>
            <a:off x="0" y="0"/>
            <a:ext cx="1079500" cy="800100"/>
          </a:xfrm>
          <a:prstGeom prst="rect">
            <a:avLst/>
          </a:prstGeom>
          <a:solidFill>
            <a:srgbClr val="3D85C6"/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fr-FR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C90175-468E-D888-F2E5-29AB433E2E83}"/>
              </a:ext>
            </a:extLst>
          </p:cNvPr>
          <p:cNvSpPr/>
          <p:nvPr/>
        </p:nvSpPr>
        <p:spPr>
          <a:xfrm>
            <a:off x="142875" y="950595"/>
            <a:ext cx="11906250" cy="5772150"/>
          </a:xfrm>
          <a:prstGeom prst="rect">
            <a:avLst/>
          </a:prstGeom>
          <a:solidFill>
            <a:schemeClr val="bg1">
              <a:lumMod val="75000"/>
              <a:lumOff val="2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691C2E9-9688-954F-8EAB-E3E9A0948121}"/>
              </a:ext>
            </a:extLst>
          </p:cNvPr>
          <p:cNvSpPr txBox="1"/>
          <p:nvPr/>
        </p:nvSpPr>
        <p:spPr>
          <a:xfrm>
            <a:off x="142875" y="950595"/>
            <a:ext cx="4916805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dirty="0">
                <a:latin typeface="Segoe UI" panose="020B0502040204020203" pitchFamily="34" charset="0"/>
                <a:cs typeface="Segoe UI" panose="020B0502040204020203" pitchFamily="34" charset="0"/>
              </a:rPr>
              <a:t>Coûts </a:t>
            </a:r>
            <a:r>
              <a:rPr lang="fr-FR" sz="2400" u="sng" dirty="0" err="1">
                <a:latin typeface="Segoe UI" panose="020B0502040204020203" pitchFamily="34" charset="0"/>
                <a:cs typeface="Segoe UI" panose="020B0502040204020203" pitchFamily="34" charset="0"/>
              </a:rPr>
              <a:t>build</a:t>
            </a:r>
            <a:r>
              <a:rPr lang="fr-FR" sz="2400" u="sng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z="1600" i="1" u="sng" dirty="0">
                <a:latin typeface="Segoe UI" panose="020B0502040204020203" pitchFamily="34" charset="0"/>
                <a:cs typeface="Segoe UI" panose="020B0502040204020203" pitchFamily="34" charset="0"/>
              </a:rPr>
              <a:t>(infra dev/</a:t>
            </a:r>
            <a:r>
              <a:rPr lang="fr-FR" sz="1600" i="1" u="sng" dirty="0" err="1">
                <a:latin typeface="Segoe UI" panose="020B0502040204020203" pitchFamily="34" charset="0"/>
                <a:cs typeface="Segoe UI" panose="020B0502040204020203" pitchFamily="34" charset="0"/>
              </a:rPr>
              <a:t>staging</a:t>
            </a:r>
            <a:r>
              <a:rPr lang="fr-FR" sz="1600" i="1" u="sng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r>
              <a:rPr lang="fr-FR" sz="2400" u="sng" dirty="0">
                <a:latin typeface="Segoe UI" panose="020B0502040204020203" pitchFamily="34" charset="0"/>
                <a:cs typeface="Segoe UI" panose="020B0502040204020203" pitchFamily="34" charset="0"/>
              </a:rPr>
              <a:t> :</a:t>
            </a: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Clr>
                <a:srgbClr val="3D85C6"/>
              </a:buClr>
              <a:buFont typeface="Wingdings" panose="05000000000000000000" pitchFamily="2" charset="2"/>
              <a:buChar char="ü"/>
            </a:pPr>
            <a:r>
              <a:rPr lang="fr-FR" sz="1600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Couverts intégralement par les crédits GCP </a:t>
            </a:r>
            <a:r>
              <a:rPr lang="fr-FR" sz="1100" i="1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($300)</a:t>
            </a:r>
            <a:endParaRPr lang="fr-FR" sz="1600" i="1" dirty="0">
              <a:solidFill>
                <a:srgbClr val="3D85C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7102DB8-5B0C-C976-FD0E-05E941BFBEEC}"/>
              </a:ext>
            </a:extLst>
          </p:cNvPr>
          <p:cNvSpPr txBox="1"/>
          <p:nvPr/>
        </p:nvSpPr>
        <p:spPr>
          <a:xfrm>
            <a:off x="5227320" y="950595"/>
            <a:ext cx="682180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dirty="0">
                <a:latin typeface="Segoe UI" panose="020B0502040204020203" pitchFamily="34" charset="0"/>
                <a:cs typeface="Segoe UI" panose="020B0502040204020203" pitchFamily="34" charset="0"/>
              </a:rPr>
              <a:t>OPEX mensuel </a:t>
            </a:r>
            <a:r>
              <a:rPr lang="fr-FR" sz="1600" i="1" u="sng" dirty="0">
                <a:latin typeface="Segoe UI" panose="020B0502040204020203" pitchFamily="34" charset="0"/>
                <a:cs typeface="Segoe UI" panose="020B0502040204020203" pitchFamily="34" charset="0"/>
              </a:rPr>
              <a:t>(3 scénarios)</a:t>
            </a:r>
            <a:r>
              <a:rPr lang="fr-FR" sz="2400" u="sng" dirty="0">
                <a:latin typeface="Segoe UI" panose="020B0502040204020203" pitchFamily="34" charset="0"/>
                <a:cs typeface="Segoe UI" panose="020B0502040204020203" pitchFamily="34" charset="0"/>
              </a:rPr>
              <a:t> :</a:t>
            </a: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49263"/>
            <a:r>
              <a:rPr lang="fr-FR" sz="1600" dirty="0">
                <a:solidFill>
                  <a:srgbClr val="E67E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 coût par utilisateur décroît avec la montée en charge </a:t>
            </a:r>
          </a:p>
          <a:p>
            <a:pPr marL="449263"/>
            <a:r>
              <a:rPr lang="fr-FR" sz="1100" i="1" dirty="0">
                <a:solidFill>
                  <a:srgbClr val="E67E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fr-FR" sz="1100" i="1" dirty="0" err="1">
                <a:solidFill>
                  <a:srgbClr val="E67E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scale</a:t>
            </a:r>
            <a:r>
              <a:rPr lang="fr-FR" sz="1100" i="1" dirty="0">
                <a:solidFill>
                  <a:srgbClr val="E67E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-to-</a:t>
            </a:r>
            <a:r>
              <a:rPr lang="fr-FR" sz="1100" i="1" dirty="0" err="1">
                <a:solidFill>
                  <a:srgbClr val="E67E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zero</a:t>
            </a:r>
            <a:r>
              <a:rPr lang="fr-FR" sz="1100" i="1" dirty="0">
                <a:solidFill>
                  <a:srgbClr val="E67E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Cloud Run + mutualisation des coûts fixes (Redis, </a:t>
            </a:r>
            <a:r>
              <a:rPr lang="fr-FR" sz="1100" i="1" dirty="0" err="1">
                <a:solidFill>
                  <a:srgbClr val="E67E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Qdrant</a:t>
            </a:r>
            <a:r>
              <a:rPr lang="fr-FR" sz="1100" i="1" dirty="0">
                <a:solidFill>
                  <a:srgbClr val="E67E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))</a:t>
            </a:r>
          </a:p>
        </p:txBody>
      </p:sp>
      <p:graphicFrame>
        <p:nvGraphicFramePr>
          <p:cNvPr id="9" name="Table 10">
            <a:extLst>
              <a:ext uri="{FF2B5EF4-FFF2-40B4-BE49-F238E27FC236}">
                <a16:creationId xmlns:a16="http://schemas.microsoft.com/office/drawing/2014/main" id="{F0096640-D555-49F6-EC35-F11FFE7C96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166780"/>
              </p:ext>
            </p:extLst>
          </p:nvPr>
        </p:nvGraphicFramePr>
        <p:xfrm>
          <a:off x="644628" y="1569720"/>
          <a:ext cx="3899032" cy="185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8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5762">
                <a:tc>
                  <a:txBody>
                    <a:bodyPr/>
                    <a:lstStyle/>
                    <a:p>
                      <a:pPr algn="ctr"/>
                      <a:r>
                        <a:rPr lang="fr-FR" sz="1600" b="1" noProof="0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Service</a:t>
                      </a:r>
                    </a:p>
                  </a:txBody>
                  <a:tcPr anchor="ctr">
                    <a:solidFill>
                      <a:srgbClr val="3D85C6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noProof="0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Coût (11 sem.)</a:t>
                      </a:r>
                    </a:p>
                  </a:txBody>
                  <a:tcPr anchor="ctr">
                    <a:solidFill>
                      <a:srgbClr val="3D85C6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601">
                <a:tc>
                  <a:txBody>
                    <a:bodyPr/>
                    <a:lstStyle/>
                    <a:p>
                      <a:r>
                        <a:rPr lang="fr-FR" sz="14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Cloud Run (</a:t>
                      </a:r>
                      <a:r>
                        <a:rPr lang="fr-FR" sz="1400" b="1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dev+staging</a:t>
                      </a:r>
                      <a:r>
                        <a:rPr lang="fr-FR" sz="14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)</a:t>
                      </a:r>
                    </a:p>
                  </a:txBody>
                  <a:tcPr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~8 €</a:t>
                      </a:r>
                    </a:p>
                  </a:txBody>
                  <a:tcPr>
                    <a:solidFill>
                      <a:srgbClr val="F4F6F7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601">
                <a:tc>
                  <a:txBody>
                    <a:bodyPr/>
                    <a:lstStyle/>
                    <a:p>
                      <a:r>
                        <a:rPr lang="fr-FR" sz="14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Redis </a:t>
                      </a:r>
                      <a:r>
                        <a:rPr lang="fr-FR" sz="1400" b="1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staging</a:t>
                      </a:r>
                      <a:endParaRPr lang="fr-FR" sz="1400" b="1" noProof="0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~25 €</a:t>
                      </a:r>
                    </a:p>
                  </a:txBody>
                  <a:tcPr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601">
                <a:tc>
                  <a:txBody>
                    <a:bodyPr/>
                    <a:lstStyle/>
                    <a:p>
                      <a:r>
                        <a:rPr lang="fr-FR" sz="14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Mistral AI (tests)</a:t>
                      </a:r>
                    </a:p>
                  </a:txBody>
                  <a:tcPr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~15 €</a:t>
                      </a:r>
                    </a:p>
                  </a:txBody>
                  <a:tcPr>
                    <a:solidFill>
                      <a:srgbClr val="F4F6F7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1601">
                <a:tc>
                  <a:txBody>
                    <a:bodyPr/>
                    <a:lstStyle/>
                    <a:p>
                      <a:r>
                        <a:rPr lang="fr-FR" sz="14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Cloud </a:t>
                      </a:r>
                      <a:r>
                        <a:rPr lang="fr-FR" sz="1400" b="1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Build</a:t>
                      </a:r>
                      <a:r>
                        <a:rPr lang="fr-FR" sz="14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+ </a:t>
                      </a:r>
                      <a:r>
                        <a:rPr lang="fr-FR" sz="1400" b="1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Registry</a:t>
                      </a:r>
                      <a:endParaRPr lang="fr-FR" sz="1400" b="1" noProof="0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Gratuit</a:t>
                      </a:r>
                    </a:p>
                  </a:txBody>
                  <a:tcPr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1601">
                <a:tc>
                  <a:txBody>
                    <a:bodyPr/>
                    <a:lstStyle/>
                    <a:p>
                      <a:r>
                        <a:rPr lang="fr-FR" sz="14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TOTAL infra </a:t>
                      </a:r>
                      <a:r>
                        <a:rPr lang="fr-FR" sz="1400" b="1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build</a:t>
                      </a:r>
                      <a:endParaRPr lang="fr-FR" sz="1400" b="1" noProof="0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~50 €</a:t>
                      </a:r>
                    </a:p>
                  </a:txBody>
                  <a:tcPr>
                    <a:solidFill>
                      <a:srgbClr val="F4F6F7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4" name="Table 15">
            <a:extLst>
              <a:ext uri="{FF2B5EF4-FFF2-40B4-BE49-F238E27FC236}">
                <a16:creationId xmlns:a16="http://schemas.microsoft.com/office/drawing/2014/main" id="{3F449EB3-3E6B-9B69-1EB6-E1E7797D99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366753"/>
              </p:ext>
            </p:extLst>
          </p:nvPr>
        </p:nvGraphicFramePr>
        <p:xfrm>
          <a:off x="5844857" y="1742271"/>
          <a:ext cx="5586730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8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7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0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0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1600" b="1" noProof="0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Scénario</a:t>
                      </a:r>
                    </a:p>
                  </a:txBody>
                  <a:tcPr anchor="ctr">
                    <a:solidFill>
                      <a:srgbClr val="E67E22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noProof="0" dirty="0" err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Users</a:t>
                      </a:r>
                      <a:r>
                        <a:rPr lang="fr-FR" sz="1600" b="1" noProof="0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/j</a:t>
                      </a:r>
                    </a:p>
                  </a:txBody>
                  <a:tcPr anchor="ctr">
                    <a:solidFill>
                      <a:srgbClr val="E67E22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noProof="0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OPEX/mois</a:t>
                      </a:r>
                    </a:p>
                  </a:txBody>
                  <a:tcPr anchor="ctr">
                    <a:solidFill>
                      <a:srgbClr val="E67E22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noProof="0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Coût/user/mois</a:t>
                      </a:r>
                    </a:p>
                  </a:txBody>
                  <a:tcPr anchor="ctr">
                    <a:solidFill>
                      <a:srgbClr val="E67E22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4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MVP lancement</a:t>
                      </a: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</a:t>
                      </a: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~50 €</a:t>
                      </a: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~0,017 €</a:t>
                      </a: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4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Croissance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1 000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~350 €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~0,012 €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400" b="1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Scale</a:t>
                      </a:r>
                      <a:endParaRPr lang="fr-FR" sz="1400" b="1" noProof="0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10 000</a:t>
                      </a: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~2 265 €</a:t>
                      </a: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~0,008 €</a:t>
                      </a: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8" name="Graphique 17" descr="Graphique de tendance à la baisse avec un remplissage uni">
            <a:extLst>
              <a:ext uri="{FF2B5EF4-FFF2-40B4-BE49-F238E27FC236}">
                <a16:creationId xmlns:a16="http://schemas.microsoft.com/office/drawing/2014/main" id="{269E259F-39A4-2CB4-42CA-5DB44A24ED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11140" y="3539282"/>
            <a:ext cx="438954" cy="438954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5200AD15-E81D-9F42-5F10-27A6A7F7AF91}"/>
              </a:ext>
            </a:extLst>
          </p:cNvPr>
          <p:cNvSpPr txBox="1"/>
          <p:nvPr/>
        </p:nvSpPr>
        <p:spPr>
          <a:xfrm>
            <a:off x="142873" y="3936027"/>
            <a:ext cx="49168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dirty="0">
                <a:latin typeface="Segoe UI" panose="020B0502040204020203" pitchFamily="34" charset="0"/>
                <a:cs typeface="Segoe UI" panose="020B0502040204020203" pitchFamily="34" charset="0"/>
              </a:rPr>
              <a:t>Leviers d’optimisation budgétaire:</a:t>
            </a:r>
          </a:p>
        </p:txBody>
      </p:sp>
      <p:graphicFrame>
        <p:nvGraphicFramePr>
          <p:cNvPr id="20" name="Table 20">
            <a:extLst>
              <a:ext uri="{FF2B5EF4-FFF2-40B4-BE49-F238E27FC236}">
                <a16:creationId xmlns:a16="http://schemas.microsoft.com/office/drawing/2014/main" id="{8FDF489B-F099-F9D4-7A97-C293E70B5F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656635"/>
              </p:ext>
            </p:extLst>
          </p:nvPr>
        </p:nvGraphicFramePr>
        <p:xfrm>
          <a:off x="2594144" y="4492079"/>
          <a:ext cx="6311900" cy="185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Levier</a:t>
                      </a:r>
                    </a:p>
                  </a:txBody>
                  <a:tcPr anchor="ctr">
                    <a:solidFill>
                      <a:srgbClr val="00B050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Économie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sz="1600" b="1" dirty="0" err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potentielle</a:t>
                      </a:r>
                      <a:endParaRPr sz="1600" b="1" dirty="0">
                        <a:solidFill>
                          <a:srgbClr val="FFFFF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00B050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Cache Redis </a:t>
                      </a:r>
                      <a:r>
                        <a:rPr sz="1100" b="1" i="1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(questions </a:t>
                      </a:r>
                      <a:r>
                        <a:rPr sz="1100" b="1" i="1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répétées</a:t>
                      </a:r>
                      <a:r>
                        <a:rPr sz="1100" b="1" i="1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)</a:t>
                      </a:r>
                      <a:endParaRPr sz="1400" b="1" i="1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-20 à 30 % Mistral API</a:t>
                      </a: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Modèle</a:t>
                      </a:r>
                      <a:r>
                        <a:rPr sz="1400" b="1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plus </a:t>
                      </a:r>
                      <a:r>
                        <a:rPr sz="1400" b="1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léger</a:t>
                      </a:r>
                      <a:r>
                        <a:rPr sz="1400" b="1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sz="1100" b="1" i="1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(open-mistral-7b)</a:t>
                      </a:r>
                      <a:endParaRPr sz="1400" b="1" i="1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-60 % </a:t>
                      </a:r>
                      <a:r>
                        <a:rPr sz="140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coût</a:t>
                      </a:r>
                      <a:r>
                        <a:rPr sz="140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sz="140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génération</a:t>
                      </a:r>
                      <a:endParaRPr sz="1400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Ingestion </a:t>
                      </a:r>
                      <a:r>
                        <a:rPr sz="1400" b="1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incrémentale</a:t>
                      </a:r>
                      <a:r>
                        <a:rPr sz="1400" b="1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uniquement</a:t>
                      </a:r>
                      <a:endParaRPr sz="1400" b="1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-50 % </a:t>
                      </a:r>
                      <a:r>
                        <a:rPr sz="140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coûts</a:t>
                      </a:r>
                      <a:r>
                        <a:rPr sz="140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embedding build</a:t>
                      </a: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Qdrant</a:t>
                      </a:r>
                      <a:r>
                        <a:rPr sz="1400" b="1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auto-</a:t>
                      </a:r>
                      <a:r>
                        <a:rPr sz="1400" b="1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hébergé</a:t>
                      </a:r>
                      <a:r>
                        <a:rPr sz="1400" b="1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sz="1100" b="1" i="1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(Cloud Run + </a:t>
                      </a:r>
                      <a:r>
                        <a:rPr sz="1100" b="1" i="1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disque</a:t>
                      </a:r>
                      <a:r>
                        <a:rPr sz="1100" b="1" i="1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)</a:t>
                      </a:r>
                      <a:endParaRPr sz="1400" b="1" i="1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-40 % </a:t>
                      </a:r>
                      <a:r>
                        <a:rPr sz="140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vectorstore</a:t>
                      </a:r>
                      <a:endParaRPr sz="1400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Langfuse</a:t>
                      </a:r>
                      <a:r>
                        <a:rPr sz="1400" b="1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self-hosted </a:t>
                      </a:r>
                      <a:r>
                        <a:rPr sz="1100" b="1" i="1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(&gt; 50 K traces)</a:t>
                      </a:r>
                      <a:endParaRPr sz="1400" b="1" i="1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-25 €/</a:t>
                      </a:r>
                      <a:r>
                        <a:rPr sz="140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mois</a:t>
                      </a:r>
                      <a:endParaRPr sz="1400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4305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ED805-CC2B-6985-A8DF-815B195A9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E21A0373-2CB6-E0E9-5834-6D1FA701A991}"/>
              </a:ext>
            </a:extLst>
          </p:cNvPr>
          <p:cNvSpPr txBox="1">
            <a:spLocks/>
          </p:cNvSpPr>
          <p:nvPr/>
        </p:nvSpPr>
        <p:spPr>
          <a:xfrm>
            <a:off x="1079500" y="0"/>
            <a:ext cx="11112500" cy="8001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</p:spPr>
        <p:txBody>
          <a:bodyPr wrap="square" rtlCol="0" anchor="ctr" anchorCtr="0">
            <a:noAutofit/>
          </a:bodyPr>
          <a:lstStyle/>
          <a:p>
            <a:r>
              <a:rPr lang="fr-FR" sz="3200" b="1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BILAN &amp; JUSTIFICATION DES CHOIX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DBE4CED-0A16-0509-382E-AC2FF48AF6A4}"/>
              </a:ext>
            </a:extLst>
          </p:cNvPr>
          <p:cNvSpPr txBox="1"/>
          <p:nvPr/>
        </p:nvSpPr>
        <p:spPr>
          <a:xfrm>
            <a:off x="0" y="0"/>
            <a:ext cx="1079500" cy="800100"/>
          </a:xfrm>
          <a:prstGeom prst="rect">
            <a:avLst/>
          </a:prstGeom>
          <a:solidFill>
            <a:srgbClr val="3D85C6"/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fr-FR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7F2535-16C1-02D5-89F9-05CCA904F1FE}"/>
              </a:ext>
            </a:extLst>
          </p:cNvPr>
          <p:cNvSpPr/>
          <p:nvPr/>
        </p:nvSpPr>
        <p:spPr>
          <a:xfrm>
            <a:off x="142875" y="950595"/>
            <a:ext cx="11906250" cy="5772150"/>
          </a:xfrm>
          <a:prstGeom prst="rect">
            <a:avLst/>
          </a:prstGeom>
          <a:solidFill>
            <a:schemeClr val="bg1">
              <a:lumMod val="75000"/>
              <a:lumOff val="2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D59E9C9-AF97-85D0-D020-56FE9EF26DDD}"/>
              </a:ext>
            </a:extLst>
          </p:cNvPr>
          <p:cNvSpPr txBox="1"/>
          <p:nvPr/>
        </p:nvSpPr>
        <p:spPr>
          <a:xfrm>
            <a:off x="142875" y="950595"/>
            <a:ext cx="1190625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dirty="0">
                <a:latin typeface="Segoe UI" panose="020B0502040204020203" pitchFamily="34" charset="0"/>
                <a:cs typeface="Segoe UI" panose="020B0502040204020203" pitchFamily="34" charset="0"/>
              </a:rPr>
              <a:t>Défis rencontrés &amp; solutions :</a:t>
            </a: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r>
              <a:rPr lang="fr-FR" sz="2400" u="sng" dirty="0">
                <a:latin typeface="Segoe UI" panose="020B0502040204020203" pitchFamily="34" charset="0"/>
                <a:cs typeface="Segoe UI" panose="020B0502040204020203" pitchFamily="34" charset="0"/>
              </a:rPr>
              <a:t>Les livrables :</a:t>
            </a:r>
          </a:p>
          <a:p>
            <a:pPr>
              <a:buClr>
                <a:srgbClr val="00B050"/>
              </a:buClr>
            </a:pPr>
            <a:endParaRPr lang="fr-FR" sz="1000" u="sng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15963" indent="-342900">
              <a:spcBef>
                <a:spcPts val="600"/>
              </a:spcBef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Rapport de gestion complet </a:t>
            </a:r>
            <a:r>
              <a:rPr lang="fr-FR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(analyse, architecture, </a:t>
            </a:r>
            <a:r>
              <a:rPr lang="fr-FR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backlog</a:t>
            </a:r>
            <a:r>
              <a:rPr lang="fr-FR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, coûts, bilan)</a:t>
            </a:r>
          </a:p>
          <a:p>
            <a:pPr marL="715963" indent="-342900">
              <a:spcBef>
                <a:spcPts val="600"/>
              </a:spcBef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Architecture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cloud 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scalable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GCP 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documentée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(schémas + justifications)</a:t>
            </a:r>
          </a:p>
          <a:p>
            <a:pPr marL="715963" indent="-342900">
              <a:spcBef>
                <a:spcPts val="600"/>
              </a:spcBef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Backlog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priorisé : 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12 Must-Have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et 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7 Nice-to-Have estimés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, avec 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risques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et 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mitigations</a:t>
            </a:r>
          </a:p>
          <a:p>
            <a:pPr marL="715963" indent="-342900">
              <a:spcBef>
                <a:spcPts val="600"/>
              </a:spcBef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Plan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de projet 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13 semaines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avec 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jalons mesurables</a:t>
            </a:r>
          </a:p>
          <a:p>
            <a:pPr marL="715963" indent="-342900">
              <a:spcBef>
                <a:spcPts val="600"/>
              </a:spcBef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Estimation OPEX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sur 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3 scénarios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avec 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leviers d'optimisation</a:t>
            </a:r>
          </a:p>
          <a:p>
            <a:endParaRPr lang="fr-FR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2400" u="sng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5" name="Table 14">
            <a:extLst>
              <a:ext uri="{FF2B5EF4-FFF2-40B4-BE49-F238E27FC236}">
                <a16:creationId xmlns:a16="http://schemas.microsoft.com/office/drawing/2014/main" id="{D3180A91-821F-13B1-4988-2C21C9057E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455145"/>
              </p:ext>
            </p:extLst>
          </p:nvPr>
        </p:nvGraphicFramePr>
        <p:xfrm>
          <a:off x="2594610" y="1597158"/>
          <a:ext cx="7002780" cy="216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2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655"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Défi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sz="1600" b="1" dirty="0" err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rencontré</a:t>
                      </a:r>
                      <a:endParaRPr sz="1600" b="1" dirty="0">
                        <a:solidFill>
                          <a:srgbClr val="FFFFF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rgbClr val="3D85C6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Solution </a:t>
                      </a:r>
                      <a:r>
                        <a:rPr sz="1600" b="1" dirty="0" err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appliquée</a:t>
                      </a:r>
                      <a:endParaRPr sz="1600" b="1" dirty="0">
                        <a:solidFill>
                          <a:srgbClr val="FFFFF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rgbClr val="3D85C6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323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Index géo trop restreint</a:t>
                      </a:r>
                    </a:p>
                  </a:txBody>
                  <a:tcPr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FAISS → </a:t>
                      </a:r>
                      <a:r>
                        <a:rPr sz="140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Qdrant</a:t>
                      </a:r>
                      <a:r>
                        <a:rPr sz="140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national + </a:t>
                      </a:r>
                      <a:r>
                        <a:rPr sz="140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filtre</a:t>
                      </a:r>
                      <a:r>
                        <a:rPr sz="140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runtime</a:t>
                      </a:r>
                    </a:p>
                  </a:txBody>
                  <a:tcPr>
                    <a:solidFill>
                      <a:srgbClr val="F4F6F7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323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Absence de </a:t>
                      </a:r>
                      <a:r>
                        <a:rPr sz="1400" b="1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mémoire</a:t>
                      </a:r>
                      <a:endParaRPr sz="1400" b="1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Redis session store + </a:t>
                      </a:r>
                      <a:r>
                        <a:rPr sz="140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fenêtre</a:t>
                      </a:r>
                      <a:r>
                        <a:rPr sz="140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sz="140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glissante</a:t>
                      </a:r>
                      <a:endParaRPr sz="1400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323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Données </a:t>
                      </a:r>
                      <a:r>
                        <a:rPr sz="1400" b="1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obsolètes</a:t>
                      </a:r>
                      <a:r>
                        <a:rPr sz="1400" b="1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rapidement</a:t>
                      </a:r>
                      <a:endParaRPr sz="1400" b="1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Ingestion </a:t>
                      </a:r>
                      <a:r>
                        <a:rPr sz="140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incrémentale</a:t>
                      </a:r>
                      <a:r>
                        <a:rPr sz="140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+ </a:t>
                      </a:r>
                      <a:r>
                        <a:rPr sz="140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web_search</a:t>
                      </a:r>
                      <a:r>
                        <a:rPr sz="140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sz="140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natif</a:t>
                      </a:r>
                      <a:endParaRPr sz="1400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rgbClr val="F4F6F7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323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Monitoring </a:t>
                      </a:r>
                      <a:r>
                        <a:rPr sz="1400" b="1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insuffisant</a:t>
                      </a:r>
                      <a:endParaRPr sz="1400" b="1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Langfuse</a:t>
                      </a:r>
                      <a:r>
                        <a:rPr sz="140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(LLM) + Cloud Monitoring (infra)</a:t>
                      </a:r>
                    </a:p>
                  </a:txBody>
                  <a:tcPr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3323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Coûts Mistral à l'échelle</a:t>
                      </a:r>
                    </a:p>
                  </a:txBody>
                  <a:tcPr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Cache Redis + sampling Ragas 10 %</a:t>
                      </a:r>
                    </a:p>
                  </a:txBody>
                  <a:tcPr>
                    <a:solidFill>
                      <a:srgbClr val="F4F6F7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3323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Déploiement</a:t>
                      </a:r>
                      <a:r>
                        <a:rPr sz="1400" b="1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multi-services</a:t>
                      </a:r>
                    </a:p>
                  </a:txBody>
                  <a:tcPr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CI/CD Cloud Build + Secret Manager</a:t>
                      </a:r>
                    </a:p>
                  </a:txBody>
                  <a:tcPr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4181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4CA22-23F5-B7FE-CE50-FAF3E81F9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184EA17-6813-70B7-A6B5-EE9E7E30BF7E}"/>
              </a:ext>
            </a:extLst>
          </p:cNvPr>
          <p:cNvSpPr txBox="1">
            <a:spLocks/>
          </p:cNvSpPr>
          <p:nvPr/>
        </p:nvSpPr>
        <p:spPr>
          <a:xfrm>
            <a:off x="1079500" y="0"/>
            <a:ext cx="11112500" cy="8001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</p:spPr>
        <p:txBody>
          <a:bodyPr wrap="square" rtlCol="0" anchor="ctr" anchorCtr="0">
            <a:noAutofit/>
          </a:bodyPr>
          <a:lstStyle/>
          <a:p>
            <a:r>
              <a:rPr lang="fr-FR" sz="3200" b="1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CONCLUSION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A222DB9-25F5-98FC-1360-F41E9B61E9C2}"/>
              </a:ext>
            </a:extLst>
          </p:cNvPr>
          <p:cNvSpPr txBox="1"/>
          <p:nvPr/>
        </p:nvSpPr>
        <p:spPr>
          <a:xfrm>
            <a:off x="0" y="0"/>
            <a:ext cx="1079500" cy="800100"/>
          </a:xfrm>
          <a:prstGeom prst="rect">
            <a:avLst/>
          </a:prstGeom>
          <a:solidFill>
            <a:srgbClr val="3D85C6"/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fr-FR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DDC25D-841D-43A5-4D90-438890EB097D}"/>
              </a:ext>
            </a:extLst>
          </p:cNvPr>
          <p:cNvSpPr/>
          <p:nvPr/>
        </p:nvSpPr>
        <p:spPr>
          <a:xfrm>
            <a:off x="142875" y="950595"/>
            <a:ext cx="11906250" cy="5772150"/>
          </a:xfrm>
          <a:prstGeom prst="rect">
            <a:avLst/>
          </a:prstGeom>
          <a:solidFill>
            <a:schemeClr val="bg1">
              <a:lumMod val="75000"/>
              <a:lumOff val="2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059D99F-5103-47A4-0C6A-73713DA5F8CA}"/>
              </a:ext>
            </a:extLst>
          </p:cNvPr>
          <p:cNvSpPr txBox="1"/>
          <p:nvPr/>
        </p:nvSpPr>
        <p:spPr>
          <a:xfrm>
            <a:off x="142874" y="950595"/>
            <a:ext cx="11906249" cy="5516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u="sng" dirty="0">
                <a:latin typeface="Segoe UI" panose="020B0502040204020203" pitchFamily="34" charset="0"/>
                <a:cs typeface="Segoe UI" panose="020B0502040204020203" pitchFamily="34" charset="0"/>
              </a:rPr>
              <a:t>Conclusion :</a:t>
            </a:r>
          </a:p>
          <a:p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49263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En 13 semaines, avec un budget infra de 50 €/mois et un </a:t>
            </a:r>
            <a:r>
              <a:rPr lang="fr-FR" dirty="0" err="1">
                <a:latin typeface="Segoe UI" panose="020B0502040204020203" pitchFamily="34" charset="0"/>
                <a:cs typeface="Segoe UI" panose="020B0502040204020203" pitchFamily="34" charset="0"/>
              </a:rPr>
              <a:t>backlog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de 12 fonctionnalités Must-Have clairement priorisées, ce projet est faisable, planifié et budgété. Les risques ont été identifiés, les mitigations documentées, et chaque jalon est associé à un livrable mesurable. </a:t>
            </a:r>
          </a:p>
          <a:p>
            <a:pPr marL="449263"/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49263"/>
            <a:r>
              <a:rPr lang="fr-FR" i="1" dirty="0">
                <a:latin typeface="Segoe UI" panose="020B0502040204020203" pitchFamily="34" charset="0"/>
                <a:cs typeface="Segoe UI" panose="020B0502040204020203" pitchFamily="34" charset="0"/>
              </a:rPr>
              <a:t>La question n'est plus ‘</a:t>
            </a:r>
            <a:r>
              <a:rPr lang="fr-FR" b="1" i="1" dirty="0">
                <a:latin typeface="Segoe UI" panose="020B0502040204020203" pitchFamily="34" charset="0"/>
                <a:cs typeface="Segoe UI" panose="020B0502040204020203" pitchFamily="34" charset="0"/>
              </a:rPr>
              <a:t>est-ce réalisable ?</a:t>
            </a:r>
            <a:r>
              <a:rPr lang="fr-FR" i="1" dirty="0">
                <a:latin typeface="Segoe UI" panose="020B0502040204020203" pitchFamily="34" charset="0"/>
                <a:cs typeface="Segoe UI" panose="020B0502040204020203" pitchFamily="34" charset="0"/>
              </a:rPr>
              <a:t>’ : c'est ‘</a:t>
            </a:r>
            <a:r>
              <a:rPr lang="fr-FR" b="1" i="1" dirty="0">
                <a:latin typeface="Segoe UI" panose="020B0502040204020203" pitchFamily="34" charset="0"/>
                <a:cs typeface="Segoe UI" panose="020B0502040204020203" pitchFamily="34" charset="0"/>
              </a:rPr>
              <a:t>quand démarre-t-on ?’</a:t>
            </a:r>
            <a:endParaRPr lang="fr-FR" sz="1000" b="1" i="1" u="sng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FR" sz="2800" u="sng" dirty="0">
                <a:latin typeface="Segoe UI" panose="020B0502040204020203" pitchFamily="34" charset="0"/>
                <a:cs typeface="Segoe UI" panose="020B0502040204020203" pitchFamily="34" charset="0"/>
              </a:rPr>
              <a:t>Synthèse du MVP :</a:t>
            </a:r>
          </a:p>
          <a:p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15963" indent="-342900">
              <a:buFont typeface="Arial" panose="020B0604020202020204" pitchFamily="34" charset="0"/>
              <a:buChar char="•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Architecture GCP Cloud Run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/ </a:t>
            </a: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Qdrant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/ 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Redis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/ </a:t>
            </a: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LangChain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/ 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Mistral AI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/ </a:t>
            </a: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Langfuse</a:t>
            </a:r>
            <a:endParaRPr lang="fr-FR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15963" indent="-342900">
              <a:buFont typeface="Arial" panose="020B0604020202020204" pitchFamily="34" charset="0"/>
              <a:buChar char="•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Plan de réalisation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: 13 semaines / 37 jours / 6 jalons</a:t>
            </a:r>
          </a:p>
          <a:p>
            <a:pPr marL="715963" indent="-342900">
              <a:buFont typeface="Arial" panose="020B0604020202020204" pitchFamily="34" charset="0"/>
              <a:buChar char="•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OPEX démarrage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: ~50 €/mois pour 100 utilisateurs/jour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1000" u="sng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fr-FR" sz="1000" u="sng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FR" sz="2800" u="sng" dirty="0">
                <a:latin typeface="Segoe UI" panose="020B0502040204020203" pitchFamily="34" charset="0"/>
                <a:cs typeface="Segoe UI" panose="020B0502040204020203" pitchFamily="34" charset="0"/>
              </a:rPr>
              <a:t>Ce que démontre ce projet :</a:t>
            </a:r>
          </a:p>
          <a:p>
            <a:endParaRPr lang="fr-FR" sz="105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35013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Articuler contraintes métier, performance, gouvernance et coûts</a:t>
            </a:r>
          </a:p>
          <a:p>
            <a:pPr marL="735013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Concevoir une architecture à 50 €/mois tenant un SLA 99,5 %</a:t>
            </a:r>
          </a:p>
          <a:p>
            <a:pPr marL="735013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Mesurer la qualité RAG en continu, pas seulement en POC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675EF9F-4686-E892-ACC0-50C662B83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1949" y="3830876"/>
            <a:ext cx="2820051" cy="2764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538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705C1-BBC1-E518-C73A-73DC3CF4F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6AF30824-C5C7-4A83-0652-498B2C7EAD11}"/>
              </a:ext>
            </a:extLst>
          </p:cNvPr>
          <p:cNvSpPr txBox="1">
            <a:spLocks/>
          </p:cNvSpPr>
          <p:nvPr/>
        </p:nvSpPr>
        <p:spPr>
          <a:xfrm>
            <a:off x="1079500" y="0"/>
            <a:ext cx="11112500" cy="8001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</p:spPr>
        <p:txBody>
          <a:bodyPr wrap="square" rtlCol="0" anchor="ctr" anchorCtr="0">
            <a:noAutofit/>
          </a:bodyPr>
          <a:lstStyle/>
          <a:p>
            <a:r>
              <a:rPr lang="fr-FR" sz="3200" b="1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BILAN DE FORMATION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C7D6D64-F88A-DC17-B571-30535DEE1262}"/>
              </a:ext>
            </a:extLst>
          </p:cNvPr>
          <p:cNvSpPr txBox="1"/>
          <p:nvPr/>
        </p:nvSpPr>
        <p:spPr>
          <a:xfrm>
            <a:off x="0" y="0"/>
            <a:ext cx="1079500" cy="800100"/>
          </a:xfrm>
          <a:prstGeom prst="rect">
            <a:avLst/>
          </a:prstGeom>
          <a:solidFill>
            <a:srgbClr val="3D85C6"/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fr-FR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09ADD6-B978-8D73-5DA0-AFDAF466FEAA}"/>
              </a:ext>
            </a:extLst>
          </p:cNvPr>
          <p:cNvSpPr/>
          <p:nvPr/>
        </p:nvSpPr>
        <p:spPr>
          <a:xfrm>
            <a:off x="142875" y="950595"/>
            <a:ext cx="11906250" cy="5772150"/>
          </a:xfrm>
          <a:prstGeom prst="rect">
            <a:avLst/>
          </a:prstGeom>
          <a:solidFill>
            <a:schemeClr val="bg1">
              <a:lumMod val="75000"/>
              <a:lumOff val="2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ED18522-1880-57E3-E3CB-25C7F86B9D9A}"/>
              </a:ext>
            </a:extLst>
          </p:cNvPr>
          <p:cNvSpPr txBox="1"/>
          <p:nvPr/>
        </p:nvSpPr>
        <p:spPr>
          <a:xfrm>
            <a:off x="142875" y="950595"/>
            <a:ext cx="11906250" cy="5770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dirty="0">
                <a:latin typeface="Segoe UI" panose="020B0502040204020203" pitchFamily="34" charset="0"/>
                <a:cs typeface="Segoe UI" panose="020B0502040204020203" pitchFamily="34" charset="0"/>
              </a:rPr>
              <a:t>Contenu :</a:t>
            </a: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r>
              <a:rPr lang="fr-FR" sz="2400" u="sng" dirty="0">
                <a:latin typeface="Segoe UI" panose="020B0502040204020203" pitchFamily="34" charset="0"/>
                <a:cs typeface="Segoe UI" panose="020B0502040204020203" pitchFamily="34" charset="0"/>
              </a:rPr>
              <a:t>Ce que ce parcours démontre :</a:t>
            </a:r>
            <a:endParaRPr lang="fr-FR" sz="1000" u="sng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15963" indent="-342900">
              <a:spcBef>
                <a:spcPts val="600"/>
              </a:spcBef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La progression cohérente du SQL au LLM en production</a:t>
            </a:r>
          </a:p>
          <a:p>
            <a:pPr marL="715963" indent="-342900">
              <a:spcBef>
                <a:spcPts val="600"/>
              </a:spcBef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La capacité à travailler sur toute la chaîne data </a:t>
            </a:r>
            <a:r>
              <a:rPr lang="fr-FR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(collecte → traitement → exposition → monitoring)</a:t>
            </a:r>
            <a:endParaRPr lang="fr-FR" i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15963" indent="-342900">
              <a:spcBef>
                <a:spcPts val="600"/>
              </a:spcBef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La mise en œuvre de projets réels sur des problématiques métier concrètes</a:t>
            </a:r>
            <a:endParaRPr lang="fr-FR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2400" u="sng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14010811-E234-2B30-B804-9EF9E9E93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72689"/>
              </p:ext>
            </p:extLst>
          </p:nvPr>
        </p:nvGraphicFramePr>
        <p:xfrm>
          <a:off x="2788920" y="1534363"/>
          <a:ext cx="6614160" cy="27127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445065152"/>
                    </a:ext>
                  </a:extLst>
                </a:gridCol>
                <a:gridCol w="4099560">
                  <a:extLst>
                    <a:ext uri="{9D8B030D-6E8A-4147-A177-3AD203B41FA5}">
                      <a16:colId xmlns:a16="http://schemas.microsoft.com/office/drawing/2014/main" val="2640857068"/>
                    </a:ext>
                  </a:extLst>
                </a:gridCol>
              </a:tblGrid>
              <a:tr h="1527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6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Domaine</a:t>
                      </a:r>
                    </a:p>
                  </a:txBody>
                  <a:tcPr marL="95250" marR="95250" marT="47625" marB="47625" anchor="ctr"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6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Compétences acquises</a:t>
                      </a:r>
                    </a:p>
                  </a:txBody>
                  <a:tcPr marL="95250" marR="95250" marT="47625" marB="47625" anchor="ctr">
                    <a:solidFill>
                      <a:srgbClr val="3D85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0854892"/>
                  </a:ext>
                </a:extLst>
              </a:tr>
              <a:tr h="240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b="1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Analyse &amp; stats</a:t>
                      </a:r>
                      <a:endParaRPr lang="fr-FR" sz="160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Python / Pandas / </a:t>
                      </a:r>
                      <a:r>
                        <a:rPr lang="fr-FR" sz="1600" dirty="0" err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Matplotlib</a:t>
                      </a:r>
                      <a:r>
                        <a:rPr lang="fr-FR" sz="16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/ </a:t>
                      </a:r>
                      <a:r>
                        <a:rPr lang="fr-FR" sz="1600" dirty="0" err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Seaborn</a:t>
                      </a:r>
                      <a:endParaRPr lang="fr-FR" sz="160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917817254"/>
                  </a:ext>
                </a:extLst>
              </a:tr>
              <a:tr h="240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b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SQL &amp; bases de données</a:t>
                      </a:r>
                      <a:endParaRPr lang="fr-FR" sz="160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PostgreSQL / modélisation / optimisation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603901856"/>
                  </a:ext>
                </a:extLst>
              </a:tr>
              <a:tr h="240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b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NoSQL</a:t>
                      </a:r>
                      <a:endParaRPr lang="fr-FR" sz="160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MongoDB / conception schéma document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891060161"/>
                  </a:ext>
                </a:extLst>
              </a:tr>
              <a:tr h="240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b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Infrastructure &amp; cloud</a:t>
                      </a:r>
                      <a:endParaRPr lang="fr-FR" sz="160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Docker / GCP / architecture cloud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235172241"/>
                  </a:ext>
                </a:extLst>
              </a:tr>
              <a:tr h="240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b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Orchestration</a:t>
                      </a:r>
                      <a:endParaRPr lang="fr-FR" sz="160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dirty="0" err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Kestra</a:t>
                      </a:r>
                      <a:r>
                        <a:rPr lang="fr-FR" sz="16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/ </a:t>
                      </a:r>
                      <a:r>
                        <a:rPr lang="fr-FR" sz="1600" dirty="0" err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dbt</a:t>
                      </a:r>
                      <a:r>
                        <a:rPr lang="fr-FR" sz="16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/ pipelines de données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906468136"/>
                  </a:ext>
                </a:extLst>
              </a:tr>
              <a:tr h="240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b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IA &amp; LLM</a:t>
                      </a:r>
                      <a:endParaRPr lang="fr-FR" sz="160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dirty="0" err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LangChain</a:t>
                      </a:r>
                      <a:r>
                        <a:rPr lang="fr-FR" sz="16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/ RAG / Mistral AI / </a:t>
                      </a:r>
                      <a:r>
                        <a:rPr lang="fr-FR" sz="1600" dirty="0" err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Langfuse</a:t>
                      </a:r>
                      <a:endParaRPr lang="fr-FR" sz="160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619536117"/>
                  </a:ext>
                </a:extLst>
              </a:tr>
              <a:tr h="240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b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Visualisation &amp; BI</a:t>
                      </a:r>
                      <a:endParaRPr lang="fr-FR" sz="160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dirty="0" err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PowerBI</a:t>
                      </a:r>
                      <a:r>
                        <a:rPr lang="fr-FR" sz="16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/ storytelling données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20828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125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DE83E-5879-2E9F-7950-A90380256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9F3864-AFAC-FC0E-04E0-0B688F4CD904}"/>
              </a:ext>
            </a:extLst>
          </p:cNvPr>
          <p:cNvSpPr txBox="1"/>
          <p:nvPr/>
        </p:nvSpPr>
        <p:spPr>
          <a:xfrm>
            <a:off x="976333" y="2616291"/>
            <a:ext cx="99669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800" b="1" dirty="0">
                <a:latin typeface="Segoe UI" panose="020B0502040204020203" pitchFamily="34" charset="0"/>
                <a:cs typeface="Segoe UI" panose="020B0502040204020203" pitchFamily="34" charset="0"/>
              </a:rPr>
              <a:t>The END 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582C89-F29D-893C-B016-13EB664FDC77}"/>
              </a:ext>
            </a:extLst>
          </p:cNvPr>
          <p:cNvSpPr txBox="1"/>
          <p:nvPr/>
        </p:nvSpPr>
        <p:spPr>
          <a:xfrm>
            <a:off x="1112520" y="3483864"/>
            <a:ext cx="9966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b="0" i="1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(Des questions ?)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46E206-AA0F-77C5-ADB3-D05B68D52875}"/>
              </a:ext>
            </a:extLst>
          </p:cNvPr>
          <p:cNvSpPr/>
          <p:nvPr/>
        </p:nvSpPr>
        <p:spPr>
          <a:xfrm>
            <a:off x="3993853" y="3447288"/>
            <a:ext cx="3931920" cy="36576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3352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{EB48644F-BDA2-4F3A-9D7C-F42005234461}TF6d5feb1e-e145-43f1-b745-cb4b54c5ee97d1ca3ce8-604da7307be5</Template>
  <TotalTime>596</TotalTime>
  <Words>2657</Words>
  <Application>Microsoft Office PowerPoint</Application>
  <PresentationFormat>Grand écran</PresentationFormat>
  <Paragraphs>408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Arial</vt:lpstr>
      <vt:lpstr>Calibri</vt:lpstr>
      <vt:lpstr>Segoe UI</vt:lpstr>
      <vt:lpstr>Tw Cen MT</vt:lpstr>
      <vt:lpstr>Wingdings</vt:lpstr>
      <vt:lpstr>Circuit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Aymeric Bailleul</dc:creator>
  <cp:lastModifiedBy>Aymeric Bailleul</cp:lastModifiedBy>
  <cp:revision>30</cp:revision>
  <dcterms:created xsi:type="dcterms:W3CDTF">2026-04-10T07:51:39Z</dcterms:created>
  <dcterms:modified xsi:type="dcterms:W3CDTF">2026-04-20T08:29:44Z</dcterms:modified>
</cp:coreProperties>
</file>