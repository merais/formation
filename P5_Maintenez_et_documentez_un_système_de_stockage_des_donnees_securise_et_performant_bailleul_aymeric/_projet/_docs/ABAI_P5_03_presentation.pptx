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7" r:id="rId2"/>
    <p:sldId id="256" r:id="rId3"/>
    <p:sldId id="266" r:id="rId4"/>
    <p:sldId id="265" r:id="rId5"/>
    <p:sldId id="258" r:id="rId6"/>
    <p:sldId id="259" r:id="rId7"/>
    <p:sldId id="260" r:id="rId8"/>
    <p:sldId id="264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718" autoAdjust="0"/>
  </p:normalViewPr>
  <p:slideViewPr>
    <p:cSldViewPr snapToGrid="0">
      <p:cViewPr varScale="1">
        <p:scale>
          <a:sx n="94" d="100"/>
          <a:sy n="94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35E28-6121-47BC-A77B-DB5D9C99DE05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930F0-8761-4254-87D6-65C83D59F2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68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930F0-8761-4254-87D6-65C83D59F2D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752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930F0-8761-4254-87D6-65C83D59F2D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78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1100-885F-6770-B1C4-F894D9BA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C5D2F-1BE1-C6B1-61D2-629359983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038" y="2379590"/>
            <a:ext cx="7766936" cy="2098819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des Données Médicales : </a:t>
            </a:r>
            <a:b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 la Scalabilité Big Data</a:t>
            </a:r>
            <a:endParaRPr lang="fr-FR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2967FF-15CC-BB6A-6F58-2D93434CB0F4}"/>
              </a:ext>
            </a:extLst>
          </p:cNvPr>
          <p:cNvSpPr txBox="1"/>
          <p:nvPr/>
        </p:nvSpPr>
        <p:spPr>
          <a:xfrm>
            <a:off x="0" y="-1"/>
            <a:ext cx="161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DataSoluTech</a:t>
            </a:r>
            <a:r>
              <a:rPr lang="fr-FR" i="1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CA53CB-1F85-BBEA-B132-2E5BF4DAF1B7}"/>
              </a:ext>
            </a:extLst>
          </p:cNvPr>
          <p:cNvSpPr txBox="1"/>
          <p:nvPr/>
        </p:nvSpPr>
        <p:spPr>
          <a:xfrm>
            <a:off x="9388027" y="6611779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Présenté par : </a:t>
            </a:r>
            <a:r>
              <a:rPr lang="fr-FR" sz="1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ABAI, Stagiaire Data </a:t>
            </a:r>
            <a:r>
              <a:rPr lang="fr-FR" sz="1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Engineer</a:t>
            </a:r>
            <a:endParaRPr lang="fr-FR" sz="1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3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B66588D-3E55-492B-84B0-0A8569489230}"/>
              </a:ext>
            </a:extLst>
          </p:cNvPr>
          <p:cNvSpPr txBox="1"/>
          <p:nvPr/>
        </p:nvSpPr>
        <p:spPr>
          <a:xfrm>
            <a:off x="4796606" y="0"/>
            <a:ext cx="2598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Contexte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CCFC3D-38BA-8BEE-D1D9-EE266B88877F}"/>
              </a:ext>
            </a:extLst>
          </p:cNvPr>
          <p:cNvSpPr txBox="1"/>
          <p:nvPr/>
        </p:nvSpPr>
        <p:spPr>
          <a:xfrm>
            <a:off x="758645" y="1719558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Principal</a:t>
            </a:r>
            <a:r>
              <a:rPr lang="fr-FR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62FB6F-D2B4-0570-4AEE-452254E5696B}"/>
              </a:ext>
            </a:extLst>
          </p:cNvPr>
          <p:cNvSpPr txBox="1"/>
          <p:nvPr/>
        </p:nvSpPr>
        <p:spPr>
          <a:xfrm>
            <a:off x="758645" y="2088890"/>
            <a:ext cx="8450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Assister le client, confronté à des problèmes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avec son système actuel, en proposant une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Big Data horizontalement scalable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1F6D9C-6F82-00FF-EB30-41FCCC41C726}"/>
              </a:ext>
            </a:extLst>
          </p:cNvPr>
          <p:cNvSpPr txBox="1"/>
          <p:nvPr/>
        </p:nvSpPr>
        <p:spPr>
          <a:xfrm>
            <a:off x="758645" y="291823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Problème Client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B30D38-21CB-78FC-2C8D-968EEBA523EF}"/>
              </a:ext>
            </a:extLst>
          </p:cNvPr>
          <p:cNvSpPr txBox="1"/>
          <p:nvPr/>
        </p:nvSpPr>
        <p:spPr>
          <a:xfrm>
            <a:off x="758645" y="3287570"/>
            <a:ext cx="8450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Difficultés croissantes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gérer les tâches quotidiennes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dues à l'augmentation du volume de données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médicales.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3B1424B-0402-5B33-6983-B3FFAAACA42E}"/>
              </a:ext>
            </a:extLst>
          </p:cNvPr>
          <p:cNvSpPr txBox="1"/>
          <p:nvPr/>
        </p:nvSpPr>
        <p:spPr>
          <a:xfrm>
            <a:off x="758645" y="4241677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Proposée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4329C8-F61B-EAA9-7810-27D305E9F4E0}"/>
              </a:ext>
            </a:extLst>
          </p:cNvPr>
          <p:cNvSpPr txBox="1"/>
          <p:nvPr/>
        </p:nvSpPr>
        <p:spPr>
          <a:xfrm>
            <a:off x="758645" y="4611009"/>
            <a:ext cx="8450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des données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vers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une base de données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orientée document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idéale pour les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 non structurées ou semi-structurées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pour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scalabilité horizontale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77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4DB6-336F-2D4E-B15D-079197B9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642FE83-C7DE-1284-8EE7-F59FACCD2F56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AAD72A-6CD9-627B-26BE-42EBCEA614F3}"/>
              </a:ext>
            </a:extLst>
          </p:cNvPr>
          <p:cNvSpPr txBox="1"/>
          <p:nvPr/>
        </p:nvSpPr>
        <p:spPr>
          <a:xfrm>
            <a:off x="758645" y="122079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B880B0-1B65-D62E-4320-D4A6A1A063FA}"/>
              </a:ext>
            </a:extLst>
          </p:cNvPr>
          <p:cNvSpPr txBox="1"/>
          <p:nvPr/>
        </p:nvSpPr>
        <p:spPr>
          <a:xfrm>
            <a:off x="758645" y="1590126"/>
            <a:ext cx="10435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Versionnement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Suivi des modifications, historique et capacité de retour arrière.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Facilite le travail d'équipe et la révision par Boris.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 Centralisée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Point d'accès unique pour la documentation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(README)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A26D7E3-7E96-53C3-199F-2F0170E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44" y="1046227"/>
            <a:ext cx="966931" cy="5438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0D54E20-507A-963A-3240-47C8BD077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32" y="2777429"/>
            <a:ext cx="9800853" cy="303434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1CD58D7-F810-A3FF-5C20-78BCB9D37846}"/>
              </a:ext>
            </a:extLst>
          </p:cNvPr>
          <p:cNvSpPr txBox="1"/>
          <p:nvPr/>
        </p:nvSpPr>
        <p:spPr>
          <a:xfrm>
            <a:off x="1018790" y="5811773"/>
            <a:ext cx="4866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u="sng" dirty="0" err="1">
                <a:solidFill>
                  <a:srgbClr val="00B0F0"/>
                </a:solidFill>
              </a:rPr>
              <a:t>Legende</a:t>
            </a:r>
            <a:r>
              <a:rPr lang="fr-FR" sz="1000" u="sng" dirty="0">
                <a:solidFill>
                  <a:srgbClr val="00B0F0"/>
                </a:solidFill>
              </a:rPr>
              <a:t> :</a:t>
            </a:r>
          </a:p>
          <a:p>
            <a:r>
              <a:rPr lang="fr-FR" sz="1000" b="1" dirty="0">
                <a:solidFill>
                  <a:srgbClr val="00B0F0"/>
                </a:solidFill>
              </a:rPr>
              <a:t>git clone </a:t>
            </a:r>
            <a:r>
              <a:rPr lang="fr-FR" sz="1000" dirty="0">
                <a:solidFill>
                  <a:srgbClr val="00B0F0"/>
                </a:solidFill>
              </a:rPr>
              <a:t>: Copie de la branche </a:t>
            </a:r>
            <a:r>
              <a:rPr lang="fr-FR" sz="1000" dirty="0" err="1">
                <a:solidFill>
                  <a:srgbClr val="00B0F0"/>
                </a:solidFill>
              </a:rPr>
              <a:t>prinçipale</a:t>
            </a:r>
            <a:r>
              <a:rPr lang="fr-FR" sz="1000" dirty="0">
                <a:solidFill>
                  <a:srgbClr val="00B0F0"/>
                </a:solidFill>
              </a:rPr>
              <a:t> en local.</a:t>
            </a:r>
          </a:p>
          <a:p>
            <a:r>
              <a:rPr lang="fr-FR" sz="1000" b="1" dirty="0">
                <a:solidFill>
                  <a:srgbClr val="00B0F0"/>
                </a:solidFill>
              </a:rPr>
              <a:t>git commit </a:t>
            </a:r>
            <a:r>
              <a:rPr lang="fr-FR" sz="1000" dirty="0">
                <a:solidFill>
                  <a:srgbClr val="00B0F0"/>
                </a:solidFill>
              </a:rPr>
              <a:t>: Enregistrement en local (permet le retour en arrière : </a:t>
            </a:r>
            <a:r>
              <a:rPr lang="fr-FR" sz="1000" dirty="0" err="1">
                <a:solidFill>
                  <a:srgbClr val="00B0F0"/>
                </a:solidFill>
              </a:rPr>
              <a:t>versionning</a:t>
            </a:r>
            <a:r>
              <a:rPr lang="fr-FR" sz="1000" dirty="0">
                <a:solidFill>
                  <a:srgbClr val="00B0F0"/>
                </a:solidFill>
              </a:rPr>
              <a:t>).</a:t>
            </a:r>
          </a:p>
          <a:p>
            <a:r>
              <a:rPr lang="fr-FR" sz="1000" b="1" dirty="0">
                <a:solidFill>
                  <a:srgbClr val="00B0F0"/>
                </a:solidFill>
              </a:rPr>
              <a:t>git pull </a:t>
            </a:r>
            <a:r>
              <a:rPr lang="fr-FR" sz="1000" dirty="0">
                <a:solidFill>
                  <a:srgbClr val="00B0F0"/>
                </a:solidFill>
              </a:rPr>
              <a:t>: envoie les modifications locales sur la branche </a:t>
            </a:r>
            <a:r>
              <a:rPr lang="fr-FR" sz="1000" dirty="0" err="1">
                <a:solidFill>
                  <a:srgbClr val="00B0F0"/>
                </a:solidFill>
              </a:rPr>
              <a:t>prinçipale</a:t>
            </a:r>
            <a:r>
              <a:rPr lang="fr-FR" sz="100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9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9925-7417-8436-BDBB-F87E8C91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E54568A-A84E-0FB0-1E3C-81E67777F547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FCCE6B-12A2-B274-615D-3185E79BB889}"/>
              </a:ext>
            </a:extLst>
          </p:cNvPr>
          <p:cNvSpPr txBox="1"/>
          <p:nvPr/>
        </p:nvSpPr>
        <p:spPr>
          <a:xfrm>
            <a:off x="758645" y="1220794"/>
            <a:ext cx="3296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(NoSQL - Document)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40C6B8-A24A-76EF-13BB-DE8DA8D4608D}"/>
              </a:ext>
            </a:extLst>
          </p:cNvPr>
          <p:cNvSpPr txBox="1"/>
          <p:nvPr/>
        </p:nvSpPr>
        <p:spPr>
          <a:xfrm>
            <a:off x="758645" y="1590126"/>
            <a:ext cx="10435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Assure que l'environnement de développement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(MongoDB, scripts)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fonctionne de manière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identique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production et sur différentes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Évite les conflits de dépendances.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Facilité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Simplifie le déploiement sur des services cloud comme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ECS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6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 Service)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43FA4F17-4269-845F-3C9C-FD4AFB2CD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142" y="897629"/>
            <a:ext cx="784832" cy="784832"/>
          </a:xfrm>
          <a:prstGeom prst="rect">
            <a:avLst/>
          </a:prstGeom>
        </p:spPr>
      </p:pic>
      <p:pic>
        <p:nvPicPr>
          <p:cNvPr id="5122" name="Picture 2" descr="Todo en una caja. Docker y Galaxy · Curso de formación sobre Galaxy para  desarrolladores de herramientas bioinformáticas">
            <a:extLst>
              <a:ext uri="{FF2B5EF4-FFF2-40B4-BE49-F238E27FC236}">
                <a16:creationId xmlns:a16="http://schemas.microsoft.com/office/drawing/2014/main" id="{D4530A99-6658-D0E8-EAA4-F077E9199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27" y="3282897"/>
            <a:ext cx="5146307" cy="285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00B6BA7-045A-9233-ABF8-BA2A2B5D56B7}"/>
              </a:ext>
            </a:extLst>
          </p:cNvPr>
          <p:cNvSpPr txBox="1"/>
          <p:nvPr/>
        </p:nvSpPr>
        <p:spPr>
          <a:xfrm>
            <a:off x="6933334" y="3734250"/>
            <a:ext cx="408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Docker, plus léger et rapide, utilise le noyau hôte, permettant un déploiement et une mise à l'échelle très efficaces des applications avec moins de ressources.</a:t>
            </a:r>
          </a:p>
        </p:txBody>
      </p:sp>
    </p:spTree>
    <p:extLst>
      <p:ext uri="{BB962C8B-B14F-4D97-AF65-F5344CB8AC3E}">
        <p14:creationId xmlns:p14="http://schemas.microsoft.com/office/powerpoint/2010/main" val="390414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DAF0-0166-DD01-FF2F-B555B545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2C8ED78-ACE3-4E36-D303-7193DE784A29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CB737D-5549-5258-B151-FD4C4FD75C34}"/>
              </a:ext>
            </a:extLst>
          </p:cNvPr>
          <p:cNvSpPr txBox="1"/>
          <p:nvPr/>
        </p:nvSpPr>
        <p:spPr>
          <a:xfrm>
            <a:off x="758645" y="1220794"/>
            <a:ext cx="360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(NoSQL - Document)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9A457D-C336-D576-06B5-CA4B65E8CB93}"/>
              </a:ext>
            </a:extLst>
          </p:cNvPr>
          <p:cNvSpPr txBox="1"/>
          <p:nvPr/>
        </p:nvSpPr>
        <p:spPr>
          <a:xfrm>
            <a:off x="758645" y="1590126"/>
            <a:ext cx="10435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 médicales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sont souvent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variées et évolutives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MongoDB offre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Flexibilité du Schéma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Facile à adapter aux nouveaux types de données patient.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 Scalabilité Horizontale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(via le </a:t>
            </a:r>
            <a:r>
              <a:rPr lang="fr-FR" sz="16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Répond directement au besoin de scalabilité du client.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Requêtes rapides pour de grands volumes.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6B69DB1C-F904-17D4-FFB8-6CC239E0E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143" y="805295"/>
            <a:ext cx="784831" cy="78483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D0B1116C-E359-3780-03C5-5FECDB5C0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76245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4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8D79-A2FA-4302-7BDD-938F47B6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B3C342A-9D5F-3449-97FF-01DE1724CE03}"/>
              </a:ext>
            </a:extLst>
          </p:cNvPr>
          <p:cNvSpPr txBox="1"/>
          <p:nvPr/>
        </p:nvSpPr>
        <p:spPr>
          <a:xfrm>
            <a:off x="3070171" y="0"/>
            <a:ext cx="6051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Démarche Technique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08CEFB0-EF8A-7B52-2A42-0E687E13E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151311"/>
              </p:ext>
            </p:extLst>
          </p:nvPr>
        </p:nvGraphicFramePr>
        <p:xfrm>
          <a:off x="816262" y="1244839"/>
          <a:ext cx="10559474" cy="502920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911765">
                  <a:extLst>
                    <a:ext uri="{9D8B030D-6E8A-4147-A177-3AD203B41FA5}">
                      <a16:colId xmlns:a16="http://schemas.microsoft.com/office/drawing/2014/main" val="3078096510"/>
                    </a:ext>
                  </a:extLst>
                </a:gridCol>
                <a:gridCol w="7647709">
                  <a:extLst>
                    <a:ext uri="{9D8B030D-6E8A-4147-A177-3AD203B41FA5}">
                      <a16:colId xmlns:a16="http://schemas.microsoft.com/office/drawing/2014/main" val="521061932"/>
                    </a:ext>
                  </a:extLst>
                </a:gridCol>
              </a:tblGrid>
              <a:tr h="697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1. Préparation</a:t>
                      </a:r>
                      <a:endParaRPr lang="fr-FR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Nettoyage initial du </a:t>
                      </a:r>
                      <a:r>
                        <a:rPr lang="fr-FR" sz="1400" dirty="0" err="1">
                          <a:solidFill>
                            <a:schemeClr val="bg1"/>
                          </a:solidFill>
                        </a:rPr>
                        <a:t>dataset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médical 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Validation des formats de date.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Vérification des doublons.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Vérification des cellules vide.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Création d’un dictionnaire de données.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857684"/>
                  </a:ext>
                </a:extLst>
              </a:tr>
              <a:tr h="75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2. Le Script de Migration</a:t>
                      </a:r>
                      <a:endParaRPr lang="fr-FR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Développement d'un script 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Python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utilisant le driver MongoDB </a:t>
                      </a:r>
                      <a:r>
                        <a:rPr lang="fr-FR" sz="1400" i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fr-FR" sz="1400" i="1" dirty="0" err="1">
                          <a:solidFill>
                            <a:schemeClr val="bg1"/>
                          </a:solidFill>
                        </a:rPr>
                        <a:t>pymongo</a:t>
                      </a:r>
                      <a:r>
                        <a:rPr lang="fr-FR" sz="1400" i="1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pour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Se connecter à la base de données.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Lire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le </a:t>
                      </a:r>
                      <a:r>
                        <a:rPr lang="fr-FR" sz="1400" dirty="0" err="1">
                          <a:solidFill>
                            <a:schemeClr val="bg1"/>
                          </a:solidFill>
                        </a:rPr>
                        <a:t>dataset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source.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Mapper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et transformer les données dans la structure de document MongoDB souhaitée.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Insérer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les documents dans la collection cible.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122068"/>
                  </a:ext>
                </a:extLst>
              </a:tr>
              <a:tr h="649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3. Le Script de Validation de la base de données</a:t>
                      </a:r>
                      <a:endParaRPr lang="fr-FR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Développement d'un script 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Python</a:t>
                      </a: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 utilisant le driver MongoDB </a:t>
                      </a:r>
                      <a:r>
                        <a:rPr lang="fr-FR" sz="1400" b="0" i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fr-FR" sz="1400" b="0" i="1" dirty="0" err="1">
                          <a:solidFill>
                            <a:schemeClr val="bg1"/>
                          </a:solidFill>
                        </a:rPr>
                        <a:t>pymongo</a:t>
                      </a:r>
                      <a:r>
                        <a:rPr lang="fr-FR" sz="1400" b="0" i="1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pour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Se connecter à la base de données.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Vérification</a:t>
                      </a: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 que les commandes de base 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CRUD</a:t>
                      </a: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sz="1400" b="0" i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fr-FR" sz="1400" b="0" i="1" dirty="0" err="1">
                          <a:solidFill>
                            <a:schemeClr val="bg1"/>
                          </a:solidFill>
                        </a:rPr>
                        <a:t>Create</a:t>
                      </a:r>
                      <a:r>
                        <a:rPr lang="fr-FR" sz="1400" b="0" i="1" dirty="0">
                          <a:solidFill>
                            <a:schemeClr val="bg1"/>
                          </a:solidFill>
                        </a:rPr>
                        <a:t>, Read, Update, </a:t>
                      </a:r>
                      <a:r>
                        <a:rPr lang="fr-FR" sz="1400" b="0" i="1" dirty="0" err="1">
                          <a:solidFill>
                            <a:schemeClr val="bg1"/>
                          </a:solidFill>
                        </a:rPr>
                        <a:t>Delete</a:t>
                      </a:r>
                      <a:r>
                        <a:rPr lang="fr-FR" sz="1400" b="0" i="1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fr-FR" sz="1400" b="0" dirty="0">
                          <a:solidFill>
                            <a:schemeClr val="bg1"/>
                          </a:solidFill>
                        </a:rPr>
                        <a:t> fonctionne correctement.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214794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3. Conteneurisation (Docker)</a:t>
                      </a:r>
                      <a:endParaRPr lang="fr-FR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Création de deux images Docker 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Une image pour le 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service MongoDB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sz="1400" i="1" dirty="0">
                          <a:solidFill>
                            <a:schemeClr val="bg1"/>
                          </a:solidFill>
                        </a:rPr>
                        <a:t>(basé sur l'image officielle mongo)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Une image pour le 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script de migration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sz="1400" i="1" dirty="0">
                          <a:solidFill>
                            <a:schemeClr val="bg1"/>
                          </a:solidFill>
                        </a:rPr>
                        <a:t>(basé sur Python et incluant les scripts)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813725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4. Orchestration</a:t>
                      </a:r>
                      <a:endParaRPr lang="fr-FR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Utilisation de 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Docker Compose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 pour définir et exécuter l'application multi-conteneurs : la base de données et le conteneur de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958382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5. Validation</a:t>
                      </a:r>
                      <a:endParaRPr lang="fr-FR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Vérification de l'intégrité et de la cohérence des données migrées grâce au script Python de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29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59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4AEC-61CD-6584-3DF5-3A64C9C9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C6DA3DD-AB03-EC87-ACE6-8A8AE0A8EA83}"/>
              </a:ext>
            </a:extLst>
          </p:cNvPr>
          <p:cNvSpPr txBox="1"/>
          <p:nvPr/>
        </p:nvSpPr>
        <p:spPr>
          <a:xfrm>
            <a:off x="1766930" y="0"/>
            <a:ext cx="8658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Schéma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54F78F-5162-D2CA-D4AA-5A0F7EC74404}"/>
              </a:ext>
            </a:extLst>
          </p:cNvPr>
          <p:cNvSpPr txBox="1"/>
          <p:nvPr/>
        </p:nvSpPr>
        <p:spPr>
          <a:xfrm>
            <a:off x="758645" y="1719558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de la base de données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BA2DDA-625F-C37D-D474-00642722B97C}"/>
              </a:ext>
            </a:extLst>
          </p:cNvPr>
          <p:cNvSpPr txBox="1"/>
          <p:nvPr/>
        </p:nvSpPr>
        <p:spPr>
          <a:xfrm>
            <a:off x="6095999" y="1734947"/>
            <a:ext cx="3277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healthcare_db</a:t>
            </a:r>
            <a:endParaRPr lang="fr-FR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396E59-53DF-68EC-5EF7-58E53DC81DB5}"/>
              </a:ext>
            </a:extLst>
          </p:cNvPr>
          <p:cNvSpPr txBox="1"/>
          <p:nvPr/>
        </p:nvSpPr>
        <p:spPr>
          <a:xfrm>
            <a:off x="758645" y="208889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de la collection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2B25C9-5902-EDA4-D610-2F9F116C73FC}"/>
              </a:ext>
            </a:extLst>
          </p:cNvPr>
          <p:cNvSpPr txBox="1"/>
          <p:nvPr/>
        </p:nvSpPr>
        <p:spPr>
          <a:xfrm>
            <a:off x="6095999" y="2104279"/>
            <a:ext cx="1219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E4F82F7-607E-C99E-0BDF-94E606561848}"/>
              </a:ext>
            </a:extLst>
          </p:cNvPr>
          <p:cNvSpPr txBox="1"/>
          <p:nvPr/>
        </p:nvSpPr>
        <p:spPr>
          <a:xfrm>
            <a:off x="758645" y="2473611"/>
            <a:ext cx="3959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du Document ‘patients’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7F88B2-63E4-2E98-5057-C675AECDE664}"/>
              </a:ext>
            </a:extLst>
          </p:cNvPr>
          <p:cNvSpPr txBox="1"/>
          <p:nvPr/>
        </p:nvSpPr>
        <p:spPr>
          <a:xfrm>
            <a:off x="6098189" y="2490212"/>
            <a:ext cx="37407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'_id':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ObjectId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id_patient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’: x,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'Name': ‘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'Age': 30,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'Male’,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'Blood Type': 'B-’,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Condition': 'Cancer’,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'Date of Admission': '2024-01-31’,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’: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'Hospital': 'Sons and Miller’,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Insurance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Provider': 'Blue Cross’,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Billing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18856.281305978155,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'Room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328,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'Admission Type': 'Urgent’,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Discharge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Date': '2024-02-02’,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Medication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Paracetamol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'Test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'Normal’</a:t>
            </a:r>
          </a:p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27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A837-FB8C-36B2-5A2C-EFFC82F1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9E63F-E4B6-4836-75EC-067536E6CDF0}"/>
              </a:ext>
            </a:extLst>
          </p:cNvPr>
          <p:cNvSpPr txBox="1"/>
          <p:nvPr/>
        </p:nvSpPr>
        <p:spPr>
          <a:xfrm>
            <a:off x="1766930" y="0"/>
            <a:ext cx="8658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Schéma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653CF8-CEF1-99A5-DCFD-5C4A628F3DC5}"/>
              </a:ext>
            </a:extLst>
          </p:cNvPr>
          <p:cNvSpPr txBox="1"/>
          <p:nvPr/>
        </p:nvSpPr>
        <p:spPr>
          <a:xfrm>
            <a:off x="758645" y="1719558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des fichiers: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C6A159-20C4-AA6E-EA29-B38B3E08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57" y="2088890"/>
            <a:ext cx="6868484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4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029E-5ECB-2034-8AEA-AF9E810B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C433E4-75F4-0493-887C-5C27BA2BD00B}"/>
              </a:ext>
            </a:extLst>
          </p:cNvPr>
          <p:cNvSpPr txBox="1"/>
          <p:nvPr/>
        </p:nvSpPr>
        <p:spPr>
          <a:xfrm>
            <a:off x="2721935" y="0"/>
            <a:ext cx="67481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Déploiement Cloud AWS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4A2589-3F4B-F0C2-03A7-E50C96907986}"/>
              </a:ext>
            </a:extLst>
          </p:cNvPr>
          <p:cNvSpPr txBox="1"/>
          <p:nvPr/>
        </p:nvSpPr>
        <p:spPr>
          <a:xfrm>
            <a:off x="758645" y="147553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fr-F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4D485D-D2E2-9A84-CDB4-D1D44CD9CE71}"/>
              </a:ext>
            </a:extLst>
          </p:cNvPr>
          <p:cNvSpPr txBox="1"/>
          <p:nvPr/>
        </p:nvSpPr>
        <p:spPr>
          <a:xfrm>
            <a:off x="758645" y="1844863"/>
            <a:ext cx="966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compatible MongoDB entièrement géré par AWS.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Simplicité &amp; Maintenance Zéro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s'occupe du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patching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 la sauvegarde, de la scalabilité.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 Disponibilité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distribuée sur plusieurs zones de disponibilité.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6B1774-3AD7-9B12-C3A9-0F18054F8B80}"/>
              </a:ext>
            </a:extLst>
          </p:cNvPr>
          <p:cNvSpPr txBox="1"/>
          <p:nvPr/>
        </p:nvSpPr>
        <p:spPr>
          <a:xfrm>
            <a:off x="758645" y="287394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sur EC2 + Auto Scaling Group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29CC6A-0716-AE8C-8D7A-4363CDC76B03}"/>
              </a:ext>
            </a:extLst>
          </p:cNvPr>
          <p:cNvSpPr txBox="1"/>
          <p:nvPr/>
        </p:nvSpPr>
        <p:spPr>
          <a:xfrm>
            <a:off x="758645" y="3243281"/>
            <a:ext cx="96692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manuel de la communauté MongoDB ou de MongoDB Enterprise sur des instances Amazon EC2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(machines virtuelles)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Contrôle Total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Flexibilité maximale sur la configuration et la version de MongoDB.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 des Coûts 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 bien géré)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Choix précis du matériel.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8876D4-3AD5-EC87-D1CD-128665B4AFBB}"/>
              </a:ext>
            </a:extLst>
          </p:cNvPr>
          <p:cNvSpPr txBox="1"/>
          <p:nvPr/>
        </p:nvSpPr>
        <p:spPr>
          <a:xfrm>
            <a:off x="758646" y="451858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Atlas sur AWS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CE2993-2150-6FF2-9D6A-A56116FCCFDB}"/>
              </a:ext>
            </a:extLst>
          </p:cNvPr>
          <p:cNvSpPr txBox="1"/>
          <p:nvPr/>
        </p:nvSpPr>
        <p:spPr>
          <a:xfrm>
            <a:off x="758645" y="4887920"/>
            <a:ext cx="9863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cloud de MongoDB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(éditeur)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hébergé sur l'infrastructure 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Fonctionnalités MongoDB Avancées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Accès direct aux outils d'analyse et de déploiement de l'éditeur.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Multi-Cloud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facilité.</a:t>
            </a:r>
          </a:p>
        </p:txBody>
      </p:sp>
    </p:spTree>
    <p:extLst>
      <p:ext uri="{BB962C8B-B14F-4D97-AF65-F5344CB8AC3E}">
        <p14:creationId xmlns:p14="http://schemas.microsoft.com/office/powerpoint/2010/main" val="1055830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B9B1-03D0-BF23-6559-D65A2CFF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297FF2A-DACC-1A4F-DBAA-4B0F9AE2C19D}"/>
              </a:ext>
            </a:extLst>
          </p:cNvPr>
          <p:cNvSpPr txBox="1"/>
          <p:nvPr/>
        </p:nvSpPr>
        <p:spPr>
          <a:xfrm>
            <a:off x="1837077" y="0"/>
            <a:ext cx="8517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Synergie AWS pour l’efficacité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96D579-5B3C-0BE6-6D5E-C8E3C73570C3}"/>
              </a:ext>
            </a:extLst>
          </p:cNvPr>
          <p:cNvSpPr txBox="1"/>
          <p:nvPr/>
        </p:nvSpPr>
        <p:spPr>
          <a:xfrm>
            <a:off x="758645" y="2334512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ECS (</a:t>
            </a:r>
            <a:r>
              <a:rPr lang="fr-F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 Service)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834BA7-A209-DEB2-8CFD-C087281F73F6}"/>
              </a:ext>
            </a:extLst>
          </p:cNvPr>
          <p:cNvSpPr txBox="1"/>
          <p:nvPr/>
        </p:nvSpPr>
        <p:spPr>
          <a:xfrm>
            <a:off x="758644" y="2703844"/>
            <a:ext cx="10241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 déploiement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l'application conteneurisée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(via Docker)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interagit avec MongoDB.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Permet d'exécuter facilement nos conteneurs Docker de manière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l'infrastructure AWS.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C4F356-E4B4-BDB4-015F-630ABE19731D}"/>
              </a:ext>
            </a:extLst>
          </p:cNvPr>
          <p:cNvSpPr txBox="1"/>
          <p:nvPr/>
        </p:nvSpPr>
        <p:spPr>
          <a:xfrm>
            <a:off x="758644" y="3657951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S3 (Simple Storage Service)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7269EA-989D-3B4A-6F94-AEC93FA23129}"/>
              </a:ext>
            </a:extLst>
          </p:cNvPr>
          <p:cNvSpPr txBox="1"/>
          <p:nvPr/>
        </p:nvSpPr>
        <p:spPr>
          <a:xfrm>
            <a:off x="758644" y="4027283"/>
            <a:ext cx="96692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Sauvegarde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Stockage sécurisé et durable des sauvegardes de la base de données.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 de Données 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 Lake)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Stocker le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brut initial et les données d'archives à faible coût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Coût Faible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 stockage froid et l'archivage)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Durabilité Élevée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(99.999999999% de durabilité).</a:t>
            </a:r>
          </a:p>
        </p:txBody>
      </p:sp>
    </p:spTree>
    <p:extLst>
      <p:ext uri="{BB962C8B-B14F-4D97-AF65-F5344CB8AC3E}">
        <p14:creationId xmlns:p14="http://schemas.microsoft.com/office/powerpoint/2010/main" val="40726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2C379-C757-7143-BC4F-6886B8BC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3452DAC-76A7-3B41-FF39-8C2FBC58E6AA}"/>
              </a:ext>
            </a:extLst>
          </p:cNvPr>
          <p:cNvSpPr txBox="1"/>
          <p:nvPr/>
        </p:nvSpPr>
        <p:spPr>
          <a:xfrm>
            <a:off x="1532892" y="0"/>
            <a:ext cx="9126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 et Prochaines Étapes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CDB500-DF31-7EDF-7980-BFC9E38FA603}"/>
              </a:ext>
            </a:extLst>
          </p:cNvPr>
          <p:cNvSpPr txBox="1"/>
          <p:nvPr/>
        </p:nvSpPr>
        <p:spPr>
          <a:xfrm>
            <a:off x="758645" y="196506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Synthèse du Travail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B3810F-F0E6-8F45-F491-AC3B2F92E00B}"/>
              </a:ext>
            </a:extLst>
          </p:cNvPr>
          <p:cNvSpPr txBox="1"/>
          <p:nvPr/>
        </p:nvSpPr>
        <p:spPr>
          <a:xfrm>
            <a:off x="758644" y="2334393"/>
            <a:ext cx="1024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du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médical vers un schéma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conteneurisée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(Docker)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versionnée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(GitHub)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une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portabilité maximale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claire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B4A2F6-02DE-304F-3175-FC89106BA3F6}"/>
              </a:ext>
            </a:extLst>
          </p:cNvPr>
          <p:cNvSpPr txBox="1"/>
          <p:nvPr/>
        </p:nvSpPr>
        <p:spPr>
          <a:xfrm>
            <a:off x="758644" y="3288500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Recommandation</a:t>
            </a:r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 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A122C6-D678-78B1-ADB4-6071C29ED4ED}"/>
              </a:ext>
            </a:extLst>
          </p:cNvPr>
          <p:cNvSpPr txBox="1"/>
          <p:nvPr/>
        </p:nvSpPr>
        <p:spPr>
          <a:xfrm>
            <a:off x="758644" y="3657832"/>
            <a:ext cx="966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service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la solution la plus recommandée, car elle combine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compatibilité MongoDB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avec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simplicité de gestion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d'un service AWS entièrement managé, assurant la scalabilité souhaitée.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BC8FED6-969E-F8EC-5FF0-00C93902EF0F}"/>
              </a:ext>
            </a:extLst>
          </p:cNvPr>
          <p:cNvSpPr txBox="1"/>
          <p:nvPr/>
        </p:nvSpPr>
        <p:spPr>
          <a:xfrm>
            <a:off x="758644" y="461193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Prochaines</a:t>
            </a:r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Étapes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5A576C-FEDE-E6B7-273A-25AE0CCFB38A}"/>
              </a:ext>
            </a:extLst>
          </p:cNvPr>
          <p:cNvSpPr txBox="1"/>
          <p:nvPr/>
        </p:nvSpPr>
        <p:spPr>
          <a:xfrm>
            <a:off x="758644" y="4981271"/>
            <a:ext cx="96692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schéma de la collection patients. </a:t>
            </a:r>
          </a:p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d'un environnement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 (Proof of Concept)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AWS.</a:t>
            </a:r>
          </a:p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Finalisation du script de migration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l'environnement de production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79362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1038</Words>
  <Application>Microsoft Office PowerPoint</Application>
  <PresentationFormat>Grand écran</PresentationFormat>
  <Paragraphs>117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Facette</vt:lpstr>
      <vt:lpstr>Migration des Données Médicales :  Vers la Scalabilité Big Data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4</cp:revision>
  <dcterms:created xsi:type="dcterms:W3CDTF">2025-10-08T07:03:58Z</dcterms:created>
  <dcterms:modified xsi:type="dcterms:W3CDTF">2025-10-08T13:40:08Z</dcterms:modified>
</cp:coreProperties>
</file>