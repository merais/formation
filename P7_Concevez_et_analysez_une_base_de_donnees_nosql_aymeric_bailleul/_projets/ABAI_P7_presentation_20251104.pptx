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64" r:id="rId3"/>
    <p:sldId id="257" r:id="rId4"/>
    <p:sldId id="261" r:id="rId5"/>
    <p:sldId id="262" r:id="rId6"/>
    <p:sldId id="258" r:id="rId7"/>
    <p:sldId id="259" r:id="rId8"/>
    <p:sldId id="260" r:id="rId9"/>
  </p:sldIdLst>
  <p:sldSz cx="9144000" cy="5143500" type="screen16x9"/>
  <p:notesSz cx="6858000" cy="9144000"/>
  <p:embeddedFontLst>
    <p:embeddedFont>
      <p:font typeface="Inter" panose="020B0604020202020204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84" d="100"/>
          <a:sy n="184" d="100"/>
        </p:scale>
        <p:origin x="168" y="31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1f22bfd9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1f22bfd9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1f22bfd96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1f22bfd96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f22bfd9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f22bfd96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01f22bfd96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01f22bfd96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5454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Template de présentation du projet 7</a:t>
            </a:r>
            <a:endParaRPr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43EABCED-5C81-E596-4CEE-697403A98489}"/>
              </a:ext>
            </a:extLst>
          </p:cNvPr>
          <p:cNvSpPr txBox="1">
            <a:spLocks/>
          </p:cNvSpPr>
          <p:nvPr/>
        </p:nvSpPr>
        <p:spPr>
          <a:xfrm>
            <a:off x="3869424" y="0"/>
            <a:ext cx="140515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Contexte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A7E08827-509D-93AF-96E9-97AD53109B99}"/>
              </a:ext>
            </a:extLst>
          </p:cNvPr>
          <p:cNvSpPr/>
          <p:nvPr/>
        </p:nvSpPr>
        <p:spPr>
          <a:xfrm>
            <a:off x="383457" y="688199"/>
            <a:ext cx="8377084" cy="422790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fr-FR" dirty="0">
                <a:solidFill>
                  <a:schemeClr val="lt1">
                    <a:alpha val="98000"/>
                  </a:schemeClr>
                </a:solidFill>
              </a:rPr>
              <a:t>💥 </a:t>
            </a:r>
            <a:r>
              <a:rPr lang="fr-FR" b="1" u="sng" dirty="0">
                <a:solidFill>
                  <a:srgbClr val="002060">
                    <a:alpha val="98000"/>
                  </a:srgbClr>
                </a:solidFill>
              </a:rPr>
              <a:t>Contexte Urgent : </a:t>
            </a:r>
          </a:p>
          <a:p>
            <a:endParaRPr lang="fr-FR" sz="800" b="1" u="sng" dirty="0">
              <a:solidFill>
                <a:srgbClr val="002060">
                  <a:alpha val="98000"/>
                </a:srgbClr>
              </a:solidFill>
            </a:endParaRPr>
          </a:p>
          <a:p>
            <a:pPr marL="285750" indent="-285750">
              <a:buFontTx/>
              <a:buChar char="-"/>
            </a:pP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Sauvetage des Données de Paris</a:t>
            </a:r>
          </a:p>
          <a:p>
            <a:endParaRPr lang="fr-FR" dirty="0">
              <a:solidFill>
                <a:srgbClr val="002060">
                  <a:alpha val="98000"/>
                </a:srgbClr>
              </a:solidFill>
            </a:endParaRPr>
          </a:p>
          <a:p>
            <a:endParaRPr lang="fr-FR" dirty="0">
              <a:solidFill>
                <a:srgbClr val="002060">
                  <a:alpha val="98000"/>
                </a:srgbClr>
              </a:solidFill>
            </a:endParaRPr>
          </a:p>
          <a:p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🚨 </a:t>
            </a:r>
            <a:r>
              <a:rPr lang="fr-FR" b="1" u="sng" dirty="0">
                <a:solidFill>
                  <a:srgbClr val="002060">
                    <a:alpha val="98000"/>
                  </a:srgbClr>
                </a:solidFill>
              </a:rPr>
              <a:t>La Crise :</a:t>
            </a:r>
          </a:p>
          <a:p>
            <a:endParaRPr lang="fr-FR" sz="800" b="1" u="sng" dirty="0">
              <a:solidFill>
                <a:srgbClr val="002060">
                  <a:alpha val="98000"/>
                </a:srgbClr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002060">
                    <a:alpha val="98000"/>
                  </a:srgbClr>
                </a:solidFill>
              </a:rPr>
              <a:t>Problème</a:t>
            </a:r>
            <a:r>
              <a:rPr lang="fr-FR" i="1" dirty="0">
                <a:solidFill>
                  <a:srgbClr val="002060">
                    <a:alpha val="98000"/>
                  </a:srgbClr>
                </a:solidFill>
              </a:rPr>
              <a:t> :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 Crash total de la base de données MongoDB des locations parisiennes (été 2024) sur nos serveurs internes.</a:t>
            </a:r>
          </a:p>
          <a:p>
            <a:pPr marL="285750" indent="-285750">
              <a:buFontTx/>
              <a:buChar char="-"/>
            </a:pPr>
            <a:r>
              <a:rPr lang="fr-FR" b="1" i="1" dirty="0">
                <a:solidFill>
                  <a:srgbClr val="002060">
                    <a:alpha val="98000"/>
                  </a:srgbClr>
                </a:solidFill>
              </a:rPr>
              <a:t>Enjeu</a:t>
            </a:r>
            <a:r>
              <a:rPr lang="fr-FR" i="1" dirty="0">
                <a:solidFill>
                  <a:srgbClr val="002060">
                    <a:alpha val="98000"/>
                  </a:srgbClr>
                </a:solidFill>
              </a:rPr>
              <a:t> :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 L'association </a:t>
            </a:r>
            <a:r>
              <a:rPr lang="fr-FR" dirty="0" err="1">
                <a:solidFill>
                  <a:srgbClr val="002060">
                    <a:alpha val="98000"/>
                  </a:srgbClr>
                </a:solidFill>
              </a:rPr>
              <a:t>NosCités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 doit publier un rapport crucial sur l'effet "JO 2024" sur l'offre de logements. Urgence maximale.</a:t>
            </a:r>
          </a:p>
          <a:p>
            <a:pPr marL="285750" indent="-285750">
              <a:buFontTx/>
              <a:buChar char="-"/>
            </a:pPr>
            <a:endParaRPr lang="fr-FR" dirty="0">
              <a:solidFill>
                <a:srgbClr val="002060">
                  <a:alpha val="98000"/>
                </a:srgbClr>
              </a:solidFill>
            </a:endParaRPr>
          </a:p>
          <a:p>
            <a:endParaRPr lang="fr-FR" dirty="0">
              <a:solidFill>
                <a:srgbClr val="002060">
                  <a:alpha val="98000"/>
                </a:srgbClr>
              </a:solidFill>
            </a:endParaRPr>
          </a:p>
          <a:p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🎯 </a:t>
            </a:r>
            <a:r>
              <a:rPr lang="fr-FR" b="1" u="sng" dirty="0">
                <a:solidFill>
                  <a:srgbClr val="002060">
                    <a:alpha val="98000"/>
                  </a:srgbClr>
                </a:solidFill>
              </a:rPr>
              <a:t>Objectif Data </a:t>
            </a:r>
            <a:r>
              <a:rPr lang="fr-FR" b="1" u="sng" dirty="0" err="1">
                <a:solidFill>
                  <a:srgbClr val="002060">
                    <a:alpha val="98000"/>
                  </a:srgbClr>
                </a:solidFill>
              </a:rPr>
              <a:t>Engineer</a:t>
            </a:r>
            <a:r>
              <a:rPr lang="fr-FR" b="1" u="sng" dirty="0">
                <a:solidFill>
                  <a:srgbClr val="002060">
                    <a:alpha val="98000"/>
                  </a:srgbClr>
                </a:solidFill>
              </a:rPr>
              <a:t> :</a:t>
            </a:r>
          </a:p>
          <a:p>
            <a:endParaRPr lang="fr-FR" sz="800" dirty="0">
              <a:solidFill>
                <a:srgbClr val="002060">
                  <a:alpha val="98000"/>
                </a:srgbClr>
              </a:solidFill>
            </a:endParaRP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rgbClr val="002060">
                    <a:alpha val="98000"/>
                  </a:srgbClr>
                </a:solidFill>
              </a:rPr>
              <a:t>Rétablir, Explorer et Valider la fiabilité 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de la seule sauvegarde disponible pour Paris.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rgbClr val="002060">
                    <a:alpha val="98000"/>
                  </a:srgbClr>
                </a:solidFill>
              </a:rPr>
              <a:t>Restauration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 : Importer la sauvegarde dans MongoDB.</a:t>
            </a:r>
          </a:p>
          <a:p>
            <a:pPr marL="285750" indent="-285750">
              <a:buFontTx/>
              <a:buChar char="-"/>
            </a:pPr>
            <a:r>
              <a:rPr lang="fr-FR" b="1" dirty="0">
                <a:solidFill>
                  <a:srgbClr val="002060">
                    <a:alpha val="98000"/>
                  </a:srgbClr>
                </a:solidFill>
              </a:rPr>
              <a:t>Analyse</a:t>
            </a:r>
            <a:r>
              <a:rPr lang="fr-FR" dirty="0">
                <a:solidFill>
                  <a:srgbClr val="002060">
                    <a:alpha val="98000"/>
                  </a:srgbClr>
                </a:solidFill>
              </a:rPr>
              <a:t> : Confirmer la structure et l'intégrité des données (Dictionnaire).Prévention : Mettre en place des mesures pour sécuriser l'utilisation future.</a:t>
            </a:r>
          </a:p>
          <a:p>
            <a:endParaRPr lang="fr-FR" dirty="0">
              <a:solidFill>
                <a:srgbClr val="002060">
                  <a:alpha val="98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02988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6E2E211-E538-5D34-761F-D6B973630883}"/>
              </a:ext>
            </a:extLst>
          </p:cNvPr>
          <p:cNvSpPr/>
          <p:nvPr/>
        </p:nvSpPr>
        <p:spPr>
          <a:xfrm>
            <a:off x="394855" y="716973"/>
            <a:ext cx="8458200" cy="42031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731772" y="0"/>
            <a:ext cx="36804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Importation des données</a:t>
            </a:r>
            <a:endParaRPr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C01C850-3CF4-673D-F515-EF3E63368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768" y="1072382"/>
            <a:ext cx="2101645" cy="162063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EEDFFAE6-56C9-AEF7-2CF4-748A244090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673" y="2942813"/>
            <a:ext cx="2617839" cy="162185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E141855-4FA2-EC13-CEA7-4A6453BFD8D0}"/>
              </a:ext>
            </a:extLst>
          </p:cNvPr>
          <p:cNvSpPr txBox="1"/>
          <p:nvPr/>
        </p:nvSpPr>
        <p:spPr>
          <a:xfrm>
            <a:off x="771830" y="1621089"/>
            <a:ext cx="41393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- </a:t>
            </a:r>
            <a:r>
              <a:rPr lang="fr-FR" b="1" u="sng" dirty="0">
                <a:solidFill>
                  <a:srgbClr val="002060"/>
                </a:solidFill>
              </a:rPr>
              <a:t>Création de la base de données :</a:t>
            </a:r>
            <a:r>
              <a:rPr lang="fr-FR" dirty="0">
                <a:solidFill>
                  <a:srgbClr val="002060"/>
                </a:solidFill>
              </a:rPr>
              <a:t> listings.</a:t>
            </a:r>
          </a:p>
          <a:p>
            <a:r>
              <a:rPr lang="fr-FR" dirty="0">
                <a:solidFill>
                  <a:srgbClr val="002060"/>
                </a:solidFill>
              </a:rPr>
              <a:t>- </a:t>
            </a:r>
            <a:r>
              <a:rPr lang="fr-FR" b="1" u="sng" dirty="0">
                <a:solidFill>
                  <a:srgbClr val="002060"/>
                </a:solidFill>
              </a:rPr>
              <a:t>Ainsi que la collection :</a:t>
            </a:r>
            <a:r>
              <a:rPr lang="fr-FR" b="1" dirty="0">
                <a:solidFill>
                  <a:srgbClr val="002060"/>
                </a:solidFill>
              </a:rPr>
              <a:t> </a:t>
            </a:r>
            <a:r>
              <a:rPr lang="fr-FR" dirty="0">
                <a:solidFill>
                  <a:srgbClr val="002060"/>
                </a:solidFill>
              </a:rPr>
              <a:t>paris.</a:t>
            </a:r>
          </a:p>
          <a:p>
            <a:r>
              <a:rPr lang="fr-FR" dirty="0">
                <a:solidFill>
                  <a:srgbClr val="002060"/>
                </a:solidFill>
              </a:rPr>
              <a:t>- Puis clic sur </a:t>
            </a:r>
            <a:r>
              <a:rPr lang="fr-FR" b="1" dirty="0" err="1">
                <a:solidFill>
                  <a:srgbClr val="002060"/>
                </a:solidFill>
              </a:rPr>
              <a:t>Create</a:t>
            </a:r>
            <a:r>
              <a:rPr lang="fr-FR" b="1" dirty="0">
                <a:solidFill>
                  <a:srgbClr val="002060"/>
                </a:solidFill>
              </a:rPr>
              <a:t> </a:t>
            </a:r>
            <a:r>
              <a:rPr lang="fr-FR" b="1" dirty="0" err="1">
                <a:solidFill>
                  <a:srgbClr val="002060"/>
                </a:solidFill>
              </a:rPr>
              <a:t>Database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AD17C6E-838B-C068-CEDB-67F71473352D}"/>
              </a:ext>
            </a:extLst>
          </p:cNvPr>
          <p:cNvSpPr txBox="1"/>
          <p:nvPr/>
        </p:nvSpPr>
        <p:spPr>
          <a:xfrm>
            <a:off x="771830" y="3384409"/>
            <a:ext cx="413938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u="sng" dirty="0">
                <a:solidFill>
                  <a:srgbClr val="002060"/>
                </a:solidFill>
              </a:rPr>
              <a:t>Importation du fichier source :</a:t>
            </a:r>
          </a:p>
          <a:p>
            <a:r>
              <a:rPr lang="fr-FR" dirty="0">
                <a:solidFill>
                  <a:srgbClr val="002060"/>
                </a:solidFill>
              </a:rPr>
              <a:t>1- </a:t>
            </a:r>
            <a:r>
              <a:rPr lang="fr-FR" b="1" dirty="0">
                <a:solidFill>
                  <a:srgbClr val="002060"/>
                </a:solidFill>
              </a:rPr>
              <a:t>Clic</a:t>
            </a:r>
            <a:r>
              <a:rPr lang="fr-FR" dirty="0">
                <a:solidFill>
                  <a:srgbClr val="002060"/>
                </a:solidFill>
              </a:rPr>
              <a:t> sur </a:t>
            </a:r>
            <a:r>
              <a:rPr lang="fr-FR" b="1" dirty="0">
                <a:solidFill>
                  <a:srgbClr val="002060"/>
                </a:solidFill>
              </a:rPr>
              <a:t>ADD DATA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  <a:p>
            <a:pPr lvl="1"/>
            <a:r>
              <a:rPr lang="fr-FR" dirty="0">
                <a:solidFill>
                  <a:srgbClr val="002060"/>
                </a:solidFill>
              </a:rPr>
              <a:t>2- </a:t>
            </a:r>
            <a:r>
              <a:rPr lang="fr-FR" b="1" dirty="0">
                <a:solidFill>
                  <a:srgbClr val="002060"/>
                </a:solidFill>
              </a:rPr>
              <a:t>Clic</a:t>
            </a:r>
            <a:r>
              <a:rPr lang="fr-FR" dirty="0">
                <a:solidFill>
                  <a:srgbClr val="002060"/>
                </a:solidFill>
              </a:rPr>
              <a:t> sur </a:t>
            </a:r>
            <a:r>
              <a:rPr lang="fr-FR" b="1" dirty="0">
                <a:solidFill>
                  <a:srgbClr val="002060"/>
                </a:solidFill>
              </a:rPr>
              <a:t>Import JSON or CSV file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F9AC25EA-05A7-F87D-26DD-6B0728EE4F85}"/>
              </a:ext>
            </a:extLst>
          </p:cNvPr>
          <p:cNvSpPr/>
          <p:nvPr/>
        </p:nvSpPr>
        <p:spPr>
          <a:xfrm>
            <a:off x="394855" y="716973"/>
            <a:ext cx="8458200" cy="42031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219C9C74-45A3-1B90-EEC9-47B2F8FEC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5675" y="2818534"/>
            <a:ext cx="2674177" cy="1949025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435B8B41-1C98-5464-5AC1-D14B2714B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6884" y="891602"/>
            <a:ext cx="3171761" cy="1727272"/>
          </a:xfrm>
          <a:prstGeom prst="rect">
            <a:avLst/>
          </a:prstGeom>
        </p:spPr>
      </p:pic>
      <p:sp>
        <p:nvSpPr>
          <p:cNvPr id="8" name="Google Shape;60;p14">
            <a:extLst>
              <a:ext uri="{FF2B5EF4-FFF2-40B4-BE49-F238E27FC236}">
                <a16:creationId xmlns:a16="http://schemas.microsoft.com/office/drawing/2014/main" id="{65F3BC3F-116D-26E1-CEC0-45B1B54D75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732634" y="-4854"/>
            <a:ext cx="367873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Importation des données</a:t>
            </a:r>
            <a:endParaRPr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EC512BB-2C05-F749-5C91-C6983F9D9627}"/>
              </a:ext>
            </a:extLst>
          </p:cNvPr>
          <p:cNvSpPr txBox="1"/>
          <p:nvPr/>
        </p:nvSpPr>
        <p:spPr>
          <a:xfrm>
            <a:off x="565354" y="1616923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3- </a:t>
            </a:r>
            <a:r>
              <a:rPr lang="fr-FR" b="1" dirty="0">
                <a:solidFill>
                  <a:srgbClr val="002060"/>
                </a:solidFill>
              </a:rPr>
              <a:t>Sélection</a:t>
            </a:r>
            <a:r>
              <a:rPr lang="fr-FR" dirty="0">
                <a:solidFill>
                  <a:srgbClr val="002060"/>
                </a:solidFill>
              </a:rPr>
              <a:t> du fichier </a:t>
            </a:r>
            <a:r>
              <a:rPr lang="fr-FR" b="1" dirty="0">
                <a:solidFill>
                  <a:srgbClr val="002060"/>
                </a:solidFill>
              </a:rPr>
              <a:t>CSV</a:t>
            </a:r>
            <a:r>
              <a:rPr lang="fr-FR" dirty="0">
                <a:solidFill>
                  <a:srgbClr val="002060"/>
                </a:solidFill>
              </a:rPr>
              <a:t> fournis puis </a:t>
            </a:r>
            <a:r>
              <a:rPr lang="fr-FR" b="1" dirty="0">
                <a:solidFill>
                  <a:srgbClr val="002060"/>
                </a:solidFill>
              </a:rPr>
              <a:t>Select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3105D9C-3889-8A6E-2712-CF7C742E1C0B}"/>
              </a:ext>
            </a:extLst>
          </p:cNvPr>
          <p:cNvSpPr txBox="1"/>
          <p:nvPr/>
        </p:nvSpPr>
        <p:spPr>
          <a:xfrm>
            <a:off x="565354" y="3673805"/>
            <a:ext cx="49652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4- </a:t>
            </a:r>
            <a:r>
              <a:rPr lang="fr-FR" b="1" dirty="0">
                <a:solidFill>
                  <a:srgbClr val="002060"/>
                </a:solidFill>
              </a:rPr>
              <a:t>Vérification</a:t>
            </a:r>
            <a:r>
              <a:rPr lang="fr-FR" dirty="0">
                <a:solidFill>
                  <a:srgbClr val="002060"/>
                </a:solidFill>
              </a:rPr>
              <a:t> du </a:t>
            </a:r>
            <a:r>
              <a:rPr lang="fr-FR" b="1" dirty="0">
                <a:solidFill>
                  <a:srgbClr val="002060"/>
                </a:solidFill>
              </a:rPr>
              <a:t>délimiter</a:t>
            </a:r>
            <a:r>
              <a:rPr lang="fr-FR" dirty="0">
                <a:solidFill>
                  <a:srgbClr val="002060"/>
                </a:solidFill>
              </a:rPr>
              <a:t> </a:t>
            </a:r>
            <a:r>
              <a:rPr lang="fr-FR" i="1" dirty="0">
                <a:solidFill>
                  <a:srgbClr val="002060"/>
                </a:solidFill>
              </a:rPr>
              <a:t>(Select </a:t>
            </a:r>
            <a:r>
              <a:rPr lang="fr-FR" i="1" dirty="0" err="1">
                <a:solidFill>
                  <a:srgbClr val="002060"/>
                </a:solidFill>
              </a:rPr>
              <a:t>delimiter</a:t>
            </a:r>
            <a:r>
              <a:rPr lang="fr-FR" i="1" dirty="0">
                <a:solidFill>
                  <a:srgbClr val="002060"/>
                </a:solidFill>
              </a:rPr>
              <a:t>) </a:t>
            </a:r>
            <a:r>
              <a:rPr lang="fr-FR" dirty="0">
                <a:solidFill>
                  <a:srgbClr val="002060"/>
                </a:solidFill>
              </a:rPr>
              <a:t>puis </a:t>
            </a:r>
            <a:r>
              <a:rPr lang="fr-FR" b="1" dirty="0">
                <a:solidFill>
                  <a:srgbClr val="002060"/>
                </a:solidFill>
              </a:rPr>
              <a:t>Import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2249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9ACBD73-3862-C341-EBC9-493016AA77D8}"/>
              </a:ext>
            </a:extLst>
          </p:cNvPr>
          <p:cNvSpPr/>
          <p:nvPr/>
        </p:nvSpPr>
        <p:spPr>
          <a:xfrm>
            <a:off x="394855" y="716973"/>
            <a:ext cx="8458200" cy="4203122"/>
          </a:xfrm>
          <a:prstGeom prst="roundRect">
            <a:avLst/>
          </a:prstGeom>
          <a:solidFill>
            <a:schemeClr val="accent1">
              <a:lumMod val="20000"/>
              <a:lumOff val="8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5B142F4-09B4-6D48-3A03-4D98C1226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7355" y="2437526"/>
            <a:ext cx="3534455" cy="188624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5C37BEA-DC5D-CB9B-9B21-36ADDDD8B2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956" y="1276016"/>
            <a:ext cx="2917251" cy="450458"/>
          </a:xfrm>
          <a:prstGeom prst="rect">
            <a:avLst/>
          </a:prstGeom>
        </p:spPr>
      </p:pic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44F2BCC8-DDE2-0048-2506-9114CCB25ABC}"/>
              </a:ext>
            </a:extLst>
          </p:cNvPr>
          <p:cNvSpPr txBox="1">
            <a:spLocks/>
          </p:cNvSpPr>
          <p:nvPr/>
        </p:nvSpPr>
        <p:spPr>
          <a:xfrm>
            <a:off x="2726856" y="0"/>
            <a:ext cx="369028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fr-FR" sz="25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Importation des données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B47005-40D1-256D-765D-FA1735CF0B77}"/>
              </a:ext>
            </a:extLst>
          </p:cNvPr>
          <p:cNvSpPr txBox="1"/>
          <p:nvPr/>
        </p:nvSpPr>
        <p:spPr>
          <a:xfrm>
            <a:off x="565355" y="1239635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5- </a:t>
            </a:r>
            <a:r>
              <a:rPr lang="fr-FR" b="1" dirty="0">
                <a:solidFill>
                  <a:srgbClr val="002060"/>
                </a:solidFill>
              </a:rPr>
              <a:t>En bas a gauche</a:t>
            </a:r>
            <a:r>
              <a:rPr lang="fr-FR" dirty="0">
                <a:solidFill>
                  <a:srgbClr val="002060"/>
                </a:solidFill>
              </a:rPr>
              <a:t>, un encart apparait pour afficher l’état </a:t>
            </a:r>
            <a:r>
              <a:rPr lang="fr-FR" b="1" dirty="0">
                <a:solidFill>
                  <a:srgbClr val="002060"/>
                </a:solidFill>
              </a:rPr>
              <a:t>d’avancement</a:t>
            </a:r>
            <a:r>
              <a:rPr lang="fr-FR" dirty="0">
                <a:solidFill>
                  <a:srgbClr val="002060"/>
                </a:solidFill>
              </a:rPr>
              <a:t> de </a:t>
            </a:r>
            <a:r>
              <a:rPr lang="fr-FR" b="1" dirty="0">
                <a:solidFill>
                  <a:srgbClr val="002060"/>
                </a:solidFill>
              </a:rPr>
              <a:t>l’import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1FC1B102-05C3-5811-E42B-E9534DEE9050}"/>
              </a:ext>
            </a:extLst>
          </p:cNvPr>
          <p:cNvSpPr txBox="1"/>
          <p:nvPr/>
        </p:nvSpPr>
        <p:spPr>
          <a:xfrm>
            <a:off x="565355" y="3011314"/>
            <a:ext cx="408038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solidFill>
                  <a:srgbClr val="002060"/>
                </a:solidFill>
              </a:rPr>
              <a:t>6- Sur la </a:t>
            </a:r>
            <a:r>
              <a:rPr lang="fr-FR" b="1" dirty="0">
                <a:solidFill>
                  <a:srgbClr val="002060"/>
                </a:solidFill>
              </a:rPr>
              <a:t>page de la collection </a:t>
            </a:r>
            <a:r>
              <a:rPr lang="fr-FR" dirty="0">
                <a:solidFill>
                  <a:srgbClr val="002060"/>
                </a:solidFill>
              </a:rPr>
              <a:t>on peut </a:t>
            </a:r>
            <a:r>
              <a:rPr lang="fr-FR" b="1" dirty="0">
                <a:solidFill>
                  <a:srgbClr val="002060"/>
                </a:solidFill>
              </a:rPr>
              <a:t>vérifier</a:t>
            </a:r>
            <a:r>
              <a:rPr lang="fr-FR" dirty="0">
                <a:solidFill>
                  <a:srgbClr val="002060"/>
                </a:solidFill>
              </a:rPr>
              <a:t> </a:t>
            </a:r>
            <a:r>
              <a:rPr lang="fr-FR" i="1" dirty="0">
                <a:solidFill>
                  <a:srgbClr val="002060"/>
                </a:solidFill>
              </a:rPr>
              <a:t>(entre autres)</a:t>
            </a:r>
            <a:r>
              <a:rPr lang="fr-FR" dirty="0">
                <a:solidFill>
                  <a:srgbClr val="002060"/>
                </a:solidFill>
              </a:rPr>
              <a:t> le </a:t>
            </a:r>
            <a:r>
              <a:rPr lang="fr-FR" b="1" dirty="0">
                <a:solidFill>
                  <a:srgbClr val="002060"/>
                </a:solidFill>
              </a:rPr>
              <a:t>nombre de documents </a:t>
            </a:r>
            <a:r>
              <a:rPr lang="fr-FR" dirty="0">
                <a:solidFill>
                  <a:srgbClr val="002060"/>
                </a:solidFill>
              </a:rPr>
              <a:t>importer et voir la </a:t>
            </a:r>
            <a:r>
              <a:rPr lang="fr-FR" b="1" dirty="0">
                <a:solidFill>
                  <a:srgbClr val="002060"/>
                </a:solidFill>
              </a:rPr>
              <a:t>structure</a:t>
            </a:r>
            <a:r>
              <a:rPr lang="fr-FR" dirty="0">
                <a:solidFill>
                  <a:srgbClr val="002060"/>
                </a:solidFill>
              </a:rPr>
              <a:t> du </a:t>
            </a:r>
            <a:r>
              <a:rPr lang="fr-FR" b="1" dirty="0">
                <a:solidFill>
                  <a:srgbClr val="002060"/>
                </a:solidFill>
              </a:rPr>
              <a:t>premier document</a:t>
            </a:r>
            <a:r>
              <a:rPr lang="fr-FR" dirty="0">
                <a:solidFill>
                  <a:srgbClr val="00206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860712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930347" y="1925"/>
            <a:ext cx="128330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Partie 1 </a:t>
            </a:r>
            <a:endParaRPr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71600" marR="152400" lvl="2" indent="-304800" algn="l" rtl="0"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■"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la description d’un document avec le type des données ;</a:t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371600" marR="152400" lvl="2" indent="-304800" algn="l" rtl="0"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■"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les avantages du NoSQL dans ce contexte de données ;</a:t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371600" marR="152400" lvl="2" indent="-304800" algn="l" rtl="0"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■"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les premières requêtes et leurs résultats (nombre de documents de la base de données, nombre de logements avec des disponibilités)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2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71600" marR="152400" lvl="2" indent="-304800" algn="l" rtl="0"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■"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les requêtes et leurs résultats ; </a:t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1371600" marR="152400" lvl="2" indent="-304800" algn="l" rtl="0"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■"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la démarche suivie pour mettre la base de données MongoDB à disposition d’un outil de business intelligence incluant des captures d’écran du tableau de bord et du processus.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Partie 3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Schéma d’architecture de la base de données incluant la connexion à un outil de business intelligence.</a:t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Description de la logique et du processus suivi sous forme de tableau pour :</a:t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152400" lvl="0" indent="-304800" algn="l" rtl="0"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répliquer les données (instructions étape 2);</a:t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457200" marR="152400" lvl="0" indent="-304800" algn="l" rtl="0">
              <a:spcBef>
                <a:spcPts val="0"/>
              </a:spcBef>
              <a:spcAft>
                <a:spcPts val="0"/>
              </a:spcAft>
              <a:buClr>
                <a:srgbClr val="271A38"/>
              </a:buClr>
              <a:buSzPts val="1200"/>
              <a:buFont typeface="Inter"/>
              <a:buChar char="●"/>
            </a:pPr>
            <a:r>
              <a:rPr lang="fr" sz="1200">
                <a:solidFill>
                  <a:srgbClr val="271A38"/>
                </a:solidFill>
                <a:latin typeface="Inter"/>
                <a:ea typeface="Inter"/>
                <a:cs typeface="Inter"/>
                <a:sym typeface="Inter"/>
              </a:rPr>
              <a:t>distribuer les données (instructions étape 3).</a:t>
            </a: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  <a:p>
            <a:pPr marL="0" marR="152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271A38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</TotalTime>
  <Words>365</Words>
  <Application>Microsoft Office PowerPoint</Application>
  <PresentationFormat>Affichage à l'écran (16:9)</PresentationFormat>
  <Paragraphs>45</Paragraphs>
  <Slides>8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1" baseType="lpstr">
      <vt:lpstr>Inter</vt:lpstr>
      <vt:lpstr>Arial</vt:lpstr>
      <vt:lpstr>Simple Light</vt:lpstr>
      <vt:lpstr>Template de présentation du projet 7</vt:lpstr>
      <vt:lpstr>Présentation PowerPoint</vt:lpstr>
      <vt:lpstr>Importation des données</vt:lpstr>
      <vt:lpstr>Importation des données</vt:lpstr>
      <vt:lpstr>Présentation PowerPoint</vt:lpstr>
      <vt:lpstr>Partie 1 </vt:lpstr>
      <vt:lpstr>Partie 2</vt:lpstr>
      <vt:lpstr>Partie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Aymeric Bailleul</cp:lastModifiedBy>
  <cp:revision>4</cp:revision>
  <dcterms:modified xsi:type="dcterms:W3CDTF">2025-11-06T13:06:46Z</dcterms:modified>
</cp:coreProperties>
</file>