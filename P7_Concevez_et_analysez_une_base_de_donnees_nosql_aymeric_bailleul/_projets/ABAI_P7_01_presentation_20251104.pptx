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64" r:id="rId3"/>
    <p:sldId id="257" r:id="rId4"/>
    <p:sldId id="261" r:id="rId5"/>
    <p:sldId id="262" r:id="rId6"/>
    <p:sldId id="258" r:id="rId7"/>
    <p:sldId id="266" r:id="rId8"/>
    <p:sldId id="265" r:id="rId9"/>
    <p:sldId id="267" r:id="rId10"/>
    <p:sldId id="269" r:id="rId11"/>
    <p:sldId id="270" r:id="rId12"/>
    <p:sldId id="271" r:id="rId13"/>
    <p:sldId id="272" r:id="rId14"/>
    <p:sldId id="268" r:id="rId15"/>
    <p:sldId id="260" r:id="rId16"/>
  </p:sldIdLst>
  <p:sldSz cx="9144000" cy="5143500" type="screen16x9"/>
  <p:notesSz cx="6858000" cy="9144000"/>
  <p:embeddedFontLst>
    <p:embeddedFont>
      <p:font typeface="Inter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4" d="100"/>
          <a:sy n="194" d="100"/>
        </p:scale>
        <p:origin x="756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1f22bfd9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1f22bfd9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1f22bfd9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1f22bfd9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CC21AD28-C2A0-2663-8A55-981D439D6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1f22bfd96_0_5:notes">
            <a:extLst>
              <a:ext uri="{FF2B5EF4-FFF2-40B4-BE49-F238E27FC236}">
                <a16:creationId xmlns:a16="http://schemas.microsoft.com/office/drawing/2014/main" id="{86BEC164-30BB-54E9-5CF9-E520B61D05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1f22bfd96_0_5:notes">
            <a:extLst>
              <a:ext uri="{FF2B5EF4-FFF2-40B4-BE49-F238E27FC236}">
                <a16:creationId xmlns:a16="http://schemas.microsoft.com/office/drawing/2014/main" id="{6C549F34-089F-0FCB-4F8B-9F455FF4DA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1532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64DA333A-04C2-8521-0A7A-E42FDE416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1f22bfd96_0_5:notes">
            <a:extLst>
              <a:ext uri="{FF2B5EF4-FFF2-40B4-BE49-F238E27FC236}">
                <a16:creationId xmlns:a16="http://schemas.microsoft.com/office/drawing/2014/main" id="{75A9F9FB-70F2-F7B2-4196-B4815D3657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1f22bfd96_0_5:notes">
            <a:extLst>
              <a:ext uri="{FF2B5EF4-FFF2-40B4-BE49-F238E27FC236}">
                <a16:creationId xmlns:a16="http://schemas.microsoft.com/office/drawing/2014/main" id="{BA0FB4C2-DADD-41A1-36BA-9444F5B00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8838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739FF0D-8FF3-E218-5EEF-ECE429FE4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62812A43-AAF4-4E5A-C86F-9ED95D790B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8919E591-0562-C22A-159A-978B8DEEAD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1707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74AF6BB-8995-68F2-F681-B105E2B90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4921BDF5-AC3B-B225-EE74-B729AE32BB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F882E61E-0734-BE9A-AC84-41E3785BA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072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5F59E1C-15D5-B603-35D1-CFB4F73F8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3D1F0B1C-5AA4-A1E5-8010-F2C5A255E5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3DD01B93-9787-373B-1360-12038830A8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Commande pour afficher les nom et le nombres d’annonces</a:t>
            </a:r>
          </a:p>
          <a:p>
            <a:pPr marL="158750" indent="0">
              <a:buNone/>
            </a:pPr>
            <a:endParaRPr lang="fr-F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fr-F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db.paris.aggregate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([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{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$group: {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  _id: "$</a:t>
            </a:r>
            <a:r>
              <a:rPr lang="fr-F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host_id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",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  </a:t>
            </a:r>
            <a:r>
              <a:rPr lang="fr-F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nom_hote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{ $first: "$</a:t>
            </a:r>
            <a:r>
              <a:rPr lang="fr-F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host_name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 },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  </a:t>
            </a:r>
            <a:r>
              <a:rPr lang="fr-F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nombre_annonces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{ $</a:t>
            </a:r>
            <a:r>
              <a:rPr lang="fr-F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sum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1 }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}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},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{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$match: {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  </a:t>
            </a:r>
            <a:r>
              <a:rPr lang="fr-F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nombre_annonces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{ $gt: 100 }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}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},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{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$sort: { </a:t>
            </a:r>
            <a:r>
              <a:rPr lang="fr-F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nombre_annonces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-1 }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},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{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$</a:t>
            </a:r>
            <a:r>
              <a:rPr lang="fr-F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project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{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  _id: 0,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  </a:t>
            </a:r>
            <a:r>
              <a:rPr lang="fr-F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nom_hote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1,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  </a:t>
            </a:r>
            <a:r>
              <a:rPr lang="fr-F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nombre_annonces</a:t>
            </a: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1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}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}</a:t>
            </a:r>
          </a:p>
          <a:p>
            <a:pPr marL="158750" indent="0">
              <a:buNone/>
            </a:pPr>
            <a:r>
              <a:rPr lang="fr-F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1705376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83BB72E3-A34C-9689-BB0E-21F56C3A2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C93E7681-594B-889D-2CEC-EFCF1DE4BB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B1BCF524-13D2-6EF8-27A1-DC8BEEDAF2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71788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7AA1ACC-0064-DB2C-36DC-C9318A3CA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56A49FFC-C1DB-B1D9-A798-E380B94904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D6AC05DC-676A-1947-8AD6-A29952A417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19273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71E940C-0D08-3FCC-3016-6BA1B7B25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>
            <a:extLst>
              <a:ext uri="{FF2B5EF4-FFF2-40B4-BE49-F238E27FC236}">
                <a16:creationId xmlns:a16="http://schemas.microsoft.com/office/drawing/2014/main" id="{F16A4FBA-714D-42B5-BCE2-6DF47953A1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>
            <a:extLst>
              <a:ext uri="{FF2B5EF4-FFF2-40B4-BE49-F238E27FC236}">
                <a16:creationId xmlns:a16="http://schemas.microsoft.com/office/drawing/2014/main" id="{01B430DB-DCCE-2EA5-69AB-67087D2281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1972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1f22bfd9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01f22bfd9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5454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Template de présentation du projet 7</a:t>
            </a:r>
            <a:endParaRPr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43EABCED-5C81-E596-4CEE-697403A98489}"/>
              </a:ext>
            </a:extLst>
          </p:cNvPr>
          <p:cNvSpPr txBox="1">
            <a:spLocks/>
          </p:cNvSpPr>
          <p:nvPr/>
        </p:nvSpPr>
        <p:spPr>
          <a:xfrm>
            <a:off x="3869424" y="0"/>
            <a:ext cx="140515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Contexte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A7E08827-509D-93AF-96E9-97AD53109B99}"/>
              </a:ext>
            </a:extLst>
          </p:cNvPr>
          <p:cNvSpPr/>
          <p:nvPr/>
        </p:nvSpPr>
        <p:spPr>
          <a:xfrm>
            <a:off x="383457" y="688199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dirty="0">
                <a:solidFill>
                  <a:schemeClr val="lt1">
                    <a:alpha val="98000"/>
                  </a:schemeClr>
                </a:solidFill>
              </a:rPr>
              <a:t>💥 </a:t>
            </a:r>
            <a:r>
              <a:rPr lang="fr-FR" b="1" u="sng" dirty="0">
                <a:solidFill>
                  <a:srgbClr val="002060">
                    <a:alpha val="98000"/>
                  </a:srgbClr>
                </a:solidFill>
              </a:rPr>
              <a:t>Contexte Urgent : </a:t>
            </a:r>
          </a:p>
          <a:p>
            <a:endParaRPr lang="fr-FR" sz="800" b="1" u="sng" dirty="0">
              <a:solidFill>
                <a:srgbClr val="002060">
                  <a:alpha val="98000"/>
                </a:srgbClr>
              </a:solidFill>
            </a:endParaRP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>
                    <a:alpha val="98000"/>
                  </a:srgbClr>
                </a:solidFill>
              </a:rPr>
              <a:t>Sauvetage des données de Paris</a:t>
            </a:r>
          </a:p>
          <a:p>
            <a:endParaRPr lang="fr-FR" dirty="0">
              <a:solidFill>
                <a:srgbClr val="002060">
                  <a:alpha val="98000"/>
                </a:srgbClr>
              </a:solidFill>
            </a:endParaRPr>
          </a:p>
          <a:p>
            <a:endParaRPr lang="fr-FR" dirty="0">
              <a:solidFill>
                <a:srgbClr val="002060">
                  <a:alpha val="98000"/>
                </a:srgbClr>
              </a:solidFill>
            </a:endParaRPr>
          </a:p>
          <a:p>
            <a:r>
              <a:rPr lang="fr-FR" dirty="0">
                <a:solidFill>
                  <a:srgbClr val="002060">
                    <a:alpha val="98000"/>
                  </a:srgbClr>
                </a:solidFill>
              </a:rPr>
              <a:t>🚨 </a:t>
            </a:r>
            <a:r>
              <a:rPr lang="fr-FR" b="1" u="sng" dirty="0">
                <a:solidFill>
                  <a:srgbClr val="002060">
                    <a:alpha val="98000"/>
                  </a:srgbClr>
                </a:solidFill>
              </a:rPr>
              <a:t>La Crise :</a:t>
            </a:r>
          </a:p>
          <a:p>
            <a:endParaRPr lang="fr-FR" sz="800" b="1" u="sng" dirty="0">
              <a:solidFill>
                <a:srgbClr val="002060">
                  <a:alpha val="98000"/>
                </a:srgbClr>
              </a:solidFill>
            </a:endParaRPr>
          </a:p>
          <a:p>
            <a:pPr marL="285750" indent="-285750">
              <a:buFontTx/>
              <a:buChar char="-"/>
            </a:pPr>
            <a:r>
              <a:rPr lang="fr-FR" b="1" i="1" dirty="0">
                <a:solidFill>
                  <a:srgbClr val="002060">
                    <a:alpha val="98000"/>
                  </a:srgbClr>
                </a:solidFill>
              </a:rPr>
              <a:t>Problème</a:t>
            </a:r>
            <a:r>
              <a:rPr lang="fr-FR" i="1" dirty="0">
                <a:solidFill>
                  <a:srgbClr val="002060">
                    <a:alpha val="98000"/>
                  </a:srgbClr>
                </a:solidFill>
              </a:rPr>
              <a:t> :</a:t>
            </a:r>
            <a:r>
              <a:rPr lang="fr-FR" dirty="0">
                <a:solidFill>
                  <a:srgbClr val="002060">
                    <a:alpha val="98000"/>
                  </a:srgbClr>
                </a:solidFill>
              </a:rPr>
              <a:t> Crash total de la base de données MongoDB des locations parisiennes (été 2024) sur nos serveurs internes.</a:t>
            </a:r>
          </a:p>
          <a:p>
            <a:pPr marL="285750" indent="-285750">
              <a:buFontTx/>
              <a:buChar char="-"/>
            </a:pPr>
            <a:r>
              <a:rPr lang="fr-FR" b="1" i="1" dirty="0">
                <a:solidFill>
                  <a:srgbClr val="002060">
                    <a:alpha val="98000"/>
                  </a:srgbClr>
                </a:solidFill>
              </a:rPr>
              <a:t>Enjeu</a:t>
            </a:r>
            <a:r>
              <a:rPr lang="fr-FR" i="1" dirty="0">
                <a:solidFill>
                  <a:srgbClr val="002060">
                    <a:alpha val="98000"/>
                  </a:srgbClr>
                </a:solidFill>
              </a:rPr>
              <a:t> :</a:t>
            </a:r>
            <a:r>
              <a:rPr lang="fr-FR" dirty="0">
                <a:solidFill>
                  <a:srgbClr val="002060">
                    <a:alpha val="98000"/>
                  </a:srgbClr>
                </a:solidFill>
              </a:rPr>
              <a:t> L'association </a:t>
            </a:r>
            <a:r>
              <a:rPr lang="fr-FR" dirty="0" err="1">
                <a:solidFill>
                  <a:srgbClr val="002060">
                    <a:alpha val="98000"/>
                  </a:srgbClr>
                </a:solidFill>
              </a:rPr>
              <a:t>NosCités</a:t>
            </a:r>
            <a:r>
              <a:rPr lang="fr-FR" dirty="0">
                <a:solidFill>
                  <a:srgbClr val="002060">
                    <a:alpha val="98000"/>
                  </a:srgbClr>
                </a:solidFill>
              </a:rPr>
              <a:t> doit publier un rapport crucial sur l'effet "JO 2024" sur l'offre de logements. Urgence maximale.</a:t>
            </a:r>
          </a:p>
          <a:p>
            <a:pPr marL="285750" indent="-285750">
              <a:buFontTx/>
              <a:buChar char="-"/>
            </a:pPr>
            <a:endParaRPr lang="fr-FR" dirty="0">
              <a:solidFill>
                <a:srgbClr val="002060">
                  <a:alpha val="98000"/>
                </a:srgbClr>
              </a:solidFill>
            </a:endParaRPr>
          </a:p>
          <a:p>
            <a:endParaRPr lang="fr-FR" dirty="0">
              <a:solidFill>
                <a:srgbClr val="002060">
                  <a:alpha val="98000"/>
                </a:srgbClr>
              </a:solidFill>
            </a:endParaRPr>
          </a:p>
          <a:p>
            <a:r>
              <a:rPr lang="fr-FR" dirty="0">
                <a:solidFill>
                  <a:srgbClr val="002060">
                    <a:alpha val="98000"/>
                  </a:srgbClr>
                </a:solidFill>
              </a:rPr>
              <a:t>🎯 </a:t>
            </a:r>
            <a:r>
              <a:rPr lang="fr-FR" b="1" u="sng" dirty="0">
                <a:solidFill>
                  <a:srgbClr val="002060">
                    <a:alpha val="98000"/>
                  </a:srgbClr>
                </a:solidFill>
              </a:rPr>
              <a:t>Objectif Data </a:t>
            </a:r>
            <a:r>
              <a:rPr lang="fr-FR" b="1" u="sng" dirty="0" err="1">
                <a:solidFill>
                  <a:srgbClr val="002060">
                    <a:alpha val="98000"/>
                  </a:srgbClr>
                </a:solidFill>
              </a:rPr>
              <a:t>Engineer</a:t>
            </a:r>
            <a:r>
              <a:rPr lang="fr-FR" b="1" u="sng" dirty="0">
                <a:solidFill>
                  <a:srgbClr val="002060">
                    <a:alpha val="98000"/>
                  </a:srgbClr>
                </a:solidFill>
              </a:rPr>
              <a:t> :</a:t>
            </a:r>
          </a:p>
          <a:p>
            <a:endParaRPr lang="fr-FR" sz="800" dirty="0">
              <a:solidFill>
                <a:srgbClr val="002060">
                  <a:alpha val="98000"/>
                </a:srgbClr>
              </a:solidFill>
            </a:endParaRPr>
          </a:p>
          <a:p>
            <a:pPr marL="285750" indent="-285750">
              <a:buFontTx/>
              <a:buChar char="-"/>
            </a:pPr>
            <a:r>
              <a:rPr lang="fr-FR" b="1" dirty="0">
                <a:solidFill>
                  <a:srgbClr val="002060">
                    <a:alpha val="98000"/>
                  </a:srgbClr>
                </a:solidFill>
              </a:rPr>
              <a:t>Rétablir, Explorer et Valider la fiabilité </a:t>
            </a:r>
            <a:r>
              <a:rPr lang="fr-FR" dirty="0">
                <a:solidFill>
                  <a:srgbClr val="002060">
                    <a:alpha val="98000"/>
                  </a:srgbClr>
                </a:solidFill>
              </a:rPr>
              <a:t>de la seule sauvegarde disponible pour Paris.</a:t>
            </a:r>
          </a:p>
          <a:p>
            <a:pPr marL="285750" indent="-285750">
              <a:buFontTx/>
              <a:buChar char="-"/>
            </a:pPr>
            <a:r>
              <a:rPr lang="fr-FR" b="1" dirty="0">
                <a:solidFill>
                  <a:srgbClr val="002060">
                    <a:alpha val="98000"/>
                  </a:srgbClr>
                </a:solidFill>
              </a:rPr>
              <a:t>Restauration</a:t>
            </a:r>
            <a:r>
              <a:rPr lang="fr-FR" dirty="0">
                <a:solidFill>
                  <a:srgbClr val="002060">
                    <a:alpha val="98000"/>
                  </a:srgbClr>
                </a:solidFill>
              </a:rPr>
              <a:t> : Importer la sauvegarde dans MongoDB.</a:t>
            </a:r>
          </a:p>
          <a:p>
            <a:pPr marL="285750" indent="-285750">
              <a:buFontTx/>
              <a:buChar char="-"/>
            </a:pPr>
            <a:r>
              <a:rPr lang="fr-FR" b="1" dirty="0">
                <a:solidFill>
                  <a:srgbClr val="002060">
                    <a:alpha val="98000"/>
                  </a:srgbClr>
                </a:solidFill>
              </a:rPr>
              <a:t>Analyse</a:t>
            </a:r>
            <a:r>
              <a:rPr lang="fr-FR" dirty="0">
                <a:solidFill>
                  <a:srgbClr val="002060">
                    <a:alpha val="98000"/>
                  </a:srgbClr>
                </a:solidFill>
              </a:rPr>
              <a:t> : Confirmer la structure et l'intégrité des données (Dictionnaire).Prévention : Mettre en place des mesures pour sécuriser l'utilisation future.</a:t>
            </a:r>
          </a:p>
          <a:p>
            <a:endParaRPr lang="fr-FR" dirty="0">
              <a:solidFill>
                <a:srgbClr val="002060">
                  <a:alpha val="98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298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36E2E211-E538-5D34-761F-D6B973630883}"/>
              </a:ext>
            </a:extLst>
          </p:cNvPr>
          <p:cNvSpPr/>
          <p:nvPr/>
        </p:nvSpPr>
        <p:spPr>
          <a:xfrm>
            <a:off x="394855" y="716973"/>
            <a:ext cx="8458200" cy="42031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2731772" y="0"/>
            <a:ext cx="368045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Importation des données</a:t>
            </a:r>
            <a:endParaRPr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C01C850-3CF4-673D-F515-EF3E63368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768" y="1072382"/>
            <a:ext cx="2101645" cy="162063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EDFFAE6-56C9-AEF7-2CF4-748A24409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673" y="2942813"/>
            <a:ext cx="2617839" cy="162185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E141855-4FA2-EC13-CEA7-4A6453BFD8D0}"/>
              </a:ext>
            </a:extLst>
          </p:cNvPr>
          <p:cNvSpPr txBox="1"/>
          <p:nvPr/>
        </p:nvSpPr>
        <p:spPr>
          <a:xfrm>
            <a:off x="771830" y="1621089"/>
            <a:ext cx="41393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2060"/>
                </a:solidFill>
              </a:rPr>
              <a:t>- </a:t>
            </a:r>
            <a:r>
              <a:rPr lang="fr-FR" b="1" u="sng" dirty="0">
                <a:solidFill>
                  <a:srgbClr val="002060"/>
                </a:solidFill>
              </a:rPr>
              <a:t>Création de la base de données :</a:t>
            </a:r>
            <a:r>
              <a:rPr lang="fr-FR" dirty="0">
                <a:solidFill>
                  <a:srgbClr val="002060"/>
                </a:solidFill>
              </a:rPr>
              <a:t> listings.</a:t>
            </a:r>
          </a:p>
          <a:p>
            <a:r>
              <a:rPr lang="fr-FR" dirty="0">
                <a:solidFill>
                  <a:srgbClr val="002060"/>
                </a:solidFill>
              </a:rPr>
              <a:t>- </a:t>
            </a:r>
            <a:r>
              <a:rPr lang="fr-FR" b="1" u="sng" dirty="0">
                <a:solidFill>
                  <a:srgbClr val="002060"/>
                </a:solidFill>
              </a:rPr>
              <a:t>Ainsi que la collection :</a:t>
            </a:r>
            <a:r>
              <a:rPr lang="fr-FR" b="1" dirty="0">
                <a:solidFill>
                  <a:srgbClr val="002060"/>
                </a:solidFill>
              </a:rPr>
              <a:t> </a:t>
            </a:r>
            <a:r>
              <a:rPr lang="fr-FR" dirty="0">
                <a:solidFill>
                  <a:srgbClr val="002060"/>
                </a:solidFill>
              </a:rPr>
              <a:t>paris.</a:t>
            </a:r>
          </a:p>
          <a:p>
            <a:r>
              <a:rPr lang="fr-FR" dirty="0">
                <a:solidFill>
                  <a:srgbClr val="002060"/>
                </a:solidFill>
              </a:rPr>
              <a:t>- Puis clic sur </a:t>
            </a:r>
            <a:r>
              <a:rPr lang="fr-FR" b="1" dirty="0" err="1">
                <a:solidFill>
                  <a:srgbClr val="002060"/>
                </a:solidFill>
              </a:rPr>
              <a:t>Create</a:t>
            </a:r>
            <a:r>
              <a:rPr lang="fr-FR" b="1" dirty="0">
                <a:solidFill>
                  <a:srgbClr val="002060"/>
                </a:solidFill>
              </a:rPr>
              <a:t> </a:t>
            </a:r>
            <a:r>
              <a:rPr lang="fr-FR" b="1" dirty="0" err="1">
                <a:solidFill>
                  <a:srgbClr val="002060"/>
                </a:solidFill>
              </a:rPr>
              <a:t>Database</a:t>
            </a:r>
            <a:r>
              <a:rPr lang="fr-FR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AD17C6E-838B-C068-CEDB-67F71473352D}"/>
              </a:ext>
            </a:extLst>
          </p:cNvPr>
          <p:cNvSpPr txBox="1"/>
          <p:nvPr/>
        </p:nvSpPr>
        <p:spPr>
          <a:xfrm>
            <a:off x="771830" y="3384409"/>
            <a:ext cx="41393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>
                <a:solidFill>
                  <a:srgbClr val="002060"/>
                </a:solidFill>
              </a:rPr>
              <a:t>Importation du fichier source :</a:t>
            </a:r>
          </a:p>
          <a:p>
            <a:r>
              <a:rPr lang="fr-FR" dirty="0">
                <a:solidFill>
                  <a:srgbClr val="002060"/>
                </a:solidFill>
              </a:rPr>
              <a:t>1- </a:t>
            </a:r>
            <a:r>
              <a:rPr lang="fr-FR" b="1" dirty="0">
                <a:solidFill>
                  <a:srgbClr val="002060"/>
                </a:solidFill>
              </a:rPr>
              <a:t>Clic</a:t>
            </a:r>
            <a:r>
              <a:rPr lang="fr-FR" dirty="0">
                <a:solidFill>
                  <a:srgbClr val="002060"/>
                </a:solidFill>
              </a:rPr>
              <a:t> sur </a:t>
            </a:r>
            <a:r>
              <a:rPr lang="fr-FR" b="1" dirty="0">
                <a:solidFill>
                  <a:srgbClr val="002060"/>
                </a:solidFill>
              </a:rPr>
              <a:t>ADD DATA</a:t>
            </a:r>
            <a:r>
              <a:rPr lang="fr-FR" dirty="0">
                <a:solidFill>
                  <a:srgbClr val="002060"/>
                </a:solidFill>
              </a:rPr>
              <a:t>.</a:t>
            </a:r>
          </a:p>
          <a:p>
            <a:pPr lvl="1"/>
            <a:r>
              <a:rPr lang="fr-FR" dirty="0">
                <a:solidFill>
                  <a:srgbClr val="002060"/>
                </a:solidFill>
              </a:rPr>
              <a:t>2- </a:t>
            </a:r>
            <a:r>
              <a:rPr lang="fr-FR" b="1" dirty="0">
                <a:solidFill>
                  <a:srgbClr val="002060"/>
                </a:solidFill>
              </a:rPr>
              <a:t>Clic</a:t>
            </a:r>
            <a:r>
              <a:rPr lang="fr-FR" dirty="0">
                <a:solidFill>
                  <a:srgbClr val="002060"/>
                </a:solidFill>
              </a:rPr>
              <a:t> sur </a:t>
            </a:r>
            <a:r>
              <a:rPr lang="fr-FR" b="1" dirty="0">
                <a:solidFill>
                  <a:srgbClr val="002060"/>
                </a:solidFill>
              </a:rPr>
              <a:t>Import JSON or CSV file</a:t>
            </a:r>
            <a:r>
              <a:rPr lang="fr-FR" dirty="0">
                <a:solidFill>
                  <a:srgbClr val="00206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F9AC25EA-05A7-F87D-26DD-6B0728EE4F85}"/>
              </a:ext>
            </a:extLst>
          </p:cNvPr>
          <p:cNvSpPr/>
          <p:nvPr/>
        </p:nvSpPr>
        <p:spPr>
          <a:xfrm>
            <a:off x="394855" y="716973"/>
            <a:ext cx="8458200" cy="42031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19C9C74-45A3-1B90-EEC9-47B2F8FEC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675" y="2818534"/>
            <a:ext cx="2674177" cy="194902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35B8B41-1C98-5464-5AC1-D14B2714B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884" y="891602"/>
            <a:ext cx="3171761" cy="1727272"/>
          </a:xfrm>
          <a:prstGeom prst="rect">
            <a:avLst/>
          </a:prstGeom>
        </p:spPr>
      </p:pic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65F3BC3F-116D-26E1-CEC0-45B1B54D75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32634" y="-4854"/>
            <a:ext cx="367873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Importation des données</a:t>
            </a:r>
            <a:endParaRPr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EC512BB-2C05-F749-5C91-C6983F9D9627}"/>
              </a:ext>
            </a:extLst>
          </p:cNvPr>
          <p:cNvSpPr txBox="1"/>
          <p:nvPr/>
        </p:nvSpPr>
        <p:spPr>
          <a:xfrm>
            <a:off x="565354" y="161692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2060"/>
                </a:solidFill>
              </a:rPr>
              <a:t>3- </a:t>
            </a:r>
            <a:r>
              <a:rPr lang="fr-FR" b="1" dirty="0">
                <a:solidFill>
                  <a:srgbClr val="002060"/>
                </a:solidFill>
              </a:rPr>
              <a:t>Sélection</a:t>
            </a:r>
            <a:r>
              <a:rPr lang="fr-FR" dirty="0">
                <a:solidFill>
                  <a:srgbClr val="002060"/>
                </a:solidFill>
              </a:rPr>
              <a:t> du fichier </a:t>
            </a:r>
            <a:r>
              <a:rPr lang="fr-FR" b="1" dirty="0">
                <a:solidFill>
                  <a:srgbClr val="002060"/>
                </a:solidFill>
              </a:rPr>
              <a:t>CSV</a:t>
            </a:r>
            <a:r>
              <a:rPr lang="fr-FR" dirty="0">
                <a:solidFill>
                  <a:srgbClr val="002060"/>
                </a:solidFill>
              </a:rPr>
              <a:t> fournis puis </a:t>
            </a:r>
            <a:r>
              <a:rPr lang="fr-FR" b="1" dirty="0">
                <a:solidFill>
                  <a:srgbClr val="002060"/>
                </a:solidFill>
              </a:rPr>
              <a:t>Select</a:t>
            </a:r>
            <a:r>
              <a:rPr lang="fr-FR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3105D9C-3889-8A6E-2712-CF7C742E1C0B}"/>
              </a:ext>
            </a:extLst>
          </p:cNvPr>
          <p:cNvSpPr txBox="1"/>
          <p:nvPr/>
        </p:nvSpPr>
        <p:spPr>
          <a:xfrm>
            <a:off x="565354" y="3673805"/>
            <a:ext cx="49652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2060"/>
                </a:solidFill>
              </a:rPr>
              <a:t>4- </a:t>
            </a:r>
            <a:r>
              <a:rPr lang="fr-FR" b="1" dirty="0">
                <a:solidFill>
                  <a:srgbClr val="002060"/>
                </a:solidFill>
              </a:rPr>
              <a:t>Vérification</a:t>
            </a:r>
            <a:r>
              <a:rPr lang="fr-FR" dirty="0">
                <a:solidFill>
                  <a:srgbClr val="002060"/>
                </a:solidFill>
              </a:rPr>
              <a:t> du </a:t>
            </a:r>
            <a:r>
              <a:rPr lang="fr-FR" b="1" dirty="0">
                <a:solidFill>
                  <a:srgbClr val="002060"/>
                </a:solidFill>
              </a:rPr>
              <a:t>délimiter</a:t>
            </a:r>
            <a:r>
              <a:rPr lang="fr-FR" dirty="0">
                <a:solidFill>
                  <a:srgbClr val="002060"/>
                </a:solidFill>
              </a:rPr>
              <a:t> </a:t>
            </a:r>
            <a:r>
              <a:rPr lang="fr-FR" i="1" dirty="0">
                <a:solidFill>
                  <a:srgbClr val="002060"/>
                </a:solidFill>
              </a:rPr>
              <a:t>(Select </a:t>
            </a:r>
            <a:r>
              <a:rPr lang="fr-FR" i="1" dirty="0" err="1">
                <a:solidFill>
                  <a:srgbClr val="002060"/>
                </a:solidFill>
              </a:rPr>
              <a:t>delimiter</a:t>
            </a:r>
            <a:r>
              <a:rPr lang="fr-FR" i="1" dirty="0">
                <a:solidFill>
                  <a:srgbClr val="002060"/>
                </a:solidFill>
              </a:rPr>
              <a:t>) </a:t>
            </a:r>
            <a:r>
              <a:rPr lang="fr-FR" dirty="0">
                <a:solidFill>
                  <a:srgbClr val="002060"/>
                </a:solidFill>
              </a:rPr>
              <a:t>puis </a:t>
            </a:r>
            <a:r>
              <a:rPr lang="fr-FR" b="1" dirty="0">
                <a:solidFill>
                  <a:srgbClr val="002060"/>
                </a:solidFill>
              </a:rPr>
              <a:t>Import</a:t>
            </a:r>
            <a:r>
              <a:rPr lang="fr-FR" dirty="0">
                <a:solidFill>
                  <a:srgbClr val="00206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2249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9ACBD73-3862-C341-EBC9-493016AA77D8}"/>
              </a:ext>
            </a:extLst>
          </p:cNvPr>
          <p:cNvSpPr/>
          <p:nvPr/>
        </p:nvSpPr>
        <p:spPr>
          <a:xfrm>
            <a:off x="394855" y="716973"/>
            <a:ext cx="8458200" cy="42031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5B142F4-09B4-6D48-3A03-4D98C1226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355" y="2437526"/>
            <a:ext cx="3534455" cy="188624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5C37BEA-DC5D-CB9B-9B21-36ADDDD8B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956" y="1276016"/>
            <a:ext cx="2917251" cy="450458"/>
          </a:xfrm>
          <a:prstGeom prst="rect">
            <a:avLst/>
          </a:prstGeom>
        </p:spPr>
      </p:pic>
      <p:sp>
        <p:nvSpPr>
          <p:cNvPr id="4" name="Google Shape;60;p14">
            <a:extLst>
              <a:ext uri="{FF2B5EF4-FFF2-40B4-BE49-F238E27FC236}">
                <a16:creationId xmlns:a16="http://schemas.microsoft.com/office/drawing/2014/main" id="{44F2BCC8-DDE2-0048-2506-9114CCB25ABC}"/>
              </a:ext>
            </a:extLst>
          </p:cNvPr>
          <p:cNvSpPr txBox="1">
            <a:spLocks/>
          </p:cNvSpPr>
          <p:nvPr/>
        </p:nvSpPr>
        <p:spPr>
          <a:xfrm>
            <a:off x="2726856" y="0"/>
            <a:ext cx="369028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Importation des données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EB47005-40D1-256D-765D-FA1735CF0B77}"/>
              </a:ext>
            </a:extLst>
          </p:cNvPr>
          <p:cNvSpPr txBox="1"/>
          <p:nvPr/>
        </p:nvSpPr>
        <p:spPr>
          <a:xfrm>
            <a:off x="565355" y="123963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2060"/>
                </a:solidFill>
              </a:rPr>
              <a:t>5- </a:t>
            </a:r>
            <a:r>
              <a:rPr lang="fr-FR" b="1" dirty="0">
                <a:solidFill>
                  <a:srgbClr val="002060"/>
                </a:solidFill>
              </a:rPr>
              <a:t>En bas a gauche</a:t>
            </a:r>
            <a:r>
              <a:rPr lang="fr-FR" dirty="0">
                <a:solidFill>
                  <a:srgbClr val="002060"/>
                </a:solidFill>
              </a:rPr>
              <a:t>, un encart apparait pour afficher l’état </a:t>
            </a:r>
            <a:r>
              <a:rPr lang="fr-FR" b="1" dirty="0">
                <a:solidFill>
                  <a:srgbClr val="002060"/>
                </a:solidFill>
              </a:rPr>
              <a:t>d’avancement</a:t>
            </a:r>
            <a:r>
              <a:rPr lang="fr-FR" dirty="0">
                <a:solidFill>
                  <a:srgbClr val="002060"/>
                </a:solidFill>
              </a:rPr>
              <a:t> de </a:t>
            </a:r>
            <a:r>
              <a:rPr lang="fr-FR" b="1" dirty="0">
                <a:solidFill>
                  <a:srgbClr val="002060"/>
                </a:solidFill>
              </a:rPr>
              <a:t>l’import</a:t>
            </a:r>
            <a:r>
              <a:rPr lang="fr-FR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C1B102-05C3-5811-E42B-E9534DEE9050}"/>
              </a:ext>
            </a:extLst>
          </p:cNvPr>
          <p:cNvSpPr txBox="1"/>
          <p:nvPr/>
        </p:nvSpPr>
        <p:spPr>
          <a:xfrm>
            <a:off x="565355" y="3011314"/>
            <a:ext cx="408038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2060"/>
                </a:solidFill>
              </a:rPr>
              <a:t>6- Sur la </a:t>
            </a:r>
            <a:r>
              <a:rPr lang="fr-FR" b="1" dirty="0">
                <a:solidFill>
                  <a:srgbClr val="002060"/>
                </a:solidFill>
              </a:rPr>
              <a:t>page de la collection </a:t>
            </a:r>
            <a:r>
              <a:rPr lang="fr-FR" dirty="0">
                <a:solidFill>
                  <a:srgbClr val="002060"/>
                </a:solidFill>
              </a:rPr>
              <a:t>on peut </a:t>
            </a:r>
            <a:r>
              <a:rPr lang="fr-FR" b="1" dirty="0">
                <a:solidFill>
                  <a:srgbClr val="002060"/>
                </a:solidFill>
              </a:rPr>
              <a:t>vérifier</a:t>
            </a:r>
            <a:r>
              <a:rPr lang="fr-FR" dirty="0">
                <a:solidFill>
                  <a:srgbClr val="002060"/>
                </a:solidFill>
              </a:rPr>
              <a:t> </a:t>
            </a:r>
            <a:r>
              <a:rPr lang="fr-FR" i="1" dirty="0">
                <a:solidFill>
                  <a:srgbClr val="002060"/>
                </a:solidFill>
              </a:rPr>
              <a:t>(entre autres)</a:t>
            </a:r>
            <a:r>
              <a:rPr lang="fr-FR" dirty="0">
                <a:solidFill>
                  <a:srgbClr val="002060"/>
                </a:solidFill>
              </a:rPr>
              <a:t> le </a:t>
            </a:r>
            <a:r>
              <a:rPr lang="fr-FR" b="1" dirty="0">
                <a:solidFill>
                  <a:srgbClr val="002060"/>
                </a:solidFill>
              </a:rPr>
              <a:t>nombre de documents </a:t>
            </a:r>
            <a:r>
              <a:rPr lang="fr-FR" dirty="0">
                <a:solidFill>
                  <a:srgbClr val="002060"/>
                </a:solidFill>
              </a:rPr>
              <a:t>importer et voir la </a:t>
            </a:r>
            <a:r>
              <a:rPr lang="fr-FR" b="1" dirty="0">
                <a:solidFill>
                  <a:srgbClr val="002060"/>
                </a:solidFill>
              </a:rPr>
              <a:t>structure</a:t>
            </a:r>
            <a:r>
              <a:rPr lang="fr-FR" dirty="0">
                <a:solidFill>
                  <a:srgbClr val="002060"/>
                </a:solidFill>
              </a:rPr>
              <a:t> du </a:t>
            </a:r>
            <a:r>
              <a:rPr lang="fr-FR" b="1" dirty="0">
                <a:solidFill>
                  <a:srgbClr val="002060"/>
                </a:solidFill>
              </a:rPr>
              <a:t>premier document</a:t>
            </a:r>
            <a:r>
              <a:rPr lang="fr-FR" dirty="0">
                <a:solidFill>
                  <a:srgbClr val="00206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6071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66849C07-D346-CE28-30B3-24D82F74AF44}"/>
              </a:ext>
            </a:extLst>
          </p:cNvPr>
          <p:cNvSpPr/>
          <p:nvPr/>
        </p:nvSpPr>
        <p:spPr>
          <a:xfrm>
            <a:off x="186813" y="560640"/>
            <a:ext cx="8853948" cy="446856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Partie 1 : </a:t>
            </a:r>
            <a:r>
              <a:rPr lang="fr-F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description d’un document avec le type des données</a:t>
            </a:r>
            <a:endParaRPr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DA7AF72-B710-96F5-5A25-5F6FA0E71A78}"/>
              </a:ext>
            </a:extLst>
          </p:cNvPr>
          <p:cNvSpPr txBox="1"/>
          <p:nvPr/>
        </p:nvSpPr>
        <p:spPr>
          <a:xfrm>
            <a:off x="580465" y="699139"/>
            <a:ext cx="2561303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1050" b="1" i="0" u="sng" dirty="0">
                <a:solidFill>
                  <a:srgbClr val="002060"/>
                </a:solidFill>
                <a:effectLst/>
                <a:latin typeface="+mj-lt"/>
              </a:rPr>
              <a:t>Comman</a:t>
            </a:r>
            <a:r>
              <a:rPr lang="fr-FR" sz="1050" b="1" u="sng" dirty="0">
                <a:solidFill>
                  <a:srgbClr val="002060"/>
                </a:solidFill>
                <a:latin typeface="+mj-lt"/>
              </a:rPr>
              <a:t>des et résultat : </a:t>
            </a:r>
          </a:p>
          <a:p>
            <a:pPr algn="l">
              <a:buNone/>
            </a:pPr>
            <a:endParaRPr lang="fr-FR" sz="500" b="1" i="0" u="sng" dirty="0">
              <a:solidFill>
                <a:srgbClr val="002060"/>
              </a:solidFill>
              <a:effectLst/>
              <a:latin typeface="+mj-lt"/>
            </a:endParaRPr>
          </a:p>
          <a:p>
            <a:pPr algn="l">
              <a:buNone/>
            </a:pPr>
            <a:r>
              <a:rPr lang="fr-FR" sz="800" b="0" i="0" dirty="0" err="1">
                <a:solidFill>
                  <a:srgbClr val="002060"/>
                </a:solidFill>
                <a:effectLst/>
                <a:latin typeface="+mj-lt"/>
              </a:rPr>
              <a:t>db.paris.aggregate</a:t>
            </a: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([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{ $</a:t>
            </a:r>
            <a:r>
              <a:rPr lang="fr-FR" sz="800" b="0" i="0" dirty="0" err="1">
                <a:solidFill>
                  <a:srgbClr val="002060"/>
                </a:solidFill>
                <a:effectLst/>
                <a:latin typeface="+mj-lt"/>
              </a:rPr>
              <a:t>sample</a:t>
            </a: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: { size: 1 } },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{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  $</a:t>
            </a:r>
            <a:r>
              <a:rPr lang="fr-FR" sz="800" b="0" i="0" dirty="0" err="1">
                <a:solidFill>
                  <a:srgbClr val="002060"/>
                </a:solidFill>
                <a:effectLst/>
                <a:latin typeface="+mj-lt"/>
              </a:rPr>
              <a:t>project</a:t>
            </a: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: {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    types: {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      $</a:t>
            </a:r>
            <a:r>
              <a:rPr lang="fr-FR" sz="800" b="0" i="0" dirty="0" err="1">
                <a:solidFill>
                  <a:srgbClr val="002060"/>
                </a:solidFill>
                <a:effectLst/>
                <a:latin typeface="+mj-lt"/>
              </a:rPr>
              <a:t>map</a:t>
            </a: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: {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        input: { $</a:t>
            </a:r>
            <a:r>
              <a:rPr lang="fr-FR" sz="800" b="0" i="0" dirty="0" err="1">
                <a:solidFill>
                  <a:srgbClr val="002060"/>
                </a:solidFill>
                <a:effectLst/>
                <a:latin typeface="+mj-lt"/>
              </a:rPr>
              <a:t>objectToArray</a:t>
            </a: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: "$$ROOT" },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        as: "</a:t>
            </a:r>
            <a:r>
              <a:rPr lang="fr-FR" sz="800" b="0" i="0" dirty="0" err="1">
                <a:solidFill>
                  <a:srgbClr val="002060"/>
                </a:solidFill>
                <a:effectLst/>
                <a:latin typeface="+mj-lt"/>
              </a:rPr>
              <a:t>field</a:t>
            </a: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",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        in: {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          </a:t>
            </a:r>
            <a:r>
              <a:rPr lang="fr-FR" sz="800" b="0" i="0" dirty="0" err="1">
                <a:solidFill>
                  <a:srgbClr val="002060"/>
                </a:solidFill>
                <a:effectLst/>
                <a:latin typeface="+mj-lt"/>
              </a:rPr>
              <a:t>fieldName</a:t>
            </a: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: "$$</a:t>
            </a:r>
            <a:r>
              <a:rPr lang="fr-FR" sz="800" b="0" i="0" dirty="0" err="1">
                <a:solidFill>
                  <a:srgbClr val="002060"/>
                </a:solidFill>
                <a:effectLst/>
                <a:latin typeface="+mj-lt"/>
              </a:rPr>
              <a:t>field.k</a:t>
            </a: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",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          </a:t>
            </a:r>
            <a:r>
              <a:rPr lang="fr-FR" sz="800" b="0" i="0" dirty="0" err="1">
                <a:solidFill>
                  <a:srgbClr val="002060"/>
                </a:solidFill>
                <a:effectLst/>
                <a:latin typeface="+mj-lt"/>
              </a:rPr>
              <a:t>fieldType</a:t>
            </a: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: { $type: "$$</a:t>
            </a:r>
            <a:r>
              <a:rPr lang="fr-FR" sz="800" b="0" i="0" dirty="0" err="1">
                <a:solidFill>
                  <a:srgbClr val="002060"/>
                </a:solidFill>
                <a:effectLst/>
                <a:latin typeface="+mj-lt"/>
              </a:rPr>
              <a:t>field.v</a:t>
            </a: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" }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        }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      }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    }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  }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  }</a:t>
            </a:r>
          </a:p>
          <a:p>
            <a:pPr algn="l">
              <a:buNone/>
            </a:pPr>
            <a:r>
              <a:rPr lang="fr-FR" sz="800" b="0" i="0" dirty="0">
                <a:solidFill>
                  <a:srgbClr val="002060"/>
                </a:solidFill>
                <a:effectLst/>
                <a:latin typeface="+mj-lt"/>
              </a:rPr>
              <a:t>])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5DD209C-2ABF-247A-D9BB-226EAF1808B8}"/>
              </a:ext>
            </a:extLst>
          </p:cNvPr>
          <p:cNvSpPr txBox="1"/>
          <p:nvPr/>
        </p:nvSpPr>
        <p:spPr>
          <a:xfrm>
            <a:off x="4047339" y="692185"/>
            <a:ext cx="1707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u="sng" dirty="0">
                <a:solidFill>
                  <a:srgbClr val="002060"/>
                </a:solidFill>
                <a:latin typeface="+mj-lt"/>
              </a:rPr>
              <a:t>Interface graphique :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0121F1AC-BA74-CF0B-732F-5A893B4A4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380" y="2531116"/>
            <a:ext cx="1111471" cy="2272617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825ABE7C-E6ED-B3A7-5143-2DFAEC7FB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6435" y="1088669"/>
            <a:ext cx="3869658" cy="37411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70DB1E11-26AA-52C4-4AC6-016ED9322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22F54BAA-1FA4-6806-65E8-96DBBF5323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1"/>
            <a:ext cx="9144000" cy="4817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Partie 1 : </a:t>
            </a:r>
            <a:r>
              <a:rPr lang="fr-F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Avantages du NoSQL dans ce contexte de données</a:t>
            </a:r>
            <a:br>
              <a:rPr lang="fr-F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00F79A79-756A-C988-A8C4-966D9474134A}"/>
              </a:ext>
            </a:extLst>
          </p:cNvPr>
          <p:cNvSpPr/>
          <p:nvPr/>
        </p:nvSpPr>
        <p:spPr>
          <a:xfrm>
            <a:off x="145026" y="550808"/>
            <a:ext cx="8853948" cy="446856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78C95969-E0A0-7350-7309-3677A90C7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847863"/>
              </p:ext>
            </p:extLst>
          </p:nvPr>
        </p:nvGraphicFramePr>
        <p:xfrm>
          <a:off x="1086086" y="931299"/>
          <a:ext cx="6971828" cy="3416299"/>
        </p:xfrm>
        <a:graphic>
          <a:graphicData uri="http://schemas.openxmlformats.org/drawingml/2006/table">
            <a:tbl>
              <a:tblPr/>
              <a:tblGrid>
                <a:gridCol w="2493582">
                  <a:extLst>
                    <a:ext uri="{9D8B030D-6E8A-4147-A177-3AD203B41FA5}">
                      <a16:colId xmlns:a16="http://schemas.microsoft.com/office/drawing/2014/main" val="978449155"/>
                    </a:ext>
                  </a:extLst>
                </a:gridCol>
                <a:gridCol w="4478246">
                  <a:extLst>
                    <a:ext uri="{9D8B030D-6E8A-4147-A177-3AD203B41FA5}">
                      <a16:colId xmlns:a16="http://schemas.microsoft.com/office/drawing/2014/main" val="1115360911"/>
                    </a:ext>
                  </a:extLst>
                </a:gridCol>
              </a:tblGrid>
              <a:tr h="29923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fr-FR" sz="1100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Avantages</a:t>
                      </a:r>
                      <a:endParaRPr lang="fr-FR" sz="110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3512" marR="93512" marT="62341" marB="6234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fr-FR" sz="1100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Description</a:t>
                      </a:r>
                      <a:endParaRPr lang="fr-FR" sz="110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3512" marR="93512" marT="62341" marB="6234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707870"/>
                  </a:ext>
                </a:extLst>
              </a:tr>
              <a:tr h="8229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Flexibilité de Schéma</a:t>
                      </a:r>
                      <a:endParaRPr lang="fr-FR" sz="1100" dirty="0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L="93512" marR="93512" marT="62341" marB="6234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Le schéma peut varier d'un document à l'autre. Si certaines annonces manquent des champs (comme </a:t>
                      </a:r>
                      <a:r>
                        <a:rPr lang="fr-FR" sz="1100" dirty="0" err="1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host_about</a:t>
                      </a:r>
                      <a:r>
                        <a:rPr lang="fr-FR" sz="1100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 ou </a:t>
                      </a:r>
                      <a:r>
                        <a:rPr lang="fr-FR" sz="1100" dirty="0" err="1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license</a:t>
                      </a:r>
                      <a:r>
                        <a:rPr lang="fr-FR" sz="1100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), MongoDB gère cela </a:t>
                      </a:r>
                      <a:r>
                        <a:rPr lang="fr-FR" sz="1100" b="1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sans erreur</a:t>
                      </a:r>
                      <a:r>
                        <a:rPr lang="fr-FR" sz="1100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, contrairement aux bases SQL rigides.</a:t>
                      </a:r>
                    </a:p>
                  </a:txBody>
                  <a:tcPr marL="93512" marR="93512" marT="62341" marB="6234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150343"/>
                  </a:ext>
                </a:extLst>
              </a:tr>
              <a:tr h="8229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Modélisation Naturelle</a:t>
                      </a:r>
                      <a:endParaRPr lang="fr-FR" sz="1100" dirty="0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L="93512" marR="93512" marT="62341" marB="6234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Possibilité d'</a:t>
                      </a:r>
                      <a:r>
                        <a:rPr lang="fr-FR" sz="1100" b="1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imbriquer</a:t>
                      </a:r>
                      <a:r>
                        <a:rPr lang="fr-FR" sz="1100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 des données liées (ex: regrouper tous les détails de l'hôte dans un sous-document host), ce qui correspond mieux à l'objet réel et évite les jointures coûteuses.</a:t>
                      </a:r>
                    </a:p>
                  </a:txBody>
                  <a:tcPr marL="93512" marR="93512" marT="62341" marB="6234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266729"/>
                  </a:ext>
                </a:extLst>
              </a:tr>
              <a:tr h="8229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Performance en Écriture</a:t>
                      </a:r>
                      <a:endParaRPr lang="fr-FR" sz="1100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L="93512" marR="93512" marT="62341" marB="6234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MongoDB est très performant pour ingérer de </a:t>
                      </a:r>
                      <a:r>
                        <a:rPr lang="fr-FR" sz="1100" b="1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grands volumes de données</a:t>
                      </a:r>
                      <a:r>
                        <a:rPr lang="fr-FR" sz="1100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 rapidement, ce qui est crucial si la base est mise à jour fréquemment avec de nouveaux </a:t>
                      </a:r>
                      <a:r>
                        <a:rPr lang="fr-FR" sz="1100" i="1" dirty="0" err="1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scrapes</a:t>
                      </a:r>
                      <a:r>
                        <a:rPr lang="fr-FR" sz="1100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.</a:t>
                      </a:r>
                    </a:p>
                  </a:txBody>
                  <a:tcPr marL="93512" marR="93512" marT="62341" marB="6234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32631"/>
                  </a:ext>
                </a:extLst>
              </a:tr>
              <a:tr h="64834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b="1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Scalabilité Horizontale</a:t>
                      </a:r>
                      <a:endParaRPr lang="fr-FR" sz="1100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L="93512" marR="93512" marT="62341" marB="6234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100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Facile à mettre à l'échelle (</a:t>
                      </a:r>
                      <a:r>
                        <a:rPr lang="fr-FR" sz="1100" dirty="0" err="1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sharding</a:t>
                      </a:r>
                      <a:r>
                        <a:rPr lang="fr-FR" sz="1100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) pour gérer un volume croissant d'annonces (toutes les villes du monde), assurant une </a:t>
                      </a:r>
                      <a:r>
                        <a:rPr lang="fr-FR" sz="1100" b="1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haute disponibilité</a:t>
                      </a:r>
                      <a:r>
                        <a:rPr lang="fr-FR" sz="1100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.</a:t>
                      </a:r>
                    </a:p>
                  </a:txBody>
                  <a:tcPr marL="93512" marR="93512" marT="62341" marB="6234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015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9797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8EDBEDAD-9D6D-D5C8-3B2A-0BEF7A160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78AE6F-B756-6284-3A75-D0B7093D3146}"/>
              </a:ext>
            </a:extLst>
          </p:cNvPr>
          <p:cNvSpPr/>
          <p:nvPr/>
        </p:nvSpPr>
        <p:spPr>
          <a:xfrm>
            <a:off x="145026" y="548883"/>
            <a:ext cx="8853948" cy="446856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588C46CD-601F-B6DF-2C24-BA2CA29264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" y="0"/>
            <a:ext cx="9143999" cy="5191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Partie 1 : </a:t>
            </a:r>
            <a:r>
              <a:rPr lang="fr-F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premières requêtes et leurs résultats</a:t>
            </a:r>
            <a:endParaRPr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847CD1E-FA18-3C5B-749B-A33149E1BCC0}"/>
              </a:ext>
            </a:extLst>
          </p:cNvPr>
          <p:cNvSpPr txBox="1"/>
          <p:nvPr/>
        </p:nvSpPr>
        <p:spPr>
          <a:xfrm>
            <a:off x="438918" y="610619"/>
            <a:ext cx="3853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rgbClr val="002060"/>
                </a:solidFill>
              </a:rPr>
              <a:t>Nombre de documents de la base de données</a:t>
            </a:r>
            <a:endParaRPr lang="fr-FR" u="sng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1038194-4205-48FB-DA3B-BB6C264757AC}"/>
              </a:ext>
            </a:extLst>
          </p:cNvPr>
          <p:cNvSpPr txBox="1"/>
          <p:nvPr/>
        </p:nvSpPr>
        <p:spPr>
          <a:xfrm>
            <a:off x="4851146" y="610618"/>
            <a:ext cx="3786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rgbClr val="002060"/>
                </a:solidFill>
              </a:rPr>
              <a:t>Nombre de logements avec des disponibilités</a:t>
            </a:r>
            <a:endParaRPr lang="fr-FR" u="sng" dirty="0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983B1BB-6413-21A3-2676-86968B429797}"/>
              </a:ext>
            </a:extLst>
          </p:cNvPr>
          <p:cNvCxnSpPr/>
          <p:nvPr/>
        </p:nvCxnSpPr>
        <p:spPr>
          <a:xfrm>
            <a:off x="4586749" y="775660"/>
            <a:ext cx="0" cy="4015006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92AB275C-9C49-D14E-C323-DC55B450F945}"/>
              </a:ext>
            </a:extLst>
          </p:cNvPr>
          <p:cNvSpPr txBox="1"/>
          <p:nvPr/>
        </p:nvSpPr>
        <p:spPr>
          <a:xfrm>
            <a:off x="438918" y="918395"/>
            <a:ext cx="37486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Commande : </a:t>
            </a:r>
          </a:p>
          <a:p>
            <a:pPr algn="ctr"/>
            <a:r>
              <a:rPr lang="fr-FR" sz="1000" dirty="0" err="1"/>
              <a:t>db.paris.countDocuments</a:t>
            </a:r>
            <a:r>
              <a:rPr lang="fr-FR" sz="1000" dirty="0"/>
              <a:t>()</a:t>
            </a:r>
          </a:p>
          <a:p>
            <a:pPr algn="ctr"/>
            <a:endParaRPr lang="fr-FR" sz="200" dirty="0"/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Résultat : </a:t>
            </a:r>
          </a:p>
          <a:p>
            <a:pPr algn="ctr"/>
            <a:r>
              <a:rPr lang="fr-FR" sz="1000" dirty="0"/>
              <a:t>95885</a:t>
            </a:r>
          </a:p>
          <a:p>
            <a:pPr algn="ctr"/>
            <a:endParaRPr lang="fr-FR" sz="200" dirty="0"/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Interface graphique :</a:t>
            </a:r>
          </a:p>
          <a:p>
            <a:pPr algn="ctr"/>
            <a:endParaRPr lang="fr-FR" sz="1000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EA55BEDB-9B04-82B5-E1D0-FD1BEF004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0" y="2097920"/>
            <a:ext cx="3783895" cy="2377202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468BA94F-CA8C-000F-FBFF-8A8D0CFFAB4D}"/>
              </a:ext>
            </a:extLst>
          </p:cNvPr>
          <p:cNvSpPr txBox="1"/>
          <p:nvPr/>
        </p:nvSpPr>
        <p:spPr>
          <a:xfrm>
            <a:off x="4816124" y="918394"/>
            <a:ext cx="3748617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Commande : </a:t>
            </a:r>
          </a:p>
          <a:p>
            <a:pPr algn="ctr"/>
            <a:r>
              <a:rPr lang="en-US" sz="1000" dirty="0" err="1">
                <a:solidFill>
                  <a:schemeClr val="tx1"/>
                </a:solidFill>
              </a:rPr>
              <a:t>db.paris.countDocuments</a:t>
            </a:r>
            <a:r>
              <a:rPr lang="en-US" sz="1000" dirty="0">
                <a:solidFill>
                  <a:schemeClr val="tx1"/>
                </a:solidFill>
              </a:rPr>
              <a:t>({ </a:t>
            </a:r>
            <a:r>
              <a:rPr lang="en-US" sz="1000" dirty="0" err="1">
                <a:solidFill>
                  <a:schemeClr val="tx1"/>
                </a:solidFill>
              </a:rPr>
              <a:t>has_availability</a:t>
            </a:r>
            <a:r>
              <a:rPr lang="en-US" sz="1000" dirty="0">
                <a:solidFill>
                  <a:schemeClr val="tx1"/>
                </a:solidFill>
              </a:rPr>
              <a:t>: true })</a:t>
            </a:r>
            <a:endParaRPr lang="fr-FR" sz="1000" dirty="0">
              <a:solidFill>
                <a:schemeClr val="tx1"/>
              </a:solidFill>
            </a:endParaRPr>
          </a:p>
          <a:p>
            <a:pPr algn="ctr"/>
            <a:endParaRPr lang="fr-FR" sz="200" dirty="0">
              <a:solidFill>
                <a:srgbClr val="002060"/>
              </a:solidFill>
            </a:endParaRP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Résultat : 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90173</a:t>
            </a:r>
          </a:p>
          <a:p>
            <a:pPr algn="ctr"/>
            <a:endParaRPr lang="fr-FR" sz="500" dirty="0">
              <a:solidFill>
                <a:srgbClr val="002060"/>
              </a:solidFill>
            </a:endParaRP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Capture :</a:t>
            </a:r>
            <a:endParaRPr lang="fr-FR" sz="200" dirty="0">
              <a:solidFill>
                <a:srgbClr val="002060"/>
              </a:solidFill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AD76F23E-9810-FA64-AE26-D79FB77B2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416" y="1965530"/>
            <a:ext cx="3434891" cy="34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74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A24C3494-4FF6-0582-ADD5-5901B26CF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A4484CAC-AC2E-F7DD-0760-3F52906D3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/>
            <a:r>
              <a:rPr lang="fr" sz="25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Partie 2.1 :</a:t>
            </a:r>
            <a:r>
              <a:rPr lang="fr" sz="25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Inter"/>
              </a:rPr>
              <a:t> </a:t>
            </a:r>
            <a:r>
              <a:rPr lang="fr" sz="2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Inter"/>
              </a:rPr>
              <a:t>les requêtes et leurs résultats </a:t>
            </a:r>
            <a:endParaRPr sz="25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04865F18-C3AC-3872-5F6C-4B245E7814EC}"/>
              </a:ext>
            </a:extLst>
          </p:cNvPr>
          <p:cNvSpPr/>
          <p:nvPr/>
        </p:nvSpPr>
        <p:spPr>
          <a:xfrm>
            <a:off x="145026" y="548883"/>
            <a:ext cx="8853948" cy="446856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76CECC1-A518-96EA-9378-DE3CF21851D3}"/>
              </a:ext>
            </a:extLst>
          </p:cNvPr>
          <p:cNvSpPr txBox="1"/>
          <p:nvPr/>
        </p:nvSpPr>
        <p:spPr>
          <a:xfrm>
            <a:off x="337704" y="790068"/>
            <a:ext cx="3964132" cy="4308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u="sng" dirty="0">
                <a:solidFill>
                  <a:srgbClr val="002060"/>
                </a:solidFill>
              </a:rPr>
              <a:t>Combien d’annonces y a-t-il par type de location ?</a:t>
            </a:r>
          </a:p>
          <a:p>
            <a:endParaRPr lang="fr-FR" dirty="0">
              <a:solidFill>
                <a:srgbClr val="00206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CEECE7A-BB74-D546-60F3-3B624AFB0740}"/>
              </a:ext>
            </a:extLst>
          </p:cNvPr>
          <p:cNvSpPr txBox="1"/>
          <p:nvPr/>
        </p:nvSpPr>
        <p:spPr>
          <a:xfrm>
            <a:off x="337704" y="1058450"/>
            <a:ext cx="374861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Commande : </a:t>
            </a:r>
            <a:r>
              <a:rPr lang="en-US" sz="1000" dirty="0"/>
              <a:t>	</a:t>
            </a:r>
          </a:p>
          <a:p>
            <a:r>
              <a:rPr lang="en-US" sz="1000" dirty="0"/>
              <a:t>	</a:t>
            </a:r>
            <a:r>
              <a:rPr lang="en-US" sz="1000" dirty="0" err="1"/>
              <a:t>db.paris.aggregate</a:t>
            </a:r>
            <a:r>
              <a:rPr lang="en-US" sz="1000" dirty="0"/>
              <a:t>([</a:t>
            </a:r>
          </a:p>
          <a:p>
            <a:pPr lvl="1">
              <a:tabLst>
                <a:tab pos="1074738" algn="l"/>
              </a:tabLst>
            </a:pPr>
            <a:r>
              <a:rPr lang="en-US" sz="1000" dirty="0"/>
              <a:t>  	{ $</a:t>
            </a:r>
            <a:r>
              <a:rPr lang="en-US" sz="1000" dirty="0" err="1"/>
              <a:t>sortByCount</a:t>
            </a:r>
            <a:r>
              <a:rPr lang="en-US" sz="1000" dirty="0"/>
              <a:t>: "$</a:t>
            </a:r>
            <a:r>
              <a:rPr lang="en-US" sz="1000" dirty="0" err="1"/>
              <a:t>room_type</a:t>
            </a:r>
            <a:r>
              <a:rPr lang="en-US" sz="1000" dirty="0"/>
              <a:t>" }</a:t>
            </a:r>
          </a:p>
          <a:p>
            <a:pPr lvl="1"/>
            <a:r>
              <a:rPr lang="en-US" sz="1000" dirty="0"/>
              <a:t>	])</a:t>
            </a:r>
          </a:p>
          <a:p>
            <a:pPr lvl="1"/>
            <a:endParaRPr lang="fr-FR" sz="500" dirty="0"/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Résultat :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1F9F5E3-96B3-9BFA-6B96-1E1AD92A46A2}"/>
              </a:ext>
            </a:extLst>
          </p:cNvPr>
          <p:cNvSpPr txBox="1"/>
          <p:nvPr/>
        </p:nvSpPr>
        <p:spPr>
          <a:xfrm>
            <a:off x="4670266" y="790068"/>
            <a:ext cx="3964132" cy="64633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u="sng" dirty="0">
                <a:solidFill>
                  <a:srgbClr val="002060"/>
                </a:solidFill>
              </a:rPr>
              <a:t>Quelles sont les 5 annonces de location avec le plus d’évaluations ? Et combien d’évaluations ont-elles ?</a:t>
            </a:r>
            <a:endParaRPr lang="fr-FR" dirty="0">
              <a:solidFill>
                <a:srgbClr val="002060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DE705F9-9161-9339-E230-B2F8CA85F13A}"/>
              </a:ext>
            </a:extLst>
          </p:cNvPr>
          <p:cNvSpPr txBox="1"/>
          <p:nvPr/>
        </p:nvSpPr>
        <p:spPr>
          <a:xfrm>
            <a:off x="4578034" y="1489337"/>
            <a:ext cx="3748617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Commande : </a:t>
            </a:r>
            <a:endParaRPr lang="fr-FR" sz="500" dirty="0">
              <a:solidFill>
                <a:srgbClr val="002060"/>
              </a:solidFill>
            </a:endParaRPr>
          </a:p>
          <a:p>
            <a:pPr marL="88900" lvl="2" indent="809625"/>
            <a:r>
              <a:rPr lang="en-US" sz="1000" dirty="0" err="1"/>
              <a:t>db.paris.find</a:t>
            </a:r>
            <a:r>
              <a:rPr lang="en-US" sz="1000" dirty="0"/>
              <a:t>({},{</a:t>
            </a:r>
          </a:p>
          <a:p>
            <a:pPr marL="88900" lvl="5" indent="809625">
              <a:tabLst>
                <a:tab pos="182563" algn="l"/>
              </a:tabLst>
            </a:pPr>
            <a:r>
              <a:rPr lang="en-US" sz="1000" dirty="0"/>
              <a:t>	_id: 0,</a:t>
            </a:r>
          </a:p>
          <a:p>
            <a:pPr marL="88900" lvl="6" indent="809625">
              <a:tabLst>
                <a:tab pos="182563" algn="l"/>
              </a:tabLst>
            </a:pPr>
            <a:r>
              <a:rPr lang="en-US" sz="1000" dirty="0"/>
              <a:t>	name: 1,</a:t>
            </a:r>
          </a:p>
          <a:p>
            <a:pPr marL="88900" lvl="6" indent="809625">
              <a:tabLst>
                <a:tab pos="182563" algn="l"/>
              </a:tabLst>
            </a:pPr>
            <a:r>
              <a:rPr lang="en-US" sz="1000" dirty="0"/>
              <a:t>	</a:t>
            </a:r>
            <a:r>
              <a:rPr lang="en-US" sz="1000" dirty="0" err="1"/>
              <a:t>number_of_reviews</a:t>
            </a:r>
            <a:r>
              <a:rPr lang="en-US" sz="1000" dirty="0"/>
              <a:t>: 1})</a:t>
            </a:r>
          </a:p>
          <a:p>
            <a:pPr marL="88900" lvl="3" indent="809625">
              <a:tabLst>
                <a:tab pos="987425" algn="l"/>
              </a:tabLst>
            </a:pPr>
            <a:r>
              <a:rPr lang="en-US" sz="1000" dirty="0"/>
              <a:t>.sort({ </a:t>
            </a:r>
            <a:r>
              <a:rPr lang="en-US" sz="1000" dirty="0" err="1"/>
              <a:t>number_of_reviews</a:t>
            </a:r>
            <a:r>
              <a:rPr lang="en-US" sz="1000" dirty="0"/>
              <a:t>: -1 })</a:t>
            </a:r>
          </a:p>
          <a:p>
            <a:pPr marL="88900" lvl="3" indent="809625">
              <a:tabLst>
                <a:tab pos="987425" algn="l"/>
              </a:tabLst>
            </a:pPr>
            <a:r>
              <a:rPr lang="en-US" sz="1000" dirty="0"/>
              <a:t>.limit(5)</a:t>
            </a:r>
          </a:p>
          <a:p>
            <a:pPr marL="88900" lvl="3" indent="809625">
              <a:tabLst>
                <a:tab pos="987425" algn="l"/>
              </a:tabLst>
            </a:pPr>
            <a:endParaRPr lang="en-US" sz="500" dirty="0"/>
          </a:p>
          <a:p>
            <a:pPr lvl="2"/>
            <a:r>
              <a:rPr lang="fr-FR" sz="1000" dirty="0">
                <a:solidFill>
                  <a:srgbClr val="002060"/>
                </a:solidFill>
              </a:rPr>
              <a:t>Résultat : 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49A7970-B241-6E35-952E-6C9119BAC9E0}"/>
              </a:ext>
            </a:extLst>
          </p:cNvPr>
          <p:cNvCxnSpPr/>
          <p:nvPr/>
        </p:nvCxnSpPr>
        <p:spPr>
          <a:xfrm>
            <a:off x="4565967" y="687338"/>
            <a:ext cx="0" cy="4015006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 12">
            <a:extLst>
              <a:ext uri="{FF2B5EF4-FFF2-40B4-BE49-F238E27FC236}">
                <a16:creationId xmlns:a16="http://schemas.microsoft.com/office/drawing/2014/main" id="{11F98828-9856-8F13-04FC-E8A95B9D5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054" y="2037938"/>
            <a:ext cx="1716656" cy="2702695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D88A9D9A-CA4E-0106-44CB-BB454268A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3275" y="2705231"/>
            <a:ext cx="2484985" cy="223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077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C9150C04-5DE7-B4F3-6440-3619F9449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BDA60C68-530F-FE28-B084-DAEE8C94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/>
            <a:r>
              <a:rPr lang="fr" sz="25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Partie 2.2 :</a:t>
            </a:r>
            <a:r>
              <a:rPr lang="fr" sz="25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Inter"/>
              </a:rPr>
              <a:t> </a:t>
            </a:r>
            <a:r>
              <a:rPr lang="fr" sz="2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Inter"/>
              </a:rPr>
              <a:t>les requêtes et leurs résultats </a:t>
            </a:r>
            <a:endParaRPr sz="25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CF0EB7E5-2E11-AA18-BE29-F8A937553440}"/>
              </a:ext>
            </a:extLst>
          </p:cNvPr>
          <p:cNvSpPr/>
          <p:nvPr/>
        </p:nvSpPr>
        <p:spPr>
          <a:xfrm>
            <a:off x="138993" y="533296"/>
            <a:ext cx="8853948" cy="446856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38E6853-3D92-D915-4674-FCDDF3773F0B}"/>
              </a:ext>
            </a:extLst>
          </p:cNvPr>
          <p:cNvSpPr txBox="1"/>
          <p:nvPr/>
        </p:nvSpPr>
        <p:spPr>
          <a:xfrm>
            <a:off x="337704" y="790068"/>
            <a:ext cx="3553691" cy="21544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u="sng" dirty="0">
                <a:solidFill>
                  <a:srgbClr val="002060"/>
                </a:solidFill>
              </a:rPr>
              <a:t>Quel est le nombre total d’hôtes différents ?</a:t>
            </a:r>
            <a:endParaRPr lang="fr-FR" dirty="0">
              <a:solidFill>
                <a:srgbClr val="00206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9386240-C3D8-35F6-D7E5-E039666219EF}"/>
              </a:ext>
            </a:extLst>
          </p:cNvPr>
          <p:cNvSpPr txBox="1"/>
          <p:nvPr/>
        </p:nvSpPr>
        <p:spPr>
          <a:xfrm>
            <a:off x="337704" y="1058450"/>
            <a:ext cx="3748617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Commande : </a:t>
            </a:r>
            <a:r>
              <a:rPr lang="en-US" sz="1000" dirty="0"/>
              <a:t>	</a:t>
            </a:r>
          </a:p>
          <a:p>
            <a:r>
              <a:rPr lang="en-US" sz="1000" dirty="0"/>
              <a:t>	</a:t>
            </a:r>
            <a:r>
              <a:rPr lang="en-US" sz="1000" dirty="0" err="1"/>
              <a:t>db.paris.distinct</a:t>
            </a:r>
            <a:r>
              <a:rPr lang="en-US" sz="1000" dirty="0"/>
              <a:t>("</a:t>
            </a:r>
            <a:r>
              <a:rPr lang="en-US" sz="1000" dirty="0" err="1"/>
              <a:t>host_id</a:t>
            </a:r>
            <a:r>
              <a:rPr lang="en-US" sz="1000" dirty="0"/>
              <a:t>").length</a:t>
            </a:r>
          </a:p>
          <a:p>
            <a:endParaRPr lang="en-US" sz="500" dirty="0"/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Résultat : </a:t>
            </a:r>
          </a:p>
          <a:p>
            <a:endParaRPr lang="fr-FR" sz="500" dirty="0">
              <a:solidFill>
                <a:srgbClr val="002060"/>
              </a:solidFill>
            </a:endParaRP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71979</a:t>
            </a:r>
          </a:p>
          <a:p>
            <a:endParaRPr lang="fr-FR" sz="500" dirty="0">
              <a:solidFill>
                <a:srgbClr val="002060"/>
              </a:solidFill>
            </a:endParaRP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Capture :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6EEBC94D-2747-607D-7866-50DA4DD51206}"/>
              </a:ext>
            </a:extLst>
          </p:cNvPr>
          <p:cNvCxnSpPr/>
          <p:nvPr/>
        </p:nvCxnSpPr>
        <p:spPr>
          <a:xfrm>
            <a:off x="4565967" y="687338"/>
            <a:ext cx="0" cy="4015006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>
            <a:extLst>
              <a:ext uri="{FF2B5EF4-FFF2-40B4-BE49-F238E27FC236}">
                <a16:creationId xmlns:a16="http://schemas.microsoft.com/office/drawing/2014/main" id="{0E0B3616-E494-5EAF-40DD-51658F787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825" y="2228180"/>
            <a:ext cx="2848373" cy="485843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30F99C4F-07F4-F183-1AB5-F9C58CB04EE5}"/>
              </a:ext>
            </a:extLst>
          </p:cNvPr>
          <p:cNvSpPr txBox="1"/>
          <p:nvPr/>
        </p:nvSpPr>
        <p:spPr>
          <a:xfrm>
            <a:off x="4760893" y="790068"/>
            <a:ext cx="4232046" cy="64633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u="sng" dirty="0">
                <a:solidFill>
                  <a:srgbClr val="002060"/>
                </a:solidFill>
              </a:rPr>
              <a:t>Quel est le nombre de locations réservables instantanément ? Cela représente quelle proportion des annonces ? </a:t>
            </a:r>
            <a:endParaRPr lang="fr-FR" dirty="0">
              <a:solidFill>
                <a:srgbClr val="002060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4695218-A0A8-65EA-8C37-C1BCEC287A36}"/>
              </a:ext>
            </a:extLst>
          </p:cNvPr>
          <p:cNvSpPr txBox="1"/>
          <p:nvPr/>
        </p:nvSpPr>
        <p:spPr>
          <a:xfrm>
            <a:off x="4764678" y="1426147"/>
            <a:ext cx="37486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Commande : </a:t>
            </a:r>
            <a:r>
              <a:rPr lang="en-US" sz="1000" dirty="0"/>
              <a:t>	</a:t>
            </a:r>
          </a:p>
          <a:p>
            <a:pPr indent="898525"/>
            <a:r>
              <a:rPr lang="en-US" sz="600" dirty="0" err="1"/>
              <a:t>db.paris.aggregate</a:t>
            </a:r>
            <a:r>
              <a:rPr lang="en-US" sz="600" dirty="0"/>
              <a:t>([</a:t>
            </a:r>
          </a:p>
          <a:p>
            <a:pPr indent="898525"/>
            <a:r>
              <a:rPr lang="en-US" sz="600" dirty="0"/>
              <a:t>  {</a:t>
            </a:r>
          </a:p>
          <a:p>
            <a:pPr indent="898525"/>
            <a:r>
              <a:rPr lang="en-US" sz="600" dirty="0"/>
              <a:t>    $group: {</a:t>
            </a:r>
          </a:p>
          <a:p>
            <a:pPr indent="898525"/>
            <a:r>
              <a:rPr lang="en-US" sz="600" dirty="0"/>
              <a:t>      _id: null,</a:t>
            </a:r>
          </a:p>
          <a:p>
            <a:pPr indent="898525"/>
            <a:r>
              <a:rPr lang="en-US" sz="600" dirty="0"/>
              <a:t>      total: { $sum: 1 },</a:t>
            </a:r>
          </a:p>
          <a:p>
            <a:pPr indent="898525"/>
            <a:r>
              <a:rPr lang="en-US" sz="600" dirty="0"/>
              <a:t>      </a:t>
            </a:r>
            <a:r>
              <a:rPr lang="en-US" sz="600" dirty="0" err="1"/>
              <a:t>instant_bookable</a:t>
            </a:r>
            <a:r>
              <a:rPr lang="en-US" sz="600" dirty="0"/>
              <a:t>: {</a:t>
            </a:r>
          </a:p>
          <a:p>
            <a:pPr indent="898525"/>
            <a:r>
              <a:rPr lang="en-US" sz="600" dirty="0"/>
              <a:t>        $sum: { $</a:t>
            </a:r>
            <a:r>
              <a:rPr lang="en-US" sz="600" dirty="0" err="1"/>
              <a:t>cond</a:t>
            </a:r>
            <a:r>
              <a:rPr lang="en-US" sz="600" dirty="0"/>
              <a:t>: [{ $eq: ["$</a:t>
            </a:r>
            <a:r>
              <a:rPr lang="en-US" sz="600" dirty="0" err="1"/>
              <a:t>instant_bookable</a:t>
            </a:r>
            <a:r>
              <a:rPr lang="en-US" sz="600" dirty="0"/>
              <a:t>", true] }, 1, 0] }</a:t>
            </a:r>
          </a:p>
          <a:p>
            <a:pPr indent="898525"/>
            <a:r>
              <a:rPr lang="en-US" sz="600" dirty="0"/>
              <a:t>      }</a:t>
            </a:r>
          </a:p>
          <a:p>
            <a:pPr indent="898525"/>
            <a:r>
              <a:rPr lang="en-US" sz="600" dirty="0"/>
              <a:t>    }</a:t>
            </a:r>
          </a:p>
          <a:p>
            <a:pPr indent="898525"/>
            <a:r>
              <a:rPr lang="en-US" sz="600" dirty="0"/>
              <a:t>  },</a:t>
            </a:r>
          </a:p>
          <a:p>
            <a:pPr indent="898525"/>
            <a:r>
              <a:rPr lang="en-US" sz="600" dirty="0"/>
              <a:t>  {</a:t>
            </a:r>
          </a:p>
          <a:p>
            <a:pPr indent="898525"/>
            <a:r>
              <a:rPr lang="en-US" sz="600" dirty="0"/>
              <a:t>    $project: {</a:t>
            </a:r>
          </a:p>
          <a:p>
            <a:pPr indent="898525"/>
            <a:r>
              <a:rPr lang="en-US" sz="600" dirty="0"/>
              <a:t>      _id: 0,</a:t>
            </a:r>
          </a:p>
          <a:p>
            <a:pPr indent="898525"/>
            <a:r>
              <a:rPr lang="en-US" sz="600" dirty="0"/>
              <a:t>      </a:t>
            </a:r>
            <a:r>
              <a:rPr lang="en-US" sz="600" dirty="0" err="1"/>
              <a:t>total_annonces</a:t>
            </a:r>
            <a:r>
              <a:rPr lang="en-US" sz="600" dirty="0"/>
              <a:t>: "$total",</a:t>
            </a:r>
          </a:p>
          <a:p>
            <a:pPr indent="898525"/>
            <a:r>
              <a:rPr lang="en-US" sz="600" dirty="0"/>
              <a:t>      </a:t>
            </a:r>
            <a:r>
              <a:rPr lang="en-US" sz="600" dirty="0" err="1"/>
              <a:t>annonces_instant_bookable</a:t>
            </a:r>
            <a:r>
              <a:rPr lang="en-US" sz="600" dirty="0"/>
              <a:t>: "$</a:t>
            </a:r>
            <a:r>
              <a:rPr lang="en-US" sz="600" dirty="0" err="1"/>
              <a:t>instant_bookable</a:t>
            </a:r>
            <a:r>
              <a:rPr lang="en-US" sz="600" dirty="0"/>
              <a:t>",</a:t>
            </a:r>
          </a:p>
          <a:p>
            <a:pPr indent="898525"/>
            <a:r>
              <a:rPr lang="en-US" sz="600" dirty="0"/>
              <a:t>      </a:t>
            </a:r>
            <a:r>
              <a:rPr lang="en-US" sz="600" dirty="0" err="1"/>
              <a:t>pourcentage</a:t>
            </a:r>
            <a:r>
              <a:rPr lang="en-US" sz="600" dirty="0"/>
              <a:t>: {</a:t>
            </a:r>
          </a:p>
          <a:p>
            <a:pPr indent="898525"/>
            <a:r>
              <a:rPr lang="en-US" sz="600" dirty="0"/>
              <a:t>        $round: [</a:t>
            </a:r>
          </a:p>
          <a:p>
            <a:pPr indent="898525"/>
            <a:r>
              <a:rPr lang="en-US" sz="600" dirty="0"/>
              <a:t>          { $multiply: [{ $divide: ["$</a:t>
            </a:r>
            <a:r>
              <a:rPr lang="en-US" sz="600" dirty="0" err="1"/>
              <a:t>instant_bookable</a:t>
            </a:r>
            <a:r>
              <a:rPr lang="en-US" sz="600" dirty="0"/>
              <a:t>", "$total"] }, 100] },</a:t>
            </a:r>
          </a:p>
          <a:p>
            <a:pPr indent="898525"/>
            <a:r>
              <a:rPr lang="en-US" sz="600" dirty="0"/>
              <a:t>          2</a:t>
            </a:r>
          </a:p>
          <a:p>
            <a:pPr indent="898525"/>
            <a:r>
              <a:rPr lang="en-US" sz="600" dirty="0"/>
              <a:t>        ]</a:t>
            </a:r>
          </a:p>
          <a:p>
            <a:pPr indent="898525"/>
            <a:r>
              <a:rPr lang="en-US" sz="600" dirty="0"/>
              <a:t>      }</a:t>
            </a:r>
          </a:p>
          <a:p>
            <a:pPr indent="898525"/>
            <a:r>
              <a:rPr lang="en-US" sz="600" dirty="0"/>
              <a:t>    }</a:t>
            </a:r>
          </a:p>
          <a:p>
            <a:pPr indent="898525"/>
            <a:r>
              <a:rPr lang="en-US" sz="600" dirty="0"/>
              <a:t>  }</a:t>
            </a:r>
          </a:p>
          <a:p>
            <a:pPr indent="898525"/>
            <a:r>
              <a:rPr lang="en-US" sz="600" dirty="0"/>
              <a:t>])</a:t>
            </a:r>
            <a:endParaRPr lang="en-US" sz="200" dirty="0"/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Résultat : </a:t>
            </a:r>
          </a:p>
          <a:p>
            <a:endParaRPr lang="fr-FR" sz="500" dirty="0">
              <a:solidFill>
                <a:srgbClr val="002060"/>
              </a:solidFill>
            </a:endParaRPr>
          </a:p>
          <a:p>
            <a:pPr algn="ctr"/>
            <a:r>
              <a:rPr lang="fr-FR" sz="1000" b="1" dirty="0">
                <a:solidFill>
                  <a:schemeClr val="tx1"/>
                </a:solidFill>
              </a:rPr>
              <a:t>22094</a:t>
            </a:r>
            <a:r>
              <a:rPr lang="fr-FR" sz="1000" dirty="0">
                <a:solidFill>
                  <a:schemeClr val="tx1"/>
                </a:solidFill>
              </a:rPr>
              <a:t> </a:t>
            </a:r>
            <a:r>
              <a:rPr lang="fr-FR" sz="1000" i="1" dirty="0">
                <a:solidFill>
                  <a:schemeClr val="tx1"/>
                </a:solidFill>
              </a:rPr>
              <a:t>sur</a:t>
            </a:r>
            <a:r>
              <a:rPr lang="fr-FR" sz="1000" dirty="0">
                <a:solidFill>
                  <a:schemeClr val="tx1"/>
                </a:solidFill>
              </a:rPr>
              <a:t> </a:t>
            </a:r>
            <a:r>
              <a:rPr lang="fr-FR" sz="1000" b="1" dirty="0">
                <a:solidFill>
                  <a:schemeClr val="tx1"/>
                </a:solidFill>
              </a:rPr>
              <a:t>95885</a:t>
            </a:r>
            <a:r>
              <a:rPr lang="fr-FR" sz="1000" dirty="0">
                <a:solidFill>
                  <a:schemeClr val="tx1"/>
                </a:solidFill>
              </a:rPr>
              <a:t> </a:t>
            </a:r>
            <a:r>
              <a:rPr lang="fr-FR" sz="1000" i="1" dirty="0">
                <a:solidFill>
                  <a:schemeClr val="tx1"/>
                </a:solidFill>
              </a:rPr>
              <a:t>soit</a:t>
            </a:r>
            <a:r>
              <a:rPr lang="fr-FR" sz="1000" dirty="0">
                <a:solidFill>
                  <a:schemeClr val="tx1"/>
                </a:solidFill>
              </a:rPr>
              <a:t> </a:t>
            </a:r>
            <a:r>
              <a:rPr lang="fr-FR" sz="1000" b="1" dirty="0">
                <a:solidFill>
                  <a:schemeClr val="tx1"/>
                </a:solidFill>
              </a:rPr>
              <a:t>23.04%</a:t>
            </a:r>
          </a:p>
          <a:p>
            <a:endParaRPr lang="fr-FR" sz="500" dirty="0">
              <a:solidFill>
                <a:srgbClr val="002060"/>
              </a:solidFill>
            </a:endParaRPr>
          </a:p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Capture :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1626269-459B-806F-87BA-6A223F3D0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237" y="4325110"/>
            <a:ext cx="1483497" cy="57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81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8CDAC185-1232-2B07-368B-58DF6C253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AFA68AFF-C09E-947A-4B3A-03C3895B78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/>
            <a:r>
              <a:rPr lang="fr" sz="25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Partie 2.3 :</a:t>
            </a:r>
            <a:r>
              <a:rPr lang="fr" sz="25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Inter"/>
              </a:rPr>
              <a:t> </a:t>
            </a:r>
            <a:r>
              <a:rPr lang="fr" sz="2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Inter"/>
              </a:rPr>
              <a:t>les requêtes et leurs résultats </a:t>
            </a:r>
            <a:endParaRPr sz="25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F18CB926-318C-27F7-221F-636AA768F25B}"/>
              </a:ext>
            </a:extLst>
          </p:cNvPr>
          <p:cNvSpPr/>
          <p:nvPr/>
        </p:nvSpPr>
        <p:spPr>
          <a:xfrm>
            <a:off x="145026" y="548883"/>
            <a:ext cx="8853948" cy="446856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72E83AF-9D5F-5C5F-35C6-1631331E7CDB}"/>
              </a:ext>
            </a:extLst>
          </p:cNvPr>
          <p:cNvSpPr txBox="1"/>
          <p:nvPr/>
        </p:nvSpPr>
        <p:spPr>
          <a:xfrm>
            <a:off x="337703" y="790068"/>
            <a:ext cx="8551719" cy="4308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u="sng" dirty="0">
                <a:solidFill>
                  <a:srgbClr val="002060"/>
                </a:solidFill>
              </a:rPr>
              <a:t>Est-ce que des hôtes ont plus de 100 annonces sur les plateformes ? Et si oui qui sont-ils ? Cela représente quel pourcentage des hôtes ?</a:t>
            </a:r>
            <a:endParaRPr lang="fr-FR" dirty="0">
              <a:solidFill>
                <a:srgbClr val="00206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7D01970-A916-F8E1-A249-183CEF87962E}"/>
              </a:ext>
            </a:extLst>
          </p:cNvPr>
          <p:cNvSpPr txBox="1"/>
          <p:nvPr/>
        </p:nvSpPr>
        <p:spPr>
          <a:xfrm>
            <a:off x="337704" y="1220955"/>
            <a:ext cx="4582391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Commande : </a:t>
            </a:r>
            <a:r>
              <a:rPr lang="en-US" sz="1000" dirty="0"/>
              <a:t>	</a:t>
            </a:r>
          </a:p>
          <a:p>
            <a:pPr indent="358775"/>
            <a:r>
              <a:rPr lang="en-US" sz="700" dirty="0" err="1"/>
              <a:t>db.paris.aggregate</a:t>
            </a:r>
            <a:r>
              <a:rPr lang="en-US" sz="700" dirty="0"/>
              <a:t>([</a:t>
            </a:r>
          </a:p>
          <a:p>
            <a:pPr indent="358775"/>
            <a:r>
              <a:rPr lang="en-US" sz="700" dirty="0"/>
              <a:t>  {</a:t>
            </a:r>
          </a:p>
          <a:p>
            <a:pPr indent="358775"/>
            <a:r>
              <a:rPr lang="en-US" sz="700" dirty="0"/>
              <a:t>    $group: {</a:t>
            </a:r>
          </a:p>
          <a:p>
            <a:pPr indent="358775"/>
            <a:r>
              <a:rPr lang="en-US" sz="700" dirty="0"/>
              <a:t>      _id: "$</a:t>
            </a:r>
            <a:r>
              <a:rPr lang="en-US" sz="700" dirty="0" err="1"/>
              <a:t>host_id</a:t>
            </a:r>
            <a:r>
              <a:rPr lang="en-US" sz="700" dirty="0"/>
              <a:t>",</a:t>
            </a:r>
          </a:p>
          <a:p>
            <a:pPr indent="358775"/>
            <a:r>
              <a:rPr lang="en-US" sz="700" dirty="0"/>
              <a:t>      </a:t>
            </a:r>
            <a:r>
              <a:rPr lang="en-US" sz="700" dirty="0" err="1"/>
              <a:t>nombre_annonces</a:t>
            </a:r>
            <a:r>
              <a:rPr lang="en-US" sz="700" dirty="0"/>
              <a:t>: { $sum: 1 }</a:t>
            </a:r>
          </a:p>
          <a:p>
            <a:pPr indent="358775"/>
            <a:r>
              <a:rPr lang="en-US" sz="700" dirty="0"/>
              <a:t>    }</a:t>
            </a:r>
          </a:p>
          <a:p>
            <a:pPr indent="358775"/>
            <a:r>
              <a:rPr lang="en-US" sz="700" dirty="0"/>
              <a:t>  },</a:t>
            </a:r>
          </a:p>
          <a:p>
            <a:pPr indent="358775"/>
            <a:r>
              <a:rPr lang="en-US" sz="700" dirty="0"/>
              <a:t>  {</a:t>
            </a:r>
          </a:p>
          <a:p>
            <a:pPr indent="358775"/>
            <a:r>
              <a:rPr lang="en-US" sz="700" dirty="0"/>
              <a:t>    $group: {</a:t>
            </a:r>
          </a:p>
          <a:p>
            <a:pPr indent="358775"/>
            <a:r>
              <a:rPr lang="en-US" sz="700" dirty="0"/>
              <a:t>      _id: null,</a:t>
            </a:r>
          </a:p>
          <a:p>
            <a:pPr indent="358775"/>
            <a:r>
              <a:rPr lang="en-US" sz="700" dirty="0"/>
              <a:t>      </a:t>
            </a:r>
            <a:r>
              <a:rPr lang="en-US" sz="700" dirty="0" err="1"/>
              <a:t>total_hotes</a:t>
            </a:r>
            <a:r>
              <a:rPr lang="en-US" sz="700" dirty="0"/>
              <a:t>: { $sum: 1 },</a:t>
            </a:r>
          </a:p>
          <a:p>
            <a:pPr indent="358775"/>
            <a:r>
              <a:rPr lang="en-US" sz="700" dirty="0"/>
              <a:t>      hotes_plus_100: {</a:t>
            </a:r>
          </a:p>
          <a:p>
            <a:pPr indent="358775"/>
            <a:r>
              <a:rPr lang="en-US" sz="700" dirty="0"/>
              <a:t>        $sum: { $</a:t>
            </a:r>
            <a:r>
              <a:rPr lang="en-US" sz="700" dirty="0" err="1"/>
              <a:t>cond</a:t>
            </a:r>
            <a:r>
              <a:rPr lang="en-US" sz="700" dirty="0"/>
              <a:t>: [{ $</a:t>
            </a:r>
            <a:r>
              <a:rPr lang="en-US" sz="700" dirty="0" err="1"/>
              <a:t>gt</a:t>
            </a:r>
            <a:r>
              <a:rPr lang="en-US" sz="700" dirty="0"/>
              <a:t>: ["$</a:t>
            </a:r>
            <a:r>
              <a:rPr lang="en-US" sz="700" dirty="0" err="1"/>
              <a:t>nombre_annonces</a:t>
            </a:r>
            <a:r>
              <a:rPr lang="en-US" sz="700" dirty="0"/>
              <a:t>", 100] }, 1, 0] }</a:t>
            </a:r>
          </a:p>
          <a:p>
            <a:pPr indent="358775"/>
            <a:r>
              <a:rPr lang="en-US" sz="700" dirty="0"/>
              <a:t>      }</a:t>
            </a:r>
          </a:p>
          <a:p>
            <a:pPr indent="358775"/>
            <a:r>
              <a:rPr lang="en-US" sz="700" dirty="0"/>
              <a:t>    }</a:t>
            </a:r>
          </a:p>
          <a:p>
            <a:pPr indent="358775"/>
            <a:r>
              <a:rPr lang="en-US" sz="700" dirty="0"/>
              <a:t>  },</a:t>
            </a:r>
          </a:p>
          <a:p>
            <a:pPr indent="358775"/>
            <a:r>
              <a:rPr lang="en-US" sz="700" dirty="0"/>
              <a:t>  {</a:t>
            </a:r>
          </a:p>
          <a:p>
            <a:pPr indent="358775"/>
            <a:r>
              <a:rPr lang="en-US" sz="700" dirty="0"/>
              <a:t>    $project: {</a:t>
            </a:r>
          </a:p>
          <a:p>
            <a:pPr indent="358775"/>
            <a:r>
              <a:rPr lang="en-US" sz="700" dirty="0"/>
              <a:t>      _id: 0,</a:t>
            </a:r>
          </a:p>
          <a:p>
            <a:pPr indent="358775"/>
            <a:r>
              <a:rPr lang="en-US" sz="700" dirty="0"/>
              <a:t>      </a:t>
            </a:r>
            <a:r>
              <a:rPr lang="en-US" sz="700" dirty="0" err="1"/>
              <a:t>total_hotes</a:t>
            </a:r>
            <a:r>
              <a:rPr lang="en-US" sz="700" dirty="0"/>
              <a:t>: 1,</a:t>
            </a:r>
          </a:p>
          <a:p>
            <a:pPr indent="358775"/>
            <a:r>
              <a:rPr lang="en-US" sz="700" dirty="0"/>
              <a:t>      hotes_avec_plus_100_annonces: "$hotes_plus_100",</a:t>
            </a:r>
          </a:p>
          <a:p>
            <a:pPr indent="358775"/>
            <a:r>
              <a:rPr lang="en-US" sz="700" dirty="0"/>
              <a:t>      </a:t>
            </a:r>
            <a:r>
              <a:rPr lang="en-US" sz="700" dirty="0" err="1"/>
              <a:t>pourcentage</a:t>
            </a:r>
            <a:r>
              <a:rPr lang="en-US" sz="700" dirty="0"/>
              <a:t>: {</a:t>
            </a:r>
          </a:p>
          <a:p>
            <a:pPr indent="358775"/>
            <a:r>
              <a:rPr lang="en-US" sz="700" dirty="0"/>
              <a:t>        $</a:t>
            </a:r>
            <a:r>
              <a:rPr lang="en-US" sz="700" dirty="0" err="1"/>
              <a:t>concat</a:t>
            </a:r>
            <a:r>
              <a:rPr lang="en-US" sz="700" dirty="0"/>
              <a:t>: [</a:t>
            </a:r>
          </a:p>
          <a:p>
            <a:pPr indent="358775"/>
            <a:r>
              <a:rPr lang="en-US" sz="700" dirty="0"/>
              <a:t>          { $</a:t>
            </a:r>
            <a:r>
              <a:rPr lang="en-US" sz="700" dirty="0" err="1"/>
              <a:t>toString</a:t>
            </a:r>
            <a:r>
              <a:rPr lang="en-US" sz="700" dirty="0"/>
              <a:t>: { $round: [{ $multiply: [{ $divide: ["$hotes_plus_100", "$</a:t>
            </a:r>
            <a:r>
              <a:rPr lang="en-US" sz="700" dirty="0" err="1"/>
              <a:t>total_hotes</a:t>
            </a:r>
            <a:r>
              <a:rPr lang="en-US" sz="700" dirty="0"/>
              <a:t>"] }, 100] }, 2] } },</a:t>
            </a:r>
          </a:p>
          <a:p>
            <a:pPr indent="358775"/>
            <a:r>
              <a:rPr lang="en-US" sz="700" dirty="0"/>
              <a:t>          " %"</a:t>
            </a:r>
          </a:p>
          <a:p>
            <a:pPr indent="358775"/>
            <a:r>
              <a:rPr lang="en-US" sz="700" dirty="0"/>
              <a:t>        ]</a:t>
            </a:r>
          </a:p>
          <a:p>
            <a:pPr indent="358775"/>
            <a:r>
              <a:rPr lang="en-US" sz="700" dirty="0"/>
              <a:t>      }</a:t>
            </a:r>
          </a:p>
          <a:p>
            <a:pPr indent="358775"/>
            <a:r>
              <a:rPr lang="en-US" sz="700" dirty="0"/>
              <a:t>    }</a:t>
            </a:r>
          </a:p>
          <a:p>
            <a:pPr indent="358775"/>
            <a:r>
              <a:rPr lang="en-US" sz="700" dirty="0"/>
              <a:t>  }</a:t>
            </a:r>
          </a:p>
          <a:p>
            <a:pPr indent="358775"/>
            <a:r>
              <a:rPr lang="en-US" sz="700" dirty="0"/>
              <a:t>])</a:t>
            </a:r>
            <a:endParaRPr lang="en-US" sz="3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05B960B-96CD-6E0A-9FC7-1F9D4E5CA665}"/>
              </a:ext>
            </a:extLst>
          </p:cNvPr>
          <p:cNvSpPr txBox="1"/>
          <p:nvPr/>
        </p:nvSpPr>
        <p:spPr>
          <a:xfrm>
            <a:off x="4920095" y="1220955"/>
            <a:ext cx="396932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50" dirty="0">
                <a:solidFill>
                  <a:srgbClr val="002060"/>
                </a:solidFill>
              </a:rPr>
              <a:t>Résultat : </a:t>
            </a:r>
          </a:p>
          <a:p>
            <a:endParaRPr lang="fr-FR" sz="500" dirty="0">
              <a:solidFill>
                <a:srgbClr val="002060"/>
              </a:solidFill>
            </a:endParaRPr>
          </a:p>
          <a:p>
            <a:pPr algn="ctr"/>
            <a:r>
              <a:rPr lang="fr-FR" sz="1050" b="1" dirty="0">
                <a:solidFill>
                  <a:schemeClr val="tx1"/>
                </a:solidFill>
              </a:rPr>
              <a:t>24</a:t>
            </a:r>
            <a:r>
              <a:rPr lang="fr-FR" sz="1050" dirty="0">
                <a:solidFill>
                  <a:schemeClr val="tx1"/>
                </a:solidFill>
              </a:rPr>
              <a:t> </a:t>
            </a:r>
            <a:r>
              <a:rPr lang="fr-FR" sz="1050" i="1" dirty="0">
                <a:solidFill>
                  <a:schemeClr val="tx1"/>
                </a:solidFill>
              </a:rPr>
              <a:t>sur</a:t>
            </a:r>
            <a:r>
              <a:rPr lang="fr-FR" sz="1050" dirty="0">
                <a:solidFill>
                  <a:schemeClr val="tx1"/>
                </a:solidFill>
              </a:rPr>
              <a:t> </a:t>
            </a:r>
            <a:r>
              <a:rPr lang="fr-FR" sz="1050" b="1" dirty="0">
                <a:solidFill>
                  <a:schemeClr val="tx1"/>
                </a:solidFill>
              </a:rPr>
              <a:t>71979</a:t>
            </a:r>
            <a:r>
              <a:rPr lang="fr-FR" sz="1050" dirty="0">
                <a:solidFill>
                  <a:schemeClr val="tx1"/>
                </a:solidFill>
              </a:rPr>
              <a:t> </a:t>
            </a:r>
            <a:r>
              <a:rPr lang="fr-FR" sz="1050" i="1" dirty="0">
                <a:solidFill>
                  <a:schemeClr val="tx1"/>
                </a:solidFill>
              </a:rPr>
              <a:t>soit</a:t>
            </a:r>
            <a:r>
              <a:rPr lang="fr-FR" sz="1050" dirty="0">
                <a:solidFill>
                  <a:schemeClr val="tx1"/>
                </a:solidFill>
              </a:rPr>
              <a:t> </a:t>
            </a:r>
            <a:r>
              <a:rPr lang="fr-FR" sz="1050" b="1" dirty="0">
                <a:solidFill>
                  <a:schemeClr val="tx1"/>
                </a:solidFill>
              </a:rPr>
              <a:t>0,03%</a:t>
            </a:r>
          </a:p>
          <a:p>
            <a:endParaRPr lang="fr-FR" sz="500" dirty="0">
              <a:solidFill>
                <a:srgbClr val="002060"/>
              </a:solidFill>
            </a:endParaRP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rgbClr val="002060"/>
                </a:solidFill>
              </a:rPr>
              <a:t>Capture :</a:t>
            </a:r>
          </a:p>
          <a:p>
            <a:endParaRPr lang="fr-FR" sz="105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49DF5B9-1476-779C-9E15-B7EB9529A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374" y="2047995"/>
            <a:ext cx="1109900" cy="274402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CC6A758-CDB9-5E37-11C4-6E05660BD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627" y="2047994"/>
            <a:ext cx="949373" cy="275461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941D6DF-68F4-E868-9599-3241121197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0552" y="2047994"/>
            <a:ext cx="895323" cy="137354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EDC2F09-49A8-8120-CE7B-B839B83324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0552" y="3421542"/>
            <a:ext cx="895323" cy="138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385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3654A412-4598-D476-74CB-474FC4EBE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DA8F27CB-4D14-FAF3-DF0F-B118FA0496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/>
            <a:r>
              <a:rPr lang="fr" sz="25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Partie 2.3 :</a:t>
            </a:r>
            <a:r>
              <a:rPr lang="fr" sz="25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Inter"/>
              </a:rPr>
              <a:t> </a:t>
            </a:r>
            <a:r>
              <a:rPr lang="fr" sz="2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Inter"/>
              </a:rPr>
              <a:t>les requêtes et leurs résultats </a:t>
            </a:r>
            <a:endParaRPr sz="25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66121D9-12A1-A215-1FC7-BBB1641CFAD8}"/>
              </a:ext>
            </a:extLst>
          </p:cNvPr>
          <p:cNvSpPr/>
          <p:nvPr/>
        </p:nvSpPr>
        <p:spPr>
          <a:xfrm>
            <a:off x="145026" y="548883"/>
            <a:ext cx="8853948" cy="446856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9E64BD1-5F03-8B8A-6A38-A1EC77A7F0FF}"/>
              </a:ext>
            </a:extLst>
          </p:cNvPr>
          <p:cNvSpPr txBox="1"/>
          <p:nvPr/>
        </p:nvSpPr>
        <p:spPr>
          <a:xfrm>
            <a:off x="337703" y="790068"/>
            <a:ext cx="8551719" cy="21544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u="sng" dirty="0">
                <a:solidFill>
                  <a:srgbClr val="002060"/>
                </a:solidFill>
              </a:rPr>
              <a:t>Combien y a-t-il de super hôtes différents ? Cela représente quel pourcentage des hôtes ?</a:t>
            </a:r>
            <a:endParaRPr lang="fr-FR" dirty="0">
              <a:solidFill>
                <a:srgbClr val="00206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9D1F754-BD6F-BF8B-0855-34D759C65B02}"/>
              </a:ext>
            </a:extLst>
          </p:cNvPr>
          <p:cNvSpPr txBox="1"/>
          <p:nvPr/>
        </p:nvSpPr>
        <p:spPr>
          <a:xfrm>
            <a:off x="337704" y="1009043"/>
            <a:ext cx="4582391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Commande : </a:t>
            </a:r>
            <a:r>
              <a:rPr lang="en-US" sz="1000" dirty="0"/>
              <a:t>	</a:t>
            </a:r>
          </a:p>
          <a:p>
            <a:pPr indent="358775"/>
            <a:r>
              <a:rPr lang="en-US" sz="700" dirty="0" err="1"/>
              <a:t>db.paris.aggregate</a:t>
            </a:r>
            <a:r>
              <a:rPr lang="en-US" sz="700" dirty="0"/>
              <a:t>([</a:t>
            </a:r>
          </a:p>
          <a:p>
            <a:pPr indent="358775"/>
            <a:r>
              <a:rPr lang="en-US" sz="700" dirty="0"/>
              <a:t>  {</a:t>
            </a:r>
          </a:p>
          <a:p>
            <a:pPr indent="358775"/>
            <a:r>
              <a:rPr lang="en-US" sz="700" dirty="0"/>
              <a:t>    $group: {</a:t>
            </a:r>
          </a:p>
          <a:p>
            <a:pPr indent="358775"/>
            <a:r>
              <a:rPr lang="en-US" sz="700" dirty="0"/>
              <a:t>      _id: "$</a:t>
            </a:r>
            <a:r>
              <a:rPr lang="en-US" sz="700" dirty="0" err="1"/>
              <a:t>host_id</a:t>
            </a:r>
            <a:r>
              <a:rPr lang="en-US" sz="700" dirty="0"/>
              <a:t>",</a:t>
            </a:r>
          </a:p>
          <a:p>
            <a:pPr indent="358775"/>
            <a:r>
              <a:rPr lang="en-US" sz="700" dirty="0"/>
              <a:t>      </a:t>
            </a:r>
            <a:r>
              <a:rPr lang="en-US" sz="700" dirty="0" err="1"/>
              <a:t>est_superhost</a:t>
            </a:r>
            <a:r>
              <a:rPr lang="en-US" sz="700" dirty="0"/>
              <a:t>: { $first: "$</a:t>
            </a:r>
            <a:r>
              <a:rPr lang="en-US" sz="700" dirty="0" err="1"/>
              <a:t>host_is_superhost</a:t>
            </a:r>
            <a:r>
              <a:rPr lang="en-US" sz="700" dirty="0"/>
              <a:t>" }</a:t>
            </a:r>
          </a:p>
          <a:p>
            <a:pPr indent="358775"/>
            <a:r>
              <a:rPr lang="en-US" sz="700" dirty="0"/>
              <a:t>    }</a:t>
            </a:r>
          </a:p>
          <a:p>
            <a:pPr indent="358775"/>
            <a:r>
              <a:rPr lang="en-US" sz="700" dirty="0"/>
              <a:t>  },</a:t>
            </a:r>
          </a:p>
          <a:p>
            <a:pPr indent="358775"/>
            <a:r>
              <a:rPr lang="en-US" sz="700" dirty="0"/>
              <a:t>  {</a:t>
            </a:r>
          </a:p>
          <a:p>
            <a:pPr indent="358775"/>
            <a:r>
              <a:rPr lang="en-US" sz="700" dirty="0"/>
              <a:t>    $group: {</a:t>
            </a:r>
          </a:p>
          <a:p>
            <a:pPr indent="358775"/>
            <a:r>
              <a:rPr lang="en-US" sz="700" dirty="0"/>
              <a:t>      _id: null,</a:t>
            </a:r>
          </a:p>
          <a:p>
            <a:pPr indent="358775"/>
            <a:r>
              <a:rPr lang="en-US" sz="700" dirty="0"/>
              <a:t>      </a:t>
            </a:r>
            <a:r>
              <a:rPr lang="en-US" sz="700" dirty="0" err="1"/>
              <a:t>total_hotes</a:t>
            </a:r>
            <a:r>
              <a:rPr lang="en-US" sz="700" dirty="0"/>
              <a:t>: { $sum: 1 },</a:t>
            </a:r>
          </a:p>
          <a:p>
            <a:pPr indent="358775"/>
            <a:r>
              <a:rPr lang="en-US" sz="700" dirty="0"/>
              <a:t>      </a:t>
            </a:r>
            <a:r>
              <a:rPr lang="en-US" sz="700" dirty="0" err="1"/>
              <a:t>superhosts</a:t>
            </a:r>
            <a:r>
              <a:rPr lang="en-US" sz="700" dirty="0"/>
              <a:t>: {</a:t>
            </a:r>
          </a:p>
          <a:p>
            <a:pPr indent="358775"/>
            <a:r>
              <a:rPr lang="en-US" sz="700" dirty="0"/>
              <a:t>        $sum: { $</a:t>
            </a:r>
            <a:r>
              <a:rPr lang="en-US" sz="700" dirty="0" err="1"/>
              <a:t>cond</a:t>
            </a:r>
            <a:r>
              <a:rPr lang="en-US" sz="700" dirty="0"/>
              <a:t>: ["$</a:t>
            </a:r>
            <a:r>
              <a:rPr lang="en-US" sz="700" dirty="0" err="1"/>
              <a:t>est_superhost</a:t>
            </a:r>
            <a:r>
              <a:rPr lang="en-US" sz="700" dirty="0"/>
              <a:t>", 1, 0] }</a:t>
            </a:r>
          </a:p>
          <a:p>
            <a:pPr indent="358775"/>
            <a:r>
              <a:rPr lang="en-US" sz="700" dirty="0"/>
              <a:t>      }</a:t>
            </a:r>
          </a:p>
          <a:p>
            <a:pPr indent="358775"/>
            <a:r>
              <a:rPr lang="en-US" sz="700" dirty="0"/>
              <a:t>    }</a:t>
            </a:r>
          </a:p>
          <a:p>
            <a:pPr indent="358775"/>
            <a:r>
              <a:rPr lang="en-US" sz="700" dirty="0"/>
              <a:t>  },</a:t>
            </a:r>
          </a:p>
          <a:p>
            <a:pPr indent="358775"/>
            <a:r>
              <a:rPr lang="en-US" sz="700" dirty="0"/>
              <a:t>  {</a:t>
            </a:r>
          </a:p>
          <a:p>
            <a:pPr indent="358775"/>
            <a:r>
              <a:rPr lang="en-US" sz="700" dirty="0"/>
              <a:t>    $project: {</a:t>
            </a:r>
          </a:p>
          <a:p>
            <a:pPr indent="358775"/>
            <a:r>
              <a:rPr lang="en-US" sz="700" dirty="0"/>
              <a:t>      _id: 0,</a:t>
            </a:r>
          </a:p>
          <a:p>
            <a:pPr indent="358775"/>
            <a:r>
              <a:rPr lang="en-US" sz="700" dirty="0"/>
              <a:t>      </a:t>
            </a:r>
            <a:r>
              <a:rPr lang="en-US" sz="700" dirty="0" err="1"/>
              <a:t>total_hotes</a:t>
            </a:r>
            <a:r>
              <a:rPr lang="en-US" sz="700" dirty="0"/>
              <a:t>: 1,</a:t>
            </a:r>
          </a:p>
          <a:p>
            <a:pPr indent="358775"/>
            <a:r>
              <a:rPr lang="en-US" sz="700" dirty="0"/>
              <a:t>      </a:t>
            </a:r>
            <a:r>
              <a:rPr lang="en-US" sz="700" dirty="0" err="1"/>
              <a:t>nombre_superhosts</a:t>
            </a:r>
            <a:r>
              <a:rPr lang="en-US" sz="700" dirty="0"/>
              <a:t>: "$</a:t>
            </a:r>
            <a:r>
              <a:rPr lang="en-US" sz="700" dirty="0" err="1"/>
              <a:t>superhosts</a:t>
            </a:r>
            <a:r>
              <a:rPr lang="en-US" sz="700" dirty="0"/>
              <a:t>",</a:t>
            </a:r>
          </a:p>
          <a:p>
            <a:pPr indent="358775"/>
            <a:r>
              <a:rPr lang="en-US" sz="700" dirty="0"/>
              <a:t>      </a:t>
            </a:r>
            <a:r>
              <a:rPr lang="en-US" sz="700" dirty="0" err="1"/>
              <a:t>pourcentage_superhosts</a:t>
            </a:r>
            <a:r>
              <a:rPr lang="en-US" sz="700" dirty="0"/>
              <a:t>: {</a:t>
            </a:r>
          </a:p>
          <a:p>
            <a:pPr indent="358775"/>
            <a:r>
              <a:rPr lang="en-US" sz="700" dirty="0"/>
              <a:t>        $round: [</a:t>
            </a:r>
          </a:p>
          <a:p>
            <a:pPr indent="358775"/>
            <a:r>
              <a:rPr lang="en-US" sz="700" dirty="0"/>
              <a:t>          { $multiply: [{ $divide: ["$</a:t>
            </a:r>
            <a:r>
              <a:rPr lang="en-US" sz="700" dirty="0" err="1"/>
              <a:t>superhosts</a:t>
            </a:r>
            <a:r>
              <a:rPr lang="en-US" sz="700" dirty="0"/>
              <a:t>", "$</a:t>
            </a:r>
            <a:r>
              <a:rPr lang="en-US" sz="700" dirty="0" err="1"/>
              <a:t>total_hotes</a:t>
            </a:r>
            <a:r>
              <a:rPr lang="en-US" sz="700" dirty="0"/>
              <a:t>"] }, 100] },</a:t>
            </a:r>
          </a:p>
          <a:p>
            <a:pPr indent="358775"/>
            <a:r>
              <a:rPr lang="en-US" sz="700" dirty="0"/>
              <a:t>          2</a:t>
            </a:r>
          </a:p>
          <a:p>
            <a:pPr indent="358775"/>
            <a:r>
              <a:rPr lang="en-US" sz="700" dirty="0"/>
              <a:t>        ]</a:t>
            </a:r>
          </a:p>
          <a:p>
            <a:pPr indent="358775"/>
            <a:r>
              <a:rPr lang="en-US" sz="700" dirty="0"/>
              <a:t>      }</a:t>
            </a:r>
          </a:p>
          <a:p>
            <a:pPr indent="358775"/>
            <a:r>
              <a:rPr lang="en-US" sz="700" dirty="0"/>
              <a:t>    }</a:t>
            </a:r>
          </a:p>
          <a:p>
            <a:pPr indent="358775"/>
            <a:r>
              <a:rPr lang="en-US" sz="700" dirty="0"/>
              <a:t>  }</a:t>
            </a:r>
          </a:p>
          <a:p>
            <a:pPr indent="358775"/>
            <a:r>
              <a:rPr lang="en-US" sz="700" dirty="0"/>
              <a:t>])</a:t>
            </a:r>
            <a:endParaRPr lang="en-US" sz="3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9E7F204-6073-4775-447B-79D32386FE0D}"/>
              </a:ext>
            </a:extLst>
          </p:cNvPr>
          <p:cNvSpPr txBox="1"/>
          <p:nvPr/>
        </p:nvSpPr>
        <p:spPr>
          <a:xfrm>
            <a:off x="4920095" y="1005512"/>
            <a:ext cx="396932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50" dirty="0">
                <a:solidFill>
                  <a:srgbClr val="002060"/>
                </a:solidFill>
              </a:rPr>
              <a:t>Résultat : </a:t>
            </a:r>
          </a:p>
          <a:p>
            <a:endParaRPr lang="fr-FR" sz="500" dirty="0">
              <a:solidFill>
                <a:srgbClr val="002060"/>
              </a:solidFill>
            </a:endParaRPr>
          </a:p>
          <a:p>
            <a:pPr algn="ctr"/>
            <a:r>
              <a:rPr lang="fr-FR" sz="1050" b="1" dirty="0">
                <a:solidFill>
                  <a:schemeClr val="tx1"/>
                </a:solidFill>
              </a:rPr>
              <a:t>10027</a:t>
            </a:r>
            <a:r>
              <a:rPr lang="fr-FR" sz="1050" dirty="0">
                <a:solidFill>
                  <a:schemeClr val="tx1"/>
                </a:solidFill>
              </a:rPr>
              <a:t> </a:t>
            </a:r>
            <a:r>
              <a:rPr lang="fr-FR" sz="1050" i="1" dirty="0">
                <a:solidFill>
                  <a:schemeClr val="tx1"/>
                </a:solidFill>
              </a:rPr>
              <a:t>sur</a:t>
            </a:r>
            <a:r>
              <a:rPr lang="fr-FR" sz="1050" dirty="0">
                <a:solidFill>
                  <a:schemeClr val="tx1"/>
                </a:solidFill>
              </a:rPr>
              <a:t> </a:t>
            </a:r>
            <a:r>
              <a:rPr lang="fr-FR" sz="1050" b="1" dirty="0">
                <a:solidFill>
                  <a:schemeClr val="tx1"/>
                </a:solidFill>
              </a:rPr>
              <a:t>71979</a:t>
            </a:r>
            <a:r>
              <a:rPr lang="fr-FR" sz="1050" dirty="0">
                <a:solidFill>
                  <a:schemeClr val="tx1"/>
                </a:solidFill>
              </a:rPr>
              <a:t> </a:t>
            </a:r>
            <a:r>
              <a:rPr lang="fr-FR" sz="1050" i="1" dirty="0">
                <a:solidFill>
                  <a:schemeClr val="tx1"/>
                </a:solidFill>
              </a:rPr>
              <a:t>soit</a:t>
            </a:r>
            <a:r>
              <a:rPr lang="fr-FR" sz="1050" dirty="0">
                <a:solidFill>
                  <a:schemeClr val="tx1"/>
                </a:solidFill>
              </a:rPr>
              <a:t> </a:t>
            </a:r>
            <a:r>
              <a:rPr lang="fr-FR" sz="1050" b="1" dirty="0">
                <a:solidFill>
                  <a:schemeClr val="tx1"/>
                </a:solidFill>
              </a:rPr>
              <a:t>13.93%</a:t>
            </a:r>
          </a:p>
          <a:p>
            <a:endParaRPr lang="fr-FR" sz="500" dirty="0">
              <a:solidFill>
                <a:srgbClr val="002060"/>
              </a:solidFill>
            </a:endParaRPr>
          </a:p>
          <a:p>
            <a:pPr marL="171450" indent="-171450">
              <a:buFontTx/>
              <a:buChar char="-"/>
            </a:pPr>
            <a:r>
              <a:rPr lang="fr-FR" sz="1050" dirty="0">
                <a:solidFill>
                  <a:srgbClr val="002060"/>
                </a:solidFill>
              </a:rPr>
              <a:t>Capture :</a:t>
            </a:r>
          </a:p>
          <a:p>
            <a:endParaRPr lang="fr-FR" sz="105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7B8AE43-8FE4-98BD-8885-7577120B9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115" y="1753199"/>
            <a:ext cx="1806457" cy="81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923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C4BADB5A-09D7-B1E2-9F62-767579447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ACBC6CB5-022E-73BF-07E1-D17C6DFCE8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/>
            <a:r>
              <a:rPr lang="fr" sz="25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Partie 2.3 :</a:t>
            </a:r>
            <a:r>
              <a:rPr lang="fr" sz="25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Inter"/>
              </a:rPr>
              <a:t> </a:t>
            </a:r>
            <a:r>
              <a:rPr lang="fr" sz="2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Inter"/>
              </a:rPr>
              <a:t>les requêtes et leurs résultats </a:t>
            </a:r>
            <a:endParaRPr sz="25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CB7F9E9D-B1A1-DD70-5FD8-E6E3595479A5}"/>
              </a:ext>
            </a:extLst>
          </p:cNvPr>
          <p:cNvSpPr/>
          <p:nvPr/>
        </p:nvSpPr>
        <p:spPr>
          <a:xfrm>
            <a:off x="145026" y="548883"/>
            <a:ext cx="8853948" cy="446856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29FA3A7-3D7B-8DCB-EB69-59AFC86FE7B2}"/>
              </a:ext>
            </a:extLst>
          </p:cNvPr>
          <p:cNvSpPr txBox="1"/>
          <p:nvPr/>
        </p:nvSpPr>
        <p:spPr>
          <a:xfrm>
            <a:off x="337703" y="790068"/>
            <a:ext cx="8551719" cy="21544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fr-FR" u="sng" dirty="0">
                <a:solidFill>
                  <a:srgbClr val="002060"/>
                </a:solidFill>
              </a:rPr>
              <a:t>Calculer le taux de réservation moyen par mois par type de logement</a:t>
            </a:r>
            <a:endParaRPr lang="fr-FR" dirty="0">
              <a:solidFill>
                <a:srgbClr val="00206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7312539-345F-18D1-FA8B-83E2628ECCE4}"/>
              </a:ext>
            </a:extLst>
          </p:cNvPr>
          <p:cNvSpPr txBox="1"/>
          <p:nvPr/>
        </p:nvSpPr>
        <p:spPr>
          <a:xfrm>
            <a:off x="337704" y="1009043"/>
            <a:ext cx="45823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>
                <a:solidFill>
                  <a:srgbClr val="002060"/>
                </a:solidFill>
              </a:rPr>
              <a:t>Commande :</a:t>
            </a:r>
            <a:endParaRPr lang="en-US" sz="7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23A2C45-9B10-4E34-C0F8-C60637C4F21A}"/>
              </a:ext>
            </a:extLst>
          </p:cNvPr>
          <p:cNvSpPr txBox="1"/>
          <p:nvPr/>
        </p:nvSpPr>
        <p:spPr>
          <a:xfrm>
            <a:off x="4920095" y="1005512"/>
            <a:ext cx="396932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50" dirty="0">
                <a:solidFill>
                  <a:srgbClr val="002060"/>
                </a:solidFill>
              </a:rPr>
              <a:t>Résultat / Capture :</a:t>
            </a:r>
          </a:p>
          <a:p>
            <a:endParaRPr lang="fr-FR" sz="105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018C78F-5E41-584D-874E-DFE616388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77" y="1255264"/>
            <a:ext cx="3121643" cy="364527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F3D35EC-E6E7-CD88-27FE-CD0465869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3810" y="1255264"/>
            <a:ext cx="2241896" cy="98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592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213660E0-CDA0-6124-A6FD-9DF646794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CFB8BA60-B2B1-601B-2504-EA47F5982D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/>
            <a:r>
              <a:rPr lang="fr" sz="25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Partie 2 </a:t>
            </a:r>
            <a:r>
              <a:rPr lang="fr" sz="2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fr" sz="2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Inter"/>
              </a:rPr>
              <a:t> </a:t>
            </a:r>
            <a:r>
              <a:rPr lang="fr-FR" sz="2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Inter"/>
              </a:rPr>
              <a:t>démarche pour mettre la </a:t>
            </a:r>
            <a:r>
              <a:rPr lang="fr-FR" sz="25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Inter"/>
              </a:rPr>
              <a:t>bdd</a:t>
            </a:r>
            <a:r>
              <a:rPr lang="fr-FR" sz="2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Inter"/>
              </a:rPr>
              <a:t> sur </a:t>
            </a:r>
            <a:r>
              <a:rPr lang="fr-FR" sz="25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Inter"/>
              </a:rPr>
              <a:t>PowerBI</a:t>
            </a:r>
            <a:r>
              <a:rPr lang="fr-FR" sz="2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Inter"/>
              </a:rPr>
              <a:t> </a:t>
            </a:r>
            <a:br>
              <a:rPr lang="fr-FR" sz="2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Inter"/>
              </a:rPr>
            </a:br>
            <a:r>
              <a:rPr lang="fr-FR" sz="11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Inter"/>
              </a:rPr>
              <a:t>(incluant des captures d’écran du tableau de bord et du processus)</a:t>
            </a:r>
            <a:endParaRPr sz="2500" i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401F372-7025-A266-7D71-42BFB3D87039}"/>
              </a:ext>
            </a:extLst>
          </p:cNvPr>
          <p:cNvSpPr/>
          <p:nvPr/>
        </p:nvSpPr>
        <p:spPr>
          <a:xfrm>
            <a:off x="145026" y="675409"/>
            <a:ext cx="8853948" cy="4342034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3551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Partie 3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152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rgbClr val="271A38"/>
                </a:solidFill>
                <a:latin typeface="Inter"/>
                <a:ea typeface="Inter"/>
                <a:cs typeface="Inter"/>
                <a:sym typeface="Inter"/>
              </a:rPr>
              <a:t>Schéma d’architecture de la base de données incluant la connexion à un outil de business intelligence.</a:t>
            </a:r>
            <a:endParaRPr sz="1200">
              <a:solidFill>
                <a:srgbClr val="271A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152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271A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152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271A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152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271A38"/>
                </a:solidFill>
                <a:latin typeface="Inter"/>
                <a:ea typeface="Inter"/>
                <a:cs typeface="Inter"/>
                <a:sym typeface="Inter"/>
              </a:rPr>
              <a:t>Description de la logique et du processus suivi sous forme de tableau pour :</a:t>
            </a:r>
            <a:endParaRPr sz="1200">
              <a:solidFill>
                <a:srgbClr val="271A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152400" lvl="0" indent="-304800" algn="l" rtl="0">
              <a:spcBef>
                <a:spcPts val="0"/>
              </a:spcBef>
              <a:spcAft>
                <a:spcPts val="0"/>
              </a:spcAft>
              <a:buClr>
                <a:srgbClr val="271A38"/>
              </a:buClr>
              <a:buSzPts val="1200"/>
              <a:buFont typeface="Inter"/>
              <a:buChar char="●"/>
            </a:pPr>
            <a:r>
              <a:rPr lang="fr" sz="1200">
                <a:solidFill>
                  <a:srgbClr val="271A38"/>
                </a:solidFill>
                <a:latin typeface="Inter"/>
                <a:ea typeface="Inter"/>
                <a:cs typeface="Inter"/>
                <a:sym typeface="Inter"/>
              </a:rPr>
              <a:t>répliquer les données (instructions étape 2);</a:t>
            </a:r>
            <a:endParaRPr sz="1200">
              <a:solidFill>
                <a:srgbClr val="271A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152400" lvl="0" indent="-304800" algn="l" rtl="0">
              <a:spcBef>
                <a:spcPts val="0"/>
              </a:spcBef>
              <a:spcAft>
                <a:spcPts val="0"/>
              </a:spcAft>
              <a:buClr>
                <a:srgbClr val="271A38"/>
              </a:buClr>
              <a:buSzPts val="1200"/>
              <a:buFont typeface="Inter"/>
              <a:buChar char="●"/>
            </a:pPr>
            <a:r>
              <a:rPr lang="fr" sz="1200">
                <a:solidFill>
                  <a:srgbClr val="271A38"/>
                </a:solidFill>
                <a:latin typeface="Inter"/>
                <a:ea typeface="Inter"/>
                <a:cs typeface="Inter"/>
                <a:sym typeface="Inter"/>
              </a:rPr>
              <a:t>distribuer les données (instructions étape 3).</a:t>
            </a:r>
            <a:endParaRPr sz="1200">
              <a:solidFill>
                <a:srgbClr val="271A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152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271A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152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271A3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1526</Words>
  <Application>Microsoft Office PowerPoint</Application>
  <PresentationFormat>Affichage à l'écran (16:9)</PresentationFormat>
  <Paragraphs>253</Paragraphs>
  <Slides>15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Inter</vt:lpstr>
      <vt:lpstr>Arial</vt:lpstr>
      <vt:lpstr>Simple Light</vt:lpstr>
      <vt:lpstr>Template de présentation du projet 7</vt:lpstr>
      <vt:lpstr>Présentation PowerPoint</vt:lpstr>
      <vt:lpstr>Importation des données</vt:lpstr>
      <vt:lpstr>Importation des données</vt:lpstr>
      <vt:lpstr>Présentation PowerPoint</vt:lpstr>
      <vt:lpstr>Partie 1 : description d’un document avec le type des données</vt:lpstr>
      <vt:lpstr>Partie 1 : Avantages du NoSQL dans ce contexte de données  </vt:lpstr>
      <vt:lpstr>Partie 1 : premières requêtes et leurs résultats</vt:lpstr>
      <vt:lpstr>Partie 2.1 : les requêtes et leurs résultats </vt:lpstr>
      <vt:lpstr>Partie 2.2 : les requêtes et leurs résultats </vt:lpstr>
      <vt:lpstr>Partie 2.3 : les requêtes et leurs résultats </vt:lpstr>
      <vt:lpstr>Partie 2.3 : les requêtes et leurs résultats </vt:lpstr>
      <vt:lpstr>Partie 2.3 : les requêtes et leurs résultats </vt:lpstr>
      <vt:lpstr>Partie 2 : démarche pour mettre la bdd sur PowerBI  (incluant des captures d’écran du tableau de bord et du processus)</vt:lpstr>
      <vt:lpstr>Partie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Aymeric Bailleul</cp:lastModifiedBy>
  <cp:revision>14</cp:revision>
  <dcterms:modified xsi:type="dcterms:W3CDTF">2025-11-13T13:24:22Z</dcterms:modified>
</cp:coreProperties>
</file>