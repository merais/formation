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767" r:id="rId1"/>
  </p:sldMasterIdLst>
  <p:notesMasterIdLst>
    <p:notesMasterId r:id="rId21"/>
  </p:notesMasterIdLst>
  <p:sldIdLst>
    <p:sldId id="256" r:id="rId2"/>
    <p:sldId id="264" r:id="rId3"/>
    <p:sldId id="257" r:id="rId4"/>
    <p:sldId id="261" r:id="rId5"/>
    <p:sldId id="262" r:id="rId6"/>
    <p:sldId id="258" r:id="rId7"/>
    <p:sldId id="266" r:id="rId8"/>
    <p:sldId id="265" r:id="rId9"/>
    <p:sldId id="267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68" r:id="rId19"/>
    <p:sldId id="260" r:id="rId20"/>
  </p:sldIdLst>
  <p:sldSz cx="9144000" cy="5143500" type="screen16x9"/>
  <p:notesSz cx="6858000" cy="9144000"/>
  <p:embeddedFontLst>
    <p:embeddedFont>
      <p:font typeface="Inter" panose="020B0604020202020204" charset="0"/>
      <p:regular r:id="rId22"/>
      <p:bold r:id="rId23"/>
      <p:italic r:id="rId24"/>
      <p:boldItalic r:id="rId25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128" y="8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01f22bfd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01f22bfd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01f22bfd9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01f22bfd9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CC21AD28-C2A0-2663-8A55-981D439D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01f22bfd96_0_5:notes">
            <a:extLst>
              <a:ext uri="{FF2B5EF4-FFF2-40B4-BE49-F238E27FC236}">
                <a16:creationId xmlns:a16="http://schemas.microsoft.com/office/drawing/2014/main" id="{86BEC164-30BB-54E9-5CF9-E520B61D0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01f22bfd96_0_5:notes">
            <a:extLst>
              <a:ext uri="{FF2B5EF4-FFF2-40B4-BE49-F238E27FC236}">
                <a16:creationId xmlns:a16="http://schemas.microsoft.com/office/drawing/2014/main" id="{6C549F34-089F-0FCB-4F8B-9F455FF4DA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1532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4DA333A-04C2-8521-0A7A-E42FDE416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01f22bfd96_0_5:notes">
            <a:extLst>
              <a:ext uri="{FF2B5EF4-FFF2-40B4-BE49-F238E27FC236}">
                <a16:creationId xmlns:a16="http://schemas.microsoft.com/office/drawing/2014/main" id="{75A9F9FB-70F2-F7B2-4196-B4815D3657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01f22bfd96_0_5:notes">
            <a:extLst>
              <a:ext uri="{FF2B5EF4-FFF2-40B4-BE49-F238E27FC236}">
                <a16:creationId xmlns:a16="http://schemas.microsoft.com/office/drawing/2014/main" id="{BA0FB4C2-DADD-41A1-36BA-9444F5B00F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88386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7739FF0D-8FF3-E218-5EEF-ECE429FE4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62812A43-AAF4-4E5A-C86F-9ED95D790B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8919E591-0562-C22A-159A-978B8DEEAD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17071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274AF6BB-8995-68F2-F681-B105E2B90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4921BDF5-AC3B-B225-EE74-B729AE32BB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F882E61E-0734-BE9A-AC84-41E3785BA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072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05F59E1C-15D5-B603-35D1-CFB4F73F8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3D1F0B1C-5AA4-A1E5-8010-F2C5A255E5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3DD01B93-9787-373B-1360-12038830A8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Commande pour afficher les nom et le nombres d’annonces</a:t>
            </a:r>
          </a:p>
          <a:p>
            <a:pPr marL="158750" indent="0">
              <a:buNone/>
            </a:pPr>
            <a:endParaRPr lang="fr-FR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db.paris.aggregate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([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{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$group: {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  _id: "$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host_id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",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  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nom_hote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{ $first: "$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host_name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" },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  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nombre_annonces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{ $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sum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1 }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}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},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{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$match: {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  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nombre_annonces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{ $gt: 100 }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}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},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{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$sort: { 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nombre_annonces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-1 }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},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{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$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project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{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  _id: 0,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  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nom_hote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1,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  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nombre_annonces</a:t>
            </a: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1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  }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 }</a:t>
            </a:r>
          </a:p>
          <a:p>
            <a:pPr marL="158750" indent="0">
              <a:buNone/>
            </a:pPr>
            <a:r>
              <a:rPr lang="fr-FR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17053761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83BB72E3-A34C-9689-BB0E-21F56C3A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C93E7681-594B-889D-2CEC-EFCF1DE4BB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B1BCF524-13D2-6EF8-27A1-DC8BEEDAF2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71788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27AA1ACC-0064-DB2C-36DC-C9318A3CA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56A49FFC-C1DB-B1D9-A798-E380B9490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D6AC05DC-676A-1947-8AD6-A29952A41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19273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229E0989-5BAB-EB79-7532-CB6F52CFE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0DD25FDA-CF15-B97C-2950-1F0E349A02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0A56AF6C-58C6-B703-C80B-7953ECFCA0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4206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4D11CA3A-6789-6BBD-83B6-17AF5B315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8B24134D-9C83-75FA-20C0-ADF3A15A65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CB0D957A-3E02-CF4F-BDF0-ED4E6B7C39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385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BBEF7F97-6E4C-A97A-83F8-97D8A5688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F1DF31CB-C55F-5F9C-F07F-448E768A36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610F31D0-C873-AFF8-3FD0-B8965FDE87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3988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D0D78ADC-5176-D1B7-84C4-56F778558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B61A3C18-68C5-06AB-DC9D-1D2F62C7F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23AE0B98-E8FC-BC54-D4C2-A123D50339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5437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271E940C-0D08-3FCC-3016-6BA1B7B25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01f22bfd96_0_10:notes">
            <a:extLst>
              <a:ext uri="{FF2B5EF4-FFF2-40B4-BE49-F238E27FC236}">
                <a16:creationId xmlns:a16="http://schemas.microsoft.com/office/drawing/2014/main" id="{F16A4FBA-714D-42B5-BCE2-6DF47953A1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01f22bfd96_0_10:notes">
            <a:extLst>
              <a:ext uri="{FF2B5EF4-FFF2-40B4-BE49-F238E27FC236}">
                <a16:creationId xmlns:a16="http://schemas.microsoft.com/office/drawing/2014/main" id="{01B430DB-DCCE-2EA5-69AB-67087D2281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9721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01f22bfd9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01f22bfd9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D64991-0DBE-DEE8-B2D1-A7DC4CF25C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5784DBC-245B-692E-9CB8-E213F52CA8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A5DB171-963E-7297-39EF-2A1097AC0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0C0-A710-4910-B5E0-DB9D274D2023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707CFA7-2BBC-99FA-48C9-BF8186969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A43C029-63DF-B50D-841F-DBBD288FA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94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CD8859-6221-482D-2517-4E26AE15B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C33279-1FBA-D3F2-68D4-D09D0438B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5AF5D3-9050-2B17-550A-54EBBD551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2396F-3457-4D04-AF04-E63BC81132C3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6BD8CF3-D94F-A75D-861D-445DEA4CD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5A878DA-868B-5CC9-6AB0-C5F3DB0B1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4713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E4BAFC-F016-0B46-36AD-72EF5BA9F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4BD283C-C4D5-5885-12EE-75F7959D0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B5D9498-FB2A-382B-166F-694EC37E3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D0224-1E5F-4712-A9D1-B54A5DB7017C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3D0682-4A40-270B-356F-9E9FC0C52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9C2795-3BD8-BD8C-C663-349660B47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4455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E014CE-5CBF-B636-B6E7-017E1E95B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BCE502-237B-2A30-905B-38B103E56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7F6044D-1734-4CDB-52CB-1DD295F520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E58E6D6-D928-B7D1-E775-8CE679909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2FBE-909F-443E-97D2-B694DB5EBC7C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69066FD-1F1F-5D47-0246-66FBB54A3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91E0000-46F8-1B54-899D-173A83E5C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7114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A999F0-43FB-8FE9-45D6-66A64F51F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CEC5906-775D-9549-E057-B6F547420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BF221EA-C365-CAA8-BBC5-0D0ABEC56E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1AE2D21-640A-6592-10AF-BAAAE43307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39284F7-ADB4-7228-EB84-0AA425BEA5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6E5FD6-5881-3D5F-BE20-45C025D8F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E62BF-A0B0-4CF6-BF17-951A7C34733D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A93D624-DB29-0CB6-A5F8-5CF97FB82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376E648-50A4-6A27-D6F5-78398FC3A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20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F0F149-86AD-8440-1FC7-1BE99E3A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B00B3AE-4B23-B3D1-80F1-202FC7E6D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C8DCD-575C-4946-A047-F73D0EB2F7F4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7CAF1B7-4DC7-EADE-A941-CC6E56F46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6541F8-C4B7-2561-2044-2992A41A4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0316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B5FA08-9F0E-4A05-4379-53B9628DC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881F4-7CDF-4794-9DB9-6BD70E5B273D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A83EA50-B591-8AC3-FCF0-ABC241767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65B156B-BB87-CB51-A6CF-47CE29165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9862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C1A388-4096-164D-30F0-AC549B0DC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DF8321-032E-4E91-03F7-3EB43238C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B9BFA11-8211-DFFA-22E2-7F551B9304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72C40B6-5E3F-F935-5BC2-0BFFE1EB8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09E83-0035-44D5-87EC-F2D54F0FDCB0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981D380-0FFF-3CA3-190C-88A6F835F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FC1B280-79C0-2C15-FF15-C6CC27585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0636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477172-3EF7-AB62-ED6F-8D98B7668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42624FB-98AF-8255-DAB7-E13498897A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F190DAD-779A-E54D-3140-34BAC325A4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EFB136-4092-5E39-EF41-3C04A82FD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9C966-7783-4DD0-88AD-BADEA37819B1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717BB32-AA45-8A98-2E01-8270259EB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D7AB384-21E4-7D1B-B027-B9C0BC784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612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57085B-1B9B-E5A2-C3C6-250DE5F4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8DA8DFC-BC7F-9888-3628-5D90B5502B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B96AED-E446-8800-220B-018E1B1DF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E520-D3DA-4B24-96B0-A8ED8702D7BE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7350CE-6947-356E-6B12-E3344A6CC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4DA6B32-C0EC-964B-C59F-8A38EAC6E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8193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312A040-39D9-7FB7-F2FC-90C3325E8C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6F246D9-B7C3-588B-AB50-3208F22DF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17E885-5C58-0F02-EB2E-AD405AA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8B682-BFD4-432E-8603-851B7BC8572B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71CBB7-E992-B51A-3FF4-56BFE7B44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82AC44-15CC-47A5-1749-8115A136D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77244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72117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40000"/>
                <a:lumOff val="60000"/>
              </a:schemeClr>
            </a:gs>
            <a:gs pos="48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B0D484-0964-CBD4-66EA-773558BCF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A1366FB-3831-FDC6-0685-71AC99E55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CE98-4D9C-A701-D75F-20594633E1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9E0676-7469-44B2-B21C-45B445B9389A}" type="datetime1">
              <a:rPr lang="en-US" smtClean="0"/>
              <a:t>11/14/2025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01AA79-E08D-BFA4-4F97-F7FB378E1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8C6674-AC82-2428-5A78-0554EEC221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4220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  <p:sldLayoutId id="2147483779" r:id="rId1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7" Type="http://schemas.openxmlformats.org/officeDocument/2006/relationships/image" Target="../media/image18.png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0" y="1545450"/>
            <a:ext cx="9144000" cy="2052600"/>
          </a:xfrm>
          <a:prstGeom prst="rect">
            <a:avLst/>
          </a:prstGeom>
          <a:solidFill>
            <a:schemeClr val="bg1"/>
          </a:solidFill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>
                <a:solidFill>
                  <a:srgbClr val="002060"/>
                </a:solidFill>
                <a:latin typeface="+mn-lt"/>
              </a:rPr>
              <a:t>Audit de Sauvegarde Post-Crash</a:t>
            </a:r>
            <a:br>
              <a:rPr lang="fr-FR" dirty="0">
                <a:solidFill>
                  <a:srgbClr val="002060"/>
                </a:solidFill>
                <a:latin typeface="+mn-lt"/>
              </a:rPr>
            </a:br>
            <a:r>
              <a:rPr lang="fr-FR" sz="2000" b="1" dirty="0">
                <a:solidFill>
                  <a:srgbClr val="002060"/>
                </a:solidFill>
                <a:latin typeface="+mn-lt"/>
              </a:rPr>
              <a:t>Intégrité</a:t>
            </a:r>
            <a:r>
              <a:rPr lang="fr-FR" sz="2000" dirty="0">
                <a:solidFill>
                  <a:srgbClr val="002060"/>
                </a:solidFill>
                <a:latin typeface="+mn-lt"/>
              </a:rPr>
              <a:t> et </a:t>
            </a:r>
            <a:r>
              <a:rPr lang="fr-FR" sz="2000" b="1" dirty="0">
                <a:solidFill>
                  <a:srgbClr val="002060"/>
                </a:solidFill>
                <a:latin typeface="+mn-lt"/>
              </a:rPr>
              <a:t>Fiabilité</a:t>
            </a:r>
            <a:r>
              <a:rPr lang="fr-FR" sz="2000" dirty="0">
                <a:solidFill>
                  <a:srgbClr val="002060"/>
                </a:solidFill>
                <a:latin typeface="+mn-lt"/>
              </a:rPr>
              <a:t> des données de Paris.</a:t>
            </a:r>
            <a:endParaRPr dirty="0">
              <a:solidFill>
                <a:srgbClr val="002060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14">
            <a:extLst>
              <a:ext uri="{FF2B5EF4-FFF2-40B4-BE49-F238E27FC236}">
                <a16:creationId xmlns:a16="http://schemas.microsoft.com/office/drawing/2014/main" id="{43EABCED-5C81-E596-4CEE-697403A9848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wrap="none" lIns="36000" tIns="36000" rIns="36000" bIns="360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2500" dirty="0">
                <a:solidFill>
                  <a:srgbClr val="002060"/>
                </a:solidFill>
                <a:latin typeface="+mn-lt"/>
              </a:rPr>
              <a:t>Contexte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A7E08827-509D-93AF-96E9-97AD53109B99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fr-FR" sz="1600" dirty="0">
                <a:solidFill>
                  <a:schemeClr val="lt1">
                    <a:alpha val="98000"/>
                  </a:schemeClr>
                </a:solidFill>
              </a:rPr>
              <a:t>💥 </a:t>
            </a:r>
            <a:r>
              <a:rPr lang="fr-FR" sz="1600" b="1" u="sng" dirty="0">
                <a:solidFill>
                  <a:srgbClr val="002060">
                    <a:alpha val="98000"/>
                  </a:srgbClr>
                </a:solidFill>
              </a:rPr>
              <a:t>Contexte Urgent : </a:t>
            </a:r>
          </a:p>
          <a:p>
            <a:endParaRPr lang="fr-FR" sz="700" b="1" u="sng" dirty="0">
              <a:solidFill>
                <a:srgbClr val="002060">
                  <a:alpha val="98000"/>
                </a:srgbClr>
              </a:solidFill>
            </a:endParaRPr>
          </a:p>
          <a:p>
            <a:pPr marL="285750" indent="-285750">
              <a:buFontTx/>
              <a:buChar char="-"/>
            </a:pPr>
            <a:r>
              <a:rPr lang="fr-FR" sz="1200" b="1" dirty="0">
                <a:solidFill>
                  <a:srgbClr val="002060">
                    <a:alpha val="98000"/>
                  </a:srgbClr>
                </a:solidFill>
              </a:rPr>
              <a:t>Sauvetage des données 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de Paris suite a </a:t>
            </a:r>
            <a:r>
              <a:rPr lang="fr-FR" sz="1200" b="1" dirty="0">
                <a:solidFill>
                  <a:srgbClr val="002060">
                    <a:alpha val="98000"/>
                  </a:srgbClr>
                </a:solidFill>
              </a:rPr>
              <a:t>un crash total de la base de données potentiellement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 du à une </a:t>
            </a:r>
            <a:r>
              <a:rPr lang="fr-FR" sz="1200" b="1" dirty="0">
                <a:solidFill>
                  <a:srgbClr val="002060">
                    <a:alpha val="98000"/>
                  </a:srgbClr>
                </a:solidFill>
              </a:rPr>
              <a:t>attaque malveillante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.</a:t>
            </a:r>
          </a:p>
          <a:p>
            <a:endParaRPr lang="fr-FR" sz="800" dirty="0">
              <a:solidFill>
                <a:srgbClr val="002060">
                  <a:alpha val="98000"/>
                </a:srgbClr>
              </a:solidFill>
            </a:endParaRPr>
          </a:p>
          <a:p>
            <a:endParaRPr lang="fr-FR" sz="800" dirty="0">
              <a:solidFill>
                <a:srgbClr val="002060">
                  <a:alpha val="98000"/>
                </a:srgbClr>
              </a:solidFill>
            </a:endParaRPr>
          </a:p>
          <a:p>
            <a:r>
              <a:rPr lang="fr-FR" sz="1600" dirty="0">
                <a:solidFill>
                  <a:srgbClr val="002060">
                    <a:alpha val="98000"/>
                  </a:srgbClr>
                </a:solidFill>
              </a:rPr>
              <a:t>🚨 </a:t>
            </a:r>
            <a:r>
              <a:rPr lang="fr-FR" sz="1600" b="1" u="sng" dirty="0">
                <a:solidFill>
                  <a:srgbClr val="002060">
                    <a:alpha val="98000"/>
                  </a:srgbClr>
                </a:solidFill>
              </a:rPr>
              <a:t>La Crise :</a:t>
            </a:r>
          </a:p>
          <a:p>
            <a:endParaRPr lang="fr-FR" sz="700" b="1" u="sng" dirty="0">
              <a:solidFill>
                <a:srgbClr val="002060">
                  <a:alpha val="98000"/>
                </a:srgbClr>
              </a:solidFill>
            </a:endParaRPr>
          </a:p>
          <a:p>
            <a:pPr marL="285750" indent="-285750">
              <a:buFontTx/>
              <a:buChar char="-"/>
            </a:pPr>
            <a:r>
              <a:rPr lang="fr-FR" sz="1200" b="1" i="1" dirty="0">
                <a:solidFill>
                  <a:srgbClr val="002060">
                    <a:alpha val="98000"/>
                  </a:srgbClr>
                </a:solidFill>
              </a:rPr>
              <a:t>Problème</a:t>
            </a:r>
            <a:r>
              <a:rPr lang="fr-FR" sz="1200" i="1" dirty="0">
                <a:solidFill>
                  <a:srgbClr val="002060">
                    <a:alpha val="98000"/>
                  </a:srgbClr>
                </a:solidFill>
              </a:rPr>
              <a:t> :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 Crash total de la base de données MongoDB des locations parisiennes </a:t>
            </a:r>
            <a:r>
              <a:rPr lang="fr-FR" sz="1200" i="1" dirty="0">
                <a:solidFill>
                  <a:srgbClr val="002060">
                    <a:alpha val="98000"/>
                  </a:srgbClr>
                </a:solidFill>
              </a:rPr>
              <a:t>(été 2024) 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sur nos serveurs internes.</a:t>
            </a:r>
          </a:p>
          <a:p>
            <a:pPr marL="285750" indent="-285750">
              <a:buFontTx/>
              <a:buChar char="-"/>
            </a:pPr>
            <a:r>
              <a:rPr lang="fr-FR" sz="1200" b="1" i="1" dirty="0">
                <a:solidFill>
                  <a:srgbClr val="002060">
                    <a:alpha val="98000"/>
                  </a:srgbClr>
                </a:solidFill>
              </a:rPr>
              <a:t>Enjeu</a:t>
            </a:r>
            <a:r>
              <a:rPr lang="fr-FR" sz="1200" i="1" dirty="0">
                <a:solidFill>
                  <a:srgbClr val="002060">
                    <a:alpha val="98000"/>
                  </a:srgbClr>
                </a:solidFill>
              </a:rPr>
              <a:t> :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 L'association </a:t>
            </a:r>
            <a:r>
              <a:rPr lang="fr-FR" sz="1200" dirty="0" err="1">
                <a:solidFill>
                  <a:srgbClr val="002060">
                    <a:alpha val="98000"/>
                  </a:srgbClr>
                </a:solidFill>
              </a:rPr>
              <a:t>NosCités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 doit publier un rapport crucial sur l'effet "JO 2024" sur l'offre de logements.</a:t>
            </a:r>
            <a:endParaRPr lang="fr-FR" sz="800" dirty="0">
              <a:solidFill>
                <a:srgbClr val="002060">
                  <a:alpha val="98000"/>
                </a:srgbClr>
              </a:solidFill>
            </a:endParaRPr>
          </a:p>
          <a:p>
            <a:endParaRPr lang="fr-FR" sz="800" dirty="0">
              <a:solidFill>
                <a:srgbClr val="002060">
                  <a:alpha val="98000"/>
                </a:srgbClr>
              </a:solidFill>
            </a:endParaRPr>
          </a:p>
          <a:p>
            <a:endParaRPr lang="fr-FR" sz="800" dirty="0">
              <a:solidFill>
                <a:srgbClr val="002060">
                  <a:alpha val="98000"/>
                </a:srgbClr>
              </a:solidFill>
            </a:endParaRPr>
          </a:p>
          <a:p>
            <a:r>
              <a:rPr lang="fr-FR" sz="1600" dirty="0">
                <a:solidFill>
                  <a:srgbClr val="002060">
                    <a:alpha val="98000"/>
                  </a:srgbClr>
                </a:solidFill>
              </a:rPr>
              <a:t>🎯 </a:t>
            </a:r>
            <a:r>
              <a:rPr lang="fr-FR" sz="1600" b="1" u="sng" dirty="0">
                <a:solidFill>
                  <a:srgbClr val="002060">
                    <a:alpha val="98000"/>
                  </a:srgbClr>
                </a:solidFill>
              </a:rPr>
              <a:t>Objectif Data </a:t>
            </a:r>
            <a:r>
              <a:rPr lang="fr-FR" sz="1600" b="1" u="sng" dirty="0" err="1">
                <a:solidFill>
                  <a:srgbClr val="002060">
                    <a:alpha val="98000"/>
                  </a:srgbClr>
                </a:solidFill>
              </a:rPr>
              <a:t>Engineer</a:t>
            </a:r>
            <a:r>
              <a:rPr lang="fr-FR" sz="1600" b="1" u="sng" dirty="0">
                <a:solidFill>
                  <a:srgbClr val="002060">
                    <a:alpha val="98000"/>
                  </a:srgbClr>
                </a:solidFill>
              </a:rPr>
              <a:t> :</a:t>
            </a:r>
          </a:p>
          <a:p>
            <a:endParaRPr lang="fr-FR" sz="700" dirty="0">
              <a:solidFill>
                <a:srgbClr val="002060">
                  <a:alpha val="98000"/>
                </a:srgbClr>
              </a:solidFill>
            </a:endParaRPr>
          </a:p>
          <a:p>
            <a:pPr marL="285750" indent="-285750">
              <a:buFontTx/>
              <a:buChar char="-"/>
            </a:pPr>
            <a:r>
              <a:rPr lang="fr-FR" sz="1200" b="1" dirty="0">
                <a:solidFill>
                  <a:srgbClr val="002060">
                    <a:alpha val="98000"/>
                  </a:srgbClr>
                </a:solidFill>
              </a:rPr>
              <a:t>Rétablir, Explorer et Valider la fiabilité 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de la seule sauvegarde disponible pour Paris.</a:t>
            </a:r>
          </a:p>
          <a:p>
            <a:pPr marL="285750" indent="-285750">
              <a:buFontTx/>
              <a:buChar char="-"/>
            </a:pPr>
            <a:r>
              <a:rPr lang="fr-FR" sz="1200" b="1" dirty="0">
                <a:solidFill>
                  <a:srgbClr val="002060">
                    <a:alpha val="98000"/>
                  </a:srgbClr>
                </a:solidFill>
              </a:rPr>
              <a:t>Restauration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 : Importer la sauvegarde dans MongoDB.</a:t>
            </a:r>
          </a:p>
          <a:p>
            <a:pPr marL="285750" indent="-285750">
              <a:buFontTx/>
              <a:buChar char="-"/>
            </a:pPr>
            <a:r>
              <a:rPr lang="fr-FR" sz="1200" b="1" dirty="0">
                <a:solidFill>
                  <a:srgbClr val="002060">
                    <a:alpha val="98000"/>
                  </a:srgbClr>
                </a:solidFill>
              </a:rPr>
              <a:t>Analyse</a:t>
            </a:r>
            <a:r>
              <a:rPr lang="fr-FR" sz="1200" dirty="0">
                <a:solidFill>
                  <a:srgbClr val="002060">
                    <a:alpha val="98000"/>
                  </a:srgbClr>
                </a:solidFill>
              </a:rPr>
              <a:t> : Confirmer la structure et l'intégrité des données (Dictionnaire).Prévention : Mettre en place des mesures pour sécuriser l'utilisation future.</a:t>
            </a:r>
          </a:p>
        </p:txBody>
      </p:sp>
      <p:sp>
        <p:nvSpPr>
          <p:cNvPr id="6" name="Espace réservé du numéro de diapositive 8">
            <a:extLst>
              <a:ext uri="{FF2B5EF4-FFF2-40B4-BE49-F238E27FC236}">
                <a16:creationId xmlns:a16="http://schemas.microsoft.com/office/drawing/2014/main" id="{3857D4E4-134D-5D75-1F4A-B56D1F2764C8}"/>
              </a:ext>
            </a:extLst>
          </p:cNvPr>
          <p:cNvSpPr txBox="1">
            <a:spLocks/>
          </p:cNvSpPr>
          <p:nvPr/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000000-1234-1234-1234-123412341234}" type="slidenum">
              <a:rPr lang="fr-FR" smtClean="0"/>
              <a:pPr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0298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6298C6C4-363F-E7D9-073B-93FED29AC0B2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wrap="none" lIns="36000" tIns="36000" rIns="36000" bIns="3600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Importation des données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C01C850-3CF4-673D-F515-EF3E63368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673" y="1072380"/>
            <a:ext cx="2101645" cy="162063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EEDFFAE6-56C9-AEF7-2CF4-748A244090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5673" y="2942813"/>
            <a:ext cx="2617839" cy="16218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BE141855-4FA2-EC13-CEA7-4A6453BFD8D0}"/>
              </a:ext>
            </a:extLst>
          </p:cNvPr>
          <p:cNvSpPr txBox="1"/>
          <p:nvPr/>
        </p:nvSpPr>
        <p:spPr>
          <a:xfrm>
            <a:off x="771828" y="1410934"/>
            <a:ext cx="4139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rgbClr val="002060"/>
                </a:solidFill>
              </a:rPr>
              <a:t>- </a:t>
            </a:r>
            <a:r>
              <a:rPr lang="fr-FR" sz="1200" b="1" dirty="0">
                <a:solidFill>
                  <a:srgbClr val="002060"/>
                </a:solidFill>
              </a:rPr>
              <a:t>Création de la base de données :</a:t>
            </a:r>
            <a:r>
              <a:rPr lang="fr-FR" sz="1200" dirty="0">
                <a:solidFill>
                  <a:srgbClr val="002060"/>
                </a:solidFill>
              </a:rPr>
              <a:t> listings.</a:t>
            </a:r>
          </a:p>
          <a:p>
            <a:r>
              <a:rPr lang="fr-FR" sz="1200" dirty="0">
                <a:solidFill>
                  <a:srgbClr val="002060"/>
                </a:solidFill>
              </a:rPr>
              <a:t>- </a:t>
            </a:r>
            <a:r>
              <a:rPr lang="fr-FR" sz="1200" b="1" dirty="0">
                <a:solidFill>
                  <a:srgbClr val="002060"/>
                </a:solidFill>
              </a:rPr>
              <a:t>Ainsi que la collection : </a:t>
            </a:r>
            <a:r>
              <a:rPr lang="fr-FR" sz="1200" dirty="0">
                <a:solidFill>
                  <a:srgbClr val="002060"/>
                </a:solidFill>
              </a:rPr>
              <a:t>paris.</a:t>
            </a:r>
          </a:p>
          <a:p>
            <a:r>
              <a:rPr lang="fr-FR" sz="1200" dirty="0">
                <a:solidFill>
                  <a:srgbClr val="002060"/>
                </a:solidFill>
              </a:rPr>
              <a:t>- Puis clic sur </a:t>
            </a:r>
            <a:r>
              <a:rPr lang="fr-FR" sz="1200" b="1" dirty="0" err="1">
                <a:solidFill>
                  <a:srgbClr val="002060"/>
                </a:solidFill>
              </a:rPr>
              <a:t>Create</a:t>
            </a:r>
            <a:r>
              <a:rPr lang="fr-FR" sz="1200" b="1" dirty="0">
                <a:solidFill>
                  <a:srgbClr val="002060"/>
                </a:solidFill>
              </a:rPr>
              <a:t> </a:t>
            </a:r>
            <a:r>
              <a:rPr lang="fr-FR" sz="1200" b="1" dirty="0" err="1">
                <a:solidFill>
                  <a:srgbClr val="002060"/>
                </a:solidFill>
              </a:rPr>
              <a:t>Database</a:t>
            </a:r>
            <a:r>
              <a:rPr lang="fr-FR" sz="1200" dirty="0">
                <a:solidFill>
                  <a:srgbClr val="002060"/>
                </a:solidFill>
              </a:rPr>
              <a:t>.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AD17C6E-838B-C068-CEDB-67F71473352D}"/>
              </a:ext>
            </a:extLst>
          </p:cNvPr>
          <p:cNvSpPr txBox="1"/>
          <p:nvPr/>
        </p:nvSpPr>
        <p:spPr>
          <a:xfrm>
            <a:off x="771828" y="3430575"/>
            <a:ext cx="41393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rgbClr val="002060"/>
                </a:solidFill>
              </a:rPr>
              <a:t>1- </a:t>
            </a:r>
            <a:r>
              <a:rPr lang="fr-FR" sz="1200" b="1" dirty="0">
                <a:solidFill>
                  <a:srgbClr val="002060"/>
                </a:solidFill>
              </a:rPr>
              <a:t>Clic</a:t>
            </a:r>
            <a:r>
              <a:rPr lang="fr-FR" sz="1200" dirty="0">
                <a:solidFill>
                  <a:srgbClr val="002060"/>
                </a:solidFill>
              </a:rPr>
              <a:t> sur </a:t>
            </a:r>
            <a:r>
              <a:rPr lang="fr-FR" sz="1200" b="1" dirty="0">
                <a:solidFill>
                  <a:srgbClr val="002060"/>
                </a:solidFill>
              </a:rPr>
              <a:t>ADD DATA</a:t>
            </a:r>
            <a:r>
              <a:rPr lang="fr-FR" sz="1200" dirty="0">
                <a:solidFill>
                  <a:srgbClr val="002060"/>
                </a:solidFill>
              </a:rPr>
              <a:t>.</a:t>
            </a:r>
          </a:p>
          <a:p>
            <a:r>
              <a:rPr lang="fr-FR" sz="1200" dirty="0">
                <a:solidFill>
                  <a:srgbClr val="002060"/>
                </a:solidFill>
              </a:rPr>
              <a:t>2- </a:t>
            </a:r>
            <a:r>
              <a:rPr lang="fr-FR" sz="1200" b="1" dirty="0">
                <a:solidFill>
                  <a:srgbClr val="002060"/>
                </a:solidFill>
              </a:rPr>
              <a:t>Clic</a:t>
            </a:r>
            <a:r>
              <a:rPr lang="fr-FR" sz="1200" dirty="0">
                <a:solidFill>
                  <a:srgbClr val="002060"/>
                </a:solidFill>
              </a:rPr>
              <a:t> sur </a:t>
            </a:r>
            <a:r>
              <a:rPr lang="fr-FR" sz="1200" b="1" dirty="0">
                <a:solidFill>
                  <a:srgbClr val="002060"/>
                </a:solidFill>
              </a:rPr>
              <a:t>Import JSON or CSV file</a:t>
            </a:r>
            <a:r>
              <a:rPr lang="fr-FR" sz="1200" dirty="0">
                <a:solidFill>
                  <a:srgbClr val="002060"/>
                </a:solidFill>
              </a:rPr>
              <a:t>.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552046-CB77-2B60-E887-16099C697EF0}"/>
              </a:ext>
            </a:extLst>
          </p:cNvPr>
          <p:cNvSpPr txBox="1"/>
          <p:nvPr/>
        </p:nvSpPr>
        <p:spPr>
          <a:xfrm>
            <a:off x="771828" y="2937639"/>
            <a:ext cx="4057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📝 </a:t>
            </a:r>
            <a:r>
              <a:rPr lang="fr-FR" sz="1600" b="1" u="sng" dirty="0">
                <a:solidFill>
                  <a:srgbClr val="002060"/>
                </a:solidFill>
              </a:rPr>
              <a:t>Importation du fichier source :</a:t>
            </a:r>
            <a:endParaRPr lang="fr-FR" sz="16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65397B5-F579-EF90-08C4-818D4766E17D}"/>
              </a:ext>
            </a:extLst>
          </p:cNvPr>
          <p:cNvSpPr txBox="1"/>
          <p:nvPr/>
        </p:nvSpPr>
        <p:spPr>
          <a:xfrm>
            <a:off x="771828" y="1072380"/>
            <a:ext cx="36056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💾 </a:t>
            </a:r>
            <a:r>
              <a:rPr lang="fr-FR" sz="1600" b="1" u="sng" dirty="0" err="1">
                <a:solidFill>
                  <a:srgbClr val="002060"/>
                </a:solidFill>
              </a:rPr>
              <a:t>Database</a:t>
            </a:r>
            <a:r>
              <a:rPr lang="fr-FR" sz="1600" b="1" u="sng" dirty="0">
                <a:solidFill>
                  <a:srgbClr val="002060"/>
                </a:solidFill>
              </a:rPr>
              <a:t> et collection :</a:t>
            </a:r>
            <a:endParaRPr lang="fr-FR" sz="1600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4E2DA0B-AB5F-AD79-CF0B-BB37FDA750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</a:t>
            </a:fld>
            <a:endParaRPr lang="fr-F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55E0807C-7EA9-5CBB-3AB7-51D677CC077F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19C9C74-45A3-1B90-EEC9-47B2F8FEC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280" y="2864495"/>
            <a:ext cx="2674177" cy="194902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35B8B41-1C98-5464-5AC1-D14B2714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884" y="897626"/>
            <a:ext cx="2988971" cy="162772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CEC512BB-2C05-F749-5C91-C6983F9D9627}"/>
              </a:ext>
            </a:extLst>
          </p:cNvPr>
          <p:cNvSpPr txBox="1"/>
          <p:nvPr/>
        </p:nvSpPr>
        <p:spPr>
          <a:xfrm>
            <a:off x="565354" y="1580685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rgbClr val="002060"/>
                </a:solidFill>
              </a:rPr>
              <a:t>3- </a:t>
            </a:r>
            <a:r>
              <a:rPr lang="fr-FR" sz="1100" b="1" dirty="0">
                <a:solidFill>
                  <a:srgbClr val="002060"/>
                </a:solidFill>
              </a:rPr>
              <a:t>Sélection</a:t>
            </a:r>
            <a:r>
              <a:rPr lang="fr-FR" sz="1100" dirty="0">
                <a:solidFill>
                  <a:srgbClr val="002060"/>
                </a:solidFill>
              </a:rPr>
              <a:t> du fichier </a:t>
            </a:r>
            <a:r>
              <a:rPr lang="fr-FR" sz="1100" b="1" dirty="0">
                <a:solidFill>
                  <a:srgbClr val="002060"/>
                </a:solidFill>
              </a:rPr>
              <a:t>CSV</a:t>
            </a:r>
            <a:r>
              <a:rPr lang="fr-FR" sz="1100" dirty="0">
                <a:solidFill>
                  <a:srgbClr val="002060"/>
                </a:solidFill>
              </a:rPr>
              <a:t> fournis puis </a:t>
            </a:r>
            <a:r>
              <a:rPr lang="fr-FR" sz="1100" b="1" dirty="0">
                <a:solidFill>
                  <a:srgbClr val="002060"/>
                </a:solidFill>
              </a:rPr>
              <a:t>Select</a:t>
            </a:r>
            <a:r>
              <a:rPr lang="fr-FR" sz="1100" dirty="0">
                <a:solidFill>
                  <a:srgbClr val="002060"/>
                </a:solidFill>
              </a:rPr>
              <a:t>.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3105D9C-3889-8A6E-2712-CF7C742E1C0B}"/>
              </a:ext>
            </a:extLst>
          </p:cNvPr>
          <p:cNvSpPr txBox="1"/>
          <p:nvPr/>
        </p:nvSpPr>
        <p:spPr>
          <a:xfrm>
            <a:off x="565354" y="3669730"/>
            <a:ext cx="496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rgbClr val="002060"/>
                </a:solidFill>
              </a:rPr>
              <a:t>4- </a:t>
            </a:r>
            <a:r>
              <a:rPr lang="fr-FR" sz="1100" b="1" dirty="0">
                <a:solidFill>
                  <a:srgbClr val="002060"/>
                </a:solidFill>
              </a:rPr>
              <a:t>Vérification</a:t>
            </a:r>
            <a:r>
              <a:rPr lang="fr-FR" sz="1100" dirty="0">
                <a:solidFill>
                  <a:srgbClr val="002060"/>
                </a:solidFill>
              </a:rPr>
              <a:t> du </a:t>
            </a:r>
            <a:r>
              <a:rPr lang="fr-FR" sz="1100" b="1" dirty="0">
                <a:solidFill>
                  <a:srgbClr val="002060"/>
                </a:solidFill>
              </a:rPr>
              <a:t>délimiter</a:t>
            </a:r>
            <a:r>
              <a:rPr lang="fr-FR" sz="1100" dirty="0">
                <a:solidFill>
                  <a:srgbClr val="002060"/>
                </a:solidFill>
              </a:rPr>
              <a:t> </a:t>
            </a:r>
            <a:r>
              <a:rPr lang="fr-FR" sz="1100" i="1" dirty="0">
                <a:solidFill>
                  <a:srgbClr val="002060"/>
                </a:solidFill>
              </a:rPr>
              <a:t>(Select </a:t>
            </a:r>
            <a:r>
              <a:rPr lang="fr-FR" sz="1100" i="1" dirty="0" err="1">
                <a:solidFill>
                  <a:srgbClr val="002060"/>
                </a:solidFill>
              </a:rPr>
              <a:t>delimiter</a:t>
            </a:r>
            <a:r>
              <a:rPr lang="fr-FR" sz="1100" i="1" dirty="0">
                <a:solidFill>
                  <a:srgbClr val="002060"/>
                </a:solidFill>
              </a:rPr>
              <a:t>) </a:t>
            </a:r>
            <a:r>
              <a:rPr lang="fr-FR" sz="1100" dirty="0">
                <a:solidFill>
                  <a:srgbClr val="002060"/>
                </a:solidFill>
              </a:rPr>
              <a:t>puis </a:t>
            </a:r>
            <a:r>
              <a:rPr lang="fr-FR" sz="1100" b="1" dirty="0">
                <a:solidFill>
                  <a:srgbClr val="002060"/>
                </a:solidFill>
              </a:rPr>
              <a:t>Import</a:t>
            </a:r>
            <a:r>
              <a:rPr lang="fr-FR" sz="1100" dirty="0">
                <a:solidFill>
                  <a:srgbClr val="002060"/>
                </a:solidFill>
              </a:rPr>
              <a:t>.</a:t>
            </a:r>
          </a:p>
        </p:txBody>
      </p:sp>
      <p:sp>
        <p:nvSpPr>
          <p:cNvPr id="7" name="Google Shape;60;p14">
            <a:extLst>
              <a:ext uri="{FF2B5EF4-FFF2-40B4-BE49-F238E27FC236}">
                <a16:creationId xmlns:a16="http://schemas.microsoft.com/office/drawing/2014/main" id="{2D5A01D8-ADC0-C8EF-525E-5A309B812D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6350"/>
            <a:ext cx="9144000" cy="57905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Importation des données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8FFDF2E0-30F8-2E83-BD2C-F7985038A2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22490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3D51CA99-F683-D34A-6F99-91A5E6072747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5B142F4-09B4-6D48-3A03-4D98C1226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355" y="2571750"/>
            <a:ext cx="3534455" cy="188624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5C37BEA-DC5D-CB9B-9B21-36ADDDD8B2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355" y="1276016"/>
            <a:ext cx="2917251" cy="45045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1EB47005-40D1-256D-765D-FA1735CF0B77}"/>
              </a:ext>
            </a:extLst>
          </p:cNvPr>
          <p:cNvSpPr txBox="1"/>
          <p:nvPr/>
        </p:nvSpPr>
        <p:spPr>
          <a:xfrm>
            <a:off x="565355" y="1285801"/>
            <a:ext cx="386606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rgbClr val="002060"/>
                </a:solidFill>
              </a:rPr>
              <a:t>5- </a:t>
            </a:r>
            <a:r>
              <a:rPr lang="fr-FR" sz="1100" b="1" dirty="0">
                <a:solidFill>
                  <a:srgbClr val="002060"/>
                </a:solidFill>
              </a:rPr>
              <a:t>En bas a gauche</a:t>
            </a:r>
            <a:r>
              <a:rPr lang="fr-FR" sz="1100" dirty="0">
                <a:solidFill>
                  <a:srgbClr val="002060"/>
                </a:solidFill>
              </a:rPr>
              <a:t>, un encart apparait pour afficher l’état </a:t>
            </a:r>
            <a:r>
              <a:rPr lang="fr-FR" sz="1100" b="1" dirty="0">
                <a:solidFill>
                  <a:srgbClr val="002060"/>
                </a:solidFill>
              </a:rPr>
              <a:t>d’avancement</a:t>
            </a:r>
            <a:r>
              <a:rPr lang="fr-FR" sz="1100" dirty="0">
                <a:solidFill>
                  <a:srgbClr val="002060"/>
                </a:solidFill>
              </a:rPr>
              <a:t> de </a:t>
            </a:r>
            <a:r>
              <a:rPr lang="fr-FR" sz="1100" b="1" dirty="0">
                <a:solidFill>
                  <a:srgbClr val="002060"/>
                </a:solidFill>
              </a:rPr>
              <a:t>l’import</a:t>
            </a:r>
            <a:r>
              <a:rPr lang="fr-FR" sz="1100" dirty="0">
                <a:solidFill>
                  <a:srgbClr val="002060"/>
                </a:solidFill>
              </a:rPr>
              <a:t>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FC1B102-05C3-5811-E42B-E9534DEE9050}"/>
              </a:ext>
            </a:extLst>
          </p:cNvPr>
          <p:cNvSpPr txBox="1"/>
          <p:nvPr/>
        </p:nvSpPr>
        <p:spPr>
          <a:xfrm>
            <a:off x="565355" y="3214788"/>
            <a:ext cx="374167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rgbClr val="002060"/>
                </a:solidFill>
              </a:rPr>
              <a:t>6- Sur la </a:t>
            </a:r>
            <a:r>
              <a:rPr lang="fr-FR" sz="1100" b="1" dirty="0">
                <a:solidFill>
                  <a:srgbClr val="002060"/>
                </a:solidFill>
              </a:rPr>
              <a:t>page de la collection </a:t>
            </a:r>
            <a:r>
              <a:rPr lang="fr-FR" sz="1100" dirty="0">
                <a:solidFill>
                  <a:srgbClr val="002060"/>
                </a:solidFill>
              </a:rPr>
              <a:t>on peut </a:t>
            </a:r>
            <a:r>
              <a:rPr lang="fr-FR" sz="1100" b="1" dirty="0">
                <a:solidFill>
                  <a:srgbClr val="002060"/>
                </a:solidFill>
              </a:rPr>
              <a:t>vérifier</a:t>
            </a:r>
            <a:r>
              <a:rPr lang="fr-FR" sz="1100" dirty="0">
                <a:solidFill>
                  <a:srgbClr val="002060"/>
                </a:solidFill>
              </a:rPr>
              <a:t> </a:t>
            </a:r>
            <a:r>
              <a:rPr lang="fr-FR" sz="1100" i="1" dirty="0">
                <a:solidFill>
                  <a:srgbClr val="002060"/>
                </a:solidFill>
              </a:rPr>
              <a:t>(entre autres)</a:t>
            </a:r>
            <a:r>
              <a:rPr lang="fr-FR" sz="1100" dirty="0">
                <a:solidFill>
                  <a:srgbClr val="002060"/>
                </a:solidFill>
              </a:rPr>
              <a:t> le </a:t>
            </a:r>
            <a:r>
              <a:rPr lang="fr-FR" sz="1100" b="1" dirty="0">
                <a:solidFill>
                  <a:srgbClr val="002060"/>
                </a:solidFill>
              </a:rPr>
              <a:t>nombre de documents </a:t>
            </a:r>
            <a:r>
              <a:rPr lang="fr-FR" sz="1100" dirty="0">
                <a:solidFill>
                  <a:srgbClr val="002060"/>
                </a:solidFill>
              </a:rPr>
              <a:t>importer et voir la </a:t>
            </a:r>
            <a:r>
              <a:rPr lang="fr-FR" sz="1100" b="1" dirty="0">
                <a:solidFill>
                  <a:srgbClr val="002060"/>
                </a:solidFill>
              </a:rPr>
              <a:t>structure</a:t>
            </a:r>
            <a:r>
              <a:rPr lang="fr-FR" sz="1100" dirty="0">
                <a:solidFill>
                  <a:srgbClr val="002060"/>
                </a:solidFill>
              </a:rPr>
              <a:t> du </a:t>
            </a:r>
            <a:r>
              <a:rPr lang="fr-FR" sz="1100" b="1" dirty="0">
                <a:solidFill>
                  <a:srgbClr val="002060"/>
                </a:solidFill>
              </a:rPr>
              <a:t>premier document</a:t>
            </a:r>
            <a:r>
              <a:rPr lang="fr-FR" sz="1100" dirty="0">
                <a:solidFill>
                  <a:srgbClr val="002060"/>
                </a:solidFill>
              </a:rPr>
              <a:t>.</a:t>
            </a:r>
          </a:p>
        </p:txBody>
      </p:sp>
      <p:sp>
        <p:nvSpPr>
          <p:cNvPr id="13" name="Google Shape;60;p14">
            <a:extLst>
              <a:ext uri="{FF2B5EF4-FFF2-40B4-BE49-F238E27FC236}">
                <a16:creationId xmlns:a16="http://schemas.microsoft.com/office/drawing/2014/main" id="{905A3F15-9D48-35BD-49B2-5FC0CCC953C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500">
                <a:solidFill>
                  <a:srgbClr val="002060"/>
                </a:solidFill>
                <a:ea typeface="+mj-ea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Importation des données</a:t>
            </a:r>
          </a:p>
        </p:txBody>
      </p:sp>
      <p:sp>
        <p:nvSpPr>
          <p:cNvPr id="15" name="Espace réservé du numéro de diapositive 8">
            <a:extLst>
              <a:ext uri="{FF2B5EF4-FFF2-40B4-BE49-F238E27FC236}">
                <a16:creationId xmlns:a16="http://schemas.microsoft.com/office/drawing/2014/main" id="{1463F3E4-2D85-1F90-2B14-E2B9D600A02A}"/>
              </a:ext>
            </a:extLst>
          </p:cNvPr>
          <p:cNvSpPr txBox="1">
            <a:spLocks/>
          </p:cNvSpPr>
          <p:nvPr/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000000-1234-1234-1234-123412341234}" type="slidenum">
              <a:rPr lang="fr-FR" smtClean="0"/>
              <a:pPr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86071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40000"/>
                <a:lumOff val="60000"/>
              </a:schemeClr>
            </a:gs>
            <a:gs pos="48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12FC97DC-586C-9D5E-4A61-021B5F9F121A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2" name="Google Shape;60;p14">
            <a:extLst>
              <a:ext uri="{FF2B5EF4-FFF2-40B4-BE49-F238E27FC236}">
                <a16:creationId xmlns:a16="http://schemas.microsoft.com/office/drawing/2014/main" id="{70EC28D2-5F97-95E1-6560-7670F8249AB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>
            <a:defPPr>
              <a:defRPr lang="fr-FR"/>
            </a:defPPr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500">
                <a:solidFill>
                  <a:srgbClr val="002060"/>
                </a:solidFill>
                <a:ea typeface="+mj-ea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</a:lvl9pPr>
          </a:lstStyle>
          <a:p>
            <a:r>
              <a:rPr lang="fr" dirty="0"/>
              <a:t>Partie 1 : </a:t>
            </a:r>
            <a:r>
              <a:rPr lang="fr-FR" dirty="0"/>
              <a:t>description d’un document avec le type des données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DA7AF72-B710-96F5-5A25-5F6FA0E71A78}"/>
              </a:ext>
            </a:extLst>
          </p:cNvPr>
          <p:cNvSpPr txBox="1"/>
          <p:nvPr/>
        </p:nvSpPr>
        <p:spPr>
          <a:xfrm>
            <a:off x="856370" y="750545"/>
            <a:ext cx="2561303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sz="1200" i="0" u="sng" dirty="0">
                <a:solidFill>
                  <a:srgbClr val="002060"/>
                </a:solidFill>
                <a:effectLst/>
              </a:rPr>
              <a:t>Comman</a:t>
            </a:r>
            <a:r>
              <a:rPr lang="fr-FR" sz="1200" u="sng" dirty="0">
                <a:solidFill>
                  <a:srgbClr val="002060"/>
                </a:solidFill>
              </a:rPr>
              <a:t>des</a:t>
            </a:r>
            <a:r>
              <a:rPr lang="fr-FR" sz="1200" b="1" u="sng" dirty="0">
                <a:solidFill>
                  <a:srgbClr val="002060"/>
                </a:solidFill>
                <a:latin typeface="+mj-lt"/>
              </a:rPr>
              <a:t> et résultat : </a:t>
            </a:r>
          </a:p>
          <a:p>
            <a:pPr algn="l">
              <a:buNone/>
            </a:pPr>
            <a:endParaRPr lang="fr-FR" sz="500" b="1" i="0" u="sng" dirty="0">
              <a:solidFill>
                <a:srgbClr val="002060"/>
              </a:solidFill>
              <a:effectLst/>
              <a:latin typeface="+mj-lt"/>
            </a:endParaRPr>
          </a:p>
          <a:p>
            <a:pPr algn="l">
              <a:buNone/>
            </a:pP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db.paris.aggregate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([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{ $</a:t>
            </a: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sample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: { size: 1 } },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{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$</a:t>
            </a: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project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: {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types: {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  $</a:t>
            </a: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map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: {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    input: { $</a:t>
            </a: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objectToArray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: "$$ROOT" },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    as: "</a:t>
            </a: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field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",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    in: {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      </a:t>
            </a: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fieldName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: "$$</a:t>
            </a: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field.k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",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      </a:t>
            </a: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fieldType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: { $type: "$$</a:t>
            </a:r>
            <a:r>
              <a:rPr lang="fr-FR" sz="800" b="0" i="0" dirty="0" err="1">
                <a:solidFill>
                  <a:srgbClr val="002060"/>
                </a:solidFill>
                <a:effectLst/>
                <a:latin typeface="+mj-lt"/>
              </a:rPr>
              <a:t>field.v</a:t>
            </a: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" }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    }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  }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  }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  }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  }</a:t>
            </a:r>
          </a:p>
          <a:p>
            <a:pPr algn="l">
              <a:buNone/>
            </a:pPr>
            <a:r>
              <a:rPr lang="fr-FR" sz="800" b="0" i="0" dirty="0">
                <a:solidFill>
                  <a:srgbClr val="002060"/>
                </a:solidFill>
                <a:effectLst/>
                <a:latin typeface="+mj-lt"/>
              </a:rPr>
              <a:t>])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5DD209C-2ABF-247A-D9BB-226EAF1808B8}"/>
              </a:ext>
            </a:extLst>
          </p:cNvPr>
          <p:cNvSpPr txBox="1"/>
          <p:nvPr/>
        </p:nvSpPr>
        <p:spPr>
          <a:xfrm>
            <a:off x="4420776" y="750545"/>
            <a:ext cx="15140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Interface graphique :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0121F1AC-BA74-CF0B-732F-5A893B4A4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285" y="2557235"/>
            <a:ext cx="1111471" cy="2272617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825ABE7C-E6ED-B3A7-5143-2DFAEC7FB9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972" y="1088669"/>
            <a:ext cx="3869658" cy="3741183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45930B-B69A-58EE-CF4F-98EE73257B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</a:t>
            </a:fld>
            <a:endParaRPr lang="fr-F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70DB1E11-26AA-52C4-4AC6-016ED9322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C51097DA-F3CB-0173-7549-8F638525BE63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2" name="Google Shape;60;p14">
            <a:extLst>
              <a:ext uri="{FF2B5EF4-FFF2-40B4-BE49-F238E27FC236}">
                <a16:creationId xmlns:a16="http://schemas.microsoft.com/office/drawing/2014/main" id="{D5C62A27-1194-C388-0061-AF418835949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>
            <a:defPPr>
              <a:defRPr lang="fr-FR"/>
            </a:defPPr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500">
                <a:solidFill>
                  <a:srgbClr val="002060"/>
                </a:solidFill>
                <a:ea typeface="+mj-ea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</a:lvl9pPr>
          </a:lstStyle>
          <a:p>
            <a:r>
              <a:rPr lang="fr-FR" dirty="0"/>
              <a:t>Partie 1 : Avantages du NoSQL dans ce contexte de données 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78C95969-E0A0-7350-7309-3677A90C71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661568"/>
              </p:ext>
            </p:extLst>
          </p:nvPr>
        </p:nvGraphicFramePr>
        <p:xfrm>
          <a:off x="1086086" y="1156345"/>
          <a:ext cx="6971828" cy="3416299"/>
        </p:xfrm>
        <a:graphic>
          <a:graphicData uri="http://schemas.openxmlformats.org/drawingml/2006/table">
            <a:tbl>
              <a:tblPr/>
              <a:tblGrid>
                <a:gridCol w="2493582">
                  <a:extLst>
                    <a:ext uri="{9D8B030D-6E8A-4147-A177-3AD203B41FA5}">
                      <a16:colId xmlns:a16="http://schemas.microsoft.com/office/drawing/2014/main" val="978449155"/>
                    </a:ext>
                  </a:extLst>
                </a:gridCol>
                <a:gridCol w="4478246">
                  <a:extLst>
                    <a:ext uri="{9D8B030D-6E8A-4147-A177-3AD203B41FA5}">
                      <a16:colId xmlns:a16="http://schemas.microsoft.com/office/drawing/2014/main" val="1115360911"/>
                    </a:ext>
                  </a:extLst>
                </a:gridCol>
              </a:tblGrid>
              <a:tr h="29923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fr-FR" sz="1100" b="1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Avantages</a:t>
                      </a:r>
                      <a:endParaRPr lang="fr-FR" sz="1100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fr-FR" sz="1100" b="1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Description</a:t>
                      </a:r>
                      <a:endParaRPr lang="fr-FR" sz="1100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707870"/>
                  </a:ext>
                </a:extLst>
              </a:tr>
              <a:tr h="82290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 b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Flexibilité de Schéma</a:t>
                      </a:r>
                      <a:endParaRPr lang="fr-FR" sz="1100" dirty="0">
                        <a:solidFill>
                          <a:srgbClr val="002060"/>
                        </a:solidFill>
                        <a:effectLst/>
                        <a:latin typeface="+mj-lt"/>
                      </a:endParaRP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Le schéma peut varier d'un document à l'autre. Si certaines annonces manquent des champs </a:t>
                      </a:r>
                      <a:r>
                        <a:rPr lang="fr-FR" sz="1100" i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(comme </a:t>
                      </a:r>
                      <a:r>
                        <a:rPr lang="fr-FR" sz="1100" i="1" dirty="0" err="1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host_about</a:t>
                      </a:r>
                      <a:r>
                        <a:rPr lang="fr-FR" sz="1100" i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 ou </a:t>
                      </a:r>
                      <a:r>
                        <a:rPr lang="fr-FR" sz="1100" i="1" dirty="0" err="1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license</a:t>
                      </a:r>
                      <a:r>
                        <a:rPr lang="fr-FR" sz="1100" i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)</a:t>
                      </a: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, MongoDB gère cela </a:t>
                      </a:r>
                      <a:r>
                        <a:rPr lang="fr-FR" sz="1100" b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sans erreur</a:t>
                      </a: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, contrairement aux bases SQL rigides.</a:t>
                      </a: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2150343"/>
                  </a:ext>
                </a:extLst>
              </a:tr>
              <a:tr h="82290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 b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Modélisation Naturelle</a:t>
                      </a:r>
                      <a:endParaRPr lang="fr-FR" sz="1100" dirty="0">
                        <a:solidFill>
                          <a:srgbClr val="002060"/>
                        </a:solidFill>
                        <a:effectLst/>
                        <a:latin typeface="+mj-lt"/>
                      </a:endParaRP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Possibilité d'</a:t>
                      </a:r>
                      <a:r>
                        <a:rPr lang="fr-FR" sz="1100" b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imbriquer</a:t>
                      </a: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 des données liées (</a:t>
                      </a:r>
                      <a:r>
                        <a:rPr lang="fr-FR" sz="1100" i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ex: regrouper tous les détails de l'hôte dans un sous-document host)</a:t>
                      </a: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, ce qui correspond mieux à l'objet réel et évite les jointures coûteuses.</a:t>
                      </a: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8266729"/>
                  </a:ext>
                </a:extLst>
              </a:tr>
              <a:tr h="82290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 b="1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Performance en Écriture</a:t>
                      </a:r>
                      <a:endParaRPr lang="fr-FR" sz="1100">
                        <a:solidFill>
                          <a:srgbClr val="002060"/>
                        </a:solidFill>
                        <a:effectLst/>
                        <a:latin typeface="+mj-lt"/>
                      </a:endParaRP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MongoDB est très performant pour ingérer de </a:t>
                      </a:r>
                      <a:r>
                        <a:rPr lang="fr-FR" sz="1100" b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grands volumes de données</a:t>
                      </a: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 rapidement, ce qui est crucial si la base est mise à jour fréquemment avec de nouveaux </a:t>
                      </a:r>
                      <a:r>
                        <a:rPr lang="fr-FR" sz="1100" i="0" dirty="0" err="1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scrapes</a:t>
                      </a: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.</a:t>
                      </a: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32631"/>
                  </a:ext>
                </a:extLst>
              </a:tr>
              <a:tr h="64834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 b="1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Scalabilité Horizontale</a:t>
                      </a:r>
                      <a:endParaRPr lang="fr-FR" sz="1100">
                        <a:solidFill>
                          <a:srgbClr val="002060"/>
                        </a:solidFill>
                        <a:effectLst/>
                        <a:latin typeface="+mj-lt"/>
                      </a:endParaRP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Facile à mettre à l'échelle </a:t>
                      </a:r>
                      <a:r>
                        <a:rPr lang="fr-FR" sz="1100" i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(</a:t>
                      </a:r>
                      <a:r>
                        <a:rPr lang="fr-FR" sz="1100" i="1" dirty="0" err="1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sharding</a:t>
                      </a:r>
                      <a:r>
                        <a:rPr lang="fr-FR" sz="1100" i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)</a:t>
                      </a: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 pour gérer un volume croissant d'annonces, assurant une </a:t>
                      </a:r>
                      <a:r>
                        <a:rPr lang="fr-FR" sz="1100" b="1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haute disponibilité</a:t>
                      </a:r>
                      <a:r>
                        <a:rPr lang="fr-FR" sz="1100" dirty="0">
                          <a:solidFill>
                            <a:srgbClr val="002060"/>
                          </a:solidFill>
                          <a:effectLst/>
                          <a:latin typeface="+mj-lt"/>
                        </a:rPr>
                        <a:t>.</a:t>
                      </a:r>
                    </a:p>
                  </a:txBody>
                  <a:tcPr marL="93512" marR="93512" marT="62341" marB="62341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015454"/>
                  </a:ext>
                </a:extLst>
              </a:tr>
            </a:tbl>
          </a:graphicData>
        </a:graphic>
      </p:graphicFrame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0AF295C-57A5-969A-EF43-0516BA4586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9797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8EDBEDAD-9D6D-D5C8-3B2A-0BEF7A160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0;p14">
            <a:extLst>
              <a:ext uri="{FF2B5EF4-FFF2-40B4-BE49-F238E27FC236}">
                <a16:creationId xmlns:a16="http://schemas.microsoft.com/office/drawing/2014/main" id="{36B8F85F-7757-5B75-E84C-63AB730EE2F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>
            <a:defPPr>
              <a:defRPr lang="fr-FR"/>
            </a:defPPr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500">
                <a:solidFill>
                  <a:srgbClr val="002060"/>
                </a:solidFill>
                <a:ea typeface="+mj-ea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</a:lvl9pPr>
          </a:lstStyle>
          <a:p>
            <a:r>
              <a:rPr lang="fr"/>
              <a:t>Partie 1 : </a:t>
            </a:r>
            <a:r>
              <a:rPr lang="fr-FR"/>
              <a:t>premières requêtes et leurs résultats</a:t>
            </a:r>
            <a:endParaRPr lang="fr-FR" dirty="0"/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2823C728-49C0-F062-C200-35FF31372A99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47CD1E-FA18-3C5B-749B-A33149E1BCC0}"/>
              </a:ext>
            </a:extLst>
          </p:cNvPr>
          <p:cNvSpPr txBox="1"/>
          <p:nvPr/>
        </p:nvSpPr>
        <p:spPr>
          <a:xfrm>
            <a:off x="615509" y="833683"/>
            <a:ext cx="39712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Nombre de documents de la base de données</a:t>
            </a:r>
            <a:endParaRPr lang="fr-FR" sz="1200" u="sng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038194-4205-48FB-DA3B-BB6C264757AC}"/>
              </a:ext>
            </a:extLst>
          </p:cNvPr>
          <p:cNvSpPr txBox="1"/>
          <p:nvPr/>
        </p:nvSpPr>
        <p:spPr>
          <a:xfrm>
            <a:off x="4572000" y="818707"/>
            <a:ext cx="3013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Nombre de logements avec des disponibilités</a:t>
            </a:r>
            <a:endParaRPr lang="fr-FR" sz="1200" u="sng" dirty="0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983B1BB-6413-21A3-2676-86968B429797}"/>
              </a:ext>
            </a:extLst>
          </p:cNvPr>
          <p:cNvCxnSpPr/>
          <p:nvPr/>
        </p:nvCxnSpPr>
        <p:spPr>
          <a:xfrm>
            <a:off x="4574049" y="856992"/>
            <a:ext cx="0" cy="4015006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92AB275C-9C49-D14E-C323-DC55B450F945}"/>
              </a:ext>
            </a:extLst>
          </p:cNvPr>
          <p:cNvSpPr txBox="1"/>
          <p:nvPr/>
        </p:nvSpPr>
        <p:spPr>
          <a:xfrm>
            <a:off x="680361" y="1142747"/>
            <a:ext cx="3748617" cy="90370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: </a:t>
            </a:r>
          </a:p>
          <a:p>
            <a:pPr algn="ctr"/>
            <a:r>
              <a:rPr lang="fr-FR" sz="1000" dirty="0" err="1"/>
              <a:t>db.paris.countDocuments</a:t>
            </a:r>
            <a:r>
              <a:rPr lang="fr-FR" sz="1000" dirty="0"/>
              <a:t>()</a:t>
            </a:r>
          </a:p>
          <a:p>
            <a:pPr algn="ctr"/>
            <a:endParaRPr lang="fr-FR" sz="200" dirty="0"/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: </a:t>
            </a:r>
          </a:p>
          <a:p>
            <a:pPr algn="ctr"/>
            <a:r>
              <a:rPr lang="fr-FR" sz="1000" dirty="0"/>
              <a:t>95885</a:t>
            </a:r>
          </a:p>
          <a:p>
            <a:pPr algn="ctr"/>
            <a:endParaRPr lang="fr-FR" sz="200" dirty="0"/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Interface graphique :</a:t>
            </a:r>
            <a:endParaRPr lang="fr-FR" sz="100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A55BEDB-9B04-82B5-E1D0-FD1BEF004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07" y="2276206"/>
            <a:ext cx="3783895" cy="2377202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468BA94F-CA8C-000F-FBFF-8A8D0CFFAB4D}"/>
              </a:ext>
            </a:extLst>
          </p:cNvPr>
          <p:cNvSpPr txBox="1"/>
          <p:nvPr/>
        </p:nvSpPr>
        <p:spPr>
          <a:xfrm>
            <a:off x="4601497" y="1142747"/>
            <a:ext cx="3748617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: </a:t>
            </a:r>
          </a:p>
          <a:p>
            <a:pPr algn="ctr"/>
            <a:r>
              <a:rPr lang="en-US" sz="1000" dirty="0" err="1">
                <a:solidFill>
                  <a:schemeClr val="tx1"/>
                </a:solidFill>
              </a:rPr>
              <a:t>db.paris.countDocuments</a:t>
            </a:r>
            <a:r>
              <a:rPr lang="en-US" sz="1000" dirty="0">
                <a:solidFill>
                  <a:schemeClr val="tx1"/>
                </a:solidFill>
              </a:rPr>
              <a:t>({ </a:t>
            </a:r>
            <a:r>
              <a:rPr lang="en-US" sz="1000" dirty="0" err="1">
                <a:solidFill>
                  <a:schemeClr val="tx1"/>
                </a:solidFill>
              </a:rPr>
              <a:t>has_availability</a:t>
            </a:r>
            <a:r>
              <a:rPr lang="en-US" sz="1000" dirty="0">
                <a:solidFill>
                  <a:schemeClr val="tx1"/>
                </a:solidFill>
              </a:rPr>
              <a:t>: true })</a:t>
            </a:r>
            <a:endParaRPr lang="fr-FR" sz="1000" dirty="0">
              <a:solidFill>
                <a:schemeClr val="tx1"/>
              </a:solidFill>
            </a:endParaRPr>
          </a:p>
          <a:p>
            <a:pPr algn="ctr"/>
            <a:endParaRPr lang="fr-FR" sz="200" dirty="0">
              <a:solidFill>
                <a:srgbClr val="002060"/>
              </a:solidFill>
            </a:endParaRPr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: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90173</a:t>
            </a:r>
          </a:p>
          <a:p>
            <a:pPr algn="ctr"/>
            <a:endParaRPr lang="fr-FR" sz="500" dirty="0">
              <a:solidFill>
                <a:srgbClr val="002060"/>
              </a:solidFill>
            </a:endParaRPr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Capture :</a:t>
            </a:r>
            <a:endParaRPr lang="fr-FR" sz="200" dirty="0">
              <a:solidFill>
                <a:srgbClr val="002060"/>
              </a:solidFill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D76F23E-9810-FA64-AE26-D79FB77B2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5223" y="2226656"/>
            <a:ext cx="3434891" cy="345094"/>
          </a:xfrm>
          <a:prstGeom prst="rect">
            <a:avLst/>
          </a:prstGeom>
        </p:spPr>
      </p:pic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E6950503-8BA4-B0EA-3058-189A4ACFE8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274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A24C3494-4FF6-0582-ADD5-5901B26CF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0;p14">
            <a:extLst>
              <a:ext uri="{FF2B5EF4-FFF2-40B4-BE49-F238E27FC236}">
                <a16:creationId xmlns:a16="http://schemas.microsoft.com/office/drawing/2014/main" id="{8009D516-B4CD-0DEC-CB0F-C5E7E010E5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>
            <a:defPPr>
              <a:defRPr lang="fr-FR"/>
            </a:defPPr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500">
                <a:solidFill>
                  <a:srgbClr val="002060"/>
                </a:solidFill>
                <a:ea typeface="+mj-ea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</a:lvl9pPr>
          </a:lstStyle>
          <a:p>
            <a:r>
              <a:rPr lang="fr-FR" dirty="0"/>
              <a:t>Partie 2.1 :</a:t>
            </a:r>
            <a:r>
              <a:rPr lang="fr-FR" dirty="0">
                <a:sym typeface="Inter"/>
              </a:rPr>
              <a:t> les requêtes et leurs résultats </a:t>
            </a:r>
            <a:endParaRPr lang="fr-FR" dirty="0"/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B63DB3E-62B2-B85C-5E61-EC625D362B6B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76CECC1-A518-96EA-9378-DE3CF21851D3}"/>
              </a:ext>
            </a:extLst>
          </p:cNvPr>
          <p:cNvSpPr txBox="1"/>
          <p:nvPr/>
        </p:nvSpPr>
        <p:spPr>
          <a:xfrm>
            <a:off x="806343" y="859618"/>
            <a:ext cx="3160138" cy="18466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Combien d’annonces y a-t-il par type de location ?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CEECE7A-BB74-D546-60F3-3B624AFB0740}"/>
              </a:ext>
            </a:extLst>
          </p:cNvPr>
          <p:cNvSpPr txBox="1"/>
          <p:nvPr/>
        </p:nvSpPr>
        <p:spPr>
          <a:xfrm>
            <a:off x="826925" y="1022696"/>
            <a:ext cx="311220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: </a:t>
            </a:r>
            <a:r>
              <a:rPr lang="en-US" sz="1000" dirty="0"/>
              <a:t>	</a:t>
            </a:r>
          </a:p>
          <a:p>
            <a:r>
              <a:rPr lang="en-US" sz="1000" dirty="0"/>
              <a:t>	</a:t>
            </a:r>
            <a:r>
              <a:rPr lang="en-US" sz="1000" dirty="0" err="1"/>
              <a:t>db.paris.aggregate</a:t>
            </a:r>
            <a:r>
              <a:rPr lang="en-US" sz="1000" dirty="0"/>
              <a:t>([</a:t>
            </a:r>
          </a:p>
          <a:p>
            <a:pPr lvl="1">
              <a:tabLst>
                <a:tab pos="1074738" algn="l"/>
              </a:tabLst>
            </a:pPr>
            <a:r>
              <a:rPr lang="en-US" sz="1000" dirty="0"/>
              <a:t>  	{ $</a:t>
            </a:r>
            <a:r>
              <a:rPr lang="en-US" sz="1000" dirty="0" err="1"/>
              <a:t>sortByCount</a:t>
            </a:r>
            <a:r>
              <a:rPr lang="en-US" sz="1000" dirty="0"/>
              <a:t>: "$</a:t>
            </a:r>
            <a:r>
              <a:rPr lang="en-US" sz="1000" dirty="0" err="1"/>
              <a:t>room_type</a:t>
            </a:r>
            <a:r>
              <a:rPr lang="en-US" sz="1000" dirty="0"/>
              <a:t>" }</a:t>
            </a:r>
          </a:p>
          <a:p>
            <a:pPr lvl="1"/>
            <a:r>
              <a:rPr lang="en-US" sz="1000" dirty="0"/>
              <a:t>	])</a:t>
            </a:r>
          </a:p>
          <a:p>
            <a:pPr lvl="1"/>
            <a:endParaRPr lang="fr-FR" sz="500" dirty="0"/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: 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F9F5E3-96B3-9BFA-6B96-1E1AD92A46A2}"/>
              </a:ext>
            </a:extLst>
          </p:cNvPr>
          <p:cNvSpPr txBox="1"/>
          <p:nvPr/>
        </p:nvSpPr>
        <p:spPr>
          <a:xfrm>
            <a:off x="4713323" y="846572"/>
            <a:ext cx="3300377" cy="3693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Quelles sont les 5 annonces de location avec le plus d’évaluations ? Et combien d’évaluations ont-elles ?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E705F9-9161-9339-E230-B2F8CA85F13A}"/>
              </a:ext>
            </a:extLst>
          </p:cNvPr>
          <p:cNvSpPr txBox="1"/>
          <p:nvPr/>
        </p:nvSpPr>
        <p:spPr>
          <a:xfrm>
            <a:off x="4637123" y="1184525"/>
            <a:ext cx="374861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: </a:t>
            </a:r>
            <a:endParaRPr lang="fr-FR" sz="500" dirty="0">
              <a:solidFill>
                <a:srgbClr val="002060"/>
              </a:solidFill>
            </a:endParaRPr>
          </a:p>
          <a:p>
            <a:pPr marL="88900" lvl="2" indent="809625"/>
            <a:r>
              <a:rPr lang="en-US" sz="1000" dirty="0" err="1"/>
              <a:t>db.paris.find</a:t>
            </a:r>
            <a:r>
              <a:rPr lang="en-US" sz="1000" dirty="0"/>
              <a:t>({},{</a:t>
            </a:r>
          </a:p>
          <a:p>
            <a:pPr marL="88900" lvl="5" indent="809625">
              <a:tabLst>
                <a:tab pos="182563" algn="l"/>
              </a:tabLst>
            </a:pPr>
            <a:r>
              <a:rPr lang="en-US" sz="1000" dirty="0"/>
              <a:t>	_id: 0,</a:t>
            </a:r>
          </a:p>
          <a:p>
            <a:pPr marL="88900" lvl="6" indent="809625">
              <a:tabLst>
                <a:tab pos="182563" algn="l"/>
              </a:tabLst>
            </a:pPr>
            <a:r>
              <a:rPr lang="en-US" sz="1000" dirty="0"/>
              <a:t>	name: 1,</a:t>
            </a:r>
          </a:p>
          <a:p>
            <a:pPr marL="88900" lvl="6" indent="809625">
              <a:tabLst>
                <a:tab pos="182563" algn="l"/>
              </a:tabLst>
            </a:pPr>
            <a:r>
              <a:rPr lang="en-US" sz="1000" dirty="0"/>
              <a:t>	</a:t>
            </a:r>
            <a:r>
              <a:rPr lang="en-US" sz="1000" dirty="0" err="1"/>
              <a:t>number_of_reviews</a:t>
            </a:r>
            <a:r>
              <a:rPr lang="en-US" sz="1000" dirty="0"/>
              <a:t>: 1})</a:t>
            </a:r>
          </a:p>
          <a:p>
            <a:pPr marL="88900" lvl="3" indent="809625">
              <a:tabLst>
                <a:tab pos="987425" algn="l"/>
              </a:tabLst>
            </a:pPr>
            <a:r>
              <a:rPr lang="en-US" sz="1000" dirty="0"/>
              <a:t>.sort({ </a:t>
            </a:r>
            <a:r>
              <a:rPr lang="en-US" sz="1000" dirty="0" err="1"/>
              <a:t>number_of_reviews</a:t>
            </a:r>
            <a:r>
              <a:rPr lang="en-US" sz="1000" dirty="0"/>
              <a:t>: -1 })</a:t>
            </a:r>
          </a:p>
          <a:p>
            <a:pPr marL="88900" lvl="3" indent="809625">
              <a:tabLst>
                <a:tab pos="987425" algn="l"/>
              </a:tabLst>
            </a:pPr>
            <a:r>
              <a:rPr lang="en-US" sz="1000" dirty="0"/>
              <a:t>.limit(5)</a:t>
            </a:r>
          </a:p>
          <a:p>
            <a:pPr marL="260350" lvl="3" indent="-171450">
              <a:buFontTx/>
              <a:buChar char="-"/>
              <a:tabLst>
                <a:tab pos="987425" algn="l"/>
              </a:tabLst>
            </a:pPr>
            <a:r>
              <a:rPr lang="fr-FR" sz="1000" dirty="0">
                <a:solidFill>
                  <a:srgbClr val="002060"/>
                </a:solidFill>
              </a:rPr>
              <a:t>Résultat : 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49A7970-B241-6E35-952E-6C9119BAC9E0}"/>
              </a:ext>
            </a:extLst>
          </p:cNvPr>
          <p:cNvCxnSpPr/>
          <p:nvPr/>
        </p:nvCxnSpPr>
        <p:spPr>
          <a:xfrm>
            <a:off x="4572000" y="846572"/>
            <a:ext cx="0" cy="4015006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Image 12">
            <a:extLst>
              <a:ext uri="{FF2B5EF4-FFF2-40B4-BE49-F238E27FC236}">
                <a16:creationId xmlns:a16="http://schemas.microsoft.com/office/drawing/2014/main" id="{11F98828-9856-8F13-04FC-E8A95B9D5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6385" y="1961415"/>
            <a:ext cx="1716656" cy="270269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D88A9D9A-CA4E-0106-44CB-BB454268A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4870" y="2507964"/>
            <a:ext cx="2622203" cy="2353614"/>
          </a:xfrm>
          <a:prstGeom prst="rect">
            <a:avLst/>
          </a:prstGeom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A8B5804B-722E-43C9-66C5-62597BF137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1077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C9150C04-5DE7-B4F3-6440-3619F9449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39ABC233-16F4-DEEB-A396-C695117D0669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BDA60C68-530F-FE28-B084-DAEE8C94A7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25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Partie 2.1 :</a:t>
            </a:r>
            <a:r>
              <a:rPr lang="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les requêtes et leurs résultats 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38E6853-3D92-D915-4674-FCDDF3773F0B}"/>
              </a:ext>
            </a:extLst>
          </p:cNvPr>
          <p:cNvSpPr txBox="1"/>
          <p:nvPr/>
        </p:nvSpPr>
        <p:spPr>
          <a:xfrm>
            <a:off x="829417" y="886774"/>
            <a:ext cx="3553691" cy="18466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Quel est le nombre total d’hôtes différents ?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9386240-C3D8-35F6-D7E5-E039666219EF}"/>
              </a:ext>
            </a:extLst>
          </p:cNvPr>
          <p:cNvSpPr txBox="1"/>
          <p:nvPr/>
        </p:nvSpPr>
        <p:spPr>
          <a:xfrm>
            <a:off x="765029" y="1075140"/>
            <a:ext cx="3748617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: </a:t>
            </a:r>
            <a:r>
              <a:rPr lang="en-US" sz="1000" dirty="0"/>
              <a:t>	</a:t>
            </a:r>
          </a:p>
          <a:p>
            <a:r>
              <a:rPr lang="en-US" sz="1000" dirty="0"/>
              <a:t>	</a:t>
            </a:r>
            <a:r>
              <a:rPr lang="en-US" sz="1000" dirty="0" err="1"/>
              <a:t>db.paris.distinct</a:t>
            </a:r>
            <a:r>
              <a:rPr lang="en-US" sz="1000" dirty="0"/>
              <a:t>("</a:t>
            </a:r>
            <a:r>
              <a:rPr lang="en-US" sz="1000" dirty="0" err="1"/>
              <a:t>host_id</a:t>
            </a:r>
            <a:r>
              <a:rPr lang="en-US" sz="1000" dirty="0"/>
              <a:t>").length</a:t>
            </a:r>
          </a:p>
          <a:p>
            <a:endParaRPr lang="en-US" sz="500" dirty="0"/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: </a:t>
            </a:r>
          </a:p>
          <a:p>
            <a:endParaRPr lang="fr-FR" sz="500" dirty="0">
              <a:solidFill>
                <a:srgbClr val="002060"/>
              </a:solidFill>
            </a:endParaRP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71979</a:t>
            </a:r>
          </a:p>
          <a:p>
            <a:endParaRPr lang="fr-FR" sz="500" dirty="0">
              <a:solidFill>
                <a:srgbClr val="002060"/>
              </a:solidFill>
            </a:endParaRPr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Capture :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6EEBC94D-2747-607D-7866-50DA4DD51206}"/>
              </a:ext>
            </a:extLst>
          </p:cNvPr>
          <p:cNvCxnSpPr/>
          <p:nvPr/>
        </p:nvCxnSpPr>
        <p:spPr>
          <a:xfrm>
            <a:off x="4572000" y="856992"/>
            <a:ext cx="0" cy="4015006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 6">
            <a:extLst>
              <a:ext uri="{FF2B5EF4-FFF2-40B4-BE49-F238E27FC236}">
                <a16:creationId xmlns:a16="http://schemas.microsoft.com/office/drawing/2014/main" id="{0E0B3616-E494-5EAF-40DD-51658F7874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075" y="2208998"/>
            <a:ext cx="2848373" cy="48584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30F99C4F-07F4-F183-1AB5-F9C58CB04EE5}"/>
              </a:ext>
            </a:extLst>
          </p:cNvPr>
          <p:cNvSpPr txBox="1"/>
          <p:nvPr/>
        </p:nvSpPr>
        <p:spPr>
          <a:xfrm>
            <a:off x="4625488" y="886774"/>
            <a:ext cx="3887807" cy="3693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Quel est le nombre de locations réservables instantanément ? Cela représente quelle proportion des annonces ? 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4695218-A0A8-65EA-8C37-C1BCEC287A36}"/>
              </a:ext>
            </a:extLst>
          </p:cNvPr>
          <p:cNvSpPr txBox="1"/>
          <p:nvPr/>
        </p:nvSpPr>
        <p:spPr>
          <a:xfrm>
            <a:off x="4541080" y="1253634"/>
            <a:ext cx="374861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: </a:t>
            </a:r>
            <a:r>
              <a:rPr lang="en-US" sz="1000" dirty="0"/>
              <a:t>	</a:t>
            </a:r>
          </a:p>
          <a:p>
            <a:pPr indent="898525"/>
            <a:r>
              <a:rPr lang="en-US" sz="600" dirty="0" err="1"/>
              <a:t>db.paris.aggregate</a:t>
            </a:r>
            <a:r>
              <a:rPr lang="en-US" sz="600" dirty="0"/>
              <a:t>([</a:t>
            </a:r>
          </a:p>
          <a:p>
            <a:pPr indent="898525"/>
            <a:r>
              <a:rPr lang="en-US" sz="600" dirty="0"/>
              <a:t>  {</a:t>
            </a:r>
          </a:p>
          <a:p>
            <a:pPr indent="898525"/>
            <a:r>
              <a:rPr lang="en-US" sz="600" dirty="0"/>
              <a:t>    $group: {</a:t>
            </a:r>
          </a:p>
          <a:p>
            <a:pPr indent="898525"/>
            <a:r>
              <a:rPr lang="en-US" sz="600" dirty="0"/>
              <a:t>      _id: null,</a:t>
            </a:r>
          </a:p>
          <a:p>
            <a:pPr indent="898525"/>
            <a:r>
              <a:rPr lang="en-US" sz="600" dirty="0"/>
              <a:t>      total: { $sum: 1 },</a:t>
            </a:r>
          </a:p>
          <a:p>
            <a:pPr indent="898525"/>
            <a:r>
              <a:rPr lang="en-US" sz="600" dirty="0"/>
              <a:t>      </a:t>
            </a:r>
            <a:r>
              <a:rPr lang="en-US" sz="600" dirty="0" err="1"/>
              <a:t>instant_bookable</a:t>
            </a:r>
            <a:r>
              <a:rPr lang="en-US" sz="600" dirty="0"/>
              <a:t>: {</a:t>
            </a:r>
          </a:p>
          <a:p>
            <a:pPr indent="898525"/>
            <a:r>
              <a:rPr lang="en-US" sz="600" dirty="0"/>
              <a:t>        $sum: { $</a:t>
            </a:r>
            <a:r>
              <a:rPr lang="en-US" sz="600" dirty="0" err="1"/>
              <a:t>cond</a:t>
            </a:r>
            <a:r>
              <a:rPr lang="en-US" sz="600" dirty="0"/>
              <a:t>: [{ $eq: ["$</a:t>
            </a:r>
            <a:r>
              <a:rPr lang="en-US" sz="600" dirty="0" err="1"/>
              <a:t>instant_bookable</a:t>
            </a:r>
            <a:r>
              <a:rPr lang="en-US" sz="600" dirty="0"/>
              <a:t>", true] }, 1, 0] }</a:t>
            </a:r>
          </a:p>
          <a:p>
            <a:pPr indent="898525"/>
            <a:r>
              <a:rPr lang="en-US" sz="600" dirty="0"/>
              <a:t>      }</a:t>
            </a:r>
          </a:p>
          <a:p>
            <a:pPr indent="898525"/>
            <a:r>
              <a:rPr lang="en-US" sz="600" dirty="0"/>
              <a:t>    }</a:t>
            </a:r>
          </a:p>
          <a:p>
            <a:pPr indent="898525"/>
            <a:r>
              <a:rPr lang="en-US" sz="600" dirty="0"/>
              <a:t>  },</a:t>
            </a:r>
          </a:p>
          <a:p>
            <a:pPr indent="898525"/>
            <a:r>
              <a:rPr lang="en-US" sz="600" dirty="0"/>
              <a:t>  {</a:t>
            </a:r>
          </a:p>
          <a:p>
            <a:pPr indent="898525"/>
            <a:r>
              <a:rPr lang="en-US" sz="600" dirty="0"/>
              <a:t>    $project: {</a:t>
            </a:r>
          </a:p>
          <a:p>
            <a:pPr indent="898525"/>
            <a:r>
              <a:rPr lang="en-US" sz="600" dirty="0"/>
              <a:t>      _id: 0,</a:t>
            </a:r>
          </a:p>
          <a:p>
            <a:pPr indent="898525"/>
            <a:r>
              <a:rPr lang="en-US" sz="600" dirty="0"/>
              <a:t>      </a:t>
            </a:r>
            <a:r>
              <a:rPr lang="en-US" sz="600" dirty="0" err="1"/>
              <a:t>total_annonces</a:t>
            </a:r>
            <a:r>
              <a:rPr lang="en-US" sz="600" dirty="0"/>
              <a:t>: "$total",</a:t>
            </a:r>
          </a:p>
          <a:p>
            <a:pPr indent="898525"/>
            <a:r>
              <a:rPr lang="en-US" sz="600" dirty="0"/>
              <a:t>      </a:t>
            </a:r>
            <a:r>
              <a:rPr lang="en-US" sz="600" dirty="0" err="1"/>
              <a:t>annonces_instant_bookable</a:t>
            </a:r>
            <a:r>
              <a:rPr lang="en-US" sz="600" dirty="0"/>
              <a:t>: "$</a:t>
            </a:r>
            <a:r>
              <a:rPr lang="en-US" sz="600" dirty="0" err="1"/>
              <a:t>instant_bookable</a:t>
            </a:r>
            <a:r>
              <a:rPr lang="en-US" sz="600" dirty="0"/>
              <a:t>",</a:t>
            </a:r>
          </a:p>
          <a:p>
            <a:pPr indent="898525"/>
            <a:r>
              <a:rPr lang="en-US" sz="600" dirty="0"/>
              <a:t>      </a:t>
            </a:r>
            <a:r>
              <a:rPr lang="en-US" sz="600" dirty="0" err="1"/>
              <a:t>pourcentage</a:t>
            </a:r>
            <a:r>
              <a:rPr lang="en-US" sz="600" dirty="0"/>
              <a:t>: {</a:t>
            </a:r>
          </a:p>
          <a:p>
            <a:pPr indent="898525"/>
            <a:r>
              <a:rPr lang="en-US" sz="600" dirty="0"/>
              <a:t>        $round: [</a:t>
            </a:r>
          </a:p>
          <a:p>
            <a:pPr indent="898525"/>
            <a:r>
              <a:rPr lang="en-US" sz="600" dirty="0"/>
              <a:t>          { $multiply: [{ $divide: ["$</a:t>
            </a:r>
            <a:r>
              <a:rPr lang="en-US" sz="600" dirty="0" err="1"/>
              <a:t>instant_bookable</a:t>
            </a:r>
            <a:r>
              <a:rPr lang="en-US" sz="600" dirty="0"/>
              <a:t>", "$total"] }, 100] },</a:t>
            </a:r>
          </a:p>
          <a:p>
            <a:pPr indent="898525"/>
            <a:r>
              <a:rPr lang="en-US" sz="600" dirty="0"/>
              <a:t>          2</a:t>
            </a:r>
          </a:p>
          <a:p>
            <a:pPr indent="898525"/>
            <a:r>
              <a:rPr lang="en-US" sz="600" dirty="0"/>
              <a:t>        ]</a:t>
            </a:r>
          </a:p>
          <a:p>
            <a:pPr indent="898525"/>
            <a:r>
              <a:rPr lang="en-US" sz="600" dirty="0"/>
              <a:t>      }</a:t>
            </a:r>
          </a:p>
          <a:p>
            <a:pPr indent="898525"/>
            <a:r>
              <a:rPr lang="en-US" sz="600" dirty="0"/>
              <a:t>    }</a:t>
            </a:r>
          </a:p>
          <a:p>
            <a:pPr indent="898525"/>
            <a:r>
              <a:rPr lang="en-US" sz="600" dirty="0"/>
              <a:t>  }</a:t>
            </a:r>
          </a:p>
          <a:p>
            <a:pPr indent="898525"/>
            <a:r>
              <a:rPr lang="en-US" sz="600" dirty="0"/>
              <a:t>])</a:t>
            </a:r>
            <a:endParaRPr lang="en-US" sz="200" dirty="0"/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: </a:t>
            </a:r>
          </a:p>
          <a:p>
            <a:endParaRPr lang="fr-FR" sz="500" dirty="0">
              <a:solidFill>
                <a:srgbClr val="002060"/>
              </a:solidFill>
            </a:endParaRPr>
          </a:p>
          <a:p>
            <a:pPr algn="ctr"/>
            <a:r>
              <a:rPr lang="fr-FR" sz="1000" b="1" dirty="0">
                <a:solidFill>
                  <a:schemeClr val="tx1"/>
                </a:solidFill>
              </a:rPr>
              <a:t>22094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i="1" dirty="0">
                <a:solidFill>
                  <a:schemeClr val="tx1"/>
                </a:solidFill>
              </a:rPr>
              <a:t>sur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b="1" dirty="0">
                <a:solidFill>
                  <a:schemeClr val="tx1"/>
                </a:solidFill>
              </a:rPr>
              <a:t>95885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i="1" dirty="0">
                <a:solidFill>
                  <a:schemeClr val="tx1"/>
                </a:solidFill>
              </a:rPr>
              <a:t>soit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b="1" dirty="0">
                <a:solidFill>
                  <a:schemeClr val="tx1"/>
                </a:solidFill>
              </a:rPr>
              <a:t>23.04%</a:t>
            </a:r>
          </a:p>
          <a:p>
            <a:endParaRPr lang="fr-FR" sz="500" dirty="0">
              <a:solidFill>
                <a:srgbClr val="002060"/>
              </a:solidFill>
            </a:endParaRPr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Capture :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1626269-459B-806F-87BA-6A223F3D0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7642" y="4322851"/>
            <a:ext cx="1483497" cy="570187"/>
          </a:xfrm>
          <a:prstGeom prst="rect">
            <a:avLst/>
          </a:prstGeom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6A1A05C0-442A-3C8E-D6A7-E29D19CCFE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581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40000"/>
                <a:lumOff val="60000"/>
              </a:schemeClr>
            </a:gs>
            <a:gs pos="48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71">
          <a:extLst>
            <a:ext uri="{FF2B5EF4-FFF2-40B4-BE49-F238E27FC236}">
              <a16:creationId xmlns:a16="http://schemas.microsoft.com/office/drawing/2014/main" id="{8CDAC185-1232-2B07-368B-58DF6C25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8DC2E669-01B4-E586-D839-C47FABFE4039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AFA68AFF-C09E-947A-4B3A-03C3895B78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25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Partie 2.1 :</a:t>
            </a:r>
            <a:r>
              <a:rPr lang="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les requêtes et leurs résultats 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72E83AF-9D5F-5C5F-35C6-1631331E7CDB}"/>
              </a:ext>
            </a:extLst>
          </p:cNvPr>
          <p:cNvSpPr txBox="1"/>
          <p:nvPr/>
        </p:nvSpPr>
        <p:spPr>
          <a:xfrm>
            <a:off x="963757" y="827977"/>
            <a:ext cx="6954693" cy="3693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Est-ce que des hôtes ont plus de 100 annonces sur les plateformes ? Et si oui qui sont-ils ? Cela représente quel pourcentage des hôtes ?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D01970-A916-F8E1-A249-183CEF87962E}"/>
              </a:ext>
            </a:extLst>
          </p:cNvPr>
          <p:cNvSpPr txBox="1"/>
          <p:nvPr/>
        </p:nvSpPr>
        <p:spPr>
          <a:xfrm>
            <a:off x="588431" y="1220955"/>
            <a:ext cx="4582391" cy="3585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: </a:t>
            </a:r>
            <a:r>
              <a:rPr lang="en-US" sz="1000" dirty="0"/>
              <a:t>	</a:t>
            </a:r>
          </a:p>
          <a:p>
            <a:pPr indent="358775"/>
            <a:r>
              <a:rPr lang="en-US" sz="700" dirty="0" err="1"/>
              <a:t>db.paris.aggregate</a:t>
            </a:r>
            <a:r>
              <a:rPr lang="en-US" sz="700" dirty="0"/>
              <a:t>([</a:t>
            </a:r>
          </a:p>
          <a:p>
            <a:pPr indent="358775"/>
            <a:r>
              <a:rPr lang="en-US" sz="700" dirty="0"/>
              <a:t>  {</a:t>
            </a:r>
          </a:p>
          <a:p>
            <a:pPr indent="358775"/>
            <a:r>
              <a:rPr lang="en-US" sz="700" dirty="0"/>
              <a:t>    $group: {</a:t>
            </a:r>
          </a:p>
          <a:p>
            <a:pPr indent="358775"/>
            <a:r>
              <a:rPr lang="en-US" sz="700" dirty="0"/>
              <a:t>      _id: "$</a:t>
            </a:r>
            <a:r>
              <a:rPr lang="en-US" sz="700" dirty="0" err="1"/>
              <a:t>host_id</a:t>
            </a:r>
            <a:r>
              <a:rPr lang="en-US" sz="700" dirty="0"/>
              <a:t>",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nombre_annonces</a:t>
            </a:r>
            <a:r>
              <a:rPr lang="en-US" sz="700" dirty="0"/>
              <a:t>: { $sum: 1 }</a:t>
            </a:r>
          </a:p>
          <a:p>
            <a:pPr indent="358775"/>
            <a:r>
              <a:rPr lang="en-US" sz="700" dirty="0"/>
              <a:t>    }</a:t>
            </a:r>
          </a:p>
          <a:p>
            <a:pPr indent="358775"/>
            <a:r>
              <a:rPr lang="en-US" sz="700" dirty="0"/>
              <a:t>  },</a:t>
            </a:r>
          </a:p>
          <a:p>
            <a:pPr indent="358775"/>
            <a:r>
              <a:rPr lang="en-US" sz="700" dirty="0"/>
              <a:t>  {</a:t>
            </a:r>
          </a:p>
          <a:p>
            <a:pPr indent="358775"/>
            <a:r>
              <a:rPr lang="en-US" sz="700" dirty="0"/>
              <a:t>    $group: {</a:t>
            </a:r>
          </a:p>
          <a:p>
            <a:pPr indent="358775"/>
            <a:r>
              <a:rPr lang="en-US" sz="700" dirty="0"/>
              <a:t>      _id: null,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total_hotes</a:t>
            </a:r>
            <a:r>
              <a:rPr lang="en-US" sz="700" dirty="0"/>
              <a:t>: { $sum: 1 },</a:t>
            </a:r>
          </a:p>
          <a:p>
            <a:pPr indent="358775"/>
            <a:r>
              <a:rPr lang="en-US" sz="700" dirty="0"/>
              <a:t>      hotes_plus_100: {</a:t>
            </a:r>
          </a:p>
          <a:p>
            <a:pPr indent="358775"/>
            <a:r>
              <a:rPr lang="en-US" sz="700" dirty="0"/>
              <a:t>        $sum: { $</a:t>
            </a:r>
            <a:r>
              <a:rPr lang="en-US" sz="700" dirty="0" err="1"/>
              <a:t>cond</a:t>
            </a:r>
            <a:r>
              <a:rPr lang="en-US" sz="700" dirty="0"/>
              <a:t>: [{ $</a:t>
            </a:r>
            <a:r>
              <a:rPr lang="en-US" sz="700" dirty="0" err="1"/>
              <a:t>gt</a:t>
            </a:r>
            <a:r>
              <a:rPr lang="en-US" sz="700" dirty="0"/>
              <a:t>: ["$</a:t>
            </a:r>
            <a:r>
              <a:rPr lang="en-US" sz="700" dirty="0" err="1"/>
              <a:t>nombre_annonces</a:t>
            </a:r>
            <a:r>
              <a:rPr lang="en-US" sz="700" dirty="0"/>
              <a:t>", 100] }, 1, 0] }</a:t>
            </a:r>
          </a:p>
          <a:p>
            <a:pPr indent="358775"/>
            <a:r>
              <a:rPr lang="en-US" sz="700" dirty="0"/>
              <a:t>      }</a:t>
            </a:r>
          </a:p>
          <a:p>
            <a:pPr indent="358775"/>
            <a:r>
              <a:rPr lang="en-US" sz="700" dirty="0"/>
              <a:t>    }</a:t>
            </a:r>
          </a:p>
          <a:p>
            <a:pPr indent="358775"/>
            <a:r>
              <a:rPr lang="en-US" sz="700" dirty="0"/>
              <a:t>  },</a:t>
            </a:r>
          </a:p>
          <a:p>
            <a:pPr indent="358775"/>
            <a:r>
              <a:rPr lang="en-US" sz="700" dirty="0"/>
              <a:t>  {</a:t>
            </a:r>
          </a:p>
          <a:p>
            <a:pPr indent="358775"/>
            <a:r>
              <a:rPr lang="en-US" sz="700" dirty="0"/>
              <a:t>    $project: {</a:t>
            </a:r>
          </a:p>
          <a:p>
            <a:pPr indent="358775"/>
            <a:r>
              <a:rPr lang="en-US" sz="700" dirty="0"/>
              <a:t>      _id: 0,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total_hotes</a:t>
            </a:r>
            <a:r>
              <a:rPr lang="en-US" sz="700" dirty="0"/>
              <a:t>: 1,</a:t>
            </a:r>
          </a:p>
          <a:p>
            <a:pPr indent="358775"/>
            <a:r>
              <a:rPr lang="en-US" sz="700" dirty="0"/>
              <a:t>      hotes_avec_plus_100_annonces: "$hotes_plus_100",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pourcentage</a:t>
            </a:r>
            <a:r>
              <a:rPr lang="en-US" sz="700" dirty="0"/>
              <a:t>: {</a:t>
            </a:r>
          </a:p>
          <a:p>
            <a:pPr indent="358775"/>
            <a:r>
              <a:rPr lang="en-US" sz="700" dirty="0"/>
              <a:t>        $</a:t>
            </a:r>
            <a:r>
              <a:rPr lang="en-US" sz="700" dirty="0" err="1"/>
              <a:t>concat</a:t>
            </a:r>
            <a:r>
              <a:rPr lang="en-US" sz="700" dirty="0"/>
              <a:t>: [</a:t>
            </a:r>
          </a:p>
          <a:p>
            <a:pPr indent="358775"/>
            <a:r>
              <a:rPr lang="en-US" sz="700" dirty="0"/>
              <a:t>          { $</a:t>
            </a:r>
            <a:r>
              <a:rPr lang="en-US" sz="700" dirty="0" err="1"/>
              <a:t>toString</a:t>
            </a:r>
            <a:r>
              <a:rPr lang="en-US" sz="700" dirty="0"/>
              <a:t>: { $round: [{ $multiply: [{ $divide: ["$hotes_plus_100", "$</a:t>
            </a:r>
            <a:r>
              <a:rPr lang="en-US" sz="700" dirty="0" err="1"/>
              <a:t>total_hotes</a:t>
            </a:r>
            <a:r>
              <a:rPr lang="en-US" sz="700" dirty="0"/>
              <a:t>"] }, 100] }, 2] } },</a:t>
            </a:r>
          </a:p>
          <a:p>
            <a:pPr indent="358775"/>
            <a:r>
              <a:rPr lang="en-US" sz="700" dirty="0"/>
              <a:t>          " %"</a:t>
            </a:r>
          </a:p>
          <a:p>
            <a:pPr indent="358775"/>
            <a:r>
              <a:rPr lang="en-US" sz="700" dirty="0"/>
              <a:t>        ]</a:t>
            </a:r>
          </a:p>
          <a:p>
            <a:pPr indent="358775"/>
            <a:r>
              <a:rPr lang="en-US" sz="700" dirty="0"/>
              <a:t>      }</a:t>
            </a:r>
          </a:p>
          <a:p>
            <a:pPr indent="358775"/>
            <a:r>
              <a:rPr lang="en-US" sz="700" dirty="0"/>
              <a:t>    }</a:t>
            </a:r>
          </a:p>
          <a:p>
            <a:pPr indent="358775"/>
            <a:r>
              <a:rPr lang="en-US" sz="700" dirty="0"/>
              <a:t>  }</a:t>
            </a:r>
          </a:p>
          <a:p>
            <a:pPr indent="358775"/>
            <a:r>
              <a:rPr lang="en-US" sz="700" dirty="0"/>
              <a:t>])</a:t>
            </a:r>
            <a:endParaRPr lang="en-US" sz="3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05B960B-96CD-6E0A-9FC7-1F9D4E5CA665}"/>
              </a:ext>
            </a:extLst>
          </p:cNvPr>
          <p:cNvSpPr txBox="1"/>
          <p:nvPr/>
        </p:nvSpPr>
        <p:spPr>
          <a:xfrm>
            <a:off x="4920095" y="1220955"/>
            <a:ext cx="3969327" cy="70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: </a:t>
            </a:r>
          </a:p>
          <a:p>
            <a:endParaRPr lang="fr-FR" sz="400" dirty="0">
              <a:solidFill>
                <a:srgbClr val="002060"/>
              </a:solidFill>
            </a:endParaRPr>
          </a:p>
          <a:p>
            <a:pPr algn="ctr"/>
            <a:r>
              <a:rPr lang="fr-FR" sz="1000" b="1" dirty="0">
                <a:solidFill>
                  <a:schemeClr val="tx1"/>
                </a:solidFill>
              </a:rPr>
              <a:t>24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i="1" dirty="0">
                <a:solidFill>
                  <a:schemeClr val="tx1"/>
                </a:solidFill>
              </a:rPr>
              <a:t>sur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b="1" dirty="0">
                <a:solidFill>
                  <a:schemeClr val="tx1"/>
                </a:solidFill>
              </a:rPr>
              <a:t>71979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i="1" dirty="0">
                <a:solidFill>
                  <a:schemeClr val="tx1"/>
                </a:solidFill>
              </a:rPr>
              <a:t>soit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b="1" dirty="0">
                <a:solidFill>
                  <a:schemeClr val="tx1"/>
                </a:solidFill>
              </a:rPr>
              <a:t>0,03%</a:t>
            </a:r>
          </a:p>
          <a:p>
            <a:endParaRPr lang="fr-FR" sz="400" dirty="0">
              <a:solidFill>
                <a:srgbClr val="002060"/>
              </a:solidFill>
            </a:endParaRPr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Capture :</a:t>
            </a:r>
            <a:endParaRPr lang="fr-FR" sz="10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49DF5B9-1476-779C-9E15-B7EB9529A0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0374" y="2047995"/>
            <a:ext cx="1109900" cy="274402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FCC6A758-CDB9-5E37-11C4-6E05660BD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1627" y="2047994"/>
            <a:ext cx="949373" cy="275461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941D6DF-68F4-E868-9599-3241121197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0552" y="2047994"/>
            <a:ext cx="895323" cy="1373547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0EDC2F09-49A8-8120-CE7B-B839B83324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0552" y="3421542"/>
            <a:ext cx="895323" cy="1385010"/>
          </a:xfrm>
          <a:prstGeom prst="rect">
            <a:avLst/>
          </a:prstGeom>
        </p:spPr>
      </p:pic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690896C-7AC9-1217-DBB9-171ECBDB29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13852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40000"/>
                <a:lumOff val="60000"/>
              </a:schemeClr>
            </a:gs>
            <a:gs pos="48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71">
          <a:extLst>
            <a:ext uri="{FF2B5EF4-FFF2-40B4-BE49-F238E27FC236}">
              <a16:creationId xmlns:a16="http://schemas.microsoft.com/office/drawing/2014/main" id="{3654A412-4598-D476-74CB-474FC4EBE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27006F8B-7887-CEFA-3878-DCB7964B36EF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DA8F27CB-4D14-FAF3-DF0F-B118FA0496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25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Partie 2.1 :</a:t>
            </a:r>
            <a:r>
              <a:rPr lang="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les requêtes et leurs résultats 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9E64BD1-5F03-8B8A-6A38-A1EC77A7F0FF}"/>
              </a:ext>
            </a:extLst>
          </p:cNvPr>
          <p:cNvSpPr txBox="1"/>
          <p:nvPr/>
        </p:nvSpPr>
        <p:spPr>
          <a:xfrm>
            <a:off x="966353" y="819081"/>
            <a:ext cx="5605897" cy="18466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Combien y a-t-il de super hôtes différents ? Cela représente quel pourcentage des hôtes ?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9D1F754-BD6F-BF8B-0855-34D759C65B02}"/>
              </a:ext>
            </a:extLst>
          </p:cNvPr>
          <p:cNvSpPr txBox="1"/>
          <p:nvPr/>
        </p:nvSpPr>
        <p:spPr>
          <a:xfrm>
            <a:off x="652029" y="1003747"/>
            <a:ext cx="4582391" cy="3585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: </a:t>
            </a:r>
            <a:r>
              <a:rPr lang="en-US" sz="1000" dirty="0"/>
              <a:t>	</a:t>
            </a:r>
          </a:p>
          <a:p>
            <a:pPr indent="358775"/>
            <a:r>
              <a:rPr lang="en-US" sz="700" dirty="0" err="1"/>
              <a:t>db.paris.aggregate</a:t>
            </a:r>
            <a:r>
              <a:rPr lang="en-US" sz="700" dirty="0"/>
              <a:t>([</a:t>
            </a:r>
          </a:p>
          <a:p>
            <a:pPr indent="358775"/>
            <a:r>
              <a:rPr lang="en-US" sz="700" dirty="0"/>
              <a:t>  {</a:t>
            </a:r>
          </a:p>
          <a:p>
            <a:pPr indent="358775"/>
            <a:r>
              <a:rPr lang="en-US" sz="700" dirty="0"/>
              <a:t>    $group: {</a:t>
            </a:r>
          </a:p>
          <a:p>
            <a:pPr indent="358775"/>
            <a:r>
              <a:rPr lang="en-US" sz="700" dirty="0"/>
              <a:t>      _id: "$</a:t>
            </a:r>
            <a:r>
              <a:rPr lang="en-US" sz="700" dirty="0" err="1"/>
              <a:t>host_id</a:t>
            </a:r>
            <a:r>
              <a:rPr lang="en-US" sz="700" dirty="0"/>
              <a:t>",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est_superhost</a:t>
            </a:r>
            <a:r>
              <a:rPr lang="en-US" sz="700" dirty="0"/>
              <a:t>: { $first: "$</a:t>
            </a:r>
            <a:r>
              <a:rPr lang="en-US" sz="700" dirty="0" err="1"/>
              <a:t>host_is_superhost</a:t>
            </a:r>
            <a:r>
              <a:rPr lang="en-US" sz="700" dirty="0"/>
              <a:t>" }</a:t>
            </a:r>
          </a:p>
          <a:p>
            <a:pPr indent="358775"/>
            <a:r>
              <a:rPr lang="en-US" sz="700" dirty="0"/>
              <a:t>    }</a:t>
            </a:r>
          </a:p>
          <a:p>
            <a:pPr indent="358775"/>
            <a:r>
              <a:rPr lang="en-US" sz="700" dirty="0"/>
              <a:t>  },</a:t>
            </a:r>
          </a:p>
          <a:p>
            <a:pPr indent="358775"/>
            <a:r>
              <a:rPr lang="en-US" sz="700" dirty="0"/>
              <a:t>  {</a:t>
            </a:r>
          </a:p>
          <a:p>
            <a:pPr indent="358775"/>
            <a:r>
              <a:rPr lang="en-US" sz="700" dirty="0"/>
              <a:t>    $group: {</a:t>
            </a:r>
          </a:p>
          <a:p>
            <a:pPr indent="358775"/>
            <a:r>
              <a:rPr lang="en-US" sz="700" dirty="0"/>
              <a:t>      _id: null,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total_hotes</a:t>
            </a:r>
            <a:r>
              <a:rPr lang="en-US" sz="700" dirty="0"/>
              <a:t>: { $sum: 1 },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superhosts</a:t>
            </a:r>
            <a:r>
              <a:rPr lang="en-US" sz="700" dirty="0"/>
              <a:t>: {</a:t>
            </a:r>
          </a:p>
          <a:p>
            <a:pPr indent="358775"/>
            <a:r>
              <a:rPr lang="en-US" sz="700" dirty="0"/>
              <a:t>        $sum: { $</a:t>
            </a:r>
            <a:r>
              <a:rPr lang="en-US" sz="700" dirty="0" err="1"/>
              <a:t>cond</a:t>
            </a:r>
            <a:r>
              <a:rPr lang="en-US" sz="700" dirty="0"/>
              <a:t>: ["$</a:t>
            </a:r>
            <a:r>
              <a:rPr lang="en-US" sz="700" dirty="0" err="1"/>
              <a:t>est_superhost</a:t>
            </a:r>
            <a:r>
              <a:rPr lang="en-US" sz="700" dirty="0"/>
              <a:t>", 1, 0] }</a:t>
            </a:r>
          </a:p>
          <a:p>
            <a:pPr indent="358775"/>
            <a:r>
              <a:rPr lang="en-US" sz="700" dirty="0"/>
              <a:t>      }</a:t>
            </a:r>
          </a:p>
          <a:p>
            <a:pPr indent="358775"/>
            <a:r>
              <a:rPr lang="en-US" sz="700" dirty="0"/>
              <a:t>    }</a:t>
            </a:r>
          </a:p>
          <a:p>
            <a:pPr indent="358775"/>
            <a:r>
              <a:rPr lang="en-US" sz="700" dirty="0"/>
              <a:t>  },</a:t>
            </a:r>
          </a:p>
          <a:p>
            <a:pPr indent="358775"/>
            <a:r>
              <a:rPr lang="en-US" sz="700" dirty="0"/>
              <a:t>  {</a:t>
            </a:r>
          </a:p>
          <a:p>
            <a:pPr indent="358775"/>
            <a:r>
              <a:rPr lang="en-US" sz="700" dirty="0"/>
              <a:t>    $project: {</a:t>
            </a:r>
          </a:p>
          <a:p>
            <a:pPr indent="358775"/>
            <a:r>
              <a:rPr lang="en-US" sz="700" dirty="0"/>
              <a:t>      _id: 0,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total_hotes</a:t>
            </a:r>
            <a:r>
              <a:rPr lang="en-US" sz="700" dirty="0"/>
              <a:t>: 1,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nombre_superhosts</a:t>
            </a:r>
            <a:r>
              <a:rPr lang="en-US" sz="700" dirty="0"/>
              <a:t>: "$</a:t>
            </a:r>
            <a:r>
              <a:rPr lang="en-US" sz="700" dirty="0" err="1"/>
              <a:t>superhosts</a:t>
            </a:r>
            <a:r>
              <a:rPr lang="en-US" sz="700" dirty="0"/>
              <a:t>",</a:t>
            </a:r>
          </a:p>
          <a:p>
            <a:pPr indent="358775"/>
            <a:r>
              <a:rPr lang="en-US" sz="700" dirty="0"/>
              <a:t>      </a:t>
            </a:r>
            <a:r>
              <a:rPr lang="en-US" sz="700" dirty="0" err="1"/>
              <a:t>pourcentage_superhosts</a:t>
            </a:r>
            <a:r>
              <a:rPr lang="en-US" sz="700" dirty="0"/>
              <a:t>: {</a:t>
            </a:r>
          </a:p>
          <a:p>
            <a:pPr indent="358775"/>
            <a:r>
              <a:rPr lang="en-US" sz="700" dirty="0"/>
              <a:t>        $round: [</a:t>
            </a:r>
          </a:p>
          <a:p>
            <a:pPr indent="358775"/>
            <a:r>
              <a:rPr lang="en-US" sz="700" dirty="0"/>
              <a:t>          { $multiply: [{ $divide: ["$</a:t>
            </a:r>
            <a:r>
              <a:rPr lang="en-US" sz="700" dirty="0" err="1"/>
              <a:t>superhosts</a:t>
            </a:r>
            <a:r>
              <a:rPr lang="en-US" sz="700" dirty="0"/>
              <a:t>", "$</a:t>
            </a:r>
            <a:r>
              <a:rPr lang="en-US" sz="700" dirty="0" err="1"/>
              <a:t>total_hotes</a:t>
            </a:r>
            <a:r>
              <a:rPr lang="en-US" sz="700" dirty="0"/>
              <a:t>"] }, 100] },</a:t>
            </a:r>
          </a:p>
          <a:p>
            <a:pPr indent="358775"/>
            <a:r>
              <a:rPr lang="en-US" sz="700" dirty="0"/>
              <a:t>          2</a:t>
            </a:r>
          </a:p>
          <a:p>
            <a:pPr indent="358775"/>
            <a:r>
              <a:rPr lang="en-US" sz="700" dirty="0"/>
              <a:t>        ]</a:t>
            </a:r>
          </a:p>
          <a:p>
            <a:pPr indent="358775"/>
            <a:r>
              <a:rPr lang="en-US" sz="700" dirty="0"/>
              <a:t>      }</a:t>
            </a:r>
          </a:p>
          <a:p>
            <a:pPr indent="358775"/>
            <a:r>
              <a:rPr lang="en-US" sz="700" dirty="0"/>
              <a:t>    }</a:t>
            </a:r>
          </a:p>
          <a:p>
            <a:pPr indent="358775"/>
            <a:r>
              <a:rPr lang="en-US" sz="700" dirty="0"/>
              <a:t>  }</a:t>
            </a:r>
          </a:p>
          <a:p>
            <a:pPr indent="358775"/>
            <a:r>
              <a:rPr lang="en-US" sz="700" dirty="0"/>
              <a:t>])</a:t>
            </a:r>
            <a:endParaRPr lang="en-US" sz="3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9E7F204-6073-4775-447B-79D32386FE0D}"/>
              </a:ext>
            </a:extLst>
          </p:cNvPr>
          <p:cNvSpPr txBox="1"/>
          <p:nvPr/>
        </p:nvSpPr>
        <p:spPr>
          <a:xfrm>
            <a:off x="4737966" y="1072283"/>
            <a:ext cx="375400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: </a:t>
            </a:r>
          </a:p>
          <a:p>
            <a:endParaRPr lang="fr-FR" sz="400" dirty="0">
              <a:solidFill>
                <a:srgbClr val="002060"/>
              </a:solidFill>
            </a:endParaRPr>
          </a:p>
          <a:p>
            <a:pPr algn="ctr"/>
            <a:r>
              <a:rPr lang="fr-FR" sz="1000" b="1" dirty="0">
                <a:solidFill>
                  <a:schemeClr val="tx1"/>
                </a:solidFill>
              </a:rPr>
              <a:t>10027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i="1" dirty="0">
                <a:solidFill>
                  <a:schemeClr val="tx1"/>
                </a:solidFill>
              </a:rPr>
              <a:t>sur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b="1" dirty="0">
                <a:solidFill>
                  <a:schemeClr val="tx1"/>
                </a:solidFill>
              </a:rPr>
              <a:t>71979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i="1" dirty="0">
                <a:solidFill>
                  <a:schemeClr val="tx1"/>
                </a:solidFill>
              </a:rPr>
              <a:t>soit</a:t>
            </a:r>
            <a:r>
              <a:rPr lang="fr-FR" sz="1000" dirty="0">
                <a:solidFill>
                  <a:schemeClr val="tx1"/>
                </a:solidFill>
              </a:rPr>
              <a:t> </a:t>
            </a:r>
            <a:r>
              <a:rPr lang="fr-FR" sz="1000" b="1" dirty="0">
                <a:solidFill>
                  <a:schemeClr val="tx1"/>
                </a:solidFill>
              </a:rPr>
              <a:t>13.93%</a:t>
            </a:r>
          </a:p>
          <a:p>
            <a:endParaRPr lang="fr-FR" sz="400" dirty="0">
              <a:solidFill>
                <a:srgbClr val="002060"/>
              </a:solidFill>
            </a:endParaRPr>
          </a:p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Capture :</a:t>
            </a:r>
            <a:endParaRPr lang="fr-FR" sz="10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7B8AE43-8FE4-98BD-8885-7577120B9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021" y="1877297"/>
            <a:ext cx="1806457" cy="818551"/>
          </a:xfrm>
          <a:prstGeom prst="rect">
            <a:avLst/>
          </a:prstGeom>
        </p:spPr>
      </p:pic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445AF8F3-004A-F160-7536-94923E2212A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69233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C4BADB5A-09D7-B1E2-9F62-767579447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238579E2-963C-E222-892B-2978BAE52D20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ACBC6CB5-022E-73BF-07E1-D17C6DFCE8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25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Partie 2.1 :</a:t>
            </a:r>
            <a:r>
              <a:rPr lang="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les requêtes et leurs résultats 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29FA3A7-3D7B-8DCB-EB69-59AFC86FE7B2}"/>
              </a:ext>
            </a:extLst>
          </p:cNvPr>
          <p:cNvSpPr txBox="1"/>
          <p:nvPr/>
        </p:nvSpPr>
        <p:spPr>
          <a:xfrm>
            <a:off x="979053" y="798254"/>
            <a:ext cx="8551719" cy="18466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Calculer le taux de réservation moyen par mois par type de logement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7312539-345F-18D1-FA8B-83E2628ECCE4}"/>
              </a:ext>
            </a:extLst>
          </p:cNvPr>
          <p:cNvSpPr txBox="1"/>
          <p:nvPr/>
        </p:nvSpPr>
        <p:spPr>
          <a:xfrm>
            <a:off x="890155" y="982920"/>
            <a:ext cx="26848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formatée avec Polars :</a:t>
            </a:r>
            <a:endParaRPr lang="en-US" sz="7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3A2C45-9B10-4E34-C0F8-C60637C4F21A}"/>
              </a:ext>
            </a:extLst>
          </p:cNvPr>
          <p:cNvSpPr txBox="1"/>
          <p:nvPr/>
        </p:nvSpPr>
        <p:spPr>
          <a:xfrm>
            <a:off x="4983595" y="972652"/>
            <a:ext cx="21728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/ Capture :</a:t>
            </a:r>
            <a:endParaRPr lang="fr-FR" sz="10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018C78F-5E41-584D-874E-DFE616388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053" y="1226568"/>
            <a:ext cx="3121643" cy="364527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F3D35EC-E6E7-CD88-27FE-CD04658699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862" y="1226568"/>
            <a:ext cx="2241896" cy="982336"/>
          </a:xfrm>
          <a:prstGeom prst="rect">
            <a:avLst/>
          </a:prstGeo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ACAA59F-F87A-F711-D4E2-23BD053F43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0592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8CF864CD-6551-E2E9-E3B4-EB22F8399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B297B437-0837-761A-2601-85B291CBCB16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D8D9557D-AF83-4885-D6DC-2F6A0E9A97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25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Partie 2.1 :</a:t>
            </a:r>
            <a:r>
              <a:rPr lang="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les requêtes et leurs résultats 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62E4F45-9737-FB8A-F4D0-8C4895EA2BBC}"/>
              </a:ext>
            </a:extLst>
          </p:cNvPr>
          <p:cNvSpPr txBox="1"/>
          <p:nvPr/>
        </p:nvSpPr>
        <p:spPr>
          <a:xfrm>
            <a:off x="979053" y="798254"/>
            <a:ext cx="8551719" cy="18466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Calculer la médiane des nombres d’avis pour tous les logements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1D6D1A3-ABD9-7B55-BDF7-97B66FBBB3A6}"/>
              </a:ext>
            </a:extLst>
          </p:cNvPr>
          <p:cNvSpPr txBox="1"/>
          <p:nvPr/>
        </p:nvSpPr>
        <p:spPr>
          <a:xfrm>
            <a:off x="890155" y="982920"/>
            <a:ext cx="26848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formatée avec Polars :</a:t>
            </a:r>
            <a:endParaRPr lang="en-US" sz="7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A288D4E-20B1-9CB1-7BF6-F80AA3457552}"/>
              </a:ext>
            </a:extLst>
          </p:cNvPr>
          <p:cNvSpPr txBox="1"/>
          <p:nvPr/>
        </p:nvSpPr>
        <p:spPr>
          <a:xfrm>
            <a:off x="4983595" y="972652"/>
            <a:ext cx="21728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/ Capture :</a:t>
            </a:r>
            <a:endParaRPr lang="fr-FR" sz="1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367C68-2330-C5FE-12C5-FB570230E57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14</a:t>
            </a:fld>
            <a:endParaRPr lang="fr-FR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7C8C25A7-2231-DC0F-C3D6-32A29C209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053" y="1226568"/>
            <a:ext cx="3763861" cy="344621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1E2D4E9-2BEA-262B-2528-383D936000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5842" y="1226568"/>
            <a:ext cx="1571844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471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E1DA94DE-712A-76F2-2D4C-8DFBB72C8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3F42E441-D4C5-C732-E0FF-057B62C0C8ED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3B91353A-EF40-2892-735E-4F16F79BC4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25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Partie 2.1 :</a:t>
            </a:r>
            <a:r>
              <a:rPr lang="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les requêtes et leurs résultats 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B834D4A-611B-FF82-DDD3-C502DAC0FC17}"/>
              </a:ext>
            </a:extLst>
          </p:cNvPr>
          <p:cNvSpPr txBox="1"/>
          <p:nvPr/>
        </p:nvSpPr>
        <p:spPr>
          <a:xfrm>
            <a:off x="979053" y="798254"/>
            <a:ext cx="8551719" cy="18466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Calculer la médiane des nombres d’avis par catégorie d’hôte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264E8BF-1E54-9A6C-A90A-20698FC4490C}"/>
              </a:ext>
            </a:extLst>
          </p:cNvPr>
          <p:cNvSpPr txBox="1"/>
          <p:nvPr/>
        </p:nvSpPr>
        <p:spPr>
          <a:xfrm>
            <a:off x="890155" y="982920"/>
            <a:ext cx="26848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formatée avec Polars :</a:t>
            </a:r>
            <a:endParaRPr lang="en-US" sz="7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5A4AD5-A8AC-1707-B53C-D21FE1285173}"/>
              </a:ext>
            </a:extLst>
          </p:cNvPr>
          <p:cNvSpPr txBox="1"/>
          <p:nvPr/>
        </p:nvSpPr>
        <p:spPr>
          <a:xfrm>
            <a:off x="4983595" y="972652"/>
            <a:ext cx="21728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/ Capture :</a:t>
            </a:r>
            <a:endParaRPr lang="fr-FR" sz="1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0F8D7D7-EA41-4DC9-9842-6169BDB02D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15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BF7BB02-B500-BD43-D0D3-8F6A99B8B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053" y="1226568"/>
            <a:ext cx="3684557" cy="368455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2903BD5-3980-B102-81BA-B4919EF61B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287" y="1226568"/>
            <a:ext cx="2172855" cy="909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398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EBB2BCF2-E655-96F7-6708-896AD8B86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17198C25-00A4-B9BB-A74B-415770CFE34A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AFCC3B38-31DF-E13D-4784-89F089E562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25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Partie 2.1 :</a:t>
            </a:r>
            <a:r>
              <a:rPr lang="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les requêtes et leurs résultats 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D0F31E4-98D2-0F53-BBD3-39D4F1781C2D}"/>
              </a:ext>
            </a:extLst>
          </p:cNvPr>
          <p:cNvSpPr txBox="1"/>
          <p:nvPr/>
        </p:nvSpPr>
        <p:spPr>
          <a:xfrm>
            <a:off x="979053" y="798254"/>
            <a:ext cx="8551719" cy="18466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Calculer la densité de logements par quartier de Paris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E943B4F-EC15-F9E2-08EA-2CBD394D9EED}"/>
              </a:ext>
            </a:extLst>
          </p:cNvPr>
          <p:cNvSpPr txBox="1"/>
          <p:nvPr/>
        </p:nvSpPr>
        <p:spPr>
          <a:xfrm>
            <a:off x="890155" y="982920"/>
            <a:ext cx="26848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formatée avec Polars :</a:t>
            </a:r>
            <a:endParaRPr lang="en-US" sz="7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E1834E-47B0-3B64-6526-72F70CA169D5}"/>
              </a:ext>
            </a:extLst>
          </p:cNvPr>
          <p:cNvSpPr txBox="1"/>
          <p:nvPr/>
        </p:nvSpPr>
        <p:spPr>
          <a:xfrm>
            <a:off x="4983595" y="972652"/>
            <a:ext cx="21728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/ Capture :</a:t>
            </a:r>
            <a:endParaRPr lang="fr-FR" sz="1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93AF00A-C903-F63F-FA9B-F910F1C544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16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78F4769-829A-BC0F-6B74-143CE92DB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23" y="1226568"/>
            <a:ext cx="2395901" cy="168194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B8394FC-E2DD-A7E1-38F9-AD9A4BC6D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3169" y="1306712"/>
            <a:ext cx="975960" cy="160012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B2B58F5B-1533-B82F-AE06-AF7ABCB351C3}"/>
              </a:ext>
            </a:extLst>
          </p:cNvPr>
          <p:cNvSpPr txBox="1"/>
          <p:nvPr/>
        </p:nvSpPr>
        <p:spPr>
          <a:xfrm>
            <a:off x="3302479" y="1158840"/>
            <a:ext cx="85792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i="1" dirty="0">
                <a:solidFill>
                  <a:srgbClr val="002060">
                    <a:alpha val="50000"/>
                  </a:srgbClr>
                </a:solidFill>
              </a:rPr>
              <a:t>Généré avec l’IA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B1B62D25-4D1A-F91C-0718-E6D00546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423" y="2985204"/>
            <a:ext cx="3807798" cy="1678013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7EE7CF6D-3612-D219-E147-EFC84466F2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9795" y="1226568"/>
            <a:ext cx="3408571" cy="3436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181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EE1B1537-E50D-7EE3-49F3-AD98E0D19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9CB71968-5FFF-8C90-542F-D97B06CF41CE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42C674FF-99AB-A6CF-40E9-48B26ED613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25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Partie 2.1 :</a:t>
            </a:r>
            <a:r>
              <a:rPr lang="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les requêtes et leurs résultats 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B569B03-A3EB-02B6-3F54-FAA6F77EFA69}"/>
              </a:ext>
            </a:extLst>
          </p:cNvPr>
          <p:cNvSpPr txBox="1"/>
          <p:nvPr/>
        </p:nvSpPr>
        <p:spPr>
          <a:xfrm>
            <a:off x="979053" y="798254"/>
            <a:ext cx="8551719" cy="18466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fr-FR" sz="1200" u="sng" dirty="0">
                <a:solidFill>
                  <a:srgbClr val="002060"/>
                </a:solidFill>
              </a:rPr>
              <a:t>Identifier les quartiers avec le plus fort taux de réservation par mois</a:t>
            </a:r>
            <a:endParaRPr lang="fr-FR" sz="1200" dirty="0">
              <a:solidFill>
                <a:srgbClr val="002060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CB12A0B-EA3F-0F4F-5649-8F34FA7EC54E}"/>
              </a:ext>
            </a:extLst>
          </p:cNvPr>
          <p:cNvSpPr txBox="1"/>
          <p:nvPr/>
        </p:nvSpPr>
        <p:spPr>
          <a:xfrm>
            <a:off x="890155" y="982920"/>
            <a:ext cx="26848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Commande formatée avec Polars :</a:t>
            </a:r>
            <a:endParaRPr lang="en-US" sz="7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B0752A1-2D8C-D282-E8DC-A93FA37FBABD}"/>
              </a:ext>
            </a:extLst>
          </p:cNvPr>
          <p:cNvSpPr txBox="1"/>
          <p:nvPr/>
        </p:nvSpPr>
        <p:spPr>
          <a:xfrm>
            <a:off x="4983595" y="972652"/>
            <a:ext cx="21728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000" dirty="0">
                <a:solidFill>
                  <a:srgbClr val="002060"/>
                </a:solidFill>
              </a:rPr>
              <a:t>Résultat / Capture :</a:t>
            </a:r>
            <a:endParaRPr lang="fr-FR" sz="1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CB3D78D-F5A0-715B-45CF-441C3E4513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17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B72348E-173F-CCBF-52C2-3566FEF24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053" y="1226568"/>
            <a:ext cx="3030395" cy="355507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9132133-2688-1028-B7A8-D95593AFD1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4619" y="1226567"/>
            <a:ext cx="3219226" cy="355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7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213660E0-CDA0-6124-A6FD-9DF646794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CFB8BA60-B2B1-601B-2504-EA47F5982D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25"/>
            <a:ext cx="9144000" cy="572700"/>
          </a:xfrm>
          <a:prstGeom prst="rect">
            <a:avLst/>
          </a:prstGeom>
          <a:solidFill>
            <a:schemeClr val="bg1"/>
          </a:solidFill>
        </p:spPr>
        <p:txBody>
          <a:bodyPr spcFirstLastPara="1" vert="horz" wrap="none" lIns="36000" tIns="36000" rIns="36000" bIns="36000" rtlCol="0" anchor="ctr" anchorCtr="0">
            <a:noAutofit/>
          </a:bodyPr>
          <a:lstStyle/>
          <a:p>
            <a:pPr algn="ctr" defTabSz="914400">
              <a:lnSpc>
                <a:spcPct val="100000"/>
              </a:lnSpc>
              <a:buClr>
                <a:srgbClr val="000000"/>
              </a:buClr>
              <a:buFont typeface="Arial"/>
            </a:pPr>
            <a:r>
              <a:rPr lang="fr" sz="2500" dirty="0">
                <a:solidFill>
                  <a:srgbClr val="002060"/>
                </a:solidFill>
                <a:latin typeface="+mn-lt"/>
                <a:cs typeface="Arial"/>
              </a:rPr>
              <a:t>Partie 2 :</a:t>
            </a:r>
            <a:r>
              <a:rPr lang="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</a:t>
            </a:r>
            <a:r>
              <a:rPr lang="fr-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démarche pour mettre la </a:t>
            </a:r>
            <a:r>
              <a:rPr lang="fr-FR" sz="2500" dirty="0" err="1">
                <a:solidFill>
                  <a:srgbClr val="002060"/>
                </a:solidFill>
                <a:latin typeface="+mn-lt"/>
                <a:cs typeface="Arial"/>
                <a:sym typeface="Inter"/>
              </a:rPr>
              <a:t>bdd</a:t>
            </a:r>
            <a:r>
              <a:rPr lang="fr-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sur </a:t>
            </a:r>
            <a:r>
              <a:rPr lang="fr-FR" sz="2500" dirty="0" err="1">
                <a:solidFill>
                  <a:srgbClr val="002060"/>
                </a:solidFill>
                <a:latin typeface="+mn-lt"/>
                <a:cs typeface="Arial"/>
                <a:sym typeface="Inter"/>
              </a:rPr>
              <a:t>PowerBI</a:t>
            </a:r>
            <a:r>
              <a:rPr lang="fr-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 </a:t>
            </a:r>
            <a:br>
              <a:rPr lang="fr-FR" sz="25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</a:br>
            <a:r>
              <a:rPr lang="fr-FR" sz="1000" dirty="0">
                <a:solidFill>
                  <a:srgbClr val="002060"/>
                </a:solidFill>
                <a:latin typeface="+mn-lt"/>
                <a:cs typeface="Arial"/>
                <a:sym typeface="Inter"/>
              </a:rPr>
              <a:t>(incluant des captures d’écran du tableau de bord et du processus)</a:t>
            </a:r>
            <a:endParaRPr sz="2500" dirty="0">
              <a:solidFill>
                <a:srgbClr val="002060"/>
              </a:solidFill>
              <a:latin typeface="+mn-lt"/>
              <a:cs typeface="Arial"/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2FBDC2EE-C6CA-5941-5408-14972B78633D}"/>
              </a:ext>
            </a:extLst>
          </p:cNvPr>
          <p:cNvSpPr/>
          <p:nvPr/>
        </p:nvSpPr>
        <p:spPr>
          <a:xfrm>
            <a:off x="383458" y="750545"/>
            <a:ext cx="8377084" cy="4227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fr-FR" sz="1600" dirty="0">
              <a:solidFill>
                <a:srgbClr val="002060">
                  <a:alpha val="98000"/>
                </a:srgb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4C24B09-0518-9CB8-3A02-1C55DAFE9E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3551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Partie 3</a:t>
            </a:r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152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200">
                <a:solidFill>
                  <a:srgbClr val="271A38"/>
                </a:solidFill>
                <a:latin typeface="Inter"/>
                <a:ea typeface="Inter"/>
                <a:cs typeface="Inter"/>
                <a:sym typeface="Inter"/>
              </a:rPr>
              <a:t>Schéma d’architecture de la base de données incluant la connexion à un outil de business intelligence.</a:t>
            </a:r>
            <a:endParaRPr sz="1200">
              <a:solidFill>
                <a:srgbClr val="271A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152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271A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152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271A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152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271A38"/>
                </a:solidFill>
                <a:latin typeface="Inter"/>
                <a:ea typeface="Inter"/>
                <a:cs typeface="Inter"/>
                <a:sym typeface="Inter"/>
              </a:rPr>
              <a:t>Description de la logique et du processus suivi sous forme de tableau pour :</a:t>
            </a:r>
            <a:endParaRPr sz="1200">
              <a:solidFill>
                <a:srgbClr val="271A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152400" lvl="0" indent="-304800" algn="l" rtl="0">
              <a:spcBef>
                <a:spcPts val="0"/>
              </a:spcBef>
              <a:spcAft>
                <a:spcPts val="0"/>
              </a:spcAft>
              <a:buClr>
                <a:srgbClr val="271A38"/>
              </a:buClr>
              <a:buSzPts val="1200"/>
              <a:buFont typeface="Inter"/>
              <a:buChar char="●"/>
            </a:pPr>
            <a:r>
              <a:rPr lang="fr" sz="1200">
                <a:solidFill>
                  <a:srgbClr val="271A38"/>
                </a:solidFill>
                <a:latin typeface="Inter"/>
                <a:ea typeface="Inter"/>
                <a:cs typeface="Inter"/>
                <a:sym typeface="Inter"/>
              </a:rPr>
              <a:t>répliquer les données (instructions étape 2);</a:t>
            </a:r>
            <a:endParaRPr sz="1200">
              <a:solidFill>
                <a:srgbClr val="271A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152400" lvl="0" indent="-304800" algn="l" rtl="0">
              <a:spcBef>
                <a:spcPts val="0"/>
              </a:spcBef>
              <a:spcAft>
                <a:spcPts val="0"/>
              </a:spcAft>
              <a:buClr>
                <a:srgbClr val="271A38"/>
              </a:buClr>
              <a:buSzPts val="1200"/>
              <a:buFont typeface="Inter"/>
              <a:buChar char="●"/>
            </a:pPr>
            <a:r>
              <a:rPr lang="fr" sz="1200">
                <a:solidFill>
                  <a:srgbClr val="271A38"/>
                </a:solidFill>
                <a:latin typeface="Inter"/>
                <a:ea typeface="Inter"/>
                <a:cs typeface="Inter"/>
                <a:sym typeface="Inter"/>
              </a:rPr>
              <a:t>distribuer les données (instructions étape 3).</a:t>
            </a:r>
            <a:endParaRPr sz="1200">
              <a:solidFill>
                <a:srgbClr val="271A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152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271A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152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271A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533065B9-72C3-7A90-9685-99AA07A5EB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19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512</TotalTime>
  <Words>1677</Words>
  <Application>Microsoft Office PowerPoint</Application>
  <PresentationFormat>Affichage à l'écran (16:9)</PresentationFormat>
  <Paragraphs>288</Paragraphs>
  <Slides>19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4" baseType="lpstr">
      <vt:lpstr>Calibri Light</vt:lpstr>
      <vt:lpstr>Calibri</vt:lpstr>
      <vt:lpstr>Arial</vt:lpstr>
      <vt:lpstr>Inter</vt:lpstr>
      <vt:lpstr>Thème Office</vt:lpstr>
      <vt:lpstr>Audit de Sauvegarde Post-Crash Intégrité et Fiabilité des données de Paris.</vt:lpstr>
      <vt:lpstr>Présentation PowerPoint</vt:lpstr>
      <vt:lpstr>Importation des données</vt:lpstr>
      <vt:lpstr>Importation des données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Partie 2.1 : les requêtes et leurs résultats </vt:lpstr>
      <vt:lpstr>Partie 2.1 : les requêtes et leurs résultats </vt:lpstr>
      <vt:lpstr>Partie 2.1 : les requêtes et leurs résultats </vt:lpstr>
      <vt:lpstr>Partie 2.1 : les requêtes et leurs résultats </vt:lpstr>
      <vt:lpstr>Partie 2.1 : les requêtes et leurs résultats </vt:lpstr>
      <vt:lpstr>Partie 2.1 : les requêtes et leurs résultats </vt:lpstr>
      <vt:lpstr>Partie 2.1 : les requêtes et leurs résultats </vt:lpstr>
      <vt:lpstr>Partie 2.1 : les requêtes et leurs résultats </vt:lpstr>
      <vt:lpstr>Partie 2 : démarche pour mettre la bdd sur PowerBI  (incluant des captures d’écran du tableau de bord et du processus)</vt:lpstr>
      <vt:lpstr>Partie 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Aymeric Bailleul</cp:lastModifiedBy>
  <cp:revision>17</cp:revision>
  <dcterms:modified xsi:type="dcterms:W3CDTF">2025-11-14T10:53:37Z</dcterms:modified>
</cp:coreProperties>
</file>