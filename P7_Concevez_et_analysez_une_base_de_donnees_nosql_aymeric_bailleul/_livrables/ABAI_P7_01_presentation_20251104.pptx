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67" r:id="rId1"/>
  </p:sldMasterIdLst>
  <p:notesMasterIdLst>
    <p:notesMasterId r:id="rId33"/>
  </p:notesMasterIdLst>
  <p:sldIdLst>
    <p:sldId id="256" r:id="rId2"/>
    <p:sldId id="264" r:id="rId3"/>
    <p:sldId id="257" r:id="rId4"/>
    <p:sldId id="261" r:id="rId5"/>
    <p:sldId id="262" r:id="rId6"/>
    <p:sldId id="258" r:id="rId7"/>
    <p:sldId id="266" r:id="rId8"/>
    <p:sldId id="265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8" r:id="rId19"/>
    <p:sldId id="279" r:id="rId20"/>
    <p:sldId id="278" r:id="rId21"/>
    <p:sldId id="277" r:id="rId22"/>
    <p:sldId id="280" r:id="rId23"/>
    <p:sldId id="281" r:id="rId24"/>
    <p:sldId id="282" r:id="rId25"/>
    <p:sldId id="283" r:id="rId26"/>
    <p:sldId id="287" r:id="rId27"/>
    <p:sldId id="284" r:id="rId28"/>
    <p:sldId id="285" r:id="rId29"/>
    <p:sldId id="288" r:id="rId30"/>
    <p:sldId id="286" r:id="rId31"/>
    <p:sldId id="260" r:id="rId32"/>
  </p:sldIdLst>
  <p:sldSz cx="9144000" cy="5143500" type="screen16x9"/>
  <p:notesSz cx="6858000" cy="9144000"/>
  <p:embeddedFontLst>
    <p:embeddedFont>
      <p:font typeface="Cascadia Code Light" panose="020B0609020000020004" pitchFamily="49" charset="0"/>
      <p:regular r:id="rId34"/>
      <p:italic r:id="rId35"/>
    </p:embeddedFont>
    <p:embeddedFont>
      <p:font typeface="Inter" panose="020B0604020202020204" charset="0"/>
      <p:regular r:id="rId36"/>
      <p:bold r:id="rId37"/>
      <p:italic r:id="rId38"/>
      <p:boldItalic r:id="rId3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4" d="100"/>
          <a:sy n="194" d="100"/>
        </p:scale>
        <p:origin x="756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1f22bfd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1f22bfd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C21AD28-C2A0-2663-8A55-981D439D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>
            <a:extLst>
              <a:ext uri="{FF2B5EF4-FFF2-40B4-BE49-F238E27FC236}">
                <a16:creationId xmlns:a16="http://schemas.microsoft.com/office/drawing/2014/main" id="{86BEC164-30BB-54E9-5CF9-E520B61D0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>
            <a:extLst>
              <a:ext uri="{FF2B5EF4-FFF2-40B4-BE49-F238E27FC236}">
                <a16:creationId xmlns:a16="http://schemas.microsoft.com/office/drawing/2014/main" id="{6C549F34-089F-0FCB-4F8B-9F455FF4DA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1532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4DA333A-04C2-8521-0A7A-E42FDE41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>
            <a:extLst>
              <a:ext uri="{FF2B5EF4-FFF2-40B4-BE49-F238E27FC236}">
                <a16:creationId xmlns:a16="http://schemas.microsoft.com/office/drawing/2014/main" id="{75A9F9FB-70F2-F7B2-4196-B4815D3657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>
            <a:extLst>
              <a:ext uri="{FF2B5EF4-FFF2-40B4-BE49-F238E27FC236}">
                <a16:creationId xmlns:a16="http://schemas.microsoft.com/office/drawing/2014/main" id="{BA0FB4C2-DADD-41A1-36BA-9444F5B00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883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739FF0D-8FF3-E218-5EEF-ECE429FE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62812A43-AAF4-4E5A-C86F-9ED95D790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8919E591-0562-C22A-159A-978B8DEEAD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1707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74AF6BB-8995-68F2-F681-B105E2B9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4921BDF5-AC3B-B225-EE74-B729AE32B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F882E61E-0734-BE9A-AC84-41E3785BA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072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5F59E1C-15D5-B603-35D1-CFB4F73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3D1F0B1C-5AA4-A1E5-8010-F2C5A255E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3DD01B93-9787-373B-1360-12038830A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Commande pour afficher les nom et le nombres d’annonces</a:t>
            </a:r>
          </a:p>
          <a:p>
            <a:pPr marL="158750" indent="0">
              <a:buNone/>
            </a:pPr>
            <a:endParaRPr lang="fr-F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db.paris.aggregate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([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$group: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_id: "$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host_id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nom_hote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{ $first: "$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host_name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},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nombre_annonces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{ $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1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},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$match: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nombre_annonces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{ $gt: 100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},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$sort: {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nombre_annonces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-1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},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$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project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_id: 0,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nom_hote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1,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nombre_annonces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1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705376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3BB72E3-A34C-9689-BB0E-21F56C3A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C93E7681-594B-889D-2CEC-EFCF1DE4B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B1BCF524-13D2-6EF8-27A1-DC8BEEDAF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7178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7AA1ACC-0064-DB2C-36DC-C9318A3C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56A49FFC-C1DB-B1D9-A798-E380B9490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D6AC05DC-676A-1947-8AD6-A29952A41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927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29E0989-5BAB-EB79-7532-CB6F52CF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0DD25FDA-CF15-B97C-2950-1F0E349A02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0A56AF6C-58C6-B703-C80B-7953ECFCA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420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D11CA3A-6789-6BBD-83B6-17AF5B315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8B24134D-9C83-75FA-20C0-ADF3A15A6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CB0D957A-3E02-CF4F-BDF0-ED4E6B7C3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385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BEF7F97-6E4C-A97A-83F8-97D8A568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F1DF31CB-C55F-5F9C-F07F-448E768A3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610F31D0-C873-AFF8-3FD0-B8965FDE8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398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0D78ADC-5176-D1B7-84C4-56F77855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B61A3C18-68C5-06AB-DC9D-1D2F62C7F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23AE0B98-E8FC-BC54-D4C2-A123D5033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5437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71E940C-0D08-3FCC-3016-6BA1B7B2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F16A4FBA-714D-42B5-BCE2-6DF47953A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01B430DB-DCCE-2EA5-69AB-67087D228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972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93521AD-AC12-D340-0DF6-8C1466A3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9A95A92B-475C-B5D7-E05E-1B00E4F2D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639A1616-C6DD-EDB2-1E0E-F042D8023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9950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5AB7FCC-965C-4AE3-BD03-7371485C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DBA32A38-D797-E10F-C5D0-0DCA9E6F0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7F121BAE-D105-F8A8-DF63-8B3A9BB66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721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E0EF8CC-2937-E381-A127-9C9D75A21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5A3AAC9B-8595-DBD4-C3AD-9AD00A2BF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F63983FB-C086-744F-E8AA-402B8DAD3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8974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E83DBFB-144F-9E65-A5CB-624EAA09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67214F54-80D2-70BB-C7EB-7E4C4765F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6A98071C-684B-5390-D011-F31A1B7B9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9853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F266F0D-7176-CCD8-C05A-0825224D2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FD9B1E65-5958-0CBC-8BCA-67348DB92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C1E62B33-57D1-AD6A-2946-2983FF538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7814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9260064-D6F6-6E06-F76E-DE24D07C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C69E9F02-03EA-360B-9E1E-2B92E6B35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26D0A617-C010-E5C7-86D6-89A76F09A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12625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63F77F1-9238-126B-5CBA-12F99D07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84A4A1DD-14BB-7C52-4FDF-B7572EE2B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82480173-7D96-5330-873D-413C735EC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6798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13207B5-EF54-0B4B-3917-63449856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F9454E49-8C54-2996-EFB1-0A072FADE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6687C185-6D58-248E-7F54-35D8B0C9E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7294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FE458AE-E28C-B0DF-EC84-534D77BC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CE48C03C-B0B5-F889-9643-0D735B6D0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0976B8B8-FADB-3A18-B7DC-E229E80E3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5347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320177B-5A7A-ACE9-CBFE-7815AAF5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6941E3C5-D42D-FC43-39A0-BA3C46D13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C6AE93A5-BE71-CF6C-EA95-6084C799D2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77382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6BFF55F-B66A-8B1F-0CE4-D055F0C3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F8D09EC5-3153-716A-85A4-78F9D0A9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7FBCB4D9-7CAA-5D60-498C-C99FE0355D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1742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3AF4B95-0958-5B6F-7CE6-1A159169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84978235-EBAA-FE4A-B699-D8EFF4F5BE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0C4AFB52-C111-E6EF-234D-2EA899784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5949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1f22bfd9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D64991-0DBE-DEE8-B2D1-A7DC4CF25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5784DBC-245B-692E-9CB8-E213F52CA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5DB171-963E-7297-39EF-2A1097AC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60C0-A710-4910-B5E0-DB9D274D2023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07CFA7-2BBC-99FA-48C9-BF818696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43C029-63DF-B50D-841F-DBBD288FA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4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CD8859-6221-482D-2517-4E26AE15B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C33279-1FBA-D3F2-68D4-D09D0438B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5AF5D3-9050-2B17-550A-54EBBD55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396F-3457-4D04-AF04-E63BC81132C3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BD8CF3-D94F-A75D-861D-445DEA4C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A878DA-868B-5CC9-6AB0-C5F3DB0B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71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E4BAFC-F016-0B46-36AD-72EF5BA9F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BD283C-C4D5-5885-12EE-75F7959D0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5D9498-FB2A-382B-166F-694EC37E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0224-1E5F-4712-A9D1-B54A5DB7017C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3D0682-4A40-270B-356F-9E9FC0C5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9C2795-3BD8-BD8C-C663-349660B4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45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014CE-5CBF-B636-B6E7-017E1E95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BCE502-237B-2A30-905B-38B103E56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F6044D-1734-4CDB-52CB-1DD295F52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58E6D6-D928-B7D1-E775-8CE67990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FBE-909F-443E-97D2-B694DB5EBC7C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9066FD-1F1F-5D47-0246-66FBB54A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1E0000-46F8-1B54-899D-173A83E5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7114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A999F0-43FB-8FE9-45D6-66A64F51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EC5906-775D-9549-E057-B6F547420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F221EA-C365-CAA8-BBC5-0D0ABEC56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1AE2D21-640A-6592-10AF-BAAAE4330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39284F7-ADB4-7228-EB84-0AA425BEA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6E5FD6-5881-3D5F-BE20-45C025D8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62BF-A0B0-4CF6-BF17-951A7C34733D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93D624-DB29-0CB6-A5F8-5CF97FB8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76E648-50A4-6A27-D6F5-78398FC3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20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0F149-86AD-8440-1FC7-1BE99E3A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00B3AE-4B23-B3D1-80F1-202FC7E6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C8DCD-575C-4946-A047-F73D0EB2F7F4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CAF1B7-4DC7-EADE-A941-CC6E56F4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6541F8-C4B7-2561-2044-2992A41A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31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B5FA08-9F0E-4A05-4379-53B9628DC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81F4-7CDF-4794-9DB9-6BD70E5B273D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83EA50-B591-8AC3-FCF0-ABC24176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5B156B-BB87-CB51-A6CF-47CE2916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86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1A388-4096-164D-30F0-AC549B0D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DF8321-032E-4E91-03F7-3EB43238C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9BFA11-8211-DFFA-22E2-7F551B930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2C40B6-5E3F-F935-5BC2-0BFFE1EB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09E83-0035-44D5-87EC-F2D54F0FDCB0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81D380-0FFF-3CA3-190C-88A6F835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C1B280-79C0-2C15-FF15-C6CC2758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63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77172-3EF7-AB62-ED6F-8D98B766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42624FB-98AF-8255-DAB7-E13498897A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190DAD-779A-E54D-3140-34BAC325A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EFB136-4092-5E39-EF41-3C04A82F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9C966-7783-4DD0-88AD-BADEA37819B1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17BB32-AA45-8A98-2E01-8270259E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7AB384-21E4-7D1B-B027-B9C0BC78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12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7085B-1B9B-E5A2-C3C6-250DE5F4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DA8DFC-BC7F-9888-3628-5D90B5502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B96AED-E446-8800-220B-018E1B1DF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E520-D3DA-4B24-96B0-A8ED8702D7BE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7350CE-6947-356E-6B12-E3344A6C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DA6B32-C0EC-964B-C59F-8A38EAC6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193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312A040-39D9-7FB7-F2FC-90C3325E8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F246D9-B7C3-588B-AB50-3208F22DF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17E885-5C58-0F02-EB2E-AD405AA0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682-BFD4-432E-8603-851B7BC8572B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71CBB7-E992-B51A-3FF4-56BFE7B4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82AC44-15CC-47A5-1749-8115A136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724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211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8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FB0D484-0964-CBD4-66EA-773558BCF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1366FB-3831-FDC6-0685-71AC99E5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8ACE98-4D9C-A701-D75F-20594633E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E0676-7469-44B2-B21C-45B445B9389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01AA79-E08D-BFA4-4F97-F7FB378E1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8C6674-AC82-2428-5A78-0554EEC22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22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1545450"/>
            <a:ext cx="9144000" cy="2052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dirty="0">
                <a:solidFill>
                  <a:srgbClr val="002060"/>
                </a:solidFill>
                <a:latin typeface="+mn-lt"/>
              </a:rPr>
              <a:t>Audit de Sauvegarde Post-Crash</a:t>
            </a:r>
            <a:br>
              <a:rPr lang="fr-FR" dirty="0">
                <a:solidFill>
                  <a:srgbClr val="002060"/>
                </a:solidFill>
                <a:latin typeface="+mn-lt"/>
              </a:rPr>
            </a:br>
            <a:r>
              <a:rPr lang="fr-FR" sz="2000" b="1" dirty="0">
                <a:solidFill>
                  <a:srgbClr val="002060"/>
                </a:solidFill>
                <a:latin typeface="+mn-lt"/>
              </a:rPr>
              <a:t>Intégrité</a:t>
            </a:r>
            <a:r>
              <a:rPr lang="fr-FR" sz="2000" dirty="0">
                <a:solidFill>
                  <a:srgbClr val="002060"/>
                </a:solidFill>
                <a:latin typeface="+mn-lt"/>
              </a:rPr>
              <a:t> et </a:t>
            </a:r>
            <a:r>
              <a:rPr lang="fr-FR" sz="2000" b="1" dirty="0">
                <a:solidFill>
                  <a:srgbClr val="002060"/>
                </a:solidFill>
                <a:latin typeface="+mn-lt"/>
              </a:rPr>
              <a:t>Fiabilité</a:t>
            </a:r>
            <a:r>
              <a:rPr lang="fr-FR" sz="2000" dirty="0">
                <a:solidFill>
                  <a:srgbClr val="002060"/>
                </a:solidFill>
                <a:latin typeface="+mn-lt"/>
              </a:rPr>
              <a:t> des données</a:t>
            </a:r>
            <a:endParaRPr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43EABCED-5C81-E596-4CEE-697403A984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wrap="none" lIns="36000" tIns="36000" rIns="36000" bIns="36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500" dirty="0">
                <a:solidFill>
                  <a:srgbClr val="002060"/>
                </a:solidFill>
                <a:latin typeface="+mn-lt"/>
              </a:rPr>
              <a:t>Contexte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7E08827-509D-93AF-96E9-97AD53109B99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600" dirty="0">
                <a:solidFill>
                  <a:schemeClr val="lt1">
                    <a:alpha val="98000"/>
                  </a:schemeClr>
                </a:solidFill>
              </a:rPr>
              <a:t>💥 </a:t>
            </a:r>
            <a:r>
              <a:rPr lang="fr-FR" sz="1600" b="1" u="sng" dirty="0">
                <a:solidFill>
                  <a:srgbClr val="002060">
                    <a:alpha val="98000"/>
                  </a:srgbClr>
                </a:solidFill>
              </a:rPr>
              <a:t>Contexte Urgent : </a:t>
            </a:r>
          </a:p>
          <a:p>
            <a:endParaRPr lang="fr-FR" sz="700" b="1" u="sng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1200" b="1" dirty="0">
                <a:solidFill>
                  <a:srgbClr val="002060">
                    <a:alpha val="98000"/>
                  </a:srgbClr>
                </a:solidFill>
              </a:rPr>
              <a:t>Sauvetage des données 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de Paris suite a </a:t>
            </a:r>
            <a:r>
              <a:rPr lang="fr-FR" sz="1200" b="1" dirty="0">
                <a:solidFill>
                  <a:srgbClr val="002060">
                    <a:alpha val="98000"/>
                  </a:srgbClr>
                </a:solidFill>
              </a:rPr>
              <a:t>un crash total de la base de données 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potentiellement </a:t>
            </a:r>
            <a:r>
              <a:rPr lang="fr-FR" sz="1200" b="1" dirty="0">
                <a:solidFill>
                  <a:srgbClr val="002060">
                    <a:alpha val="98000"/>
                  </a:srgbClr>
                </a:solidFill>
              </a:rPr>
              <a:t>du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 à une </a:t>
            </a:r>
            <a:r>
              <a:rPr lang="fr-FR" sz="1200" b="1" dirty="0">
                <a:solidFill>
                  <a:srgbClr val="002060">
                    <a:alpha val="98000"/>
                  </a:srgbClr>
                </a:solidFill>
              </a:rPr>
              <a:t>attaque malveillante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.</a:t>
            </a:r>
          </a:p>
          <a:p>
            <a:endParaRPr lang="fr-FR" sz="800" dirty="0">
              <a:solidFill>
                <a:srgbClr val="002060">
                  <a:alpha val="98000"/>
                </a:srgbClr>
              </a:solidFill>
            </a:endParaRPr>
          </a:p>
          <a:p>
            <a:endParaRPr lang="fr-FR" sz="800" dirty="0">
              <a:solidFill>
                <a:srgbClr val="002060">
                  <a:alpha val="98000"/>
                </a:srgbClr>
              </a:solidFill>
            </a:endParaRPr>
          </a:p>
          <a:p>
            <a:r>
              <a:rPr lang="fr-FR" sz="1600" dirty="0">
                <a:solidFill>
                  <a:srgbClr val="002060">
                    <a:alpha val="98000"/>
                  </a:srgbClr>
                </a:solidFill>
              </a:rPr>
              <a:t>🚨 </a:t>
            </a:r>
            <a:r>
              <a:rPr lang="fr-FR" sz="1600" b="1" u="sng" dirty="0">
                <a:solidFill>
                  <a:srgbClr val="002060">
                    <a:alpha val="98000"/>
                  </a:srgbClr>
                </a:solidFill>
              </a:rPr>
              <a:t>La Crise :</a:t>
            </a:r>
          </a:p>
          <a:p>
            <a:endParaRPr lang="fr-FR" sz="700" b="1" u="sng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1200" b="1" i="1" dirty="0">
                <a:solidFill>
                  <a:srgbClr val="002060">
                    <a:alpha val="98000"/>
                  </a:srgbClr>
                </a:solidFill>
              </a:rPr>
              <a:t>Problème</a:t>
            </a:r>
            <a:r>
              <a:rPr lang="fr-FR" sz="1200" i="1" dirty="0">
                <a:solidFill>
                  <a:srgbClr val="002060">
                    <a:alpha val="98000"/>
                  </a:srgbClr>
                </a:solidFill>
              </a:rPr>
              <a:t> :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 Crash total de la base de données MongoDB des locations parisiennes </a:t>
            </a:r>
            <a:r>
              <a:rPr lang="fr-FR" sz="1200" i="1" dirty="0">
                <a:solidFill>
                  <a:srgbClr val="002060">
                    <a:alpha val="98000"/>
                  </a:srgbClr>
                </a:solidFill>
              </a:rPr>
              <a:t>(été 2024) 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sur nos serveurs internes.</a:t>
            </a:r>
          </a:p>
          <a:p>
            <a:pPr marL="285750" indent="-285750">
              <a:buFontTx/>
              <a:buChar char="-"/>
            </a:pPr>
            <a:r>
              <a:rPr lang="fr-FR" sz="1200" b="1" i="1" dirty="0">
                <a:solidFill>
                  <a:srgbClr val="002060">
                    <a:alpha val="98000"/>
                  </a:srgbClr>
                </a:solidFill>
              </a:rPr>
              <a:t>Enjeu</a:t>
            </a:r>
            <a:r>
              <a:rPr lang="fr-FR" sz="1200" i="1" dirty="0">
                <a:solidFill>
                  <a:srgbClr val="002060">
                    <a:alpha val="98000"/>
                  </a:srgbClr>
                </a:solidFill>
              </a:rPr>
              <a:t> :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 L'association </a:t>
            </a:r>
            <a:r>
              <a:rPr lang="fr-FR" sz="1200" dirty="0" err="1">
                <a:solidFill>
                  <a:srgbClr val="002060">
                    <a:alpha val="98000"/>
                  </a:srgbClr>
                </a:solidFill>
              </a:rPr>
              <a:t>NosCités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 doit publier un rapport crucial sur l'effet "JO 2024" sur l'offre de logements.</a:t>
            </a:r>
            <a:endParaRPr lang="fr-FR" sz="800" dirty="0">
              <a:solidFill>
                <a:srgbClr val="002060">
                  <a:alpha val="98000"/>
                </a:srgbClr>
              </a:solidFill>
            </a:endParaRPr>
          </a:p>
          <a:p>
            <a:endParaRPr lang="fr-FR" sz="800" dirty="0">
              <a:solidFill>
                <a:srgbClr val="002060">
                  <a:alpha val="98000"/>
                </a:srgbClr>
              </a:solidFill>
            </a:endParaRPr>
          </a:p>
          <a:p>
            <a:endParaRPr lang="fr-FR" sz="800" dirty="0">
              <a:solidFill>
                <a:srgbClr val="002060">
                  <a:alpha val="98000"/>
                </a:srgbClr>
              </a:solidFill>
            </a:endParaRPr>
          </a:p>
          <a:p>
            <a:r>
              <a:rPr lang="fr-FR" sz="1600" dirty="0">
                <a:solidFill>
                  <a:srgbClr val="002060">
                    <a:alpha val="98000"/>
                  </a:srgbClr>
                </a:solidFill>
              </a:rPr>
              <a:t>🎯 </a:t>
            </a:r>
            <a:r>
              <a:rPr lang="fr-FR" sz="1600" b="1" u="sng" dirty="0">
                <a:solidFill>
                  <a:srgbClr val="002060">
                    <a:alpha val="98000"/>
                  </a:srgbClr>
                </a:solidFill>
              </a:rPr>
              <a:t>Objectif Data </a:t>
            </a:r>
            <a:r>
              <a:rPr lang="fr-FR" sz="1600" b="1" u="sng" dirty="0" err="1">
                <a:solidFill>
                  <a:srgbClr val="002060">
                    <a:alpha val="98000"/>
                  </a:srgbClr>
                </a:solidFill>
              </a:rPr>
              <a:t>Engineer</a:t>
            </a:r>
            <a:r>
              <a:rPr lang="fr-FR" sz="1600" b="1" u="sng" dirty="0">
                <a:solidFill>
                  <a:srgbClr val="002060">
                    <a:alpha val="98000"/>
                  </a:srgbClr>
                </a:solidFill>
              </a:rPr>
              <a:t> :</a:t>
            </a:r>
          </a:p>
          <a:p>
            <a:endParaRPr lang="fr-FR" sz="700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1200" b="1" dirty="0">
                <a:solidFill>
                  <a:srgbClr val="002060">
                    <a:alpha val="98000"/>
                  </a:srgbClr>
                </a:solidFill>
              </a:rPr>
              <a:t>Rétablir, Explorer et Valider la fiabilité 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de la seule sauvegarde disponible pour Paris.</a:t>
            </a:r>
          </a:p>
          <a:p>
            <a:pPr marL="285750" indent="-285750">
              <a:buFontTx/>
              <a:buChar char="-"/>
            </a:pPr>
            <a:r>
              <a:rPr lang="fr-FR" sz="1200" b="1" dirty="0">
                <a:solidFill>
                  <a:srgbClr val="002060">
                    <a:alpha val="98000"/>
                  </a:srgbClr>
                </a:solidFill>
              </a:rPr>
              <a:t>Restauration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 : Importer la sauvegarde dans MongoDB.</a:t>
            </a:r>
          </a:p>
          <a:p>
            <a:pPr marL="285750" indent="-285750">
              <a:buFontTx/>
              <a:buChar char="-"/>
            </a:pPr>
            <a:r>
              <a:rPr lang="fr-FR" sz="1200" b="1" dirty="0">
                <a:solidFill>
                  <a:srgbClr val="002060">
                    <a:alpha val="98000"/>
                  </a:srgbClr>
                </a:solidFill>
              </a:rPr>
              <a:t>Analyse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 : Confirmer la structure et l'intégrité des données.</a:t>
            </a:r>
          </a:p>
          <a:p>
            <a:pPr marL="285750" indent="-285750">
              <a:buFontTx/>
              <a:buChar char="-"/>
            </a:pPr>
            <a:r>
              <a:rPr lang="fr-FR" sz="1200" b="1" dirty="0">
                <a:solidFill>
                  <a:srgbClr val="002060">
                    <a:alpha val="98000"/>
                  </a:srgbClr>
                </a:solidFill>
              </a:rPr>
              <a:t>Prévention</a:t>
            </a:r>
            <a:r>
              <a:rPr lang="fr-FR" sz="1200" dirty="0">
                <a:solidFill>
                  <a:srgbClr val="002060">
                    <a:alpha val="98000"/>
                  </a:srgbClr>
                </a:solidFill>
              </a:rPr>
              <a:t> : Mettre en place des mesures pour sécuriser l'utilisation future.</a:t>
            </a:r>
          </a:p>
        </p:txBody>
      </p:sp>
      <p:sp>
        <p:nvSpPr>
          <p:cNvPr id="6" name="Espace réservé du numéro de diapositive 8">
            <a:extLst>
              <a:ext uri="{FF2B5EF4-FFF2-40B4-BE49-F238E27FC236}">
                <a16:creationId xmlns:a16="http://schemas.microsoft.com/office/drawing/2014/main" id="{3857D4E4-134D-5D75-1F4A-B56D1F2764C8}"/>
              </a:ext>
            </a:extLst>
          </p:cNvPr>
          <p:cNvSpPr txBox="1">
            <a:spLocks/>
          </p:cNvSpPr>
          <p:nvPr/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029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298C6C4-363F-E7D9-073B-93FED29AC0B2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wrap="none" lIns="36000" tIns="36000" rIns="36000" bIns="3600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Importation des données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C01C850-3CF4-673D-F515-EF3E6336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673" y="1072380"/>
            <a:ext cx="2101645" cy="16206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EDFFAE6-56C9-AEF7-2CF4-748A24409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673" y="2942813"/>
            <a:ext cx="2617839" cy="16218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E141855-4FA2-EC13-CEA7-4A6453BFD8D0}"/>
              </a:ext>
            </a:extLst>
          </p:cNvPr>
          <p:cNvSpPr txBox="1"/>
          <p:nvPr/>
        </p:nvSpPr>
        <p:spPr>
          <a:xfrm>
            <a:off x="771828" y="1410934"/>
            <a:ext cx="413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002060"/>
                </a:solidFill>
              </a:rPr>
              <a:t>- </a:t>
            </a:r>
            <a:r>
              <a:rPr lang="fr-FR" sz="1200" b="1" dirty="0">
                <a:solidFill>
                  <a:srgbClr val="002060"/>
                </a:solidFill>
              </a:rPr>
              <a:t>Création de la base de données :</a:t>
            </a:r>
            <a:r>
              <a:rPr lang="fr-FR" sz="1200" dirty="0">
                <a:solidFill>
                  <a:srgbClr val="002060"/>
                </a:solidFill>
              </a:rPr>
              <a:t> listings.</a:t>
            </a:r>
          </a:p>
          <a:p>
            <a:r>
              <a:rPr lang="fr-FR" sz="1200" dirty="0">
                <a:solidFill>
                  <a:srgbClr val="002060"/>
                </a:solidFill>
              </a:rPr>
              <a:t>- </a:t>
            </a:r>
            <a:r>
              <a:rPr lang="fr-FR" sz="1200" b="1" dirty="0">
                <a:solidFill>
                  <a:srgbClr val="002060"/>
                </a:solidFill>
              </a:rPr>
              <a:t>Ainsi que la collection : </a:t>
            </a:r>
            <a:r>
              <a:rPr lang="fr-FR" sz="1200" dirty="0" err="1">
                <a:solidFill>
                  <a:srgbClr val="002060"/>
                </a:solidFill>
              </a:rPr>
              <a:t>short_location</a:t>
            </a:r>
            <a:r>
              <a:rPr lang="fr-FR" sz="1200" dirty="0">
                <a:solidFill>
                  <a:srgbClr val="002060"/>
                </a:solidFill>
              </a:rPr>
              <a:t>.</a:t>
            </a:r>
          </a:p>
          <a:p>
            <a:r>
              <a:rPr lang="fr-FR" sz="1200" dirty="0">
                <a:solidFill>
                  <a:srgbClr val="002060"/>
                </a:solidFill>
              </a:rPr>
              <a:t>- Puis clic sur </a:t>
            </a:r>
            <a:r>
              <a:rPr lang="fr-FR" sz="1200" b="1" dirty="0" err="1">
                <a:solidFill>
                  <a:srgbClr val="002060"/>
                </a:solidFill>
              </a:rPr>
              <a:t>Create</a:t>
            </a:r>
            <a:r>
              <a:rPr lang="fr-FR" sz="1200" b="1" dirty="0">
                <a:solidFill>
                  <a:srgbClr val="002060"/>
                </a:solidFill>
              </a:rPr>
              <a:t> </a:t>
            </a:r>
            <a:r>
              <a:rPr lang="fr-FR" sz="1200" b="1" dirty="0" err="1">
                <a:solidFill>
                  <a:srgbClr val="002060"/>
                </a:solidFill>
              </a:rPr>
              <a:t>Database</a:t>
            </a:r>
            <a:r>
              <a:rPr lang="fr-FR" sz="1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AD17C6E-838B-C068-CEDB-67F71473352D}"/>
              </a:ext>
            </a:extLst>
          </p:cNvPr>
          <p:cNvSpPr txBox="1"/>
          <p:nvPr/>
        </p:nvSpPr>
        <p:spPr>
          <a:xfrm>
            <a:off x="771828" y="3430575"/>
            <a:ext cx="4139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002060"/>
                </a:solidFill>
              </a:rPr>
              <a:t>1- </a:t>
            </a:r>
            <a:r>
              <a:rPr lang="fr-FR" sz="1200" b="1" dirty="0">
                <a:solidFill>
                  <a:srgbClr val="002060"/>
                </a:solidFill>
              </a:rPr>
              <a:t>Clic</a:t>
            </a:r>
            <a:r>
              <a:rPr lang="fr-FR" sz="1200" dirty="0">
                <a:solidFill>
                  <a:srgbClr val="002060"/>
                </a:solidFill>
              </a:rPr>
              <a:t> sur </a:t>
            </a:r>
            <a:r>
              <a:rPr lang="fr-FR" sz="1200" b="1" dirty="0">
                <a:solidFill>
                  <a:srgbClr val="002060"/>
                </a:solidFill>
              </a:rPr>
              <a:t>ADD DATA</a:t>
            </a:r>
            <a:r>
              <a:rPr lang="fr-FR" sz="1200" dirty="0">
                <a:solidFill>
                  <a:srgbClr val="002060"/>
                </a:solidFill>
              </a:rPr>
              <a:t>.</a:t>
            </a:r>
          </a:p>
          <a:p>
            <a:r>
              <a:rPr lang="fr-FR" sz="1200" dirty="0">
                <a:solidFill>
                  <a:srgbClr val="002060"/>
                </a:solidFill>
              </a:rPr>
              <a:t>2- </a:t>
            </a:r>
            <a:r>
              <a:rPr lang="fr-FR" sz="1200" b="1" dirty="0">
                <a:solidFill>
                  <a:srgbClr val="002060"/>
                </a:solidFill>
              </a:rPr>
              <a:t>Clic</a:t>
            </a:r>
            <a:r>
              <a:rPr lang="fr-FR" sz="1200" dirty="0">
                <a:solidFill>
                  <a:srgbClr val="002060"/>
                </a:solidFill>
              </a:rPr>
              <a:t> sur </a:t>
            </a:r>
            <a:r>
              <a:rPr lang="fr-FR" sz="1200" b="1" dirty="0">
                <a:solidFill>
                  <a:srgbClr val="002060"/>
                </a:solidFill>
              </a:rPr>
              <a:t>Import JSON or CSV file</a:t>
            </a:r>
            <a:r>
              <a:rPr lang="fr-FR" sz="1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552046-CB77-2B60-E887-16099C697EF0}"/>
              </a:ext>
            </a:extLst>
          </p:cNvPr>
          <p:cNvSpPr txBox="1"/>
          <p:nvPr/>
        </p:nvSpPr>
        <p:spPr>
          <a:xfrm>
            <a:off x="771828" y="2937639"/>
            <a:ext cx="4057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📝 </a:t>
            </a:r>
            <a:r>
              <a:rPr lang="fr-FR" sz="1600" b="1" u="sng" dirty="0">
                <a:solidFill>
                  <a:srgbClr val="002060"/>
                </a:solidFill>
              </a:rPr>
              <a:t>Importation du fichier source :</a:t>
            </a:r>
            <a:endParaRPr lang="fr-FR" sz="16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65397B5-F579-EF90-08C4-818D4766E17D}"/>
              </a:ext>
            </a:extLst>
          </p:cNvPr>
          <p:cNvSpPr txBox="1"/>
          <p:nvPr/>
        </p:nvSpPr>
        <p:spPr>
          <a:xfrm>
            <a:off x="771828" y="1072380"/>
            <a:ext cx="3605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💾 </a:t>
            </a:r>
            <a:r>
              <a:rPr lang="fr-FR" sz="1600" b="1" u="sng" dirty="0" err="1">
                <a:solidFill>
                  <a:srgbClr val="002060"/>
                </a:solidFill>
              </a:rPr>
              <a:t>Database</a:t>
            </a:r>
            <a:r>
              <a:rPr lang="fr-FR" sz="1600" b="1" u="sng" dirty="0">
                <a:solidFill>
                  <a:srgbClr val="002060"/>
                </a:solidFill>
              </a:rPr>
              <a:t> et collection :</a:t>
            </a:r>
            <a:endParaRPr lang="fr-FR" sz="160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E2DA0B-AB5F-AD79-CF0B-BB37FDA750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5E0807C-7EA9-5CBB-3AB7-51D677CC077F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9C9C74-45A3-1B90-EEC9-47B2F8FEC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280" y="2864495"/>
            <a:ext cx="2674177" cy="19490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35B8B41-1C98-5464-5AC1-D14B2714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84" y="897626"/>
            <a:ext cx="2988971" cy="162772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EC512BB-2C05-F749-5C91-C6983F9D9627}"/>
              </a:ext>
            </a:extLst>
          </p:cNvPr>
          <p:cNvSpPr txBox="1"/>
          <p:nvPr/>
        </p:nvSpPr>
        <p:spPr>
          <a:xfrm>
            <a:off x="565354" y="1580685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2060"/>
                </a:solidFill>
              </a:rPr>
              <a:t>3- </a:t>
            </a:r>
            <a:r>
              <a:rPr lang="fr-FR" sz="1100" b="1" dirty="0">
                <a:solidFill>
                  <a:srgbClr val="002060"/>
                </a:solidFill>
              </a:rPr>
              <a:t>Sélection</a:t>
            </a:r>
            <a:r>
              <a:rPr lang="fr-FR" sz="1100" dirty="0">
                <a:solidFill>
                  <a:srgbClr val="002060"/>
                </a:solidFill>
              </a:rPr>
              <a:t> du fichier </a:t>
            </a:r>
            <a:r>
              <a:rPr lang="fr-FR" sz="1100" b="1" dirty="0">
                <a:solidFill>
                  <a:srgbClr val="002060"/>
                </a:solidFill>
              </a:rPr>
              <a:t>CSV</a:t>
            </a:r>
            <a:r>
              <a:rPr lang="fr-FR" sz="1100" dirty="0">
                <a:solidFill>
                  <a:srgbClr val="002060"/>
                </a:solidFill>
              </a:rPr>
              <a:t> fournis puis </a:t>
            </a:r>
            <a:r>
              <a:rPr lang="fr-FR" sz="1100" b="1" dirty="0">
                <a:solidFill>
                  <a:srgbClr val="002060"/>
                </a:solidFill>
              </a:rPr>
              <a:t>Select</a:t>
            </a:r>
            <a:r>
              <a:rPr lang="fr-FR" sz="11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3105D9C-3889-8A6E-2712-CF7C742E1C0B}"/>
              </a:ext>
            </a:extLst>
          </p:cNvPr>
          <p:cNvSpPr txBox="1"/>
          <p:nvPr/>
        </p:nvSpPr>
        <p:spPr>
          <a:xfrm>
            <a:off x="565354" y="3669730"/>
            <a:ext cx="4965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2060"/>
                </a:solidFill>
              </a:rPr>
              <a:t>4- </a:t>
            </a:r>
            <a:r>
              <a:rPr lang="fr-FR" sz="1100" b="1" dirty="0">
                <a:solidFill>
                  <a:srgbClr val="002060"/>
                </a:solidFill>
              </a:rPr>
              <a:t>Vérification</a:t>
            </a:r>
            <a:r>
              <a:rPr lang="fr-FR" sz="1100" dirty="0">
                <a:solidFill>
                  <a:srgbClr val="002060"/>
                </a:solidFill>
              </a:rPr>
              <a:t> du </a:t>
            </a:r>
            <a:r>
              <a:rPr lang="fr-FR" sz="1100" b="1" dirty="0">
                <a:solidFill>
                  <a:srgbClr val="002060"/>
                </a:solidFill>
              </a:rPr>
              <a:t>délimiter</a:t>
            </a:r>
            <a:r>
              <a:rPr lang="fr-FR" sz="1100" dirty="0">
                <a:solidFill>
                  <a:srgbClr val="002060"/>
                </a:solidFill>
              </a:rPr>
              <a:t> </a:t>
            </a:r>
            <a:r>
              <a:rPr lang="fr-FR" sz="1100" i="1" dirty="0">
                <a:solidFill>
                  <a:srgbClr val="002060"/>
                </a:solidFill>
              </a:rPr>
              <a:t>(Select </a:t>
            </a:r>
            <a:r>
              <a:rPr lang="fr-FR" sz="1100" i="1" dirty="0" err="1">
                <a:solidFill>
                  <a:srgbClr val="002060"/>
                </a:solidFill>
              </a:rPr>
              <a:t>delimiter</a:t>
            </a:r>
            <a:r>
              <a:rPr lang="fr-FR" sz="1100" i="1" dirty="0">
                <a:solidFill>
                  <a:srgbClr val="002060"/>
                </a:solidFill>
              </a:rPr>
              <a:t>) </a:t>
            </a:r>
            <a:r>
              <a:rPr lang="fr-FR" sz="1100" dirty="0">
                <a:solidFill>
                  <a:srgbClr val="002060"/>
                </a:solidFill>
              </a:rPr>
              <a:t>puis </a:t>
            </a:r>
            <a:r>
              <a:rPr lang="fr-FR" sz="1100" b="1" dirty="0">
                <a:solidFill>
                  <a:srgbClr val="002060"/>
                </a:solidFill>
              </a:rPr>
              <a:t>Import</a:t>
            </a:r>
            <a:r>
              <a:rPr lang="fr-FR" sz="11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2D5A01D8-ADC0-C8EF-525E-5A309B812D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6350"/>
            <a:ext cx="9144000" cy="57905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Importation des données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FFDF2E0-30F8-2E83-BD2C-F7985038A2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24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D51CA99-F683-D34A-6F99-91A5E6072747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B142F4-09B4-6D48-3A03-4D98C1226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101" y="2251945"/>
            <a:ext cx="4133709" cy="220604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5C37BEA-DC5D-CB9B-9B21-36ADDDD8B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355" y="1276016"/>
            <a:ext cx="2917251" cy="45045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EB47005-40D1-256D-765D-FA1735CF0B77}"/>
              </a:ext>
            </a:extLst>
          </p:cNvPr>
          <p:cNvSpPr txBox="1"/>
          <p:nvPr/>
        </p:nvSpPr>
        <p:spPr>
          <a:xfrm>
            <a:off x="565355" y="1285801"/>
            <a:ext cx="38660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2060"/>
                </a:solidFill>
              </a:rPr>
              <a:t>5- </a:t>
            </a:r>
            <a:r>
              <a:rPr lang="fr-FR" sz="1100" b="1" dirty="0">
                <a:solidFill>
                  <a:srgbClr val="002060"/>
                </a:solidFill>
              </a:rPr>
              <a:t>En bas a gauche</a:t>
            </a:r>
            <a:r>
              <a:rPr lang="fr-FR" sz="1100" dirty="0">
                <a:solidFill>
                  <a:srgbClr val="002060"/>
                </a:solidFill>
              </a:rPr>
              <a:t>, un encart apparait pour afficher l’état </a:t>
            </a:r>
            <a:r>
              <a:rPr lang="fr-FR" sz="1100" b="1" dirty="0">
                <a:solidFill>
                  <a:srgbClr val="002060"/>
                </a:solidFill>
              </a:rPr>
              <a:t>d’avancement</a:t>
            </a:r>
            <a:r>
              <a:rPr lang="fr-FR" sz="1100" dirty="0">
                <a:solidFill>
                  <a:srgbClr val="002060"/>
                </a:solidFill>
              </a:rPr>
              <a:t> de </a:t>
            </a:r>
            <a:r>
              <a:rPr lang="fr-FR" sz="1100" b="1" dirty="0">
                <a:solidFill>
                  <a:srgbClr val="002060"/>
                </a:solidFill>
              </a:rPr>
              <a:t>l’import</a:t>
            </a:r>
            <a:r>
              <a:rPr lang="fr-FR" sz="11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C1B102-05C3-5811-E42B-E9534DEE9050}"/>
              </a:ext>
            </a:extLst>
          </p:cNvPr>
          <p:cNvSpPr txBox="1"/>
          <p:nvPr/>
        </p:nvSpPr>
        <p:spPr>
          <a:xfrm>
            <a:off x="565355" y="3214788"/>
            <a:ext cx="374167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2060"/>
                </a:solidFill>
              </a:rPr>
              <a:t>6- Sur la </a:t>
            </a:r>
            <a:r>
              <a:rPr lang="fr-FR" sz="1100" b="1" dirty="0">
                <a:solidFill>
                  <a:srgbClr val="002060"/>
                </a:solidFill>
              </a:rPr>
              <a:t>page de la collection </a:t>
            </a:r>
            <a:r>
              <a:rPr lang="fr-FR" sz="1100" dirty="0">
                <a:solidFill>
                  <a:srgbClr val="002060"/>
                </a:solidFill>
              </a:rPr>
              <a:t>on peut </a:t>
            </a:r>
            <a:r>
              <a:rPr lang="fr-FR" sz="1100" b="1" dirty="0">
                <a:solidFill>
                  <a:srgbClr val="002060"/>
                </a:solidFill>
              </a:rPr>
              <a:t>vérifier</a:t>
            </a:r>
            <a:r>
              <a:rPr lang="fr-FR" sz="1100" dirty="0">
                <a:solidFill>
                  <a:srgbClr val="002060"/>
                </a:solidFill>
              </a:rPr>
              <a:t> </a:t>
            </a:r>
            <a:r>
              <a:rPr lang="fr-FR" sz="1100" i="1" dirty="0">
                <a:solidFill>
                  <a:srgbClr val="002060"/>
                </a:solidFill>
              </a:rPr>
              <a:t>(entre autres)</a:t>
            </a:r>
            <a:r>
              <a:rPr lang="fr-FR" sz="1100" dirty="0">
                <a:solidFill>
                  <a:srgbClr val="002060"/>
                </a:solidFill>
              </a:rPr>
              <a:t> le </a:t>
            </a:r>
            <a:r>
              <a:rPr lang="fr-FR" sz="1100" b="1" dirty="0">
                <a:solidFill>
                  <a:srgbClr val="002060"/>
                </a:solidFill>
              </a:rPr>
              <a:t>nombre de documents </a:t>
            </a:r>
            <a:r>
              <a:rPr lang="fr-FR" sz="1100" dirty="0">
                <a:solidFill>
                  <a:srgbClr val="002060"/>
                </a:solidFill>
              </a:rPr>
              <a:t>importer et voir la </a:t>
            </a:r>
            <a:r>
              <a:rPr lang="fr-FR" sz="1100" b="1" dirty="0">
                <a:solidFill>
                  <a:srgbClr val="002060"/>
                </a:solidFill>
              </a:rPr>
              <a:t>structure</a:t>
            </a:r>
            <a:r>
              <a:rPr lang="fr-FR" sz="1100" dirty="0">
                <a:solidFill>
                  <a:srgbClr val="002060"/>
                </a:solidFill>
              </a:rPr>
              <a:t> du </a:t>
            </a:r>
            <a:r>
              <a:rPr lang="fr-FR" sz="1100" b="1" dirty="0">
                <a:solidFill>
                  <a:srgbClr val="002060"/>
                </a:solidFill>
              </a:rPr>
              <a:t>premier document</a:t>
            </a:r>
            <a:r>
              <a:rPr lang="fr-FR" sz="11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3" name="Google Shape;60;p14">
            <a:extLst>
              <a:ext uri="{FF2B5EF4-FFF2-40B4-BE49-F238E27FC236}">
                <a16:creationId xmlns:a16="http://schemas.microsoft.com/office/drawing/2014/main" id="{905A3F15-9D48-35BD-49B2-5FC0CCC953C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500">
                <a:solidFill>
                  <a:srgbClr val="002060"/>
                </a:solidFill>
                <a:ea typeface="+mj-ea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 dirty="0"/>
              <a:t>Importation des données</a:t>
            </a:r>
          </a:p>
        </p:txBody>
      </p:sp>
      <p:sp>
        <p:nvSpPr>
          <p:cNvPr id="15" name="Espace réservé du numéro de diapositive 8">
            <a:extLst>
              <a:ext uri="{FF2B5EF4-FFF2-40B4-BE49-F238E27FC236}">
                <a16:creationId xmlns:a16="http://schemas.microsoft.com/office/drawing/2014/main" id="{1463F3E4-2D85-1F90-2B14-E2B9D600A02A}"/>
              </a:ext>
            </a:extLst>
          </p:cNvPr>
          <p:cNvSpPr txBox="1">
            <a:spLocks/>
          </p:cNvSpPr>
          <p:nvPr/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607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8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2FC97DC-586C-9D5E-4A61-021B5F9F121A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70EC28D2-5F97-95E1-6560-7670F8249AB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>
            <a:defPPr>
              <a:defRPr lang="fr-FR"/>
            </a:defPPr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500">
                <a:solidFill>
                  <a:srgbClr val="002060"/>
                </a:solidFill>
                <a:ea typeface="+mj-ea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r>
              <a:rPr lang="fr" dirty="0"/>
              <a:t>Partie 1 : </a:t>
            </a:r>
            <a:r>
              <a:rPr lang="fr-FR" dirty="0"/>
              <a:t>Description d’un document avec le type des données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DA7AF72-B710-96F5-5A25-5F6FA0E71A78}"/>
              </a:ext>
            </a:extLst>
          </p:cNvPr>
          <p:cNvSpPr txBox="1"/>
          <p:nvPr/>
        </p:nvSpPr>
        <p:spPr>
          <a:xfrm>
            <a:off x="856370" y="750545"/>
            <a:ext cx="2561303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1200" i="0" u="sng" dirty="0">
                <a:solidFill>
                  <a:srgbClr val="002060"/>
                </a:solidFill>
                <a:effectLst/>
              </a:rPr>
              <a:t>Comman</a:t>
            </a:r>
            <a:r>
              <a:rPr lang="fr-FR" sz="1200" u="sng" dirty="0">
                <a:solidFill>
                  <a:srgbClr val="002060"/>
                </a:solidFill>
              </a:rPr>
              <a:t>des</a:t>
            </a:r>
            <a:r>
              <a:rPr lang="fr-FR" sz="1200" b="1" u="sng" dirty="0">
                <a:solidFill>
                  <a:srgbClr val="002060"/>
                </a:solidFill>
                <a:latin typeface="+mj-lt"/>
              </a:rPr>
              <a:t> et résultat : </a:t>
            </a:r>
          </a:p>
          <a:p>
            <a:pPr algn="l">
              <a:buNone/>
            </a:pPr>
            <a:endParaRPr lang="fr-FR" sz="500" b="1" i="0" u="sng" dirty="0">
              <a:solidFill>
                <a:srgbClr val="002060"/>
              </a:solidFill>
              <a:effectLst/>
              <a:latin typeface="+mj-lt"/>
            </a:endParaRPr>
          </a:p>
          <a:p>
            <a:pPr algn="l">
              <a:buNone/>
            </a:pP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db.paris.aggregate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([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{ 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sample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{ size: 1 } },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project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types: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map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input: { 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objectToArray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"$$ROOT" },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as: "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",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in: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  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fieldName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"$$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field.k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",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  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fieldType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{ $type: "$$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field.v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"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])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5DD209C-2ABF-247A-D9BB-226EAF1808B8}"/>
              </a:ext>
            </a:extLst>
          </p:cNvPr>
          <p:cNvSpPr txBox="1"/>
          <p:nvPr/>
        </p:nvSpPr>
        <p:spPr>
          <a:xfrm>
            <a:off x="4420776" y="750545"/>
            <a:ext cx="1514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Interface graphique :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0121F1AC-BA74-CF0B-732F-5A893B4A4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285" y="2557235"/>
            <a:ext cx="1111471" cy="227261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825ABE7C-E6ED-B3A7-5143-2DFAEC7FB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972" y="1088669"/>
            <a:ext cx="3869658" cy="374118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45930B-B69A-58EE-CF4F-98EE73257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0DB1E11-26AA-52C4-4AC6-016ED932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C51097DA-F3CB-0173-7549-8F638525BE63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D5C62A27-1194-C388-0061-AF41883594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>
            <a:defPPr>
              <a:defRPr lang="fr-FR"/>
            </a:defPPr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500">
                <a:solidFill>
                  <a:srgbClr val="002060"/>
                </a:solidFill>
                <a:ea typeface="+mj-ea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r>
              <a:rPr lang="fr-FR" dirty="0"/>
              <a:t>Partie 1 : Avantages du NoSQL dans ce contexte de données 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78C95969-E0A0-7350-7309-3677A90C7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661568"/>
              </p:ext>
            </p:extLst>
          </p:nvPr>
        </p:nvGraphicFramePr>
        <p:xfrm>
          <a:off x="1086086" y="1156345"/>
          <a:ext cx="6971828" cy="3416299"/>
        </p:xfrm>
        <a:graphic>
          <a:graphicData uri="http://schemas.openxmlformats.org/drawingml/2006/table">
            <a:tbl>
              <a:tblPr/>
              <a:tblGrid>
                <a:gridCol w="2493582">
                  <a:extLst>
                    <a:ext uri="{9D8B030D-6E8A-4147-A177-3AD203B41FA5}">
                      <a16:colId xmlns:a16="http://schemas.microsoft.com/office/drawing/2014/main" val="978449155"/>
                    </a:ext>
                  </a:extLst>
                </a:gridCol>
                <a:gridCol w="4478246">
                  <a:extLst>
                    <a:ext uri="{9D8B030D-6E8A-4147-A177-3AD203B41FA5}">
                      <a16:colId xmlns:a16="http://schemas.microsoft.com/office/drawing/2014/main" val="1115360911"/>
                    </a:ext>
                  </a:extLst>
                </a:gridCol>
              </a:tblGrid>
              <a:tr h="29923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r-FR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Avantages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r-FR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Description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07870"/>
                  </a:ext>
                </a:extLst>
              </a:tr>
              <a:tr h="8229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Flexibilité de Schéma</a:t>
                      </a:r>
                      <a:endParaRPr lang="fr-FR" sz="1100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Le schéma peut varier d'un document à l'autre. Si certaines annonces manquent des champs </a:t>
                      </a:r>
                      <a:r>
                        <a:rPr lang="fr-FR" sz="1100" i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(comme </a:t>
                      </a:r>
                      <a:r>
                        <a:rPr lang="fr-FR" sz="1100" i="1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host_about</a:t>
                      </a:r>
                      <a:r>
                        <a:rPr lang="fr-FR" sz="1100" i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ou </a:t>
                      </a:r>
                      <a:r>
                        <a:rPr lang="fr-FR" sz="1100" i="1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license</a:t>
                      </a:r>
                      <a:r>
                        <a:rPr lang="fr-FR" sz="1100" i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)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, MongoDB gère cela </a:t>
                      </a: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sans erreur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, contrairement aux bases SQL rigides.</a:t>
                      </a: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150343"/>
                  </a:ext>
                </a:extLst>
              </a:tr>
              <a:tr h="8229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Modélisation Naturelle</a:t>
                      </a:r>
                      <a:endParaRPr lang="fr-FR" sz="1100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Possibilité d'</a:t>
                      </a: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imbriquer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des données liées (</a:t>
                      </a:r>
                      <a:r>
                        <a:rPr lang="fr-FR" sz="1100" i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ex: regrouper tous les détails de l'hôte dans un sous-document host)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, ce qui correspond mieux à l'objet réel et évite les jointures coûteuses.</a:t>
                      </a: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266729"/>
                  </a:ext>
                </a:extLst>
              </a:tr>
              <a:tr h="8229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Performance en Écriture</a:t>
                      </a:r>
                      <a:endParaRPr lang="fr-FR" sz="110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MongoDB est très performant pour ingérer de </a:t>
                      </a: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grands volumes de données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rapidement, ce qui est crucial si la base est mise à jour fréquemment avec de nouveaux </a:t>
                      </a:r>
                      <a:r>
                        <a:rPr lang="fr-FR" sz="1100" i="0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scrapes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32631"/>
                  </a:ext>
                </a:extLst>
              </a:tr>
              <a:tr h="6483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Scalabilité Horizontale</a:t>
                      </a:r>
                      <a:endParaRPr lang="fr-FR" sz="110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Facile à mettre à l'échelle </a:t>
                      </a:r>
                      <a:r>
                        <a:rPr lang="fr-FR" sz="1100" i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fr-FR" sz="1100" i="1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sharding</a:t>
                      </a:r>
                      <a:r>
                        <a:rPr lang="fr-FR" sz="1100" i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)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pour gérer un volume croissant d'annonces, assurant une </a:t>
                      </a: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haute disponibilité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15454"/>
                  </a:ext>
                </a:extLst>
              </a:tr>
            </a:tbl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AF295C-57A5-969A-EF43-0516BA458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979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8EDBEDAD-9D6D-D5C8-3B2A-0BEF7A16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36B8F85F-7757-5B75-E84C-63AB730EE2F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>
            <a:defPPr>
              <a:defRPr lang="fr-FR"/>
            </a:defPPr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500">
                <a:solidFill>
                  <a:srgbClr val="002060"/>
                </a:solidFill>
                <a:ea typeface="+mj-ea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r>
              <a:rPr lang="fr" dirty="0"/>
              <a:t>Partie 1 : </a:t>
            </a:r>
            <a:r>
              <a:rPr lang="fr-FR" dirty="0"/>
              <a:t>Premières requêtes et leurs résultats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823C728-49C0-F062-C200-35FF31372A99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47CD1E-FA18-3C5B-749B-A33149E1BCC0}"/>
              </a:ext>
            </a:extLst>
          </p:cNvPr>
          <p:cNvSpPr txBox="1"/>
          <p:nvPr/>
        </p:nvSpPr>
        <p:spPr>
          <a:xfrm>
            <a:off x="615509" y="833683"/>
            <a:ext cx="3971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Nombre de documents de la base de données</a:t>
            </a:r>
            <a:endParaRPr lang="fr-FR" sz="1200" u="sng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038194-4205-48FB-DA3B-BB6C264757AC}"/>
              </a:ext>
            </a:extLst>
          </p:cNvPr>
          <p:cNvSpPr txBox="1"/>
          <p:nvPr/>
        </p:nvSpPr>
        <p:spPr>
          <a:xfrm>
            <a:off x="4572000" y="818707"/>
            <a:ext cx="3013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Nombre de logements avec des disponibilités</a:t>
            </a:r>
            <a:endParaRPr lang="fr-FR" sz="1200" u="sng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983B1BB-6413-21A3-2676-86968B429797}"/>
              </a:ext>
            </a:extLst>
          </p:cNvPr>
          <p:cNvCxnSpPr/>
          <p:nvPr/>
        </p:nvCxnSpPr>
        <p:spPr>
          <a:xfrm>
            <a:off x="4574049" y="856992"/>
            <a:ext cx="0" cy="401500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92AB275C-9C49-D14E-C323-DC55B450F945}"/>
              </a:ext>
            </a:extLst>
          </p:cNvPr>
          <p:cNvSpPr txBox="1"/>
          <p:nvPr/>
        </p:nvSpPr>
        <p:spPr>
          <a:xfrm>
            <a:off x="680361" y="1142747"/>
            <a:ext cx="3748617" cy="9037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</a:p>
          <a:p>
            <a:pPr algn="ctr"/>
            <a:r>
              <a:rPr lang="fr-FR" sz="1000" dirty="0" err="1"/>
              <a:t>db.paris.countDocuments</a:t>
            </a:r>
            <a:r>
              <a:rPr lang="fr-FR" sz="1000" dirty="0"/>
              <a:t>()</a:t>
            </a:r>
          </a:p>
          <a:p>
            <a:pPr algn="ctr"/>
            <a:endParaRPr lang="fr-FR" sz="2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pPr algn="ctr"/>
            <a:r>
              <a:rPr lang="fr-FR" sz="1000" dirty="0"/>
              <a:t>95885</a:t>
            </a:r>
          </a:p>
          <a:p>
            <a:pPr algn="ctr"/>
            <a:endParaRPr lang="fr-FR" sz="2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Interface graphique :</a:t>
            </a:r>
            <a:endParaRPr lang="fr-FR" sz="10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A55BEDB-9B04-82B5-E1D0-FD1BEF004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7" y="2276206"/>
            <a:ext cx="3783895" cy="237720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468BA94F-CA8C-000F-FBFF-8A8D0CFFAB4D}"/>
              </a:ext>
            </a:extLst>
          </p:cNvPr>
          <p:cNvSpPr txBox="1"/>
          <p:nvPr/>
        </p:nvSpPr>
        <p:spPr>
          <a:xfrm>
            <a:off x="4601497" y="1142747"/>
            <a:ext cx="3748617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</a:p>
          <a:p>
            <a:pPr algn="ctr"/>
            <a:r>
              <a:rPr lang="en-US" sz="1000" dirty="0" err="1">
                <a:solidFill>
                  <a:schemeClr val="tx1"/>
                </a:solidFill>
              </a:rPr>
              <a:t>db.paris.countDocuments</a:t>
            </a:r>
            <a:r>
              <a:rPr lang="en-US" sz="1000" dirty="0">
                <a:solidFill>
                  <a:schemeClr val="tx1"/>
                </a:solidFill>
              </a:rPr>
              <a:t>({ </a:t>
            </a:r>
            <a:r>
              <a:rPr lang="en-US" sz="1000" dirty="0" err="1">
                <a:solidFill>
                  <a:schemeClr val="tx1"/>
                </a:solidFill>
              </a:rPr>
              <a:t>has_availability</a:t>
            </a:r>
            <a:r>
              <a:rPr lang="en-US" sz="1000" dirty="0">
                <a:solidFill>
                  <a:schemeClr val="tx1"/>
                </a:solidFill>
              </a:rPr>
              <a:t>: true })</a:t>
            </a:r>
            <a:endParaRPr lang="fr-FR" sz="1000" dirty="0">
              <a:solidFill>
                <a:schemeClr val="tx1"/>
              </a:solidFill>
            </a:endParaRPr>
          </a:p>
          <a:p>
            <a:pPr algn="ctr"/>
            <a:endParaRPr lang="fr-FR" sz="2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90173</a:t>
            </a:r>
          </a:p>
          <a:p>
            <a:pPr algn="ctr"/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Capture :</a:t>
            </a:r>
            <a:endParaRPr lang="fr-FR" sz="200" dirty="0">
              <a:solidFill>
                <a:srgbClr val="002060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D76F23E-9810-FA64-AE26-D79FB77B2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223" y="2226656"/>
            <a:ext cx="3434891" cy="345094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E6950503-8BA4-B0EA-3058-189A4ACFE8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74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24C3494-4FF6-0582-ADD5-5901B26C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8009D516-B4CD-0DEC-CB0F-C5E7E010E5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>
            <a:defPPr>
              <a:defRPr lang="fr-FR"/>
            </a:defPPr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500">
                <a:solidFill>
                  <a:srgbClr val="002060"/>
                </a:solidFill>
                <a:ea typeface="+mj-ea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r>
              <a:rPr lang="fr-FR" dirty="0"/>
              <a:t>Partie 2.1 :</a:t>
            </a:r>
            <a:r>
              <a:rPr lang="fr-FR" dirty="0">
                <a:sym typeface="Inter"/>
              </a:rPr>
              <a:t> Les requêtes et leurs résultats </a:t>
            </a:r>
            <a:endParaRPr lang="fr-FR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B63DB3E-62B2-B85C-5E61-EC625D362B6B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6CECC1-A518-96EA-9378-DE3CF21851D3}"/>
              </a:ext>
            </a:extLst>
          </p:cNvPr>
          <p:cNvSpPr txBox="1"/>
          <p:nvPr/>
        </p:nvSpPr>
        <p:spPr>
          <a:xfrm>
            <a:off x="806343" y="859618"/>
            <a:ext cx="3160138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Combien d’annonces y a-t-il par type de location ?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EECE7A-BB74-D546-60F3-3B624AFB0740}"/>
              </a:ext>
            </a:extLst>
          </p:cNvPr>
          <p:cNvSpPr txBox="1"/>
          <p:nvPr/>
        </p:nvSpPr>
        <p:spPr>
          <a:xfrm>
            <a:off x="826925" y="1022696"/>
            <a:ext cx="311220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db.paris.aggregate</a:t>
            </a:r>
            <a:r>
              <a:rPr lang="en-US" sz="1000" dirty="0"/>
              <a:t>([</a:t>
            </a:r>
          </a:p>
          <a:p>
            <a:pPr lvl="1">
              <a:tabLst>
                <a:tab pos="1074738" algn="l"/>
              </a:tabLst>
            </a:pPr>
            <a:r>
              <a:rPr lang="en-US" sz="1000" dirty="0"/>
              <a:t>  	{ $</a:t>
            </a:r>
            <a:r>
              <a:rPr lang="en-US" sz="1000" dirty="0" err="1"/>
              <a:t>sortByCount</a:t>
            </a:r>
            <a:r>
              <a:rPr lang="en-US" sz="1000" dirty="0"/>
              <a:t>: "$</a:t>
            </a:r>
            <a:r>
              <a:rPr lang="en-US" sz="1000" dirty="0" err="1"/>
              <a:t>room_type</a:t>
            </a:r>
            <a:r>
              <a:rPr lang="en-US" sz="1000" dirty="0"/>
              <a:t>" }</a:t>
            </a:r>
          </a:p>
          <a:p>
            <a:pPr lvl="1"/>
            <a:r>
              <a:rPr lang="en-US" sz="1000" dirty="0"/>
              <a:t>	])</a:t>
            </a:r>
          </a:p>
          <a:p>
            <a:pPr lvl="1"/>
            <a:endParaRPr lang="fr-FR" sz="5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F9F5E3-96B3-9BFA-6B96-1E1AD92A46A2}"/>
              </a:ext>
            </a:extLst>
          </p:cNvPr>
          <p:cNvSpPr txBox="1"/>
          <p:nvPr/>
        </p:nvSpPr>
        <p:spPr>
          <a:xfrm>
            <a:off x="4713323" y="846572"/>
            <a:ext cx="3300377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Quelles sont les 5 annonces de location avec le plus d’évaluations ? Et combien d’évaluations ont-elles ?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E705F9-9161-9339-E230-B2F8CA85F13A}"/>
              </a:ext>
            </a:extLst>
          </p:cNvPr>
          <p:cNvSpPr txBox="1"/>
          <p:nvPr/>
        </p:nvSpPr>
        <p:spPr>
          <a:xfrm>
            <a:off x="4637123" y="1184525"/>
            <a:ext cx="37486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endParaRPr lang="fr-FR" sz="500" dirty="0">
              <a:solidFill>
                <a:srgbClr val="002060"/>
              </a:solidFill>
            </a:endParaRPr>
          </a:p>
          <a:p>
            <a:pPr marL="88900" lvl="2" indent="809625"/>
            <a:r>
              <a:rPr lang="en-US" sz="1000" dirty="0" err="1"/>
              <a:t>db.paris.find</a:t>
            </a:r>
            <a:r>
              <a:rPr lang="en-US" sz="1000" dirty="0"/>
              <a:t>({},{</a:t>
            </a:r>
          </a:p>
          <a:p>
            <a:pPr marL="88900" lvl="5" indent="809625">
              <a:tabLst>
                <a:tab pos="182563" algn="l"/>
              </a:tabLst>
            </a:pPr>
            <a:r>
              <a:rPr lang="en-US" sz="1000" dirty="0"/>
              <a:t>	_id: 0,</a:t>
            </a:r>
          </a:p>
          <a:p>
            <a:pPr marL="88900" lvl="6" indent="809625">
              <a:tabLst>
                <a:tab pos="182563" algn="l"/>
              </a:tabLst>
            </a:pPr>
            <a:r>
              <a:rPr lang="en-US" sz="1000" dirty="0"/>
              <a:t>	name: 1,</a:t>
            </a:r>
          </a:p>
          <a:p>
            <a:pPr marL="88900" lvl="6" indent="809625">
              <a:tabLst>
                <a:tab pos="182563" algn="l"/>
              </a:tabLst>
            </a:pPr>
            <a:r>
              <a:rPr lang="en-US" sz="1000" dirty="0"/>
              <a:t>	</a:t>
            </a:r>
            <a:r>
              <a:rPr lang="en-US" sz="1000" dirty="0" err="1"/>
              <a:t>number_of_reviews</a:t>
            </a:r>
            <a:r>
              <a:rPr lang="en-US" sz="1000" dirty="0"/>
              <a:t>: 1})</a:t>
            </a:r>
          </a:p>
          <a:p>
            <a:pPr marL="88900" lvl="3" indent="809625">
              <a:tabLst>
                <a:tab pos="987425" algn="l"/>
              </a:tabLst>
            </a:pPr>
            <a:r>
              <a:rPr lang="en-US" sz="1000" dirty="0"/>
              <a:t>.sort({ </a:t>
            </a:r>
            <a:r>
              <a:rPr lang="en-US" sz="1000" dirty="0" err="1"/>
              <a:t>number_of_reviews</a:t>
            </a:r>
            <a:r>
              <a:rPr lang="en-US" sz="1000" dirty="0"/>
              <a:t>: -1 })</a:t>
            </a:r>
          </a:p>
          <a:p>
            <a:pPr marL="88900" lvl="3" indent="809625">
              <a:tabLst>
                <a:tab pos="987425" algn="l"/>
              </a:tabLst>
            </a:pPr>
            <a:r>
              <a:rPr lang="en-US" sz="1000" dirty="0"/>
              <a:t>.limit(5)</a:t>
            </a:r>
          </a:p>
          <a:p>
            <a:pPr marL="260350" lvl="3" indent="-171450">
              <a:buFontTx/>
              <a:buChar char="-"/>
              <a:tabLst>
                <a:tab pos="987425" algn="l"/>
              </a:tabLst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49A7970-B241-6E35-952E-6C9119BAC9E0}"/>
              </a:ext>
            </a:extLst>
          </p:cNvPr>
          <p:cNvCxnSpPr/>
          <p:nvPr/>
        </p:nvCxnSpPr>
        <p:spPr>
          <a:xfrm>
            <a:off x="4572000" y="846572"/>
            <a:ext cx="0" cy="401500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11F98828-9856-8F13-04FC-E8A95B9D5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385" y="1961415"/>
            <a:ext cx="1716656" cy="270269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88A9D9A-CA4E-0106-44CB-BB454268A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870" y="2507964"/>
            <a:ext cx="2622203" cy="2353614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8B5804B-722E-43C9-66C5-62597BF137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07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9150C04-5DE7-B4F3-6440-3619F944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9ABC233-16F4-DEEB-A396-C695117D0669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BDA60C68-530F-FE28-B084-DAEE8C94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Les requêtes et leurs résultats 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38E6853-3D92-D915-4674-FCDDF3773F0B}"/>
              </a:ext>
            </a:extLst>
          </p:cNvPr>
          <p:cNvSpPr txBox="1"/>
          <p:nvPr/>
        </p:nvSpPr>
        <p:spPr>
          <a:xfrm>
            <a:off x="829417" y="886774"/>
            <a:ext cx="355369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Quel est le nombre total d’hôtes différents ?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86240-C3D8-35F6-D7E5-E039666219EF}"/>
              </a:ext>
            </a:extLst>
          </p:cNvPr>
          <p:cNvSpPr txBox="1"/>
          <p:nvPr/>
        </p:nvSpPr>
        <p:spPr>
          <a:xfrm>
            <a:off x="765029" y="1075140"/>
            <a:ext cx="374861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db.paris.distinct</a:t>
            </a:r>
            <a:r>
              <a:rPr lang="en-US" sz="1000" dirty="0"/>
              <a:t>("</a:t>
            </a:r>
            <a:r>
              <a:rPr lang="en-US" sz="1000" dirty="0" err="1"/>
              <a:t>host_id</a:t>
            </a:r>
            <a:r>
              <a:rPr lang="en-US" sz="1000" dirty="0"/>
              <a:t>").length</a:t>
            </a:r>
          </a:p>
          <a:p>
            <a:endParaRPr lang="en-US" sz="5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71979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Capture :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EEBC94D-2747-607D-7866-50DA4DD51206}"/>
              </a:ext>
            </a:extLst>
          </p:cNvPr>
          <p:cNvCxnSpPr/>
          <p:nvPr/>
        </p:nvCxnSpPr>
        <p:spPr>
          <a:xfrm>
            <a:off x="4572000" y="856992"/>
            <a:ext cx="0" cy="401500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0E0B3616-E494-5EAF-40DD-51658F787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075" y="2208998"/>
            <a:ext cx="2848373" cy="48584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0F99C4F-07F4-F183-1AB5-F9C58CB04EE5}"/>
              </a:ext>
            </a:extLst>
          </p:cNvPr>
          <p:cNvSpPr txBox="1"/>
          <p:nvPr/>
        </p:nvSpPr>
        <p:spPr>
          <a:xfrm>
            <a:off x="4625488" y="886774"/>
            <a:ext cx="3887807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Quel est le nombre de locations réservables instantanément ? Cela représente quelle proportion des annonces ? 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4695218-A0A8-65EA-8C37-C1BCEC287A36}"/>
              </a:ext>
            </a:extLst>
          </p:cNvPr>
          <p:cNvSpPr txBox="1"/>
          <p:nvPr/>
        </p:nvSpPr>
        <p:spPr>
          <a:xfrm>
            <a:off x="4541080" y="1253634"/>
            <a:ext cx="37486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pPr indent="898525"/>
            <a:r>
              <a:rPr lang="en-US" sz="600" dirty="0" err="1"/>
              <a:t>db.paris.aggregate</a:t>
            </a:r>
            <a:r>
              <a:rPr lang="en-US" sz="600" dirty="0"/>
              <a:t>([</a:t>
            </a:r>
          </a:p>
          <a:p>
            <a:pPr indent="898525"/>
            <a:r>
              <a:rPr lang="en-US" sz="600" dirty="0"/>
              <a:t>  {</a:t>
            </a:r>
          </a:p>
          <a:p>
            <a:pPr indent="898525"/>
            <a:r>
              <a:rPr lang="en-US" sz="600" dirty="0"/>
              <a:t>    $group: {</a:t>
            </a:r>
          </a:p>
          <a:p>
            <a:pPr indent="898525"/>
            <a:r>
              <a:rPr lang="en-US" sz="600" dirty="0"/>
              <a:t>      _id: null,</a:t>
            </a:r>
          </a:p>
          <a:p>
            <a:pPr indent="898525"/>
            <a:r>
              <a:rPr lang="en-US" sz="600" dirty="0"/>
              <a:t>      total: { $sum: 1 },</a:t>
            </a:r>
          </a:p>
          <a:p>
            <a:pPr indent="898525"/>
            <a:r>
              <a:rPr lang="en-US" sz="600" dirty="0"/>
              <a:t>      </a:t>
            </a:r>
            <a:r>
              <a:rPr lang="en-US" sz="600" dirty="0" err="1"/>
              <a:t>instant_bookable</a:t>
            </a:r>
            <a:r>
              <a:rPr lang="en-US" sz="600" dirty="0"/>
              <a:t>: {</a:t>
            </a:r>
          </a:p>
          <a:p>
            <a:pPr indent="898525"/>
            <a:r>
              <a:rPr lang="en-US" sz="600" dirty="0"/>
              <a:t>        $sum: { $</a:t>
            </a:r>
            <a:r>
              <a:rPr lang="en-US" sz="600" dirty="0" err="1"/>
              <a:t>cond</a:t>
            </a:r>
            <a:r>
              <a:rPr lang="en-US" sz="600" dirty="0"/>
              <a:t>: [{ $eq: ["$</a:t>
            </a:r>
            <a:r>
              <a:rPr lang="en-US" sz="600" dirty="0" err="1"/>
              <a:t>instant_bookable</a:t>
            </a:r>
            <a:r>
              <a:rPr lang="en-US" sz="600" dirty="0"/>
              <a:t>", true] }, 1, 0] }</a:t>
            </a:r>
          </a:p>
          <a:p>
            <a:pPr indent="898525"/>
            <a:r>
              <a:rPr lang="en-US" sz="600" dirty="0"/>
              <a:t>      }</a:t>
            </a:r>
          </a:p>
          <a:p>
            <a:pPr indent="898525"/>
            <a:r>
              <a:rPr lang="en-US" sz="600" dirty="0"/>
              <a:t>    }</a:t>
            </a:r>
          </a:p>
          <a:p>
            <a:pPr indent="898525"/>
            <a:r>
              <a:rPr lang="en-US" sz="600" dirty="0"/>
              <a:t>  },</a:t>
            </a:r>
          </a:p>
          <a:p>
            <a:pPr indent="898525"/>
            <a:r>
              <a:rPr lang="en-US" sz="600" dirty="0"/>
              <a:t>  {</a:t>
            </a:r>
          </a:p>
          <a:p>
            <a:pPr indent="898525"/>
            <a:r>
              <a:rPr lang="en-US" sz="600" dirty="0"/>
              <a:t>    $project: {</a:t>
            </a:r>
          </a:p>
          <a:p>
            <a:pPr indent="898525"/>
            <a:r>
              <a:rPr lang="en-US" sz="600" dirty="0"/>
              <a:t>      _id: 0,</a:t>
            </a:r>
          </a:p>
          <a:p>
            <a:pPr indent="898525"/>
            <a:r>
              <a:rPr lang="en-US" sz="600" dirty="0"/>
              <a:t>      </a:t>
            </a:r>
            <a:r>
              <a:rPr lang="en-US" sz="600" dirty="0" err="1"/>
              <a:t>total_annonces</a:t>
            </a:r>
            <a:r>
              <a:rPr lang="en-US" sz="600" dirty="0"/>
              <a:t>: "$total",</a:t>
            </a:r>
          </a:p>
          <a:p>
            <a:pPr indent="898525"/>
            <a:r>
              <a:rPr lang="en-US" sz="600" dirty="0"/>
              <a:t>      </a:t>
            </a:r>
            <a:r>
              <a:rPr lang="en-US" sz="600" dirty="0" err="1"/>
              <a:t>annonces_instant_bookable</a:t>
            </a:r>
            <a:r>
              <a:rPr lang="en-US" sz="600" dirty="0"/>
              <a:t>: "$</a:t>
            </a:r>
            <a:r>
              <a:rPr lang="en-US" sz="600" dirty="0" err="1"/>
              <a:t>instant_bookable</a:t>
            </a:r>
            <a:r>
              <a:rPr lang="en-US" sz="600" dirty="0"/>
              <a:t>",</a:t>
            </a:r>
          </a:p>
          <a:p>
            <a:pPr indent="898525"/>
            <a:r>
              <a:rPr lang="en-US" sz="600" dirty="0"/>
              <a:t>      </a:t>
            </a:r>
            <a:r>
              <a:rPr lang="en-US" sz="600" dirty="0" err="1"/>
              <a:t>pourcentage</a:t>
            </a:r>
            <a:r>
              <a:rPr lang="en-US" sz="600" dirty="0"/>
              <a:t>: {</a:t>
            </a:r>
          </a:p>
          <a:p>
            <a:pPr indent="898525"/>
            <a:r>
              <a:rPr lang="en-US" sz="600" dirty="0"/>
              <a:t>        $round: [</a:t>
            </a:r>
          </a:p>
          <a:p>
            <a:pPr indent="898525"/>
            <a:r>
              <a:rPr lang="en-US" sz="600" dirty="0"/>
              <a:t>          { $multiply: [{ $divide: ["$</a:t>
            </a:r>
            <a:r>
              <a:rPr lang="en-US" sz="600" dirty="0" err="1"/>
              <a:t>instant_bookable</a:t>
            </a:r>
            <a:r>
              <a:rPr lang="en-US" sz="600" dirty="0"/>
              <a:t>", "$total"] }, 100] },</a:t>
            </a:r>
          </a:p>
          <a:p>
            <a:pPr indent="898525"/>
            <a:r>
              <a:rPr lang="en-US" sz="600" dirty="0"/>
              <a:t>          2</a:t>
            </a:r>
          </a:p>
          <a:p>
            <a:pPr indent="898525"/>
            <a:r>
              <a:rPr lang="en-US" sz="600" dirty="0"/>
              <a:t>        ]</a:t>
            </a:r>
          </a:p>
          <a:p>
            <a:pPr indent="898525"/>
            <a:r>
              <a:rPr lang="en-US" sz="600" dirty="0"/>
              <a:t>      }</a:t>
            </a:r>
          </a:p>
          <a:p>
            <a:pPr indent="898525"/>
            <a:r>
              <a:rPr lang="en-US" sz="600" dirty="0"/>
              <a:t>    }</a:t>
            </a:r>
          </a:p>
          <a:p>
            <a:pPr indent="898525"/>
            <a:r>
              <a:rPr lang="en-US" sz="600" dirty="0"/>
              <a:t>  }</a:t>
            </a:r>
          </a:p>
          <a:p>
            <a:pPr indent="898525"/>
            <a:r>
              <a:rPr lang="en-US" sz="600" dirty="0"/>
              <a:t>])</a:t>
            </a:r>
            <a:endParaRPr lang="en-US" sz="2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algn="ctr"/>
            <a:r>
              <a:rPr lang="fr-FR" sz="1000" b="1" dirty="0">
                <a:solidFill>
                  <a:schemeClr val="tx1"/>
                </a:solidFill>
              </a:rPr>
              <a:t>22094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i="1" dirty="0">
                <a:solidFill>
                  <a:schemeClr val="tx1"/>
                </a:solidFill>
              </a:rPr>
              <a:t>sur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b="1" dirty="0">
                <a:solidFill>
                  <a:schemeClr val="tx1"/>
                </a:solidFill>
              </a:rPr>
              <a:t>95885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i="1" dirty="0">
                <a:solidFill>
                  <a:schemeClr val="tx1"/>
                </a:solidFill>
              </a:rPr>
              <a:t>soit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b="1" dirty="0">
                <a:solidFill>
                  <a:schemeClr val="tx1"/>
                </a:solidFill>
              </a:rPr>
              <a:t>23.04%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Capture :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1626269-459B-806F-87BA-6A223F3D0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642" y="4322851"/>
            <a:ext cx="1483497" cy="570187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A1A05C0-442A-3C8E-D6A7-E29D19CCFE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81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8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8CDAC185-1232-2B07-368B-58DF6C25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DC2E669-01B4-E586-D839-C47FABFE4039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AFA68AFF-C09E-947A-4B3A-03C3895B7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Les requêtes et leurs résultats 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2E83AF-9D5F-5C5F-35C6-1631331E7CDB}"/>
              </a:ext>
            </a:extLst>
          </p:cNvPr>
          <p:cNvSpPr txBox="1"/>
          <p:nvPr/>
        </p:nvSpPr>
        <p:spPr>
          <a:xfrm>
            <a:off x="963757" y="827977"/>
            <a:ext cx="6954693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Est-ce que des hôtes ont plus de 100 annonces sur les plateformes ? Et si oui qui sont-ils ? Cela représente quel pourcentage des hôtes ?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D01970-A916-F8E1-A249-183CEF87962E}"/>
              </a:ext>
            </a:extLst>
          </p:cNvPr>
          <p:cNvSpPr txBox="1"/>
          <p:nvPr/>
        </p:nvSpPr>
        <p:spPr>
          <a:xfrm>
            <a:off x="588431" y="1220955"/>
            <a:ext cx="4582391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pPr indent="358775"/>
            <a:r>
              <a:rPr lang="en-US" sz="700" dirty="0" err="1"/>
              <a:t>db.paris.aggregate</a:t>
            </a:r>
            <a:r>
              <a:rPr lang="en-US" sz="700" dirty="0"/>
              <a:t>([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$group: {</a:t>
            </a:r>
          </a:p>
          <a:p>
            <a:pPr indent="358775"/>
            <a:r>
              <a:rPr lang="en-US" sz="700" dirty="0"/>
              <a:t>      _id: "$</a:t>
            </a:r>
            <a:r>
              <a:rPr lang="en-US" sz="700" dirty="0" err="1"/>
              <a:t>host_id</a:t>
            </a:r>
            <a:r>
              <a:rPr lang="en-US" sz="700" dirty="0"/>
              <a:t>",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nombre_annonces</a:t>
            </a:r>
            <a:r>
              <a:rPr lang="en-US" sz="700" dirty="0"/>
              <a:t>: { $sum: 1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},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$group: {</a:t>
            </a:r>
          </a:p>
          <a:p>
            <a:pPr indent="358775"/>
            <a:r>
              <a:rPr lang="en-US" sz="700" dirty="0"/>
              <a:t>      _id: null,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total_hotes</a:t>
            </a:r>
            <a:r>
              <a:rPr lang="en-US" sz="700" dirty="0"/>
              <a:t>: { $sum: 1 },</a:t>
            </a:r>
          </a:p>
          <a:p>
            <a:pPr indent="358775"/>
            <a:r>
              <a:rPr lang="en-US" sz="700" dirty="0"/>
              <a:t>      hotes_plus_100: {</a:t>
            </a:r>
          </a:p>
          <a:p>
            <a:pPr indent="358775"/>
            <a:r>
              <a:rPr lang="en-US" sz="700" dirty="0"/>
              <a:t>        $sum: { $</a:t>
            </a:r>
            <a:r>
              <a:rPr lang="en-US" sz="700" dirty="0" err="1"/>
              <a:t>cond</a:t>
            </a:r>
            <a:r>
              <a:rPr lang="en-US" sz="700" dirty="0"/>
              <a:t>: [{ $</a:t>
            </a:r>
            <a:r>
              <a:rPr lang="en-US" sz="700" dirty="0" err="1"/>
              <a:t>gt</a:t>
            </a:r>
            <a:r>
              <a:rPr lang="en-US" sz="700" dirty="0"/>
              <a:t>: ["$</a:t>
            </a:r>
            <a:r>
              <a:rPr lang="en-US" sz="700" dirty="0" err="1"/>
              <a:t>nombre_annonces</a:t>
            </a:r>
            <a:r>
              <a:rPr lang="en-US" sz="700" dirty="0"/>
              <a:t>", 100] }, 1, 0] }</a:t>
            </a:r>
          </a:p>
          <a:p>
            <a:pPr indent="358775"/>
            <a:r>
              <a:rPr lang="en-US" sz="700" dirty="0"/>
              <a:t>     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},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$project: {</a:t>
            </a:r>
          </a:p>
          <a:p>
            <a:pPr indent="358775"/>
            <a:r>
              <a:rPr lang="en-US" sz="700" dirty="0"/>
              <a:t>      _id: 0,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total_hotes</a:t>
            </a:r>
            <a:r>
              <a:rPr lang="en-US" sz="700" dirty="0"/>
              <a:t>: 1,</a:t>
            </a:r>
          </a:p>
          <a:p>
            <a:pPr indent="358775"/>
            <a:r>
              <a:rPr lang="en-US" sz="700" dirty="0"/>
              <a:t>      hotes_avec_plus_100_annonces: "$hotes_plus_100",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pourcentage</a:t>
            </a:r>
            <a:r>
              <a:rPr lang="en-US" sz="700" dirty="0"/>
              <a:t>: {</a:t>
            </a:r>
          </a:p>
          <a:p>
            <a:pPr indent="358775"/>
            <a:r>
              <a:rPr lang="en-US" sz="700" dirty="0"/>
              <a:t>        $</a:t>
            </a:r>
            <a:r>
              <a:rPr lang="en-US" sz="700" dirty="0" err="1"/>
              <a:t>concat</a:t>
            </a:r>
            <a:r>
              <a:rPr lang="en-US" sz="700" dirty="0"/>
              <a:t>: [</a:t>
            </a:r>
          </a:p>
          <a:p>
            <a:pPr indent="358775"/>
            <a:r>
              <a:rPr lang="en-US" sz="700" dirty="0"/>
              <a:t>          { $</a:t>
            </a:r>
            <a:r>
              <a:rPr lang="en-US" sz="700" dirty="0" err="1"/>
              <a:t>toString</a:t>
            </a:r>
            <a:r>
              <a:rPr lang="en-US" sz="700" dirty="0"/>
              <a:t>: { $round: [{ $multiply: [{ $divide: ["$hotes_plus_100", "$</a:t>
            </a:r>
            <a:r>
              <a:rPr lang="en-US" sz="700" dirty="0" err="1"/>
              <a:t>total_hotes</a:t>
            </a:r>
            <a:r>
              <a:rPr lang="en-US" sz="700" dirty="0"/>
              <a:t>"] }, 100] }, 2] } },</a:t>
            </a:r>
          </a:p>
          <a:p>
            <a:pPr indent="358775"/>
            <a:r>
              <a:rPr lang="en-US" sz="700" dirty="0"/>
              <a:t>          " %"</a:t>
            </a:r>
          </a:p>
          <a:p>
            <a:pPr indent="358775"/>
            <a:r>
              <a:rPr lang="en-US" sz="700" dirty="0"/>
              <a:t>        ]</a:t>
            </a:r>
          </a:p>
          <a:p>
            <a:pPr indent="358775"/>
            <a:r>
              <a:rPr lang="en-US" sz="700" dirty="0"/>
              <a:t>     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</a:t>
            </a:r>
          </a:p>
          <a:p>
            <a:pPr indent="358775"/>
            <a:r>
              <a:rPr lang="en-US" sz="700" dirty="0"/>
              <a:t>])</a:t>
            </a:r>
            <a:endParaRPr lang="en-US" sz="3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5B960B-96CD-6E0A-9FC7-1F9D4E5CA665}"/>
              </a:ext>
            </a:extLst>
          </p:cNvPr>
          <p:cNvSpPr txBox="1"/>
          <p:nvPr/>
        </p:nvSpPr>
        <p:spPr>
          <a:xfrm>
            <a:off x="4920095" y="1220955"/>
            <a:ext cx="3969327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endParaRPr lang="fr-FR" sz="400" dirty="0">
              <a:solidFill>
                <a:srgbClr val="002060"/>
              </a:solidFill>
            </a:endParaRPr>
          </a:p>
          <a:p>
            <a:pPr algn="ctr"/>
            <a:r>
              <a:rPr lang="fr-FR" sz="1000" b="1" dirty="0">
                <a:solidFill>
                  <a:schemeClr val="tx1"/>
                </a:solidFill>
              </a:rPr>
              <a:t>24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i="1" dirty="0">
                <a:solidFill>
                  <a:schemeClr val="tx1"/>
                </a:solidFill>
              </a:rPr>
              <a:t>sur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b="1" dirty="0">
                <a:solidFill>
                  <a:schemeClr val="tx1"/>
                </a:solidFill>
              </a:rPr>
              <a:t>71979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i="1" dirty="0">
                <a:solidFill>
                  <a:schemeClr val="tx1"/>
                </a:solidFill>
              </a:rPr>
              <a:t>soit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b="1" dirty="0">
                <a:solidFill>
                  <a:schemeClr val="tx1"/>
                </a:solidFill>
              </a:rPr>
              <a:t>0,03%</a:t>
            </a:r>
          </a:p>
          <a:p>
            <a:endParaRPr lang="fr-FR" sz="4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Capture :</a:t>
            </a:r>
            <a:endParaRPr lang="fr-FR" sz="1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49DF5B9-1476-779C-9E15-B7EB9529A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374" y="2047995"/>
            <a:ext cx="1109900" cy="274402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CC6A758-CDB9-5E37-11C4-6E05660BD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627" y="2047994"/>
            <a:ext cx="949373" cy="275461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941D6DF-68F4-E868-9599-324112119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0552" y="2047994"/>
            <a:ext cx="895323" cy="137354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EDC2F09-49A8-8120-CE7B-B839B8332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0552" y="3421542"/>
            <a:ext cx="895323" cy="1385010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90896C-7AC9-1217-DBB9-171ECBDB29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385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8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3654A412-4598-D476-74CB-474FC4EB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7006F8B-7887-CEFA-3878-DCB7964B36EF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DA8F27CB-4D14-FAF3-DF0F-B118FA0496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Les requêtes et leurs résultats 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E64BD1-5F03-8B8A-6A38-A1EC77A7F0FF}"/>
              </a:ext>
            </a:extLst>
          </p:cNvPr>
          <p:cNvSpPr txBox="1"/>
          <p:nvPr/>
        </p:nvSpPr>
        <p:spPr>
          <a:xfrm>
            <a:off x="966353" y="819081"/>
            <a:ext cx="5605897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Combien y a-t-il de super hôtes différents ? Cela représente quel pourcentage des hôtes ?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9D1F754-BD6F-BF8B-0855-34D759C65B02}"/>
              </a:ext>
            </a:extLst>
          </p:cNvPr>
          <p:cNvSpPr txBox="1"/>
          <p:nvPr/>
        </p:nvSpPr>
        <p:spPr>
          <a:xfrm>
            <a:off x="652029" y="1003747"/>
            <a:ext cx="4582391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pPr indent="358775"/>
            <a:r>
              <a:rPr lang="en-US" sz="700" dirty="0" err="1"/>
              <a:t>db.paris.aggregate</a:t>
            </a:r>
            <a:r>
              <a:rPr lang="en-US" sz="700" dirty="0"/>
              <a:t>([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$group: {</a:t>
            </a:r>
          </a:p>
          <a:p>
            <a:pPr indent="358775"/>
            <a:r>
              <a:rPr lang="en-US" sz="700" dirty="0"/>
              <a:t>      _id: "$</a:t>
            </a:r>
            <a:r>
              <a:rPr lang="en-US" sz="700" dirty="0" err="1"/>
              <a:t>host_id</a:t>
            </a:r>
            <a:r>
              <a:rPr lang="en-US" sz="700" dirty="0"/>
              <a:t>",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est_superhost</a:t>
            </a:r>
            <a:r>
              <a:rPr lang="en-US" sz="700" dirty="0"/>
              <a:t>: { $first: "$</a:t>
            </a:r>
            <a:r>
              <a:rPr lang="en-US" sz="700" dirty="0" err="1"/>
              <a:t>host_is_superhost</a:t>
            </a:r>
            <a:r>
              <a:rPr lang="en-US" sz="700" dirty="0"/>
              <a:t>"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},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$group: {</a:t>
            </a:r>
          </a:p>
          <a:p>
            <a:pPr indent="358775"/>
            <a:r>
              <a:rPr lang="en-US" sz="700" dirty="0"/>
              <a:t>      _id: null,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total_hotes</a:t>
            </a:r>
            <a:r>
              <a:rPr lang="en-US" sz="700" dirty="0"/>
              <a:t>: { $sum: 1 },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superhosts</a:t>
            </a:r>
            <a:r>
              <a:rPr lang="en-US" sz="700" dirty="0"/>
              <a:t>: {</a:t>
            </a:r>
          </a:p>
          <a:p>
            <a:pPr indent="358775"/>
            <a:r>
              <a:rPr lang="en-US" sz="700" dirty="0"/>
              <a:t>        $sum: { $</a:t>
            </a:r>
            <a:r>
              <a:rPr lang="en-US" sz="700" dirty="0" err="1"/>
              <a:t>cond</a:t>
            </a:r>
            <a:r>
              <a:rPr lang="en-US" sz="700" dirty="0"/>
              <a:t>: ["$</a:t>
            </a:r>
            <a:r>
              <a:rPr lang="en-US" sz="700" dirty="0" err="1"/>
              <a:t>est_superhost</a:t>
            </a:r>
            <a:r>
              <a:rPr lang="en-US" sz="700" dirty="0"/>
              <a:t>", 1, 0] }</a:t>
            </a:r>
          </a:p>
          <a:p>
            <a:pPr indent="358775"/>
            <a:r>
              <a:rPr lang="en-US" sz="700" dirty="0"/>
              <a:t>     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},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$project: {</a:t>
            </a:r>
          </a:p>
          <a:p>
            <a:pPr indent="358775"/>
            <a:r>
              <a:rPr lang="en-US" sz="700" dirty="0"/>
              <a:t>      _id: 0,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total_hotes</a:t>
            </a:r>
            <a:r>
              <a:rPr lang="en-US" sz="700" dirty="0"/>
              <a:t>: 1,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nombre_superhosts</a:t>
            </a:r>
            <a:r>
              <a:rPr lang="en-US" sz="700" dirty="0"/>
              <a:t>: "$</a:t>
            </a:r>
            <a:r>
              <a:rPr lang="en-US" sz="700" dirty="0" err="1"/>
              <a:t>superhosts</a:t>
            </a:r>
            <a:r>
              <a:rPr lang="en-US" sz="700" dirty="0"/>
              <a:t>",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pourcentage_superhosts</a:t>
            </a:r>
            <a:r>
              <a:rPr lang="en-US" sz="700" dirty="0"/>
              <a:t>: {</a:t>
            </a:r>
          </a:p>
          <a:p>
            <a:pPr indent="358775"/>
            <a:r>
              <a:rPr lang="en-US" sz="700" dirty="0"/>
              <a:t>        $round: [</a:t>
            </a:r>
          </a:p>
          <a:p>
            <a:pPr indent="358775"/>
            <a:r>
              <a:rPr lang="en-US" sz="700" dirty="0"/>
              <a:t>          { $multiply: [{ $divide: ["$</a:t>
            </a:r>
            <a:r>
              <a:rPr lang="en-US" sz="700" dirty="0" err="1"/>
              <a:t>superhosts</a:t>
            </a:r>
            <a:r>
              <a:rPr lang="en-US" sz="700" dirty="0"/>
              <a:t>", "$</a:t>
            </a:r>
            <a:r>
              <a:rPr lang="en-US" sz="700" dirty="0" err="1"/>
              <a:t>total_hotes</a:t>
            </a:r>
            <a:r>
              <a:rPr lang="en-US" sz="700" dirty="0"/>
              <a:t>"] }, 100] },</a:t>
            </a:r>
          </a:p>
          <a:p>
            <a:pPr indent="358775"/>
            <a:r>
              <a:rPr lang="en-US" sz="700" dirty="0"/>
              <a:t>          2</a:t>
            </a:r>
          </a:p>
          <a:p>
            <a:pPr indent="358775"/>
            <a:r>
              <a:rPr lang="en-US" sz="700" dirty="0"/>
              <a:t>        ]</a:t>
            </a:r>
          </a:p>
          <a:p>
            <a:pPr indent="358775"/>
            <a:r>
              <a:rPr lang="en-US" sz="700" dirty="0"/>
              <a:t>     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</a:t>
            </a:r>
          </a:p>
          <a:p>
            <a:pPr indent="358775"/>
            <a:r>
              <a:rPr lang="en-US" sz="700" dirty="0"/>
              <a:t>])</a:t>
            </a:r>
            <a:endParaRPr lang="en-US" sz="3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9E7F204-6073-4775-447B-79D32386FE0D}"/>
              </a:ext>
            </a:extLst>
          </p:cNvPr>
          <p:cNvSpPr txBox="1"/>
          <p:nvPr/>
        </p:nvSpPr>
        <p:spPr>
          <a:xfrm>
            <a:off x="4737966" y="1072283"/>
            <a:ext cx="375400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endParaRPr lang="fr-FR" sz="400" dirty="0">
              <a:solidFill>
                <a:srgbClr val="002060"/>
              </a:solidFill>
            </a:endParaRPr>
          </a:p>
          <a:p>
            <a:pPr algn="ctr"/>
            <a:r>
              <a:rPr lang="fr-FR" sz="1000" b="1" dirty="0">
                <a:solidFill>
                  <a:schemeClr val="tx1"/>
                </a:solidFill>
              </a:rPr>
              <a:t>10027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i="1" dirty="0">
                <a:solidFill>
                  <a:schemeClr val="tx1"/>
                </a:solidFill>
              </a:rPr>
              <a:t>sur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b="1" dirty="0">
                <a:solidFill>
                  <a:schemeClr val="tx1"/>
                </a:solidFill>
              </a:rPr>
              <a:t>71979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i="1" dirty="0">
                <a:solidFill>
                  <a:schemeClr val="tx1"/>
                </a:solidFill>
              </a:rPr>
              <a:t>soit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b="1" dirty="0">
                <a:solidFill>
                  <a:schemeClr val="tx1"/>
                </a:solidFill>
              </a:rPr>
              <a:t>13.93%</a:t>
            </a:r>
          </a:p>
          <a:p>
            <a:endParaRPr lang="fr-FR" sz="4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Capture :</a:t>
            </a:r>
            <a:endParaRPr lang="fr-FR" sz="1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7B8AE43-8FE4-98BD-8885-7577120B9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021" y="1877297"/>
            <a:ext cx="1806457" cy="818551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45AF8F3-004A-F160-7536-94923E2212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6923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4BADB5A-09D7-B1E2-9F62-76757944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38579E2-963C-E222-892B-2978BAE52D20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ACBC6CB5-022E-73BF-07E1-D17C6DFCE8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les requêtes et leurs résultats 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29FA3A7-3D7B-8DCB-EB69-59AFC86FE7B2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Calculer le taux de réservation moyen par mois par type de logement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312539-345F-18D1-FA8B-83E2628ECCE4}"/>
              </a:ext>
            </a:extLst>
          </p:cNvPr>
          <p:cNvSpPr txBox="1"/>
          <p:nvPr/>
        </p:nvSpPr>
        <p:spPr>
          <a:xfrm>
            <a:off x="890155" y="982920"/>
            <a:ext cx="26848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formatée avec Polars :</a:t>
            </a:r>
            <a:endParaRPr lang="en-US" sz="7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3A2C45-9B10-4E34-C0F8-C60637C4F21A}"/>
              </a:ext>
            </a:extLst>
          </p:cNvPr>
          <p:cNvSpPr txBox="1"/>
          <p:nvPr/>
        </p:nvSpPr>
        <p:spPr>
          <a:xfrm>
            <a:off x="4983595" y="972652"/>
            <a:ext cx="2172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/ Capture :</a:t>
            </a:r>
            <a:endParaRPr lang="fr-FR" sz="1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F3D35EC-E6E7-CD88-27FE-CD0465869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595" y="1226568"/>
            <a:ext cx="2241896" cy="982336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CAA59F-F87A-F711-D4E2-23BD053F43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B73F62F-4EC8-0D8F-7624-EEBA02774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53" y="1230711"/>
            <a:ext cx="3709180" cy="159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92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CF864CD-6551-E2E9-E3B4-EB22F839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297B437-0837-761A-2601-85B291CBCB16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D8D9557D-AF83-4885-D6DC-2F6A0E9A9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Les requêtes et leurs résultats 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2E4F45-9737-FB8A-F4D0-8C4895EA2BBC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Calculer la médiane des nombres d’avis pour tous les logements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D6D1A3-ABD9-7B55-BDF7-97B66FBBB3A6}"/>
              </a:ext>
            </a:extLst>
          </p:cNvPr>
          <p:cNvSpPr txBox="1"/>
          <p:nvPr/>
        </p:nvSpPr>
        <p:spPr>
          <a:xfrm>
            <a:off x="890155" y="982920"/>
            <a:ext cx="26848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formatée avec Polars :</a:t>
            </a:r>
            <a:endParaRPr lang="en-US" sz="7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A288D4E-20B1-9CB1-7BF6-F80AA3457552}"/>
              </a:ext>
            </a:extLst>
          </p:cNvPr>
          <p:cNvSpPr txBox="1"/>
          <p:nvPr/>
        </p:nvSpPr>
        <p:spPr>
          <a:xfrm>
            <a:off x="4983595" y="972652"/>
            <a:ext cx="2172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/ Capture :</a:t>
            </a:r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367C68-2330-C5FE-12C5-FB570230E5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1E2D4E9-2BEA-262B-2528-383D93600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842" y="1226568"/>
            <a:ext cx="1571844" cy="10764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56CBA86-4DE0-8E47-9F9E-B952138C9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52" y="1226568"/>
            <a:ext cx="3766751" cy="59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71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1DA94DE-712A-76F2-2D4C-8DFBB72C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F42E441-D4C5-C732-E0FF-057B62C0C8ED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3B91353A-EF40-2892-735E-4F16F79BC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Les requêtes et leurs résultats 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834D4A-611B-FF82-DDD3-C502DAC0FC17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Calculer la médiane des nombres d’avis par catégorie d’hôte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264E8BF-1E54-9A6C-A90A-20698FC4490C}"/>
              </a:ext>
            </a:extLst>
          </p:cNvPr>
          <p:cNvSpPr txBox="1"/>
          <p:nvPr/>
        </p:nvSpPr>
        <p:spPr>
          <a:xfrm>
            <a:off x="890155" y="982920"/>
            <a:ext cx="26848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formatée avec Polars :</a:t>
            </a:r>
            <a:endParaRPr lang="en-US" sz="7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B5A4AD5-A8AC-1707-B53C-D21FE1285173}"/>
              </a:ext>
            </a:extLst>
          </p:cNvPr>
          <p:cNvSpPr txBox="1"/>
          <p:nvPr/>
        </p:nvSpPr>
        <p:spPr>
          <a:xfrm>
            <a:off x="4983595" y="972652"/>
            <a:ext cx="2172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/ Capture :</a:t>
            </a:r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F8D7D7-EA41-4DC9-9842-6169BDB02D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2903BD5-3980-B102-81BA-B4919EF61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287" y="1226568"/>
            <a:ext cx="2172855" cy="9095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CB861B0-B875-437C-982A-1DD4A609D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53" y="1226568"/>
            <a:ext cx="3856944" cy="87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98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BB2BCF2-E655-96F7-6708-896AD8B8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7198C25-00A4-B9BB-A74B-415770CFE34A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AFCC3B38-31DF-E13D-4784-89F089E56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Les requêtes et leurs résultats 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D0F31E4-98D2-0F53-BBD3-39D4F1781C2D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Calculer la densité de logements par quartier de Paris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E943B4F-EC15-F9E2-08EA-2CBD394D9EED}"/>
              </a:ext>
            </a:extLst>
          </p:cNvPr>
          <p:cNvSpPr txBox="1"/>
          <p:nvPr/>
        </p:nvSpPr>
        <p:spPr>
          <a:xfrm>
            <a:off x="890155" y="982920"/>
            <a:ext cx="26848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formatée avec Polars :</a:t>
            </a:r>
            <a:endParaRPr lang="en-US" sz="7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3E1834E-47B0-3B64-6526-72F70CA169D5}"/>
              </a:ext>
            </a:extLst>
          </p:cNvPr>
          <p:cNvSpPr txBox="1"/>
          <p:nvPr/>
        </p:nvSpPr>
        <p:spPr>
          <a:xfrm>
            <a:off x="4983595" y="972652"/>
            <a:ext cx="2172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/ Capture :</a:t>
            </a:r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3AF00A-C903-F63F-FA9B-F910F1C544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78F4769-829A-BC0F-6B74-143CE92DB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23" y="1226568"/>
            <a:ext cx="2395901" cy="168194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B8394FC-E2DD-A7E1-38F9-AD9A4BC6D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169" y="1306712"/>
            <a:ext cx="975960" cy="160012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2B58F5B-1533-B82F-AE06-AF7ABCB351C3}"/>
              </a:ext>
            </a:extLst>
          </p:cNvPr>
          <p:cNvSpPr txBox="1"/>
          <p:nvPr/>
        </p:nvSpPr>
        <p:spPr>
          <a:xfrm>
            <a:off x="3302479" y="1158840"/>
            <a:ext cx="8579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>
                <a:solidFill>
                  <a:srgbClr val="002060">
                    <a:alpha val="50000"/>
                  </a:srgbClr>
                </a:solidFill>
              </a:rPr>
              <a:t>Généré avec l’IA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1B62D25-4D1A-F91C-0718-E6D00546B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23" y="2985204"/>
            <a:ext cx="3807798" cy="167801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EE7CF6D-3612-D219-E147-EFC84466F2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795" y="1226568"/>
            <a:ext cx="3408571" cy="343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1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E1B1537-E50D-7EE3-49F3-AD98E0D19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CB71968-5FFF-8C90-542F-D97B06CF41CE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42C674FF-99AB-A6CF-40E9-48B26ED613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Les requêtes et leurs résultats 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B569B03-A3EB-02B6-3F54-FAA6F77EFA69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Identifier les quartiers avec le plus fort taux de réservation par mois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B12A0B-EA3F-0F4F-5649-8F34FA7EC54E}"/>
              </a:ext>
            </a:extLst>
          </p:cNvPr>
          <p:cNvSpPr txBox="1"/>
          <p:nvPr/>
        </p:nvSpPr>
        <p:spPr>
          <a:xfrm>
            <a:off x="890155" y="982920"/>
            <a:ext cx="26848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formatée avec Polars :</a:t>
            </a:r>
            <a:endParaRPr lang="en-US" sz="7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B0752A1-2D8C-D282-E8DC-A93FA37FBABD}"/>
              </a:ext>
            </a:extLst>
          </p:cNvPr>
          <p:cNvSpPr txBox="1"/>
          <p:nvPr/>
        </p:nvSpPr>
        <p:spPr>
          <a:xfrm>
            <a:off x="4983595" y="972652"/>
            <a:ext cx="2172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/ Capture :</a:t>
            </a:r>
            <a:endParaRPr lang="fr-FR" sz="1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B3D78D-F5A0-715B-45CF-441C3E451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B72348E-173F-CCBF-52C2-3566FEF2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53" y="1226568"/>
            <a:ext cx="3030395" cy="35550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9132133-2688-1028-B7A8-D95593AFD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19" y="1226567"/>
            <a:ext cx="3219226" cy="355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7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13660E0-CDA0-6124-A6FD-9DF646794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CFB8BA60-B2B1-601B-2504-EA47F5982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2.2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Démarche pour mettre la </a:t>
            </a:r>
            <a:r>
              <a:rPr lang="fr-FR" sz="2500" dirty="0" err="1">
                <a:solidFill>
                  <a:srgbClr val="002060"/>
                </a:solidFill>
                <a:latin typeface="+mn-lt"/>
                <a:cs typeface="Arial"/>
                <a:sym typeface="Inter"/>
              </a:rPr>
              <a:t>bdd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sur </a:t>
            </a:r>
            <a:r>
              <a:rPr lang="fr-FR" sz="2500" dirty="0" err="1">
                <a:solidFill>
                  <a:srgbClr val="002060"/>
                </a:solidFill>
                <a:latin typeface="+mn-lt"/>
                <a:cs typeface="Arial"/>
                <a:sym typeface="Inter"/>
              </a:rPr>
              <a:t>PowerBI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des captures d’écran du tableau de bord et du processus)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FBDC2EE-C6CA-5941-5408-14972B78633D}"/>
              </a:ext>
            </a:extLst>
          </p:cNvPr>
          <p:cNvSpPr/>
          <p:nvPr/>
        </p:nvSpPr>
        <p:spPr>
          <a:xfrm>
            <a:off x="383458" y="745629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4C24B09-0518-9CB8-3A02-1C55DAFE9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6B1E8BD-A6F0-A9BA-CC71-82A7A63C1884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Connexion de la base de données a </a:t>
            </a:r>
            <a:r>
              <a:rPr lang="fr-FR" sz="1200" u="sng" dirty="0" err="1">
                <a:solidFill>
                  <a:srgbClr val="002060"/>
                </a:solidFill>
              </a:rPr>
              <a:t>PowerBI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7564192-4B44-D40C-1F88-8E8801613A31}"/>
              </a:ext>
            </a:extLst>
          </p:cNvPr>
          <p:cNvSpPr txBox="1"/>
          <p:nvPr/>
        </p:nvSpPr>
        <p:spPr>
          <a:xfrm>
            <a:off x="979053" y="3459817"/>
            <a:ext cx="3465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Dans </a:t>
            </a:r>
            <a:r>
              <a:rPr lang="fr-FR" sz="1000" dirty="0" err="1">
                <a:solidFill>
                  <a:srgbClr val="002060"/>
                </a:solidFill>
              </a:rPr>
              <a:t>PowerBI</a:t>
            </a:r>
            <a:r>
              <a:rPr lang="fr-FR" sz="1000" dirty="0">
                <a:solidFill>
                  <a:srgbClr val="002060"/>
                </a:solidFill>
              </a:rPr>
              <a:t> &gt; Obtenir les données &gt; ODBC &gt; Se connecter</a:t>
            </a:r>
            <a:endParaRPr lang="en-US" sz="7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D91BBFE-98AC-02A3-A8E8-7EB6441EA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097" y="1229832"/>
            <a:ext cx="3165987" cy="1371413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FF644CC5-6F8F-3B58-2FC5-BC4E8EC0CE44}"/>
              </a:ext>
            </a:extLst>
          </p:cNvPr>
          <p:cNvSpPr txBox="1"/>
          <p:nvPr/>
        </p:nvSpPr>
        <p:spPr>
          <a:xfrm>
            <a:off x="979053" y="1792429"/>
            <a:ext cx="3465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Création de la source de donnée ODBC dans Windows</a:t>
            </a:r>
            <a:endParaRPr lang="en-US" sz="7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19DF8B4-9C04-3C26-67CD-6499B8DA1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049" y="2803193"/>
            <a:ext cx="1682085" cy="163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51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6BE8DCB-A28A-085D-CA32-8544AB71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EAE07A77-1314-B755-585F-F176A6F54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2.2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Démarche pour mettre la </a:t>
            </a:r>
            <a:r>
              <a:rPr lang="fr-FR" sz="2500" dirty="0" err="1">
                <a:solidFill>
                  <a:srgbClr val="002060"/>
                </a:solidFill>
                <a:latin typeface="+mn-lt"/>
                <a:cs typeface="Arial"/>
                <a:sym typeface="Inter"/>
              </a:rPr>
              <a:t>bdd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sur </a:t>
            </a:r>
            <a:r>
              <a:rPr lang="fr-FR" sz="2500" dirty="0" err="1">
                <a:solidFill>
                  <a:srgbClr val="002060"/>
                </a:solidFill>
                <a:latin typeface="+mn-lt"/>
                <a:cs typeface="Arial"/>
                <a:sym typeface="Inter"/>
              </a:rPr>
              <a:t>PowerBI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des captures d’écran du tableau de bord et du processus)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DCE6EB8-9705-88AC-8CFD-B6F4B5B07EEE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DD39CA0-B086-BE22-13CA-0865DE7F17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19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8FB7A32-A36A-BBED-4F0F-D10421710F73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Connexion de la base de données a </a:t>
            </a:r>
            <a:r>
              <a:rPr lang="fr-FR" sz="1200" u="sng" dirty="0" err="1">
                <a:solidFill>
                  <a:srgbClr val="002060"/>
                </a:solidFill>
              </a:rPr>
              <a:t>PowerBI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D50FDB0-2EAA-5E6C-2E94-059F6DFEC88C}"/>
              </a:ext>
            </a:extLst>
          </p:cNvPr>
          <p:cNvSpPr txBox="1"/>
          <p:nvPr/>
        </p:nvSpPr>
        <p:spPr>
          <a:xfrm>
            <a:off x="979053" y="1791737"/>
            <a:ext cx="3465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Lancer le serveur d’écoute mongosqld.exe</a:t>
            </a:r>
            <a:endParaRPr lang="en-US" sz="7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012AC1A-3914-638A-6727-E953A2FF0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383" y="1030629"/>
            <a:ext cx="3123245" cy="180597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ED45290-DE21-9CD2-402E-7C63CDABFD2A}"/>
              </a:ext>
            </a:extLst>
          </p:cNvPr>
          <p:cNvSpPr txBox="1"/>
          <p:nvPr/>
        </p:nvSpPr>
        <p:spPr>
          <a:xfrm>
            <a:off x="979053" y="3464394"/>
            <a:ext cx="3899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Choisir MongoDB </a:t>
            </a:r>
            <a:r>
              <a:rPr lang="fr-FR" sz="1000" i="1" dirty="0">
                <a:solidFill>
                  <a:srgbClr val="002060"/>
                </a:solidFill>
              </a:rPr>
              <a:t>(nom de la source ODBC créé précédemment) &gt; Ok</a:t>
            </a:r>
            <a:endParaRPr lang="en-US" sz="700" i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DDE2F8F-8B29-ACB8-86EF-6E0B46393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383" y="3105543"/>
            <a:ext cx="3055373" cy="96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75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2DDF6EF-960A-6C6E-CA0F-D40BAC2A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7E60532E-40CF-2541-B2DF-0C75850E72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2.2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Démarche pour mettre la </a:t>
            </a:r>
            <a:r>
              <a:rPr lang="fr-FR" sz="2500" dirty="0" err="1">
                <a:solidFill>
                  <a:srgbClr val="002060"/>
                </a:solidFill>
                <a:latin typeface="+mn-lt"/>
                <a:cs typeface="Arial"/>
                <a:sym typeface="Inter"/>
              </a:rPr>
              <a:t>bdd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sur </a:t>
            </a:r>
            <a:r>
              <a:rPr lang="fr-FR" sz="2500" dirty="0" err="1">
                <a:solidFill>
                  <a:srgbClr val="002060"/>
                </a:solidFill>
                <a:latin typeface="+mn-lt"/>
                <a:cs typeface="Arial"/>
                <a:sym typeface="Inter"/>
              </a:rPr>
              <a:t>PowerBI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des captures d’écran du tableau de bord et du processus)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82764C0-BCF7-0B2D-7763-84DCEF4CC24B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2918087-ED20-B894-33B0-0202E66903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20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384915-12D9-F691-8BE4-2F6886EC2B99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Connexion de la base de données a </a:t>
            </a:r>
            <a:r>
              <a:rPr lang="fr-FR" sz="1200" u="sng" dirty="0" err="1">
                <a:solidFill>
                  <a:srgbClr val="002060"/>
                </a:solidFill>
              </a:rPr>
              <a:t>PowerBI</a:t>
            </a:r>
            <a:endParaRPr lang="fr-FR" sz="1200" dirty="0">
              <a:solidFill>
                <a:srgbClr val="002060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42B5C22-2595-FEE7-6B87-CC3662DD9896}"/>
              </a:ext>
            </a:extLst>
          </p:cNvPr>
          <p:cNvSpPr txBox="1"/>
          <p:nvPr/>
        </p:nvSpPr>
        <p:spPr>
          <a:xfrm>
            <a:off x="979053" y="3459817"/>
            <a:ext cx="3637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Après quelque second </a:t>
            </a:r>
            <a:r>
              <a:rPr lang="fr-FR" sz="1000" i="1" dirty="0">
                <a:solidFill>
                  <a:srgbClr val="002060"/>
                </a:solidFill>
              </a:rPr>
              <a:t>(en fonction de la taille de la table) </a:t>
            </a:r>
            <a:r>
              <a:rPr lang="fr-FR" sz="1000" dirty="0">
                <a:solidFill>
                  <a:srgbClr val="002060"/>
                </a:solidFill>
              </a:rPr>
              <a:t>les données sont chargées dans la colonne tout à droite.</a:t>
            </a:r>
            <a:endParaRPr lang="en-US" sz="7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35A8417-8C0E-2A49-A206-BC818AE93054}"/>
              </a:ext>
            </a:extLst>
          </p:cNvPr>
          <p:cNvSpPr txBox="1"/>
          <p:nvPr/>
        </p:nvSpPr>
        <p:spPr>
          <a:xfrm>
            <a:off x="979053" y="1793240"/>
            <a:ext cx="3899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Sélectionner la table voulue &gt; Charger </a:t>
            </a:r>
            <a:endParaRPr lang="en-US" sz="700" i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357F696-9E5B-BA06-6559-B854B76ED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125" y="1188335"/>
            <a:ext cx="2664041" cy="145603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E032B46-37AA-7D8F-276F-A651A8D8C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563" y="2761315"/>
            <a:ext cx="1893166" cy="179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78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741956F-810A-D406-0C20-6978AC1F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012108FE-A77B-346A-9013-7AFE31BE73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2.2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Démarche pour mettre la </a:t>
            </a:r>
            <a:r>
              <a:rPr lang="fr-FR" sz="2500" dirty="0" err="1">
                <a:solidFill>
                  <a:srgbClr val="002060"/>
                </a:solidFill>
                <a:latin typeface="+mn-lt"/>
                <a:cs typeface="Arial"/>
                <a:sym typeface="Inter"/>
              </a:rPr>
              <a:t>bdd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sur </a:t>
            </a:r>
            <a:r>
              <a:rPr lang="fr-FR" sz="2500" dirty="0" err="1">
                <a:solidFill>
                  <a:srgbClr val="002060"/>
                </a:solidFill>
                <a:latin typeface="+mn-lt"/>
                <a:cs typeface="Arial"/>
                <a:sym typeface="Inter"/>
              </a:rPr>
              <a:t>PowerBI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des captures d’écran du tableau de bord et du processus)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77508FF-29F0-C841-25A0-5B60C9036FC9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0C18A10-F47A-1488-6D08-E2FBB76229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21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B3ED0D2-EB25-9C5C-D896-3AF7BF1C7EE2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Tableau de bort réalisé avec </a:t>
            </a:r>
            <a:r>
              <a:rPr lang="fr-FR" sz="1200" u="sng" dirty="0" err="1">
                <a:solidFill>
                  <a:srgbClr val="002060"/>
                </a:solidFill>
              </a:rPr>
              <a:t>PowerBI</a:t>
            </a:r>
            <a:endParaRPr lang="fr-FR" sz="1200" dirty="0">
              <a:solidFill>
                <a:srgbClr val="002060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C793656-57C8-4698-194C-D1EB077EF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289" y="1158840"/>
            <a:ext cx="6833421" cy="364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18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30C6734-5AD5-0010-0DAE-8D221007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4E9965F4-0128-660A-44A6-0766AFEF0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D9ED33A-B358-E71D-C88F-77BF4EECC01B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347895-2EC5-A600-8AE7-1299177A2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2BB672-9181-2A23-45A0-0ADD7DF2D8BC}"/>
              </a:ext>
            </a:extLst>
          </p:cNvPr>
          <p:cNvSpPr txBox="1"/>
          <p:nvPr/>
        </p:nvSpPr>
        <p:spPr>
          <a:xfrm>
            <a:off x="979053" y="798254"/>
            <a:ext cx="855171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Importation des datas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33D7F4-8297-F779-CBEA-6961A035D92D}"/>
              </a:ext>
            </a:extLst>
          </p:cNvPr>
          <p:cNvSpPr txBox="1"/>
          <p:nvPr/>
        </p:nvSpPr>
        <p:spPr>
          <a:xfrm>
            <a:off x="890155" y="982920"/>
            <a:ext cx="738860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Création d’un script d’importation propre</a:t>
            </a:r>
          </a:p>
          <a:p>
            <a:pPr marL="628650" lvl="1" indent="-171450">
              <a:buFontTx/>
              <a:buChar char="-"/>
            </a:pPr>
            <a:r>
              <a:rPr lang="fr-FR" sz="700" dirty="0">
                <a:solidFill>
                  <a:srgbClr val="002060"/>
                </a:solidFill>
              </a:rPr>
              <a:t>Étape 1 : Se connecte à la base de données MongoDB.</a:t>
            </a:r>
          </a:p>
          <a:p>
            <a:pPr marL="628650" lvl="1" indent="-171450">
              <a:buFontTx/>
              <a:buChar char="-"/>
            </a:pPr>
            <a:r>
              <a:rPr lang="fr-FR" sz="700" dirty="0">
                <a:solidFill>
                  <a:srgbClr val="002060"/>
                </a:solidFill>
              </a:rPr>
              <a:t>Étape 2 : Crée une nouvelle collection (propose de supprimer ce qui existe avec le même nom sinon tante de l’importation en vérifiant les doublons).</a:t>
            </a:r>
          </a:p>
          <a:p>
            <a:pPr marL="628650" lvl="1" indent="-171450">
              <a:buFontTx/>
              <a:buChar char="-"/>
            </a:pPr>
            <a:r>
              <a:rPr lang="fr-FR" sz="700" dirty="0">
                <a:solidFill>
                  <a:srgbClr val="002060"/>
                </a:solidFill>
              </a:rPr>
              <a:t>Étape 3 : Vérifie les données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EB1B32E-569A-F176-25F8-83F32E0C8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55" y="1594771"/>
            <a:ext cx="2748431" cy="92394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727880B-C84D-4C9F-04CD-53C0D22D1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632" y="2220603"/>
            <a:ext cx="3180735" cy="112314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A1219AB-E813-B48B-17DF-4EC1898C8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540" y="2733367"/>
            <a:ext cx="2903221" cy="206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45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B05B461-2915-C531-E537-A544B3C5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B4E4CE83-0E16-01F7-CF05-3122DF42F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3.1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 – Réplication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F71561F-552C-4B8D-7FF6-7141ECD19764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76CB9BC-FA7B-34F8-07B4-520134F6AE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A0165A2-312B-DDC1-2DD4-A767448A2920}"/>
              </a:ext>
            </a:extLst>
          </p:cNvPr>
          <p:cNvSpPr txBox="1"/>
          <p:nvPr/>
        </p:nvSpPr>
        <p:spPr>
          <a:xfrm>
            <a:off x="979053" y="798254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Procédure de création du </a:t>
            </a:r>
            <a:r>
              <a:rPr lang="fr-FR" sz="1200" u="sng" dirty="0" err="1">
                <a:solidFill>
                  <a:srgbClr val="002060"/>
                </a:solidFill>
              </a:rPr>
              <a:t>shard</a:t>
            </a:r>
            <a:r>
              <a:rPr lang="fr-FR" sz="1200" u="sng" dirty="0">
                <a:solidFill>
                  <a:srgbClr val="002060"/>
                </a:solidFill>
              </a:rPr>
              <a:t> (</a:t>
            </a:r>
            <a:r>
              <a:rPr lang="fr-FR" sz="1200" u="sng" dirty="0" err="1">
                <a:solidFill>
                  <a:srgbClr val="002060"/>
                </a:solidFill>
              </a:rPr>
              <a:t>replicatset</a:t>
            </a:r>
            <a:r>
              <a:rPr lang="fr-FR" sz="1200" u="sng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AC04E8E-2DB2-DA84-BE45-E32B4E12908B}"/>
              </a:ext>
            </a:extLst>
          </p:cNvPr>
          <p:cNvSpPr txBox="1"/>
          <p:nvPr/>
        </p:nvSpPr>
        <p:spPr>
          <a:xfrm>
            <a:off x="890155" y="982920"/>
            <a:ext cx="738860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Dans un premier terminal</a:t>
            </a:r>
            <a:r>
              <a:rPr lang="fr-FR" sz="1000" i="1" dirty="0">
                <a:solidFill>
                  <a:srgbClr val="002060"/>
                </a:solidFill>
              </a:rPr>
              <a:t> (démarrage du </a:t>
            </a:r>
            <a:r>
              <a:rPr lang="fr-FR" sz="1000" i="1" dirty="0" err="1">
                <a:solidFill>
                  <a:srgbClr val="002060"/>
                </a:solidFill>
              </a:rPr>
              <a:t>réplicat</a:t>
            </a:r>
            <a:r>
              <a:rPr lang="fr-FR" sz="1000" i="1" dirty="0">
                <a:solidFill>
                  <a:srgbClr val="002060"/>
                </a:solidFill>
              </a:rPr>
              <a:t> primaire) </a:t>
            </a:r>
            <a:r>
              <a:rPr lang="fr-FR" sz="1000" dirty="0">
                <a:solidFill>
                  <a:srgbClr val="002060"/>
                </a:solidFill>
              </a:rPr>
              <a:t>:</a:t>
            </a:r>
          </a:p>
          <a:p>
            <a:pPr lvl="1"/>
            <a:r>
              <a:rPr lang="fr-FR" sz="10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  <a:sym typeface="Wingdings" panose="05000000000000000000" pitchFamily="2" charset="2"/>
              </a:rPr>
              <a:t> 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mongod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--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replSet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rs_airbnb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--port 27018 --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dbpath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./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data_replicatset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rs_paris</a:t>
            </a:r>
            <a:endParaRPr lang="fr-FR" sz="800" dirty="0">
              <a:solidFill>
                <a:srgbClr val="00206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Dans un second terminal</a:t>
            </a:r>
            <a:r>
              <a:rPr lang="fr-FR" sz="1000" i="1" dirty="0">
                <a:solidFill>
                  <a:srgbClr val="002060"/>
                </a:solidFill>
              </a:rPr>
              <a:t> (démarrage du </a:t>
            </a:r>
            <a:r>
              <a:rPr lang="fr-FR" sz="1000" i="1" dirty="0" err="1">
                <a:solidFill>
                  <a:srgbClr val="002060"/>
                </a:solidFill>
              </a:rPr>
              <a:t>réplicat</a:t>
            </a:r>
            <a:r>
              <a:rPr lang="fr-FR" sz="1000" i="1" dirty="0">
                <a:solidFill>
                  <a:srgbClr val="002060"/>
                </a:solidFill>
              </a:rPr>
              <a:t> secondaire) </a:t>
            </a:r>
            <a:r>
              <a:rPr lang="fr-FR" sz="1000" dirty="0">
                <a:solidFill>
                  <a:srgbClr val="002060"/>
                </a:solidFill>
              </a:rPr>
              <a:t>:</a:t>
            </a:r>
          </a:p>
          <a:p>
            <a:pPr lvl="1"/>
            <a:r>
              <a:rPr lang="fr-FR" sz="10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  <a:sym typeface="Wingdings" panose="05000000000000000000" pitchFamily="2" charset="2"/>
              </a:rPr>
              <a:t> 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mongod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--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replSet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rs_airbnb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--port 27019 --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dbpath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./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data_replicatset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rs_lyon</a:t>
            </a:r>
            <a:endParaRPr lang="fr-FR" sz="900" dirty="0">
              <a:solidFill>
                <a:srgbClr val="00206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171450" indent="-171450">
              <a:buFontTx/>
              <a:buChar char="-"/>
            </a:pPr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Dans un troisième terminal </a:t>
            </a:r>
            <a:r>
              <a:rPr lang="fr-FR" sz="1000" i="1" dirty="0">
                <a:solidFill>
                  <a:srgbClr val="002060"/>
                </a:solidFill>
              </a:rPr>
              <a:t>(démarrage du </a:t>
            </a:r>
            <a:r>
              <a:rPr lang="fr-FR" sz="1000" i="1" dirty="0" err="1">
                <a:solidFill>
                  <a:srgbClr val="002060"/>
                </a:solidFill>
              </a:rPr>
              <a:t>réplicat</a:t>
            </a:r>
            <a:r>
              <a:rPr lang="fr-FR" sz="1000" i="1" dirty="0">
                <a:solidFill>
                  <a:srgbClr val="002060"/>
                </a:solidFill>
              </a:rPr>
              <a:t> </a:t>
            </a:r>
            <a:r>
              <a:rPr lang="fr-FR" sz="1000" i="1" dirty="0" err="1">
                <a:solidFill>
                  <a:srgbClr val="002060"/>
                </a:solidFill>
              </a:rPr>
              <a:t>arbitreur</a:t>
            </a:r>
            <a:r>
              <a:rPr lang="fr-FR" sz="1000" i="1" dirty="0">
                <a:solidFill>
                  <a:srgbClr val="002060"/>
                </a:solidFill>
              </a:rPr>
              <a:t>) </a:t>
            </a:r>
            <a:r>
              <a:rPr lang="fr-FR" sz="1000" dirty="0">
                <a:solidFill>
                  <a:srgbClr val="002060"/>
                </a:solidFill>
              </a:rPr>
              <a:t>:</a:t>
            </a:r>
          </a:p>
          <a:p>
            <a:pPr lvl="1"/>
            <a:r>
              <a:rPr lang="fr-FR" sz="10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  <a:sym typeface="Wingdings" panose="05000000000000000000" pitchFamily="2" charset="2"/>
              </a:rPr>
              <a:t> 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mongod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--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replSet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rs_airbnb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--port 30000 --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dbpath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./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data_replicatset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/arbitre</a:t>
            </a:r>
            <a:endParaRPr lang="fr-FR" sz="900" dirty="0">
              <a:solidFill>
                <a:srgbClr val="00206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Dans un quatrième terminal </a:t>
            </a:r>
            <a:r>
              <a:rPr lang="fr-FR" sz="1000" i="1" dirty="0">
                <a:solidFill>
                  <a:srgbClr val="002060"/>
                </a:solidFill>
              </a:rPr>
              <a:t>(</a:t>
            </a:r>
            <a:r>
              <a:rPr lang="fr-FR" sz="1000" i="1" dirty="0" err="1">
                <a:solidFill>
                  <a:srgbClr val="002060"/>
                </a:solidFill>
              </a:rPr>
              <a:t>initialisaition</a:t>
            </a:r>
            <a:r>
              <a:rPr lang="fr-FR" sz="1000" i="1" dirty="0">
                <a:solidFill>
                  <a:srgbClr val="002060"/>
                </a:solidFill>
              </a:rPr>
              <a:t> du </a:t>
            </a:r>
            <a:r>
              <a:rPr lang="fr-FR" sz="1000" i="1" dirty="0" err="1">
                <a:solidFill>
                  <a:srgbClr val="002060"/>
                </a:solidFill>
              </a:rPr>
              <a:t>replicatset</a:t>
            </a:r>
            <a:r>
              <a:rPr lang="fr-FR" sz="1000" i="1" dirty="0">
                <a:solidFill>
                  <a:srgbClr val="002060"/>
                </a:solidFill>
              </a:rPr>
              <a:t>)</a:t>
            </a:r>
            <a:r>
              <a:rPr lang="fr-FR" sz="1000" dirty="0">
                <a:solidFill>
                  <a:srgbClr val="002060"/>
                </a:solidFill>
              </a:rPr>
              <a:t> :</a:t>
            </a:r>
          </a:p>
          <a:p>
            <a:pPr marL="628650" lvl="1" indent="-171450">
              <a:buFontTx/>
              <a:buChar char="-"/>
              <a:tabLst>
                <a:tab pos="2871788" algn="l"/>
                <a:tab pos="3495675" algn="l"/>
              </a:tabLst>
            </a:pPr>
            <a:r>
              <a:rPr lang="fr-FR" sz="1000" dirty="0">
                <a:solidFill>
                  <a:srgbClr val="002060"/>
                </a:solidFill>
              </a:rPr>
              <a:t>On se connecte au serveur maitre 	</a:t>
            </a:r>
            <a:r>
              <a:rPr lang="fr-FR" sz="1000" dirty="0">
                <a:solidFill>
                  <a:srgbClr val="002060"/>
                </a:solidFill>
                <a:sym typeface="Wingdings" panose="05000000000000000000" pitchFamily="2" charset="2"/>
              </a:rPr>
              <a:t>	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mongosh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-- port 27018</a:t>
            </a:r>
            <a:endParaRPr lang="fr-FR" sz="900" dirty="0">
              <a:solidFill>
                <a:srgbClr val="00206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628650" lvl="1" indent="-171450">
              <a:buFontTx/>
              <a:buChar char="-"/>
              <a:tabLst>
                <a:tab pos="2871788" algn="l"/>
                <a:tab pos="3495675" algn="l"/>
              </a:tabLst>
            </a:pPr>
            <a:r>
              <a:rPr lang="fr-FR" sz="1000" dirty="0">
                <a:solidFill>
                  <a:srgbClr val="002060"/>
                </a:solidFill>
              </a:rPr>
              <a:t>On initialise le </a:t>
            </a:r>
            <a:r>
              <a:rPr lang="fr-FR" sz="1000" dirty="0" err="1">
                <a:solidFill>
                  <a:srgbClr val="002060"/>
                </a:solidFill>
              </a:rPr>
              <a:t>replicaset</a:t>
            </a:r>
            <a:r>
              <a:rPr lang="fr-FR" sz="1000" dirty="0">
                <a:solidFill>
                  <a:srgbClr val="002060"/>
                </a:solidFill>
              </a:rPr>
              <a:t>	</a:t>
            </a:r>
            <a:r>
              <a:rPr lang="fr-FR" sz="1000" dirty="0">
                <a:solidFill>
                  <a:srgbClr val="002060"/>
                </a:solidFill>
                <a:sym typeface="Wingdings" panose="05000000000000000000" pitchFamily="2" charset="2"/>
              </a:rPr>
              <a:t>	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rs.initiate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();</a:t>
            </a:r>
            <a:endParaRPr lang="fr-FR" sz="900" dirty="0">
              <a:solidFill>
                <a:srgbClr val="00206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628650" lvl="1" indent="-171450">
              <a:buFontTx/>
              <a:buChar char="-"/>
              <a:tabLst>
                <a:tab pos="2871788" algn="l"/>
                <a:tab pos="3495675" algn="l"/>
              </a:tabLst>
            </a:pPr>
            <a:r>
              <a:rPr lang="fr-FR" sz="1000" dirty="0">
                <a:solidFill>
                  <a:srgbClr val="002060"/>
                </a:solidFill>
              </a:rPr>
              <a:t>On ajoute le(s) serveur(s) secondaire 	</a:t>
            </a:r>
            <a:r>
              <a:rPr lang="fr-FR" sz="1000" dirty="0">
                <a:solidFill>
                  <a:srgbClr val="002060"/>
                </a:solidFill>
                <a:sym typeface="Wingdings" panose="05000000000000000000" pitchFamily="2" charset="2"/>
              </a:rPr>
              <a:t>	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rs.add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("localhost:27019")</a:t>
            </a:r>
          </a:p>
          <a:p>
            <a:pPr marL="628650" lvl="1" indent="-171450">
              <a:buFontTx/>
              <a:buChar char="-"/>
              <a:tabLst>
                <a:tab pos="2871788" algn="l"/>
                <a:tab pos="3495675" algn="l"/>
              </a:tabLst>
            </a:pPr>
            <a:r>
              <a:rPr lang="fr-FR" sz="1000" dirty="0">
                <a:solidFill>
                  <a:srgbClr val="002060"/>
                </a:solidFill>
              </a:rPr>
              <a:t>On ajoute l'arbitre	</a:t>
            </a:r>
            <a:r>
              <a:rPr lang="fr-FR" sz="1000" dirty="0">
                <a:solidFill>
                  <a:srgbClr val="002060"/>
                </a:solidFill>
                <a:sym typeface="Wingdings" panose="05000000000000000000" pitchFamily="2" charset="2"/>
              </a:rPr>
              <a:t>	</a:t>
            </a:r>
            <a:r>
              <a:rPr lang="fr-FR" sz="800" dirty="0" err="1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rs.addArb</a:t>
            </a:r>
            <a:r>
              <a:rPr lang="fr-FR" sz="800" dirty="0">
                <a:solidFill>
                  <a:srgbClr val="00206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("localhost:30000")</a:t>
            </a:r>
            <a:endParaRPr lang="fr-FR" sz="1000" dirty="0">
              <a:solidFill>
                <a:srgbClr val="00206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026" name="Picture 2" descr="MongDB Replica Set">
            <a:extLst>
              <a:ext uri="{FF2B5EF4-FFF2-40B4-BE49-F238E27FC236}">
                <a16:creationId xmlns:a16="http://schemas.microsoft.com/office/drawing/2014/main" id="{9C5810F4-F8D9-1992-1D8C-C7267A646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683" y="3449070"/>
            <a:ext cx="2125549" cy="138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7F0A8E3-045A-7E4F-5E1B-FA42BF4A02BC}"/>
              </a:ext>
            </a:extLst>
          </p:cNvPr>
          <p:cNvSpPr txBox="1"/>
          <p:nvPr/>
        </p:nvSpPr>
        <p:spPr>
          <a:xfrm>
            <a:off x="979052" y="3119411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Schéma d’architecture de la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3562916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21BEB8B-EFA6-1222-E264-09A57924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67CEF441-B3A2-9CD1-C854-0CF48623D5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3.2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 – Réplication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4D33D820-1411-E058-CEEC-312647D04BA1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D8BD265-7CFE-0992-06C7-F583A6DDBB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24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216E0E4-332E-4CFE-4A07-DE0526205ECC}"/>
              </a:ext>
            </a:extLst>
          </p:cNvPr>
          <p:cNvSpPr txBox="1"/>
          <p:nvPr/>
        </p:nvSpPr>
        <p:spPr>
          <a:xfrm>
            <a:off x="979053" y="798254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Création d’un script pour afficher quel serveur répond si une coupure intervient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535F1E2-CD29-F1C5-F066-4E0F3FD0B67F}"/>
              </a:ext>
            </a:extLst>
          </p:cNvPr>
          <p:cNvSpPr txBox="1"/>
          <p:nvPr/>
        </p:nvSpPr>
        <p:spPr>
          <a:xfrm>
            <a:off x="890155" y="982920"/>
            <a:ext cx="7388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Fonction qui affiche le nom du serveur qui a répondu a la requête :</a:t>
            </a:r>
            <a:endParaRPr lang="fr-FR" sz="1000" dirty="0">
              <a:solidFill>
                <a:srgbClr val="00206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164A76E-3F0C-5A68-7F26-DD932E4E4A7A}"/>
              </a:ext>
            </a:extLst>
          </p:cNvPr>
          <p:cNvSpPr txBox="1"/>
          <p:nvPr/>
        </p:nvSpPr>
        <p:spPr>
          <a:xfrm>
            <a:off x="890155" y="2742545"/>
            <a:ext cx="7388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du script appelé deux fois (</a:t>
            </a:r>
            <a:endParaRPr lang="fr-FR" sz="1000" dirty="0">
              <a:solidFill>
                <a:srgbClr val="00206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78D2B33-5F2C-B293-4DCB-C2826858F732}"/>
              </a:ext>
            </a:extLst>
          </p:cNvPr>
          <p:cNvSpPr txBox="1"/>
          <p:nvPr/>
        </p:nvSpPr>
        <p:spPr>
          <a:xfrm>
            <a:off x="4095471" y="3538350"/>
            <a:ext cx="3681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Les deux serveurs sont allumés : Le primaire répond a la requête.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DC71749-1C01-15B9-FF5A-4B03E970FC10}"/>
              </a:ext>
            </a:extLst>
          </p:cNvPr>
          <p:cNvSpPr txBox="1"/>
          <p:nvPr/>
        </p:nvSpPr>
        <p:spPr>
          <a:xfrm>
            <a:off x="4095471" y="4248059"/>
            <a:ext cx="3765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Simulation d’une coupure du primaire 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(service arrêté)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: Le secondaire répond à la requête.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AD5831E-1C31-B54D-E7E8-A71E1029B881}"/>
              </a:ext>
            </a:extLst>
          </p:cNvPr>
          <p:cNvSpPr txBox="1"/>
          <p:nvPr/>
        </p:nvSpPr>
        <p:spPr>
          <a:xfrm>
            <a:off x="890155" y="4767684"/>
            <a:ext cx="727061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dirty="0">
                <a:solidFill>
                  <a:srgbClr val="002060">
                    <a:alpha val="50000"/>
                  </a:srgbClr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Je n’ai ajouté la simulation d’une la coupure du secondaire si le primaire est allumé, ni si les deux sont coupés, puisque le résultat est très logique.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EEDB1A0-230E-6BEA-27D7-9F644132B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270" y="2988766"/>
            <a:ext cx="2281420" cy="1692769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42FBA871-A3B2-2D7B-2B06-D7A2F198746B}"/>
              </a:ext>
            </a:extLst>
          </p:cNvPr>
          <p:cNvCxnSpPr>
            <a:cxnSpLocks/>
          </p:cNvCxnSpPr>
          <p:nvPr/>
        </p:nvCxnSpPr>
        <p:spPr>
          <a:xfrm>
            <a:off x="2727614" y="3660405"/>
            <a:ext cx="136785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9089F95-4EF1-4EF7-CDB0-ABAAAD0518A7}"/>
              </a:ext>
            </a:extLst>
          </p:cNvPr>
          <p:cNvCxnSpPr>
            <a:cxnSpLocks/>
          </p:cNvCxnSpPr>
          <p:nvPr/>
        </p:nvCxnSpPr>
        <p:spPr>
          <a:xfrm flipV="1">
            <a:off x="2727614" y="4449571"/>
            <a:ext cx="1367857" cy="66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 27">
            <a:extLst>
              <a:ext uri="{FF2B5EF4-FFF2-40B4-BE49-F238E27FC236}">
                <a16:creationId xmlns:a16="http://schemas.microsoft.com/office/drawing/2014/main" id="{9D6F5FDA-16F9-62AA-55DF-0A43DBEDA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048" y="1229141"/>
            <a:ext cx="3239730" cy="15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75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53F2E4D-F3EF-C8FA-585F-CCFCB8AE6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B294AF10-68BF-7699-EB62-FFF4E257C1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3.3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 – Distribution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A453D85-5D69-041C-04AA-40B5603F56E5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7160FDA-DF43-14B0-9BE6-2313B7818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C19038-B500-1B43-6DF6-7BA0EB7D0C89}"/>
              </a:ext>
            </a:extLst>
          </p:cNvPr>
          <p:cNvSpPr txBox="1"/>
          <p:nvPr/>
        </p:nvSpPr>
        <p:spPr>
          <a:xfrm>
            <a:off x="979053" y="798254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Schéma d’architecture du cluster mongo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B6693EA-2617-51F9-D358-72BE604C6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351" y="1030629"/>
            <a:ext cx="4213123" cy="1925417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6634C5F-C277-3CA4-C2BF-4ADF2A543831}"/>
              </a:ext>
            </a:extLst>
          </p:cNvPr>
          <p:cNvSpPr txBox="1"/>
          <p:nvPr/>
        </p:nvSpPr>
        <p:spPr>
          <a:xfrm>
            <a:off x="979051" y="3003755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Tableau récapitulatif de cluster :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0B1235F-3242-8C51-D943-9D1C7823D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533436"/>
              </p:ext>
            </p:extLst>
          </p:nvPr>
        </p:nvGraphicFramePr>
        <p:xfrm>
          <a:off x="979050" y="3277623"/>
          <a:ext cx="723279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98">
                  <a:extLst>
                    <a:ext uri="{9D8B030D-6E8A-4147-A177-3AD203B41FA5}">
                      <a16:colId xmlns:a16="http://schemas.microsoft.com/office/drawing/2014/main" val="644303664"/>
                    </a:ext>
                  </a:extLst>
                </a:gridCol>
                <a:gridCol w="1808198">
                  <a:extLst>
                    <a:ext uri="{9D8B030D-6E8A-4147-A177-3AD203B41FA5}">
                      <a16:colId xmlns:a16="http://schemas.microsoft.com/office/drawing/2014/main" val="3779308491"/>
                    </a:ext>
                  </a:extLst>
                </a:gridCol>
                <a:gridCol w="1808198">
                  <a:extLst>
                    <a:ext uri="{9D8B030D-6E8A-4147-A177-3AD203B41FA5}">
                      <a16:colId xmlns:a16="http://schemas.microsoft.com/office/drawing/2014/main" val="2321895149"/>
                    </a:ext>
                  </a:extLst>
                </a:gridCol>
                <a:gridCol w="1808198">
                  <a:extLst>
                    <a:ext uri="{9D8B030D-6E8A-4147-A177-3AD203B41FA5}">
                      <a16:colId xmlns:a16="http://schemas.microsoft.com/office/drawing/2014/main" val="1381546208"/>
                    </a:ext>
                  </a:extLst>
                </a:gridCol>
              </a:tblGrid>
              <a:tr h="21233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COMPOSANT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NOM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NOM DU REPLICATSET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2285"/>
                  </a:ext>
                </a:extLst>
              </a:tr>
              <a:tr h="212336">
                <a:tc>
                  <a:txBody>
                    <a:bodyPr/>
                    <a:lstStyle/>
                    <a:p>
                      <a:r>
                        <a:rPr lang="fr-FR" sz="1000" dirty="0"/>
                        <a:t>Serveurs de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configServer1, configServer2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err="1"/>
                        <a:t>configRS</a:t>
                      </a:r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27100, 27101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91960"/>
                  </a:ext>
                </a:extLst>
              </a:tr>
              <a:tr h="212336">
                <a:tc rowSpan="2">
                  <a:txBody>
                    <a:bodyPr/>
                    <a:lstStyle/>
                    <a:p>
                      <a:r>
                        <a:rPr lang="fr-FR" sz="1000" dirty="0"/>
                        <a:t>Nœud de données (</a:t>
                      </a:r>
                      <a:r>
                        <a:rPr lang="fr-FR" sz="1000" dirty="0" err="1"/>
                        <a:t>Shards</a:t>
                      </a:r>
                      <a:r>
                        <a:rPr lang="fr-F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shard1 </a:t>
                      </a:r>
                      <a:r>
                        <a:rPr lang="fr-FR" sz="1000" i="1" dirty="0"/>
                        <a:t>(shard1_paris, shard1_lyon, shard1_arbiter)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/>
                        <a:t>shard1RS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/>
                        <a:t>27018, 27019, 27020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752903"/>
                  </a:ext>
                </a:extLst>
              </a:tr>
              <a:tr h="212336">
                <a:tc vMerge="1"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shard2 </a:t>
                      </a:r>
                      <a:r>
                        <a:rPr lang="fr-FR" sz="1000" i="1" dirty="0"/>
                        <a:t>(shard2_paris, shard2_lyon, shard2_arbiter)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/>
                        <a:t>shard2RS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/>
                        <a:t>27021, 27022, 27023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253247"/>
                  </a:ext>
                </a:extLst>
              </a:tr>
              <a:tr h="212336">
                <a:tc>
                  <a:txBody>
                    <a:bodyPr/>
                    <a:lstStyle/>
                    <a:p>
                      <a:r>
                        <a:rPr lang="fr-FR" sz="1000" dirty="0"/>
                        <a:t>Routeurs Mongos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mongos1, mongos2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27000, 27001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882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92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63954FD-F377-0A5D-DCAE-6D98E981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835A25C5-71F9-404B-2715-3090E109E6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3.3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 – Distribution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BAC22F6-4B3C-DBFF-CFB1-0A9A892543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26</a:t>
            </a:fld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3FFB6F0-5981-0E3F-EFA4-8DB303192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331553"/>
              </p:ext>
            </p:extLst>
          </p:nvPr>
        </p:nvGraphicFramePr>
        <p:xfrm>
          <a:off x="122841" y="907837"/>
          <a:ext cx="8898317" cy="375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27">
                  <a:extLst>
                    <a:ext uri="{9D8B030D-6E8A-4147-A177-3AD203B41FA5}">
                      <a16:colId xmlns:a16="http://schemas.microsoft.com/office/drawing/2014/main" val="1628563965"/>
                    </a:ext>
                  </a:extLst>
                </a:gridCol>
                <a:gridCol w="1089583">
                  <a:extLst>
                    <a:ext uri="{9D8B030D-6E8A-4147-A177-3AD203B41FA5}">
                      <a16:colId xmlns:a16="http://schemas.microsoft.com/office/drawing/2014/main" val="3067000578"/>
                    </a:ext>
                  </a:extLst>
                </a:gridCol>
                <a:gridCol w="1192801">
                  <a:extLst>
                    <a:ext uri="{9D8B030D-6E8A-4147-A177-3AD203B41FA5}">
                      <a16:colId xmlns:a16="http://schemas.microsoft.com/office/drawing/2014/main" val="4211430069"/>
                    </a:ext>
                  </a:extLst>
                </a:gridCol>
                <a:gridCol w="3387490">
                  <a:extLst>
                    <a:ext uri="{9D8B030D-6E8A-4147-A177-3AD203B41FA5}">
                      <a16:colId xmlns:a16="http://schemas.microsoft.com/office/drawing/2014/main" val="3436257400"/>
                    </a:ext>
                  </a:extLst>
                </a:gridCol>
                <a:gridCol w="2781116">
                  <a:extLst>
                    <a:ext uri="{9D8B030D-6E8A-4147-A177-3AD203B41FA5}">
                      <a16:colId xmlns:a16="http://schemas.microsoft.com/office/drawing/2014/main" val="2698341971"/>
                    </a:ext>
                  </a:extLst>
                </a:gridCol>
              </a:tblGrid>
              <a:tr h="23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Étape</a:t>
                      </a:r>
                      <a:endParaRPr lang="fr-FR" sz="10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Composant</a:t>
                      </a:r>
                      <a:endParaRPr lang="fr-FR" sz="10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Action</a:t>
                      </a:r>
                      <a:endParaRPr lang="fr-FR" sz="10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Logique</a:t>
                      </a:r>
                      <a:endParaRPr lang="fr-FR" sz="10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Résultat Attendu</a:t>
                      </a:r>
                      <a:endParaRPr lang="fr-FR" sz="10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33201644"/>
                  </a:ext>
                </a:extLst>
              </a:tr>
              <a:tr h="4743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1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Config Servers (</a:t>
                      </a:r>
                      <a:r>
                        <a:rPr lang="fr-FR" sz="800" b="1" dirty="0" err="1">
                          <a:effectLst/>
                          <a:latin typeface="+mn-lt"/>
                        </a:rPr>
                        <a:t>configRS</a:t>
                      </a:r>
                      <a:r>
                        <a:rPr lang="fr-FR" sz="800" b="1" dirty="0">
                          <a:effectLst/>
                          <a:latin typeface="+mn-lt"/>
                        </a:rPr>
                        <a:t>)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Initialisation du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replica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set de configuration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 config servers stockent les métadonnées du cluster (mapping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chunks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routing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). Réplication en 2 copies pour haute disponibilité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Replica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set 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configRS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opérationnel avec 2 membres (27100, 27101)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88064070"/>
                  </a:ext>
                </a:extLst>
              </a:tr>
              <a:tr h="30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2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 dirty="0" err="1"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b="1" dirty="0">
                          <a:effectLst/>
                          <a:latin typeface="+mn-lt"/>
                        </a:rPr>
                        <a:t> 1 (shard1RS)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Initialisation du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replica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set de données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Chaque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est un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replica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set : 1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Primary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(écritures), 1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Secondary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(réplication synchrone), 1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Arbiter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(vote sans données)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Replica set shard1RS avec 3 membres : 27018 (Primary), 27019 (Secondary), 27020 (Arbiter)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296603417"/>
                  </a:ext>
                </a:extLst>
              </a:tr>
              <a:tr h="30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3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 dirty="0" err="1"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b="1" dirty="0">
                          <a:effectLst/>
                          <a:latin typeface="+mn-lt"/>
                        </a:rPr>
                        <a:t> 2 (shard2RS)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Initialisation du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replica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set de données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Même logique que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1. Permet de distribuer les données et la charge sur 2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indépendants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Replica set shard2RS avec 3 membres : 27021 (Primary), 27022 (Secondary), 27023 (Arbiter)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013054228"/>
                  </a:ext>
                </a:extLst>
              </a:tr>
              <a:tr h="3670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4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effectLst/>
                          <a:latin typeface="+mn-lt"/>
                        </a:rPr>
                        <a:t>Mongos Routers</a:t>
                      </a:r>
                      <a:endParaRPr lang="fr-FR" sz="80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Démarrage des routeurs de requêtes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 mongos ne stockent pas de données, ils routent les requêtes vers les bons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selon le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key. 2 mongos = haute disponibilité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mongos opérationnels (27001, 27002) connectés au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configRS</a:t>
                      </a:r>
                      <a:endParaRPr lang="fr-FR" sz="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496163677"/>
                  </a:ext>
                </a:extLst>
              </a:tr>
              <a:tr h="30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5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effectLst/>
                          <a:latin typeface="+mn-lt"/>
                        </a:rPr>
                        <a:t>Ajout des Shards</a:t>
                      </a:r>
                      <a:endParaRPr lang="fr-FR" sz="80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Enregistrement des shards dans le cluster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 mongos enregistre les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dans les config servers. Configure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write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concern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{ w: "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majority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" } pour garantir la réplication avant confirmation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Cluster reconnaît 2 shards : shard1RS et shard2RS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53306331"/>
                  </a:ext>
                </a:extLst>
              </a:tr>
              <a:tr h="30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6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effectLst/>
                          <a:latin typeface="+mn-lt"/>
                        </a:rPr>
                        <a:t>Chargement des Données</a:t>
                      </a:r>
                      <a:endParaRPr lang="fr-FR" sz="80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Insertion via Python (pymongo)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 script charge les CSV Paris et Lyon via mongos. Les données sont insérées dans la collection 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listings.short_location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(non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shardée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à ce stade)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105,858 documents insérés dans la collection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283926160"/>
                  </a:ext>
                </a:extLst>
              </a:tr>
              <a:tr h="30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7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effectLst/>
                          <a:latin typeface="+mn-lt"/>
                        </a:rPr>
                        <a:t>Configuration du Sharding</a:t>
                      </a:r>
                      <a:endParaRPr lang="fr-FR" sz="80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Activation du sharding sur la collection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Index créé sur 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host_id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(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key). MongoDB découpe les données en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chunks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basés sur 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host_id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et les distribue entre shard1RS et shard2RS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Collection 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listings.short_location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shardée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Balancer actif pour distribution automatique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032792463"/>
                  </a:ext>
                </a:extLst>
              </a:tr>
              <a:tr h="30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8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effectLst/>
                          <a:latin typeface="+mn-lt"/>
                        </a:rPr>
                        <a:t>Réplication Automatique</a:t>
                      </a:r>
                      <a:endParaRPr lang="fr-FR" sz="80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Réplication intra-shard (Primary → Secondary)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Oplog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: Chaque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Primary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écrit dans son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oplog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Les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Secondaries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lisent l'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oplog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et répliquent les opérations. Réplication asynchrone mais rapide (&lt; 1 seconde)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Données synchronisées :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Primary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et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Secondary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de chaque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contiennent les mêmes données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153921575"/>
                  </a:ext>
                </a:extLst>
              </a:tr>
              <a:tr h="30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9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effectLst/>
                          <a:latin typeface="+mn-lt"/>
                        </a:rPr>
                        <a:t>Répartition Inter-Shards</a:t>
                      </a:r>
                      <a:endParaRPr lang="fr-FR" sz="80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Distribution des chunks par le balancer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 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balancer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analyse la distribution des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chunks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Si déséquilibre détecté, il déplace des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chunks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de shard1RS vers shard2RS via migration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Distribution équilibrée : ~50% des documents sur chaque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(objectif)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25340348"/>
                  </a:ext>
                </a:extLst>
              </a:tr>
              <a:tr h="4173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effectLst/>
                          <a:latin typeface="+mn-lt"/>
                        </a:rPr>
                        <a:t>10</a:t>
                      </a:r>
                      <a:endParaRPr lang="fr-FR" sz="8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effectLst/>
                          <a:latin typeface="+mn-lt"/>
                        </a:rPr>
                        <a:t>Réplication de la Migration</a:t>
                      </a:r>
                      <a:endParaRPr lang="fr-FR" sz="80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Synchronisation lors du déplacement de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chunks</a:t>
                      </a:r>
                      <a:endParaRPr lang="fr-FR" sz="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Lors d'une migration de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chunk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(ex: shard1 → shard2) : 1) Copie des données vers shard2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Primary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2) Réplication vers shard2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Secondary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3) Suppression sur shard1 après confirmation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Chunk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migré et répliqué sur le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destination avec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write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concern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r-FR" sz="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majorit</a:t>
                      </a:r>
                      <a:endParaRPr lang="fr-FR" sz="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39704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842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BF0A66A-9BAA-57A1-C266-A50AE5E9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2A6033F6-7A91-18A6-872B-E86D36D47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3.3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 – Distribution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5379DF8C-70E6-58B9-8FC9-C2B434C214E4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0488F5E-086C-5671-076E-EE5383C3C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27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ED19E8A-E809-719F-9587-84520CEF7EEF}"/>
              </a:ext>
            </a:extLst>
          </p:cNvPr>
          <p:cNvSpPr txBox="1"/>
          <p:nvPr/>
        </p:nvSpPr>
        <p:spPr>
          <a:xfrm>
            <a:off x="979053" y="798254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Schéma d’architecture du cluster mongo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7BCE8B-3C18-1554-B918-E4C97FECF22C}"/>
              </a:ext>
            </a:extLst>
          </p:cNvPr>
          <p:cNvSpPr txBox="1"/>
          <p:nvPr/>
        </p:nvSpPr>
        <p:spPr>
          <a:xfrm>
            <a:off x="979053" y="3656301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Cette architecture permet :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D5D6EAB-6D76-3863-67A8-EB67798C4D0E}"/>
              </a:ext>
            </a:extLst>
          </p:cNvPr>
          <p:cNvSpPr txBox="1"/>
          <p:nvPr/>
        </p:nvSpPr>
        <p:spPr>
          <a:xfrm>
            <a:off x="979053" y="3801443"/>
            <a:ext cx="76676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Tolérance aux pannes de site : </a:t>
            </a:r>
            <a:r>
              <a:rPr lang="fr-FR" sz="1000" dirty="0">
                <a:solidFill>
                  <a:srgbClr val="002060"/>
                </a:solidFill>
              </a:rPr>
              <a:t>Si un site complet tombe l'autre site continue de fonctionner (⚠️</a:t>
            </a:r>
            <a:r>
              <a:rPr lang="fr-FR" sz="1000" dirty="0" err="1">
                <a:solidFill>
                  <a:srgbClr val="002060"/>
                </a:solidFill>
              </a:rPr>
              <a:t>read-only</a:t>
            </a:r>
            <a:r>
              <a:rPr lang="fr-FR" sz="1000" dirty="0">
                <a:solidFill>
                  <a:srgbClr val="002060"/>
                </a:solidFill>
              </a:rPr>
              <a:t> &gt; </a:t>
            </a:r>
            <a:r>
              <a:rPr lang="fr-FR" sz="1000" b="1" dirty="0">
                <a:solidFill>
                  <a:srgbClr val="002060"/>
                </a:solidFill>
              </a:rPr>
              <a:t>plus de quorum </a:t>
            </a:r>
            <a:r>
              <a:rPr lang="fr-FR" sz="1000" dirty="0">
                <a:solidFill>
                  <a:srgbClr val="002060"/>
                </a:solidFill>
              </a:rPr>
              <a:t>entre les sites).</a:t>
            </a:r>
          </a:p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Résilience des config servers : </a:t>
            </a:r>
            <a:r>
              <a:rPr lang="fr-FR" sz="1000" dirty="0">
                <a:solidFill>
                  <a:srgbClr val="002060"/>
                </a:solidFill>
              </a:rPr>
              <a:t>Le </a:t>
            </a:r>
            <a:r>
              <a:rPr lang="fr-FR" sz="1000" dirty="0" err="1">
                <a:solidFill>
                  <a:srgbClr val="002060"/>
                </a:solidFill>
              </a:rPr>
              <a:t>replica</a:t>
            </a:r>
            <a:r>
              <a:rPr lang="fr-FR" sz="1000" dirty="0">
                <a:solidFill>
                  <a:srgbClr val="002060"/>
                </a:solidFill>
              </a:rPr>
              <a:t> set </a:t>
            </a:r>
            <a:r>
              <a:rPr lang="fr-FR" sz="1000" dirty="0" err="1">
                <a:solidFill>
                  <a:srgbClr val="002060"/>
                </a:solidFill>
              </a:rPr>
              <a:t>configRS</a:t>
            </a:r>
            <a:r>
              <a:rPr lang="fr-FR" sz="1000" dirty="0">
                <a:solidFill>
                  <a:srgbClr val="002060"/>
                </a:solidFill>
              </a:rPr>
              <a:t> peut perdre un membre et rester </a:t>
            </a:r>
            <a:r>
              <a:rPr lang="fr-FR" sz="1000" dirty="0" err="1">
                <a:solidFill>
                  <a:srgbClr val="002060"/>
                </a:solidFill>
              </a:rPr>
              <a:t>opérationne</a:t>
            </a:r>
            <a:r>
              <a:rPr lang="fr-FR" sz="1000" dirty="0">
                <a:solidFill>
                  <a:srgbClr val="002060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Localité des données :</a:t>
            </a:r>
            <a:r>
              <a:rPr lang="fr-FR" sz="1000" dirty="0">
                <a:solidFill>
                  <a:srgbClr val="002060"/>
                </a:solidFill>
              </a:rPr>
              <a:t> Chaque site peut avoir ses données locales sur son </a:t>
            </a:r>
            <a:r>
              <a:rPr lang="fr-FR" sz="1000" dirty="0" err="1">
                <a:solidFill>
                  <a:srgbClr val="002060"/>
                </a:solidFill>
              </a:rPr>
              <a:t>shard</a:t>
            </a:r>
            <a:r>
              <a:rPr lang="fr-FR" sz="1000" dirty="0">
                <a:solidFill>
                  <a:srgbClr val="002060"/>
                </a:solidFill>
              </a:rPr>
              <a:t>, réduisant la latence d'accès.</a:t>
            </a:r>
          </a:p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Lectures locales : </a:t>
            </a:r>
            <a:r>
              <a:rPr lang="fr-FR" sz="1000" dirty="0">
                <a:solidFill>
                  <a:srgbClr val="002060"/>
                </a:solidFill>
              </a:rPr>
              <a:t>Les applications peuvent lire depuis le </a:t>
            </a:r>
            <a:r>
              <a:rPr lang="fr-FR" sz="1000" dirty="0" err="1">
                <a:solidFill>
                  <a:srgbClr val="002060"/>
                </a:solidFill>
              </a:rPr>
              <a:t>shard</a:t>
            </a:r>
            <a:r>
              <a:rPr lang="fr-FR" sz="1000" dirty="0">
                <a:solidFill>
                  <a:srgbClr val="002060"/>
                </a:solidFill>
              </a:rPr>
              <a:t> le plus proche géographiquement.</a:t>
            </a:r>
          </a:p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Réduction de la bande passante inter-sites : </a:t>
            </a:r>
            <a:r>
              <a:rPr lang="fr-FR" sz="1000" dirty="0">
                <a:solidFill>
                  <a:srgbClr val="002060"/>
                </a:solidFill>
              </a:rPr>
              <a:t>Moins de trafic réseau entre les datacenter.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123A8F1-E6C4-010B-7AFD-C5310E78A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8" y="1036430"/>
            <a:ext cx="5875409" cy="254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67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2AAB51F-48C8-C4D3-3C8A-FCB13FD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E30E6433-4A25-67AA-AF1C-78B5068B58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3.3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 – Distribution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EF9921D-6CD5-6B3D-6C15-121A61810381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D3D2656-B708-2A6F-23B6-550D30DFFC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28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4D7EAA6-CD70-D838-45C9-EE64F861361A}"/>
              </a:ext>
            </a:extLst>
          </p:cNvPr>
          <p:cNvSpPr txBox="1"/>
          <p:nvPr/>
        </p:nvSpPr>
        <p:spPr>
          <a:xfrm>
            <a:off x="979053" y="798254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Résultat du script de vérification du </a:t>
            </a:r>
            <a:r>
              <a:rPr lang="fr-FR" sz="1200" u="sng" dirty="0" err="1">
                <a:solidFill>
                  <a:srgbClr val="002060"/>
                </a:solidFill>
              </a:rPr>
              <a:t>sharding</a:t>
            </a:r>
            <a:endParaRPr lang="fr-FR" sz="1200" u="sng" dirty="0">
              <a:solidFill>
                <a:srgbClr val="002060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7C2B10-A1C9-B555-562D-FAE12073A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421" y="1106830"/>
            <a:ext cx="3496983" cy="360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33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181E11F-A65F-A3B9-8E99-9C8BC1B6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F4265CCD-9F0B-1E4B-CF80-0E026E9AB3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3.3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 – Distribution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FC49E15-BC92-7103-9621-2C813F8F1213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9E4D05-E017-D173-431B-78096DCF8E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29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A846718-3B1D-BF89-A32A-587C695BBF0C}"/>
              </a:ext>
            </a:extLst>
          </p:cNvPr>
          <p:cNvSpPr txBox="1"/>
          <p:nvPr/>
        </p:nvSpPr>
        <p:spPr>
          <a:xfrm>
            <a:off x="979053" y="798254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Mécanisme de réplication :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DC91C09-6382-CE68-05DA-643A83426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296465"/>
              </p:ext>
            </p:extLst>
          </p:nvPr>
        </p:nvGraphicFramePr>
        <p:xfrm>
          <a:off x="1409064" y="1156323"/>
          <a:ext cx="6325871" cy="1325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647">
                  <a:extLst>
                    <a:ext uri="{9D8B030D-6E8A-4147-A177-3AD203B41FA5}">
                      <a16:colId xmlns:a16="http://schemas.microsoft.com/office/drawing/2014/main" val="3754148680"/>
                    </a:ext>
                  </a:extLst>
                </a:gridCol>
                <a:gridCol w="2070108">
                  <a:extLst>
                    <a:ext uri="{9D8B030D-6E8A-4147-A177-3AD203B41FA5}">
                      <a16:colId xmlns:a16="http://schemas.microsoft.com/office/drawing/2014/main" val="3873994794"/>
                    </a:ext>
                  </a:extLst>
                </a:gridCol>
                <a:gridCol w="2512116">
                  <a:extLst>
                    <a:ext uri="{9D8B030D-6E8A-4147-A177-3AD203B41FA5}">
                      <a16:colId xmlns:a16="http://schemas.microsoft.com/office/drawing/2014/main" val="3124819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Type de Réplication</a:t>
                      </a:r>
                      <a:endParaRPr lang="fr-FR" sz="10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Mécanisme</a:t>
                      </a:r>
                      <a:endParaRPr lang="fr-FR" sz="10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>
                          <a:effectLst/>
                          <a:latin typeface="+mn-lt"/>
                        </a:rPr>
                        <a:t>Garanties</a:t>
                      </a:r>
                      <a:endParaRPr lang="fr-FR" sz="1000" dirty="0"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9140004"/>
                  </a:ext>
                </a:extLst>
              </a:tr>
              <a:tr h="285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Intra-</a:t>
                      </a:r>
                      <a:r>
                        <a:rPr lang="fr-FR" sz="9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</a:t>
                      </a:r>
                      <a:r>
                        <a:rPr lang="fr-FR" sz="9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fr-FR" sz="9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Replica</a:t>
                      </a:r>
                      <a:r>
                        <a:rPr lang="fr-FR" sz="9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Set)</a:t>
                      </a:r>
                      <a:endParaRPr lang="fr-FR" sz="9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Oplog</a:t>
                      </a: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fr-FR" sz="9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heartbeat</a:t>
                      </a: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entre membres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Write </a:t>
                      </a:r>
                      <a:r>
                        <a:rPr lang="fr-FR" sz="9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concern</a:t>
                      </a: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{ w: "</a:t>
                      </a:r>
                      <a:r>
                        <a:rPr lang="fr-FR" sz="9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majority</a:t>
                      </a: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" } = confirmation après réplication sur majorité des membres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27268754"/>
                  </a:ext>
                </a:extLst>
              </a:tr>
              <a:tr h="203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Inter-</a:t>
                      </a:r>
                      <a:r>
                        <a:rPr lang="fr-FR" sz="9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Shards</a:t>
                      </a:r>
                      <a:r>
                        <a:rPr lang="fr-FR" sz="9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fr-FR" sz="9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Sharding</a:t>
                      </a:r>
                      <a:r>
                        <a:rPr lang="fr-FR" sz="9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fr-FR" sz="9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Balancer + </a:t>
                      </a:r>
                      <a:r>
                        <a:rPr lang="fr-FR" sz="9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chunk</a:t>
                      </a: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migration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Cohérence garantie via transactions distribuées et config servers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89150852"/>
                  </a:ext>
                </a:extLst>
              </a:tr>
              <a:tr h="395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Config Servers</a:t>
                      </a:r>
                      <a:endParaRPr lang="fr-FR" sz="9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Oplog standard replica set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Métadonnées répliquées en </a:t>
                      </a:r>
                      <a:r>
                        <a:rPr lang="fr-FR" sz="9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majority</a:t>
                      </a:r>
                      <a:r>
                        <a:rPr lang="fr-FR" sz="9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avant commit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68220981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34DF370C-08D3-C6AD-AE43-D10E9DACEBA4}"/>
              </a:ext>
            </a:extLst>
          </p:cNvPr>
          <p:cNvSpPr txBox="1"/>
          <p:nvPr/>
        </p:nvSpPr>
        <p:spPr>
          <a:xfrm>
            <a:off x="979053" y="2787539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Flux de Données lors d'une Écriture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45C707D-C574-1246-D679-630CC80549D3}"/>
              </a:ext>
            </a:extLst>
          </p:cNvPr>
          <p:cNvSpPr txBox="1"/>
          <p:nvPr/>
        </p:nvSpPr>
        <p:spPr>
          <a:xfrm>
            <a:off x="979053" y="2972205"/>
            <a:ext cx="73886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Application</a:t>
            </a:r>
          </a:p>
          <a:p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   ↓</a:t>
            </a:r>
          </a:p>
          <a:p>
            <a:r>
              <a:rPr lang="fr-FR" sz="1000" b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Mongos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(27001 ou 27002)</a:t>
            </a:r>
          </a:p>
          <a:p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   ↓ (consulte config servers pour </a:t>
            </a:r>
            <a:r>
              <a:rPr lang="fr-FR" sz="1000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routing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r>
              <a:rPr lang="fr-FR" sz="1000" b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Shard1RS </a:t>
            </a:r>
            <a:r>
              <a:rPr lang="fr-FR" sz="1000" b="1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Primary</a:t>
            </a:r>
            <a:r>
              <a:rPr lang="fr-FR" sz="1000" b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(27018) </a:t>
            </a:r>
            <a:r>
              <a:rPr lang="fr-FR" sz="1000" u="sng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OU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1000" b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Shard2RS </a:t>
            </a:r>
            <a:r>
              <a:rPr lang="fr-FR" sz="1000" b="1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Primary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(27021)</a:t>
            </a:r>
          </a:p>
          <a:p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   ↓ 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(écrit dans l'</a:t>
            </a:r>
            <a:r>
              <a:rPr lang="fr-FR" sz="1000" i="1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oplog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>
              <a:tabLst>
                <a:tab pos="268288" algn="l"/>
              </a:tabLst>
            </a:pP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     	→ </a:t>
            </a:r>
            <a:r>
              <a:rPr lang="fr-FR" sz="1000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Secondary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(27019 ou 27022) 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- Réplication asynchrone</a:t>
            </a:r>
          </a:p>
          <a:p>
            <a:pPr>
              <a:tabLst>
                <a:tab pos="268288" algn="l"/>
              </a:tabLst>
            </a:pP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	→ </a:t>
            </a:r>
            <a:r>
              <a:rPr lang="fr-FR" sz="1000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Arbiter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(27020 ou 27023) 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- Vote uniquement, pas de données</a:t>
            </a:r>
          </a:p>
          <a:p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   ↓</a:t>
            </a:r>
          </a:p>
          <a:p>
            <a:r>
              <a:rPr lang="fr-FR" sz="1000" b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Confirmation</a:t>
            </a:r>
            <a:r>
              <a:rPr lang="fr-FR" sz="1000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à l'application après </a:t>
            </a:r>
            <a:r>
              <a:rPr lang="fr-FR" sz="1000" u="sng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write</a:t>
            </a:r>
            <a:r>
              <a:rPr lang="fr-FR" sz="1000" u="sng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1000" u="sng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concern</a:t>
            </a:r>
            <a:r>
              <a:rPr lang="fr-FR" sz="1000" u="sng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{ w: "</a:t>
            </a:r>
            <a:r>
              <a:rPr lang="fr-FR" sz="1000" i="1" dirty="0" err="1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majority</a:t>
            </a:r>
            <a:r>
              <a:rPr lang="fr-FR" sz="1000" i="1" dirty="0">
                <a:solidFill>
                  <a:srgbClr val="002060"/>
                </a:solidFill>
                <a:ea typeface="Cascadia Code Light" panose="020B0609020000020004" pitchFamily="49" charset="0"/>
                <a:cs typeface="Cascadia Code Light" panose="020B0609020000020004" pitchFamily="49" charset="0"/>
              </a:rPr>
              <a:t>" }</a:t>
            </a:r>
          </a:p>
        </p:txBody>
      </p:sp>
    </p:spTree>
    <p:extLst>
      <p:ext uri="{BB962C8B-B14F-4D97-AF65-F5344CB8AC3E}">
        <p14:creationId xmlns:p14="http://schemas.microsoft.com/office/powerpoint/2010/main" val="3077630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4B4FD84-3197-355B-851B-367B2778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4CAABF42-6DD4-6231-CB0C-833D4C943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none" lIns="36000" tIns="36000" rIns="36000" bIns="36000" rtlCol="0" anchor="ctr" anchorCtr="0">
            <a:noAutofit/>
          </a:bodyPr>
          <a:lstStyle/>
          <a:p>
            <a:pPr algn="ctr" defTabSz="914400"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fr" sz="2500" dirty="0">
                <a:solidFill>
                  <a:srgbClr val="002060"/>
                </a:solidFill>
                <a:latin typeface="+mn-lt"/>
                <a:cs typeface="Arial"/>
              </a:rPr>
              <a:t>Partie 3.3 :</a:t>
            </a:r>
            <a:r>
              <a:rPr lang="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Architecture de la base de données – Distribution</a:t>
            </a:r>
            <a:br>
              <a:rPr lang="fr-FR" sz="25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</a:br>
            <a:r>
              <a:rPr lang="fr-FR" sz="1000" dirty="0">
                <a:solidFill>
                  <a:srgbClr val="002060"/>
                </a:solidFill>
                <a:latin typeface="+mn-lt"/>
                <a:cs typeface="Arial"/>
                <a:sym typeface="Inter"/>
              </a:rPr>
              <a:t>(incluant la connexion à un outil de business intelligence)</a:t>
            </a:r>
            <a:endParaRPr sz="2500" dirty="0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409FF943-F6BD-D7CF-14A0-BFD8740526F4}"/>
              </a:ext>
            </a:extLst>
          </p:cNvPr>
          <p:cNvSpPr/>
          <p:nvPr/>
        </p:nvSpPr>
        <p:spPr>
          <a:xfrm>
            <a:off x="383458" y="750545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fr-FR" sz="1600" dirty="0">
              <a:solidFill>
                <a:srgbClr val="002060">
                  <a:alpha val="98000"/>
                </a:srgb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2CC0E97-D89B-EE62-9830-A7E0F54F26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30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D068886-CEBA-845E-B676-E459FF17B946}"/>
              </a:ext>
            </a:extLst>
          </p:cNvPr>
          <p:cNvSpPr txBox="1"/>
          <p:nvPr/>
        </p:nvSpPr>
        <p:spPr>
          <a:xfrm>
            <a:off x="979053" y="798254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Schéma d’architecture du cluster mongo conseillé pour la production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250E6D-38CF-BDB1-DB1B-1EB4D6E02A94}"/>
              </a:ext>
            </a:extLst>
          </p:cNvPr>
          <p:cNvSpPr txBox="1"/>
          <p:nvPr/>
        </p:nvSpPr>
        <p:spPr>
          <a:xfrm>
            <a:off x="979053" y="3846161"/>
            <a:ext cx="7181721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sz="1200" u="sng" dirty="0">
                <a:solidFill>
                  <a:srgbClr val="002060"/>
                </a:solidFill>
              </a:rPr>
              <a:t>Cette architecture permet de garantir :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0A8910E-E700-E13A-CA5E-B35D8DE2CF51}"/>
              </a:ext>
            </a:extLst>
          </p:cNvPr>
          <p:cNvSpPr txBox="1"/>
          <p:nvPr/>
        </p:nvSpPr>
        <p:spPr>
          <a:xfrm>
            <a:off x="979053" y="3991303"/>
            <a:ext cx="7388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Quorum maintenu : </a:t>
            </a:r>
            <a:r>
              <a:rPr lang="fr-FR" sz="1000" dirty="0">
                <a:solidFill>
                  <a:srgbClr val="002060"/>
                </a:solidFill>
              </a:rPr>
              <a:t>2 sites + 1 </a:t>
            </a:r>
            <a:r>
              <a:rPr lang="fr-FR" sz="1000" dirty="0" err="1">
                <a:solidFill>
                  <a:srgbClr val="002060"/>
                </a:solidFill>
              </a:rPr>
              <a:t>witness</a:t>
            </a:r>
            <a:r>
              <a:rPr lang="fr-FR" sz="1000" dirty="0">
                <a:solidFill>
                  <a:srgbClr val="002060"/>
                </a:solidFill>
              </a:rPr>
              <a:t> cloud = majorité possible (quorum maintenu pour le site restant en cas de coupure)</a:t>
            </a:r>
          </a:p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Coût minimal : </a:t>
            </a:r>
            <a:r>
              <a:rPr lang="fr-FR" sz="1000" dirty="0">
                <a:solidFill>
                  <a:srgbClr val="002060"/>
                </a:solidFill>
              </a:rPr>
              <a:t>Le cloud ne stocke que des arbitres (quasi gratuit, très peu de données)</a:t>
            </a:r>
          </a:p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Haute disponibilité : </a:t>
            </a:r>
            <a:r>
              <a:rPr lang="fr-FR" sz="1000" dirty="0">
                <a:solidFill>
                  <a:srgbClr val="002060"/>
                </a:solidFill>
              </a:rPr>
              <a:t>Perte d'un site = service continue</a:t>
            </a:r>
          </a:p>
          <a:p>
            <a:pPr marL="171450" indent="-171450">
              <a:buFontTx/>
              <a:buChar char="-"/>
            </a:pPr>
            <a:r>
              <a:rPr lang="fr-FR" sz="1000" b="1" dirty="0">
                <a:solidFill>
                  <a:srgbClr val="002060"/>
                </a:solidFill>
              </a:rPr>
              <a:t>Latence faible : </a:t>
            </a:r>
            <a:r>
              <a:rPr lang="fr-FR" sz="1000" dirty="0">
                <a:solidFill>
                  <a:srgbClr val="002060"/>
                </a:solidFill>
              </a:rPr>
              <a:t>Les données restent entre vos 2 sites, le cloud sert juste d'arbitre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32760B-EDB5-9973-D99A-AFE21E3C7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085" y="1030629"/>
            <a:ext cx="4981830" cy="268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71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33065B9-72C3-7A90-9685-99AA07A5EB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31</a:t>
            </a:fld>
            <a:endParaRPr lang="fr-FR"/>
          </a:p>
        </p:txBody>
      </p:sp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757F553F-AB11-2027-8A9E-ECE7ED8FB063}"/>
              </a:ext>
            </a:extLst>
          </p:cNvPr>
          <p:cNvSpPr txBox="1">
            <a:spLocks/>
          </p:cNvSpPr>
          <p:nvPr/>
        </p:nvSpPr>
        <p:spPr>
          <a:xfrm>
            <a:off x="0" y="1545450"/>
            <a:ext cx="9144000" cy="2052600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/>
            <a:r>
              <a:rPr lang="fr-FR" b="1" dirty="0">
                <a:solidFill>
                  <a:srgbClr val="002060"/>
                </a:solidFill>
                <a:latin typeface="+mn-lt"/>
              </a:rPr>
              <a:t>THE END</a:t>
            </a:r>
            <a:br>
              <a:rPr lang="fr-FR" dirty="0">
                <a:solidFill>
                  <a:srgbClr val="002060"/>
                </a:solidFill>
                <a:latin typeface="+mn-lt"/>
              </a:rPr>
            </a:br>
            <a:r>
              <a:rPr lang="fr-FR" sz="1200" dirty="0">
                <a:solidFill>
                  <a:srgbClr val="002060"/>
                </a:solidFill>
                <a:latin typeface="+mn-lt"/>
              </a:rPr>
              <a:t>Questions ?</a:t>
            </a:r>
            <a:endParaRPr lang="fr-FR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</TotalTime>
  <Words>3260</Words>
  <Application>Microsoft Office PowerPoint</Application>
  <PresentationFormat>Affichage à l'écran (16:9)</PresentationFormat>
  <Paragraphs>457</Paragraphs>
  <Slides>31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Wingdings</vt:lpstr>
      <vt:lpstr>Calibri</vt:lpstr>
      <vt:lpstr>Arial</vt:lpstr>
      <vt:lpstr>Inter</vt:lpstr>
      <vt:lpstr>Cascadia Code Light</vt:lpstr>
      <vt:lpstr>Calibri Light</vt:lpstr>
      <vt:lpstr>Thème Office</vt:lpstr>
      <vt:lpstr>Audit de Sauvegarde Post-Crash Intégrité et Fiabilité des données</vt:lpstr>
      <vt:lpstr>Présentation PowerPoint</vt:lpstr>
      <vt:lpstr>Importation des données</vt:lpstr>
      <vt:lpstr>Importation des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Partie 2.1 : Les requêtes et leurs résultats </vt:lpstr>
      <vt:lpstr>Partie 2.1 : Les requêtes et leurs résultats </vt:lpstr>
      <vt:lpstr>Partie 2.1 : Les requêtes et leurs résultats </vt:lpstr>
      <vt:lpstr>Partie 2.1 : les requêtes et leurs résultats </vt:lpstr>
      <vt:lpstr>Partie 2.1 : Les requêtes et leurs résultats </vt:lpstr>
      <vt:lpstr>Partie 2.1 : Les requêtes et leurs résultats </vt:lpstr>
      <vt:lpstr>Partie 2.1 : Les requêtes et leurs résultats </vt:lpstr>
      <vt:lpstr>Partie 2.1 : Les requêtes et leurs résultats </vt:lpstr>
      <vt:lpstr>Partie 2.2 : Démarche pour mettre la bdd sur PowerBI  (incluant des captures d’écran du tableau de bord et du processus)</vt:lpstr>
      <vt:lpstr>Partie 2.2 : Démarche pour mettre la bdd sur PowerBI  (incluant des captures d’écran du tableau de bord et du processus)</vt:lpstr>
      <vt:lpstr>Partie 2.2 : Démarche pour mettre la bdd sur PowerBI  (incluant des captures d’écran du tableau de bord et du processus)</vt:lpstr>
      <vt:lpstr>Partie 2.2 : Démarche pour mettre la bdd sur PowerBI  (incluant des captures d’écran du tableau de bord et du processus)</vt:lpstr>
      <vt:lpstr>Partie 3.1 : Architecture de la base de données (incluant la connexion à un outil de business intelligence)</vt:lpstr>
      <vt:lpstr>Partie 3.1 : Architecture de la base de données – Réplication (incluant la connexion à un outil de business intelligence)</vt:lpstr>
      <vt:lpstr>Partie 3.2 : Architecture de la base de données – Réplication (incluant la connexion à un outil de business intelligence)</vt:lpstr>
      <vt:lpstr>Partie 3.3 : Architecture de la base de données – Distribution (incluant la connexion à un outil de business intelligence)</vt:lpstr>
      <vt:lpstr>Partie 3.3 : Architecture de la base de données – Distribution (incluant la connexion à un outil de business intelligence)</vt:lpstr>
      <vt:lpstr>Partie 3.3 : Architecture de la base de données – Distribution (incluant la connexion à un outil de business intelligence)</vt:lpstr>
      <vt:lpstr>Partie 3.3 : Architecture de la base de données – Distribution (incluant la connexion à un outil de business intelligence)</vt:lpstr>
      <vt:lpstr>Partie 3.3 : Architecture de la base de données – Distribution (incluant la connexion à un outil de business intelligence)</vt:lpstr>
      <vt:lpstr>Partie 3.3 : Architecture de la base de données – Distribution (incluant la connexion à un outil de business intelligence)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Aymeric Bailleul</cp:lastModifiedBy>
  <cp:revision>35</cp:revision>
  <dcterms:modified xsi:type="dcterms:W3CDTF">2025-11-26T08:18:31Z</dcterms:modified>
</cp:coreProperties>
</file>