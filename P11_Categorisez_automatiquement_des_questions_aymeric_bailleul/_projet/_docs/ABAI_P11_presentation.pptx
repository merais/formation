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Assistant Conversationnel RAG
pour Puls-Events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0D0D0"/>
                </a:solidFill>
              </a:rPr>
              <a:t>Comment interroger un million d’événements culturels en langage naturel 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8A8A"/>
                </a:solidFill>
              </a:rPr>
              <a:t>Aymeric Bailleul  ·  Février 2026  ·  Data Engineer — OpenClassrooms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Contexte et problématique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Le problème : la recherche classique ne suffit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Puls-Events agrège les événements culturels publics de toute la France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Source : Open Agenda — 913 818 événements au 03/02/2026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Concerts, expositions, festivals, spectacles, conférences…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Aujourd’hui : une recherche par mots-clés retourne des listes brutes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C’est à l’utilisateur de lire, trier, et comprendre les résultats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Le fossé entre la question et la réponse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« Y a-t-il des expos gratuites pour enfants à Montpellier ce weekend ? »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« Quel événement en plein air peut-on faire en famille en Occitanie en juillet ? »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La recherche par mots-clés filtre et liste. Elle ne raisonne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Contexte et problématique 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L’objectif : un assistant qui comprend et répond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Périmètre du POC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Région Occitanie — périmètre volontairement restreint pour valider la chaîne technique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Événements des 12 derniers mois + futurs → 7 960 événements pertinents retenus</a:t>
            </a:r>
          </a:p>
          <a:p>
            <a:pPr algn="l" lvl="1"/>
            <a:r>
              <a:rPr sz="1550" b="0">
                <a:solidFill>
                  <a:srgbClr val="8A8A8A"/>
                </a:solidFill>
              </a:rPr>
              <a:t>Un POC n’a pas vocation à être parfait : il prouve que l’approche est viable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Question centrale :</a:t>
            </a:r>
          </a:p>
          <a:p>
            <a:pPr algn="l" lvl="1"/>
            <a:r>
              <a:rPr sz="1550" b="0">
                <a:solidFill>
                  <a:srgbClr val="FFFFFF"/>
                </a:solidFill>
              </a:rPr>
              <a:t>Comment permettre à un utilisateur d’interroger en langage naturel</a:t>
            </a:r>
          </a:p>
          <a:p>
            <a:pPr algn="l" lvl="1"/>
            <a:r>
              <a:rPr sz="1550" b="0">
                <a:solidFill>
                  <a:srgbClr val="FFFFFF"/>
                </a:solidFill>
              </a:rPr>
              <a:t>une base d’événements et obtenir une réponse précise, contextualisée et vérifiable</a:t>
            </a:r>
          </a:p>
          <a:p>
            <a:pPr algn="l" lvl="1"/>
            <a:r>
              <a:rPr sz="1550" b="0">
                <a:solidFill>
                  <a:srgbClr val="FFFFFF"/>
                </a:solidFill>
              </a:rPr>
              <a:t>— sans que le système invente des informations ?</a:t>
            </a:r>
          </a:p>
          <a:p>
            <a:pPr algn="l"/>
            <a:r>
              <a:rPr sz="1700" b="1">
                <a:solidFill>
                  <a:srgbClr val="4CAF50"/>
                </a:solidFill>
              </a:rPr>
              <a:t>Réponse : l’architecture RAG — Retrieval-Augmented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Architecture RAG : principe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Le RAG — chercher d’abord, puis rédiger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0D0"/>
                </a:solidFill>
              </a:rPr>
              <a:t>Un LLM classique (ChatGPT…) invente parfois des réponses plausibles mais fausses : c’est une hallucination. Le RAG élimine ce risque.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03520" cy="2926080"/>
          </a:xfrm>
          <a:prstGeom prst="rect">
            <a:avLst/>
          </a:prstGeom>
          <a:solidFill>
            <a:srgbClr val="383838"/>
          </a:solidFill>
          <a:ln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A3D0"/>
                </a:solidFill>
              </a:rPr>
              <a:t>① RETRIEVAL — Chercher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On transforme la question en
empreinte numérique et on cherche
dans la base les passages
les plus proches sémantiquement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03520" cy="2926080"/>
          </a:xfrm>
          <a:prstGeom prst="rect">
            <a:avLst/>
          </a:prstGeom>
          <a:solidFill>
            <a:srgbClr val="383838"/>
          </a:solidFill>
          <a:ln>
            <a:solidFill>
              <a:srgbClr val="5BA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A3D0"/>
                </a:solidFill>
              </a:rPr>
              <a:t>② GENERATION — Rédiger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231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 LLM reçoit ces passages
comme contexte et rédige une réponse
en se basant UNIQUEMENT sur eux
— pas d’invention possible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CAF50"/>
                </a:solidFill>
              </a:rPr>
              <a:t>Ce que ça garantit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Aucune information inventée — le modèle ne peut répondre qu’avec ce qu’on lui fournit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Les réponses sont traçables : on sait quels passages ont servi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Le système dit ‘je ne sais pas’ si l’info n’existe pas dans la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Pipeline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De la donnée brute à la réponse — vue d’ensemble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2588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A3D0"/>
                </a:solidFill>
              </a:rPr>
              <a:t>Ce que fait chaque étape :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① Source : fichier Open Agenda brut (913 818 événements)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② Preprocessing : filtre géo + temporel → 7 960 utiles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③ Chunking : découpage en blocs de texte de taille fixe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④ Vectorisation : chaque bloc → empreinte 1024D (Mistral)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⑤ FAISS : stockage de toutes les empreintes (40.94 MB)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⑥ RAG : recherche + génération de la réponse</a:t>
            </a:r>
          </a:p>
          <a:p>
            <a:pPr algn="l" lvl="1"/>
            <a:r>
              <a:rPr sz="1350" b="0">
                <a:solidFill>
                  <a:srgbClr val="D0D0D0"/>
                </a:solidFill>
              </a:rPr>
              <a:t>⑦ Interface Streamlit + évaluation Ragas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Choix techniques : FAISS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La bibliothèque de recherche vectorielle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FAISS (Meta) : quand l’utilisateur pose une question, on la transforme en vecteur et FAISS trouve en quelques ms les passages sémantiquement les plus proches dans la base.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299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428"/>
                <a:gridCol w="4354285"/>
                <a:gridCol w="435428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FAISS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Alternatives (Chroma, Weaviate)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Déploiement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Fichier .bin, zéro serveur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Service dédié requis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Recherche exacte &lt; 1ms / 10 480 vecteurs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Overkill &lt; 100K vecteurs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Intégration LangChain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FAISS.load_local() natif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Coût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Gratuit, open-source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Parfois payant en cloud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En chiffres : index de 40.94 MB  ·  créé en 0.39 sec  ·  requête en &lt; 1 milliseconde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Choix techniques : Mistral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Un seul fournisseur, trois rôles distincts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Utiliser un seul fournisseur garantit la cohérence : le modèle qui indexe les textes est le même que celui qui comprend les questions — les vecteurs sont comparables.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3736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0"/>
                <a:gridCol w="3333750"/>
                <a:gridCol w="47625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Rôle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Ce qu’il fait concrètement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Transformer le texte en vecteur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mistral-embed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Convertit chaque bloc en 1024 nombres qui encodent son sens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Générer la réponse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mistral-small-latest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Lit les passages récupérés et rédige une réponse en français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Évaluer la qualité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mistral-large-latest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Joue le rôle de juge pour noter les réponses générées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Pattern : Producteur léger / Juge lourd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On utilise un modèle économique pour produire des réponses en continu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On réserve le modèle premium — plus coûteux — uniquement pour l’évaluation ponctuelle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Méthodologie : pré-processing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De 913 818 à 7 960 événements exploitables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8A8A"/>
                </a:solidFill>
              </a:rPr>
              <a:t>Pourquoi filtrer ? Indexer un million d’événements nationaux pour répondre sur l’Occitanie = du bruit inutile et des coûts API élevés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① Filtre géographique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Ne conserver que les événements Occitanie  →  89 491 événements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② Filtre temporel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Éliminer les événements terminés depuis &gt; 1 an, garder le futur  →  7 960 événements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③ Nettoyage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Colonnes avec &gt; 70 % valeurs manquantes supprimées, balises HTML retirées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Champ texte construit par événement (text_for_rag)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Titre | Description | Détails | Mots-clés | Lieu</a:t>
            </a:r>
          </a:p>
          <a:p>
            <a:pPr algn="l" lvl="1"/>
            <a:r>
              <a:rPr sz="1550" b="0">
                <a:solidFill>
                  <a:srgbClr val="8A8A8A"/>
                </a:solidFill>
              </a:rPr>
              <a:t>La séparation | aide le LLM à distinguer les champs dans ses réponses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Méthodologie : chunking &amp; vectorisation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Découper, transformer, indexer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Un LLM ne peut pas lire un texte trop long d’un coup. On découpe en blocs (chunks) avec chevauchement pour ne pas couper une information à mi-phrase.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59435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105"/>
                <a:gridCol w="1564105"/>
                <a:gridCol w="2815389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Paramètre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Ce que ça signifie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Taille d’un bloc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250 tokens (~180 mots)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Assez court pour être précis, assez long pour avoir du sens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Chevauchement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75 tokens (30 %)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Les 75 derniers tokens d’un bloc = les 75 premiers du suivant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10 480 blocs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En moyenne 1.31 bloc par événement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Vectorisation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mistral-embed : chaque bloc → 1024 nombres encodant son sens</a:t>
            </a:r>
          </a:p>
          <a:p>
            <a:pPr algn="l" lvl="1"/>
            <a:r>
              <a:rPr sz="1550" b="0">
                <a:solidFill>
                  <a:srgbClr val="8A8A8A"/>
                </a:solidFill>
              </a:rPr>
              <a:t>Deux textes similaires auront des vecteurs proches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Durée totale : ~4 min  ·  fichier : 83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Retriever MMR — éviter les répétitions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La recherche simple retournerait plusieurs blocs du même événement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MMR sélectionne des blocs pertinents ET diversifiés (70 % pertinence / 30 % nouveauté)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Résultats Ragas : métriques globales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Évaluation objective — comment mesurer un système RAG 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Ragas utilise un LLM juge (mistral-large-latest) pour noter automatiquement les réponses selon 4 axes. Protocole : 5 questions représentatives.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114299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8695"/>
                <a:gridCol w="1987826"/>
                <a:gridCol w="596347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Ce que ça mesure en clair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faithfulness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0.764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Les réponses s’appuient-elles vraiment sur les passages récupérés ? (pas d’invention)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answer_relevancy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La réponse répond-elle bien à la question posée ?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context_precision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0.700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Les passages récupérés sont-ils bien tous utiles ? (peu de bruit)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context_recall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0.583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A-t-on récupéré toutes les informations nécessaires pour répondre ?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CAF50"/>
                </a:solidFill>
              </a:rPr>
              <a:t>Point fort : answer_relevancy = 0.910 — le LLM formule des réponses de qualité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Point faible : context_recall = 0.583 — on ne récupère pas toujours tous les passages utiles avec 10 blocs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Résultats Ragas : analyse par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5454"/>
                <a:gridCol w="1558636"/>
                <a:gridCol w="1558636"/>
                <a:gridCol w="1558636"/>
                <a:gridCol w="155863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faith.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ans_rel.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ctx_prec.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ctx_rec.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Expositions à Montpellier ?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0.429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0.895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0.250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Spectacles enfants Occitanie ?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0.813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0.333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Festivals musique été Occitanie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0.857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0.921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Carcassonne ce weekend ?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0.870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0.922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0.667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Événements plein air Occitanie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0.852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0.903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0.667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Cas intéressant — Festivals musique : context_precision=0 mais context_recall=1.0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L’info était bien dans la base — mais le MMR a trop diversifié sur cette requête trop générale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Leçon : les requêtes sans critère précis de lieu ou de date sont plus difficiles à traiter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Démo : exemples de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Deux cas réels — dans le périmètre et hors périmètre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A3D0"/>
                </a:solidFill>
              </a:rPr>
              <a:t>❓ Cas 1 — « Y a-t-il des expositions à Montpellier ? 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1188720"/>
          </a:xfrm>
          <a:prstGeom prst="rect">
            <a:avLst/>
          </a:prstGeom>
          <a:solidFill>
            <a:srgbClr val="383838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Oui, il y a plusieurs expositions à Montpellier. L’exposition Montpellier, regarder la ville autrement est accessible le 20 septembre 2025. L’exposition Regards sur l’opéra présente une cinquantaine de dessins d’étudiants depuis le 10 mai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06E30"/>
                </a:solidFill>
              </a:rPr>
              <a:t>❓ Cas 2 — « Concerts à Paris ? 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188720"/>
          </a:xfrm>
          <a:prstGeom prst="rect">
            <a:avLst/>
          </a:prstGeom>
          <a:solidFill>
            <a:srgbClr val="383838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Je n’ai pas d’informations sur des concerts à Paris dans ma base de données. Mon périmètre est limité aux événements de la région Occitanie.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Cas 1 : le système cite des événements réels avec dates précises, tirés directement de la 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Cas 2 : le système ne cherche pas à inventer — il reconnaît ses limites et le signale.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Interface utilisateur —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Un chat dans le navigateur, sans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Ce qu’on a construit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Interface de type chat accessible dans le navigateur (localhost:8501)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Construite avec Streamlit — framework Python pour interfaces data science</a:t>
            </a:r>
          </a:p>
          <a:p>
            <a:pPr algn="l" lvl="1"/>
            <a:r>
              <a:rPr sz="1550" b="0">
                <a:solidFill>
                  <a:srgbClr val="8A8A8A"/>
                </a:solidFill>
              </a:rPr>
              <a:t>Aucune installation requise côté utilisateur final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Fonctionnalités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Zone de saisie libre en langage naturel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Historique de la conversation durant la session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Réponse en quelques secondes, ancrée dans les données de la base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Lancement : streamlit run src/rag/app.py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Questions de démo suggérées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① « Y a-t-il des spectacles pour enfants en Occitanie ? »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② « Que se passe-t-il à Carcassonne ce weekend ? »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③ « Concerts à Paris ? »  → test hors périmètre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Limitations et améliorations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Ce POC a des limites — et c’est 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0D0"/>
                </a:solidFill>
              </a:rPr>
              <a:t>Un POC sert à valider une approche avant d’investir. Les limitations identifiées sont des orientations pour la suite, pas des échecs.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0"/>
                <a:gridCol w="3810000"/>
                <a:gridCol w="40005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Limitation actuelle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Impact réel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BA3D0"/>
                          </a:solidFill>
                        </a:rPr>
                        <a:t>Piste d’amélioration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Données figées au 03/02/2026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Les nouveaux événements n’apparaissent pas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Pipeline incrémental hebdomadaire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context_recall = 0.583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Infos manquantes sur requêtes larges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Passer k à 15-20, filtres metadata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Pas de mémoire entre questions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Chaque question est indépendante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Historique LangChain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Périmètre Occitanie uniquement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Requêtes hors région non traitées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Partitionnement FAISS par région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Dépendance API Mistral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Pas de mode hors-ligne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Cache des questions récurrentes</a:t>
                      </a:r>
                    </a:p>
                  </a:txBody>
                  <a:tcPr>
                    <a:solidFill>
                      <a:srgbClr val="3838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</a:rPr>
              <a:t>Long terme : base vectorielle gérée (Weaviate/Pinecone)  ·  Fine-tuning embeddings  ·  Interface multimodale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BA3D0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Bilan — ce que ce POC prouve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A3D0"/>
                </a:solidFill>
              </a:rPr>
              <a:t>Ce que nous avons construit et validé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Une chaîne complète : Open Agenda brut → indexation vectorielle → interface chat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Un système évalué quantitativement — pas seulement une démo qui a l’air de marcher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Une architecture pragmatique : aucun serveur supplémentaire, reproductible depuis le README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Les trois résultats clés :</a:t>
            </a:r>
          </a:p>
          <a:p>
            <a:pPr algn="l" lvl="1"/>
            <a:r>
              <a:rPr sz="1550" b="0">
                <a:solidFill>
                  <a:srgbClr val="4CAF50"/>
                </a:solidFill>
              </a:rPr>
              <a:t>✅  answer_relevancy = 0.910 — réponses bien adaptées aux questions</a:t>
            </a:r>
          </a:p>
          <a:p>
            <a:pPr algn="l" lvl="1"/>
            <a:r>
              <a:rPr sz="1550" b="0">
                <a:solidFill>
                  <a:srgbClr val="4CAF50"/>
                </a:solidFill>
              </a:rPr>
              <a:t>✅  faithfulness = 0.764 — le système ne fabrique pas d’informations</a:t>
            </a:r>
          </a:p>
          <a:p>
            <a:pPr algn="l" lvl="1"/>
            <a:r>
              <a:rPr sz="1550" b="0">
                <a:solidFill>
                  <a:srgbClr val="4CAF50"/>
                </a:solidFill>
              </a:rPr>
              <a:t>✅  Stack LangChain + FAISS + Mistral AI : déployable sans infrastructure lourde</a:t>
            </a:r>
          </a:p>
          <a:p>
            <a:pPr algn="l"/>
            <a:r>
              <a:rPr sz="1700" b="1">
                <a:solidFill>
                  <a:srgbClr val="5BA3D0"/>
                </a:solidFill>
              </a:rPr>
              <a:t>La prochaine étape naturelle :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Passer d’un snapshot statique à un pipeline de mises à jour incrémentales</a:t>
            </a:r>
          </a:p>
          <a:p>
            <a:pPr algn="l" lvl="1"/>
            <a:r>
              <a:rPr sz="1550" b="0">
                <a:solidFill>
                  <a:srgbClr val="D0D0D0"/>
                </a:solidFill>
              </a:rPr>
              <a:t>Étendre le périmètre géographique progressivement vers le niveau 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36576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</a:rPr>
              <a:t>Aymeric Bailleul  ·  P11 Data Engineer  ·  OpenClassrooms  ·  Février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