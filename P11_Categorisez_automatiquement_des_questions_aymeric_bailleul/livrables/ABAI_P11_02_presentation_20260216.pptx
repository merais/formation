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57" r:id="rId4"/>
    <p:sldId id="260" r:id="rId5"/>
    <p:sldId id="259"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85C6"/>
    <a:srgbClr val="262626"/>
    <a:srgbClr val="459DE0"/>
    <a:srgbClr val="78B8E8"/>
    <a:srgbClr val="16537E"/>
    <a:srgbClr val="D54209"/>
    <a:srgbClr val="8D0000"/>
    <a:srgbClr val="F789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5750" autoAdjust="0"/>
  </p:normalViewPr>
  <p:slideViewPr>
    <p:cSldViewPr snapToGrid="0">
      <p:cViewPr varScale="1">
        <p:scale>
          <a:sx n="133" d="100"/>
          <a:sy n="133" d="100"/>
        </p:scale>
        <p:origin x="122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C4A0D-7723-4A92-ABBB-96643D195969}" type="datetimeFigureOut">
              <a:rPr lang="fr-FR" smtClean="0"/>
              <a:t>25/02/2026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D366D7-E8A7-4CA3-BE39-7EDDC3999B12}" type="slidenum">
              <a:rPr lang="fr-FR" smtClean="0"/>
              <a:t>‹N°›</a:t>
            </a:fld>
            <a:endParaRPr lang="fr-FR"/>
          </a:p>
        </p:txBody>
      </p:sp>
    </p:spTree>
    <p:extLst>
      <p:ext uri="{BB962C8B-B14F-4D97-AF65-F5344CB8AC3E}">
        <p14:creationId xmlns:p14="http://schemas.microsoft.com/office/powerpoint/2010/main" val="1408699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1</a:t>
            </a:fld>
            <a:endParaRPr lang="fr-FR"/>
          </a:p>
        </p:txBody>
      </p:sp>
    </p:spTree>
    <p:extLst>
      <p:ext uri="{BB962C8B-B14F-4D97-AF65-F5344CB8AC3E}">
        <p14:creationId xmlns:p14="http://schemas.microsoft.com/office/powerpoint/2010/main" val="3998478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2</a:t>
            </a:fld>
            <a:endParaRPr lang="fr-FR"/>
          </a:p>
        </p:txBody>
      </p:sp>
    </p:spTree>
    <p:extLst>
      <p:ext uri="{BB962C8B-B14F-4D97-AF65-F5344CB8AC3E}">
        <p14:creationId xmlns:p14="http://schemas.microsoft.com/office/powerpoint/2010/main" val="20859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u="none" dirty="0">
                <a:solidFill>
                  <a:schemeClr val="bg1"/>
                </a:solidFill>
              </a:rPr>
              <a:t>1- </a:t>
            </a:r>
            <a:r>
              <a:rPr lang="fr-FR" b="1" i="0" u="none" dirty="0">
                <a:solidFill>
                  <a:schemeClr val="bg1"/>
                </a:solidFill>
              </a:rPr>
              <a:t>Valider la chaîne RAG de bout en bout</a:t>
            </a:r>
            <a:r>
              <a:rPr lang="fr-FR" b="0" i="0" u="none" dirty="0">
                <a:solidFill>
                  <a:schemeClr val="bg1"/>
                </a:solidFill>
              </a:rPr>
              <a:t> : De l'ingestion des données Open Agenda jusqu'à la génération d'une réponse en langage naturel.</a:t>
            </a:r>
          </a:p>
          <a:p>
            <a:r>
              <a:rPr lang="fr-FR" b="0" i="0" u="none" dirty="0">
                <a:solidFill>
                  <a:schemeClr val="bg1"/>
                </a:solidFill>
              </a:rPr>
              <a:t>2- </a:t>
            </a:r>
            <a:r>
              <a:rPr lang="fr-FR" b="1" i="0" u="none" dirty="0">
                <a:solidFill>
                  <a:schemeClr val="bg1"/>
                </a:solidFill>
              </a:rPr>
              <a:t>Démontrer la pertinence du </a:t>
            </a:r>
            <a:r>
              <a:rPr lang="fr-FR" b="1" i="0" u="none" dirty="0" err="1">
                <a:solidFill>
                  <a:schemeClr val="bg1"/>
                </a:solidFill>
              </a:rPr>
              <a:t>retrieval</a:t>
            </a:r>
            <a:r>
              <a:rPr lang="fr-FR" b="1" i="0" u="none" dirty="0">
                <a:solidFill>
                  <a:schemeClr val="bg1"/>
                </a:solidFill>
              </a:rPr>
              <a:t> vectoriel </a:t>
            </a:r>
            <a:r>
              <a:rPr lang="fr-FR" b="0" i="0" u="none" dirty="0">
                <a:solidFill>
                  <a:schemeClr val="bg1"/>
                </a:solidFill>
              </a:rPr>
              <a:t>: Indexer les 7 960 événements de l’Occitanie dans FAISS et retrouver les passages les plus pertinents.</a:t>
            </a:r>
          </a:p>
          <a:p>
            <a:r>
              <a:rPr lang="fr-FR" b="0" i="0" u="none" dirty="0">
                <a:solidFill>
                  <a:schemeClr val="bg1"/>
                </a:solidFill>
              </a:rPr>
              <a:t>3- </a:t>
            </a:r>
            <a:r>
              <a:rPr lang="fr-FR" b="1" i="0" u="none" dirty="0">
                <a:solidFill>
                  <a:schemeClr val="bg1"/>
                </a:solidFill>
              </a:rPr>
              <a:t>Évaluer la qualité des réponses générées </a:t>
            </a:r>
            <a:r>
              <a:rPr lang="fr-FR" b="0" i="0" u="none" dirty="0">
                <a:solidFill>
                  <a:schemeClr val="bg1"/>
                </a:solidFill>
              </a:rPr>
              <a:t>: Mesurer quantitativement les performances via le </a:t>
            </a:r>
            <a:r>
              <a:rPr lang="fr-FR" b="0" i="0" u="none" dirty="0" err="1">
                <a:solidFill>
                  <a:schemeClr val="bg1"/>
                </a:solidFill>
              </a:rPr>
              <a:t>framework</a:t>
            </a:r>
            <a:r>
              <a:rPr lang="fr-FR" b="0" i="0" u="none" dirty="0">
                <a:solidFill>
                  <a:schemeClr val="bg1"/>
                </a:solidFill>
              </a:rPr>
              <a:t> Ragas </a:t>
            </a:r>
            <a:r>
              <a:rPr lang="fr-FR" sz="800" b="0" i="0" u="none" dirty="0">
                <a:solidFill>
                  <a:schemeClr val="bg1"/>
                </a:solidFill>
              </a:rPr>
              <a:t>(</a:t>
            </a:r>
            <a:r>
              <a:rPr lang="fr-FR" sz="800" b="0" i="0" u="none" dirty="0" err="1">
                <a:solidFill>
                  <a:schemeClr val="bg1"/>
                </a:solidFill>
              </a:rPr>
              <a:t>faithfulness</a:t>
            </a:r>
            <a:r>
              <a:rPr lang="fr-FR" sz="800" b="0" i="0" u="none" dirty="0">
                <a:solidFill>
                  <a:schemeClr val="bg1"/>
                </a:solidFill>
              </a:rPr>
              <a:t>, </a:t>
            </a:r>
            <a:r>
              <a:rPr lang="fr-FR" sz="800" b="0" i="0" u="none" dirty="0" err="1">
                <a:solidFill>
                  <a:schemeClr val="bg1"/>
                </a:solidFill>
              </a:rPr>
              <a:t>answer_relevancy</a:t>
            </a:r>
            <a:r>
              <a:rPr lang="fr-FR" sz="800" b="0" i="0" u="none" dirty="0">
                <a:solidFill>
                  <a:schemeClr val="bg1"/>
                </a:solidFill>
              </a:rPr>
              <a:t>, </a:t>
            </a:r>
            <a:r>
              <a:rPr lang="fr-FR" sz="800" b="0" i="0" u="none" dirty="0" err="1">
                <a:solidFill>
                  <a:schemeClr val="bg1"/>
                </a:solidFill>
              </a:rPr>
              <a:t>context_precision</a:t>
            </a:r>
            <a:r>
              <a:rPr lang="fr-FR" sz="800" b="0" i="0" u="none" dirty="0">
                <a:solidFill>
                  <a:schemeClr val="bg1"/>
                </a:solidFill>
              </a:rPr>
              <a:t>, </a:t>
            </a:r>
            <a:r>
              <a:rPr lang="fr-FR" sz="800" b="0" i="0" u="none" dirty="0" err="1">
                <a:solidFill>
                  <a:schemeClr val="bg1"/>
                </a:solidFill>
              </a:rPr>
              <a:t>context_recall</a:t>
            </a:r>
            <a:r>
              <a:rPr lang="fr-FR" sz="800" b="0" i="0" u="none" dirty="0">
                <a:solidFill>
                  <a:schemeClr val="bg1"/>
                </a:solidFill>
              </a:rPr>
              <a:t>).</a:t>
            </a:r>
          </a:p>
          <a:p>
            <a:r>
              <a:rPr lang="fr-FR" b="0" i="0" u="none" dirty="0">
                <a:solidFill>
                  <a:schemeClr val="bg1"/>
                </a:solidFill>
              </a:rPr>
              <a:t>4- </a:t>
            </a:r>
            <a:r>
              <a:rPr lang="fr-FR" b="1" i="0" u="none" dirty="0">
                <a:solidFill>
                  <a:schemeClr val="bg1"/>
                </a:solidFill>
              </a:rPr>
              <a:t>Vérifier la robustesse hors périmètre </a:t>
            </a:r>
            <a:r>
              <a:rPr lang="fr-FR" b="0" i="0" u="none" dirty="0">
                <a:solidFill>
                  <a:schemeClr val="bg1"/>
                </a:solidFill>
              </a:rPr>
              <a:t>: S'assurer que le système refuse de répondre sur des données absentes de la base </a:t>
            </a:r>
            <a:r>
              <a:rPr lang="fr-FR" sz="800" b="0" i="0" u="none" dirty="0">
                <a:solidFill>
                  <a:schemeClr val="bg1"/>
                </a:solidFill>
              </a:rPr>
              <a:t>(ex : événements hors Occitanie).</a:t>
            </a:r>
          </a:p>
          <a:p>
            <a:r>
              <a:rPr lang="fr-FR" b="0" i="0" u="none" dirty="0">
                <a:solidFill>
                  <a:schemeClr val="bg1"/>
                </a:solidFill>
              </a:rPr>
              <a:t>5- </a:t>
            </a:r>
            <a:r>
              <a:rPr lang="fr-FR" b="1" i="0" u="none" dirty="0">
                <a:solidFill>
                  <a:schemeClr val="bg1"/>
                </a:solidFill>
              </a:rPr>
              <a:t>Produire une base technique reproductible </a:t>
            </a:r>
            <a:r>
              <a:rPr lang="fr-FR" b="0" i="0" u="none" dirty="0">
                <a:solidFill>
                  <a:schemeClr val="bg1"/>
                </a:solidFill>
              </a:rPr>
              <a:t>:  Stack sans infrastructure serveur </a:t>
            </a:r>
            <a:r>
              <a:rPr lang="fr-FR" sz="800" b="0" i="0" u="none" dirty="0">
                <a:solidFill>
                  <a:schemeClr val="bg1"/>
                </a:solidFill>
              </a:rPr>
              <a:t>(</a:t>
            </a:r>
            <a:r>
              <a:rPr lang="fr-FR" sz="800" b="0" i="0" u="none" dirty="0" err="1">
                <a:solidFill>
                  <a:schemeClr val="bg1"/>
                </a:solidFill>
              </a:rPr>
              <a:t>LangChain</a:t>
            </a:r>
            <a:r>
              <a:rPr lang="fr-FR" sz="800" b="0" i="0" u="none" dirty="0">
                <a:solidFill>
                  <a:schemeClr val="bg1"/>
                </a:solidFill>
              </a:rPr>
              <a:t> + FAISS + Mistral AI)</a:t>
            </a:r>
            <a:r>
              <a:rPr lang="fr-FR" b="0" i="0" u="none" dirty="0">
                <a:solidFill>
                  <a:schemeClr val="bg1"/>
                </a:solidFill>
              </a:rPr>
              <a:t>, déployable par un tiers à partir du README.</a:t>
            </a:r>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3</a:t>
            </a:fld>
            <a:endParaRPr lang="fr-FR"/>
          </a:p>
        </p:txBody>
      </p:sp>
    </p:spTree>
    <p:extLst>
      <p:ext uri="{BB962C8B-B14F-4D97-AF65-F5344CB8AC3E}">
        <p14:creationId xmlns:p14="http://schemas.microsoft.com/office/powerpoint/2010/main" val="304012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DC897-D7E9-7734-0A11-53AC19373C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413B919-E097-BCA0-1E71-18D882D7C2E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ECE6FB-F9BD-85A9-0C95-C61FAC016786}"/>
              </a:ext>
            </a:extLst>
          </p:cNvPr>
          <p:cNvSpPr>
            <a:spLocks noGrp="1"/>
          </p:cNvSpPr>
          <p:nvPr>
            <p:ph type="body" idx="1"/>
          </p:nvPr>
        </p:nvSpPr>
        <p:spPr/>
        <p:txBody>
          <a:bodyPr/>
          <a:lstStyle/>
          <a:p>
            <a:r>
              <a:rPr lang="fr-FR" sz="1200" b="0" kern="1200" dirty="0">
                <a:solidFill>
                  <a:schemeClr val="tx1"/>
                </a:solidFill>
                <a:effectLst/>
                <a:latin typeface="+mn-lt"/>
                <a:ea typeface="+mn-ea"/>
                <a:cs typeface="+mn-cs"/>
              </a:rPr>
              <a:t>1. </a:t>
            </a:r>
            <a:r>
              <a:rPr lang="fr-FR" sz="1200" b="1" kern="1200" dirty="0">
                <a:solidFill>
                  <a:schemeClr val="tx1"/>
                </a:solidFill>
                <a:effectLst/>
                <a:latin typeface="+mn-lt"/>
                <a:ea typeface="+mn-ea"/>
                <a:cs typeface="+mn-cs"/>
              </a:rPr>
              <a:t>**Source**</a:t>
            </a:r>
            <a:r>
              <a:rPr lang="fr-FR" sz="1200" b="0" kern="1200" dirty="0">
                <a:solidFill>
                  <a:schemeClr val="tx1"/>
                </a:solidFill>
                <a:effectLst/>
                <a:latin typeface="+mn-lt"/>
                <a:ea typeface="+mn-ea"/>
                <a:cs typeface="+mn-cs"/>
              </a:rPr>
              <a:t> : on part du fichier Open Agenda brut (913 818 événements au format Parquet)</a:t>
            </a:r>
          </a:p>
          <a:p>
            <a:r>
              <a:rPr lang="fr-FR" sz="1200" b="0" kern="1200" dirty="0">
                <a:solidFill>
                  <a:schemeClr val="tx1"/>
                </a:solidFill>
                <a:effectLst/>
                <a:latin typeface="+mn-lt"/>
                <a:ea typeface="+mn-ea"/>
                <a:cs typeface="+mn-cs"/>
              </a:rPr>
              <a:t>2.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Preprocessing</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on filtre géographiquement et temporellement → 7 960 événements utiles</a:t>
            </a:r>
          </a:p>
          <a:p>
            <a:r>
              <a:rPr lang="fr-FR" sz="1200" b="0" kern="1200" dirty="0">
                <a:solidFill>
                  <a:schemeClr val="tx1"/>
                </a:solidFill>
                <a:effectLst/>
                <a:latin typeface="+mn-lt"/>
                <a:ea typeface="+mn-ea"/>
                <a:cs typeface="+mn-cs"/>
              </a:rPr>
              <a:t>3.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Chunking</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chaque événement est découpé en petits blocs de texte de taille fixe</a:t>
            </a:r>
          </a:p>
          <a:p>
            <a:r>
              <a:rPr lang="fr-FR" sz="1200" b="0" kern="1200" dirty="0">
                <a:solidFill>
                  <a:schemeClr val="tx1"/>
                </a:solidFill>
                <a:effectLst/>
                <a:latin typeface="+mn-lt"/>
                <a:ea typeface="+mn-ea"/>
                <a:cs typeface="+mn-cs"/>
              </a:rPr>
              <a:t>4. </a:t>
            </a:r>
            <a:r>
              <a:rPr lang="fr-FR" sz="1200" b="1" kern="1200" dirty="0">
                <a:solidFill>
                  <a:schemeClr val="tx1"/>
                </a:solidFill>
                <a:effectLst/>
                <a:latin typeface="+mn-lt"/>
                <a:ea typeface="+mn-ea"/>
                <a:cs typeface="+mn-cs"/>
              </a:rPr>
              <a:t>**Vectorisation**</a:t>
            </a:r>
            <a:r>
              <a:rPr lang="fr-FR" sz="1200" b="0" kern="1200" dirty="0">
                <a:solidFill>
                  <a:schemeClr val="tx1"/>
                </a:solidFill>
                <a:effectLst/>
                <a:latin typeface="+mn-lt"/>
                <a:ea typeface="+mn-ea"/>
                <a:cs typeface="+mn-cs"/>
              </a:rPr>
              <a:t> : chaque bloc est transformé en empreinte numérique (vecteur 1024D) via Mistral</a:t>
            </a:r>
          </a:p>
          <a:p>
            <a:r>
              <a:rPr lang="fr-FR" sz="1200" b="0" kern="1200" dirty="0">
                <a:solidFill>
                  <a:schemeClr val="tx1"/>
                </a:solidFill>
                <a:effectLst/>
                <a:latin typeface="+mn-lt"/>
                <a:ea typeface="+mn-ea"/>
                <a:cs typeface="+mn-cs"/>
              </a:rPr>
              <a:t>5. </a:t>
            </a:r>
            <a:r>
              <a:rPr lang="fr-FR" sz="1200" b="1" kern="1200" dirty="0">
                <a:solidFill>
                  <a:schemeClr val="tx1"/>
                </a:solidFill>
                <a:effectLst/>
                <a:latin typeface="+mn-lt"/>
                <a:ea typeface="+mn-ea"/>
                <a:cs typeface="+mn-cs"/>
              </a:rPr>
              <a:t>**Index FAISS**</a:t>
            </a:r>
            <a:r>
              <a:rPr lang="fr-FR" sz="1200" b="0" kern="1200" dirty="0">
                <a:solidFill>
                  <a:schemeClr val="tx1"/>
                </a:solidFill>
                <a:effectLst/>
                <a:latin typeface="+mn-lt"/>
                <a:ea typeface="+mn-ea"/>
                <a:cs typeface="+mn-cs"/>
              </a:rPr>
              <a:t> : toutes les empreintes sont stockées dans un index de recherche rapide (40.94 MB)</a:t>
            </a:r>
          </a:p>
          <a:p>
            <a:r>
              <a:rPr lang="fr-FR" sz="1200" b="0" kern="1200" dirty="0">
                <a:solidFill>
                  <a:schemeClr val="tx1"/>
                </a:solidFill>
                <a:effectLst/>
                <a:latin typeface="+mn-lt"/>
                <a:ea typeface="+mn-ea"/>
                <a:cs typeface="+mn-cs"/>
              </a:rPr>
              <a:t>6. </a:t>
            </a:r>
            <a:r>
              <a:rPr lang="fr-FR" sz="1200" b="1" kern="1200" dirty="0">
                <a:solidFill>
                  <a:schemeClr val="tx1"/>
                </a:solidFill>
                <a:effectLst/>
                <a:latin typeface="+mn-lt"/>
                <a:ea typeface="+mn-ea"/>
                <a:cs typeface="+mn-cs"/>
              </a:rPr>
              <a:t>**RAG**</a:t>
            </a:r>
            <a:r>
              <a:rPr lang="fr-FR" sz="1200" b="0" kern="1200" dirty="0">
                <a:solidFill>
                  <a:schemeClr val="tx1"/>
                </a:solidFill>
                <a:effectLst/>
                <a:latin typeface="+mn-lt"/>
                <a:ea typeface="+mn-ea"/>
                <a:cs typeface="+mn-cs"/>
              </a:rPr>
              <a:t> : à chaque question, on cherche les blocs les plus pertinents, puis le LLM rédige la réponse</a:t>
            </a:r>
          </a:p>
          <a:p>
            <a:r>
              <a:rPr lang="fr-FR" sz="1200" b="0" kern="1200" dirty="0">
                <a:solidFill>
                  <a:schemeClr val="tx1"/>
                </a:solidFill>
                <a:effectLst/>
                <a:latin typeface="+mn-lt"/>
                <a:ea typeface="+mn-ea"/>
                <a:cs typeface="+mn-cs"/>
              </a:rPr>
              <a:t>7. </a:t>
            </a:r>
            <a:r>
              <a:rPr lang="fr-FR" sz="1200" b="1" kern="1200" dirty="0">
                <a:solidFill>
                  <a:schemeClr val="tx1"/>
                </a:solidFill>
                <a:effectLst/>
                <a:latin typeface="+mn-lt"/>
                <a:ea typeface="+mn-ea"/>
                <a:cs typeface="+mn-cs"/>
              </a:rPr>
              <a:t>**Interface + Évaluation**</a:t>
            </a:r>
            <a:r>
              <a:rPr lang="fr-FR" sz="1200" b="0" kern="1200" dirty="0">
                <a:solidFill>
                  <a:schemeClr val="tx1"/>
                </a:solidFill>
                <a:effectLst/>
                <a:latin typeface="+mn-lt"/>
                <a:ea typeface="+mn-ea"/>
                <a:cs typeface="+mn-cs"/>
              </a:rPr>
              <a:t> : l'utilisateur interagit via </a:t>
            </a:r>
            <a:r>
              <a:rPr lang="fr-FR" sz="1200" b="0" kern="1200" dirty="0" err="1">
                <a:solidFill>
                  <a:schemeClr val="tx1"/>
                </a:solidFill>
                <a:effectLst/>
                <a:latin typeface="+mn-lt"/>
                <a:ea typeface="+mn-ea"/>
                <a:cs typeface="+mn-cs"/>
              </a:rPr>
              <a:t>Streamlit</a:t>
            </a:r>
            <a:r>
              <a:rPr lang="fr-FR" sz="1200" b="0" kern="1200" dirty="0">
                <a:solidFill>
                  <a:schemeClr val="tx1"/>
                </a:solidFill>
                <a:effectLst/>
                <a:latin typeface="+mn-lt"/>
                <a:ea typeface="+mn-ea"/>
                <a:cs typeface="+mn-cs"/>
              </a:rPr>
              <a:t>, les performances sont mesurées avec Ragas</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BFFCD338-8D4D-1165-6FD3-DE479143C4B0}"/>
              </a:ext>
            </a:extLst>
          </p:cNvPr>
          <p:cNvSpPr>
            <a:spLocks noGrp="1"/>
          </p:cNvSpPr>
          <p:nvPr>
            <p:ph type="sldNum" sz="quarter" idx="5"/>
          </p:nvPr>
        </p:nvSpPr>
        <p:spPr/>
        <p:txBody>
          <a:bodyPr/>
          <a:lstStyle/>
          <a:p>
            <a:fld id="{59D366D7-E8A7-4CA3-BE39-7EDDC3999B12}" type="slidenum">
              <a:rPr lang="fr-FR" smtClean="0"/>
              <a:t>4</a:t>
            </a:fld>
            <a:endParaRPr lang="fr-FR"/>
          </a:p>
        </p:txBody>
      </p:sp>
    </p:spTree>
    <p:extLst>
      <p:ext uri="{BB962C8B-B14F-4D97-AF65-F5344CB8AC3E}">
        <p14:creationId xmlns:p14="http://schemas.microsoft.com/office/powerpoint/2010/main" val="331931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700" b="1" dirty="0">
                <a:solidFill>
                  <a:schemeClr val="bg1"/>
                </a:solidFill>
              </a:rPr>
              <a:t>Question : </a:t>
            </a:r>
            <a:r>
              <a:rPr lang="fr-FR" sz="1550" b="0" dirty="0">
                <a:solidFill>
                  <a:schemeClr val="bg1"/>
                </a:solidFill>
              </a:rPr>
              <a:t>Comment permettre à un utilisateur d’interroger en langage naturel une base d’événements et obtenir une réponse précise, contextualisée et vérifiable, sans que le système invente des informations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700" b="1" dirty="0">
                <a:solidFill>
                  <a:schemeClr val="bg1"/>
                </a:solidFill>
              </a:rPr>
              <a:t>Réponse : </a:t>
            </a:r>
            <a:r>
              <a:rPr lang="fr-FR" sz="1700" b="0" dirty="0">
                <a:solidFill>
                  <a:schemeClr val="bg1"/>
                </a:solidFill>
              </a:rPr>
              <a:t>l’architecture RAG - </a:t>
            </a:r>
            <a:r>
              <a:rPr lang="fr-FR" sz="1700" b="0" dirty="0" err="1">
                <a:solidFill>
                  <a:schemeClr val="bg1"/>
                </a:solidFill>
              </a:rPr>
              <a:t>Retrieval-Augmented</a:t>
            </a:r>
            <a:r>
              <a:rPr lang="fr-FR" sz="1700" b="0" dirty="0">
                <a:solidFill>
                  <a:schemeClr val="bg1"/>
                </a:solidFill>
              </a:rPr>
              <a:t> </a:t>
            </a:r>
            <a:r>
              <a:rPr lang="fr-FR" sz="1700" b="0" dirty="0" err="1">
                <a:solidFill>
                  <a:schemeClr val="bg1"/>
                </a:solidFill>
              </a:rPr>
              <a:t>Generation</a:t>
            </a:r>
            <a:r>
              <a:rPr lang="fr-FR" sz="1700" b="0" dirty="0">
                <a:solidFill>
                  <a:schemeClr val="bg1"/>
                </a:solidFill>
              </a:rPr>
              <a:t> (en </a:t>
            </a:r>
            <a:r>
              <a:rPr lang="fr-FR" sz="1700" b="0" dirty="0" err="1">
                <a:solidFill>
                  <a:schemeClr val="bg1"/>
                </a:solidFill>
              </a:rPr>
              <a:t>fr</a:t>
            </a:r>
            <a:r>
              <a:rPr lang="fr-FR" sz="1700" b="0" dirty="0">
                <a:solidFill>
                  <a:schemeClr val="bg1"/>
                </a:solidFill>
              </a:rPr>
              <a:t> : </a:t>
            </a:r>
            <a:r>
              <a:rPr lang="fr-FR" sz="1800" b="0" i="0" kern="1200" dirty="0">
                <a:solidFill>
                  <a:schemeClr val="bg1"/>
                </a:solidFill>
                <a:effectLst/>
                <a:latin typeface="+mn-lt"/>
                <a:ea typeface="+mn-ea"/>
                <a:cs typeface="+mn-cs"/>
              </a:rPr>
              <a:t>Génération augmentée par la récupération</a:t>
            </a:r>
            <a:r>
              <a:rPr lang="fr-FR" sz="1700" b="0" dirty="0">
                <a:solidFill>
                  <a:schemeClr val="bg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err="1">
                <a:solidFill>
                  <a:schemeClr val="bg1"/>
                </a:solidFill>
              </a:rPr>
              <a:t>Analogy</a:t>
            </a:r>
            <a:r>
              <a:rPr lang="fr-FR" sz="1800" b="1" dirty="0">
                <a:solidFill>
                  <a:schemeClr val="bg1"/>
                </a:solidFill>
              </a:rPr>
              <a:t> Flash </a:t>
            </a:r>
            <a:r>
              <a:rPr lang="fr-FR" sz="1800" dirty="0">
                <a:solidFill>
                  <a:schemeClr val="bg1"/>
                </a:solidFill>
              </a:rPr>
              <a:t>: Une IA classique est comme un étudiant qui passe un examen de mémoire. Une IA avec RAG est ce même étudiant, mais avec le droit d'ouvrir ses manuels de cours pendant l'épreuve.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rgbClr val="4CAF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rgbClr val="4CAF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Stack technique :</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LangChain</a:t>
            </a:r>
            <a:r>
              <a:rPr lang="fr-FR" sz="1200" b="0" kern="1200" dirty="0">
                <a:solidFill>
                  <a:schemeClr val="tx1"/>
                </a:solidFill>
                <a:effectLst/>
                <a:latin typeface="+mn-lt"/>
                <a:ea typeface="+mn-ea"/>
                <a:cs typeface="+mn-cs"/>
              </a:rPr>
              <a:t> (orchestration) + FAISS (recherche) + Mistral AI (LLM)</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700" b="0" dirty="0">
              <a:solidFill>
                <a:srgbClr val="4CAF50"/>
              </a:solidFill>
            </a:endParaRPr>
          </a:p>
        </p:txBody>
      </p:sp>
      <p:sp>
        <p:nvSpPr>
          <p:cNvPr id="4" name="Espace réservé du numéro de diapositive 3"/>
          <p:cNvSpPr>
            <a:spLocks noGrp="1"/>
          </p:cNvSpPr>
          <p:nvPr>
            <p:ph type="sldNum" sz="quarter" idx="5"/>
          </p:nvPr>
        </p:nvSpPr>
        <p:spPr/>
        <p:txBody>
          <a:bodyPr/>
          <a:lstStyle/>
          <a:p>
            <a:fld id="{59D366D7-E8A7-4CA3-BE39-7EDDC3999B12}" type="slidenum">
              <a:rPr lang="fr-FR" smtClean="0"/>
              <a:t>5</a:t>
            </a:fld>
            <a:endParaRPr lang="fr-FR"/>
          </a:p>
        </p:txBody>
      </p:sp>
    </p:spTree>
    <p:extLst>
      <p:ext uri="{BB962C8B-B14F-4D97-AF65-F5344CB8AC3E}">
        <p14:creationId xmlns:p14="http://schemas.microsoft.com/office/powerpoint/2010/main" val="1957851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76449-9C7C-9219-E1AE-0C48A17BA5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D54EC12-13F8-BEA9-5DB0-49DEA397433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E0508DA-4CFE-5C76-BA61-FB0C9DE18827}"/>
              </a:ext>
            </a:extLst>
          </p:cNvPr>
          <p:cNvSpPr>
            <a:spLocks noGrp="1"/>
          </p:cNvSpPr>
          <p:nvPr>
            <p:ph type="body" idx="1"/>
          </p:nvPr>
        </p:nvSpPr>
        <p:spPr/>
        <p:txBody>
          <a:bodyPr/>
          <a:lstStyle/>
          <a:p>
            <a:r>
              <a:rPr lang="fr-FR" dirty="0"/>
              <a:t>En clair, c'est le moteur qui permet à votre RAG de trouver "l'aiguille" (l'info pertinente) dans la "botte de foin" (vos documents) en un clin d'œil.</a:t>
            </a:r>
          </a:p>
          <a:p>
            <a:endParaRPr lang="fr-FR" b="0" i="0" u="none"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FAISS (développé par Meta/Facebook) est une bibliothèque spécialisée dans la recherche de similarité entre vecteurs numériques. Concrètement : quand un utilisateur pose une question, on la transforme en vecteur, et FAISS trouve en quelques millisecondes les vecteurs les plus "proches" dans la base - c'est-à-dire les passages les plus similaires sémantiquement.</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0967837E-B1D1-CBE7-F40E-F4B36FEA2012}"/>
              </a:ext>
            </a:extLst>
          </p:cNvPr>
          <p:cNvSpPr>
            <a:spLocks noGrp="1"/>
          </p:cNvSpPr>
          <p:nvPr>
            <p:ph type="sldNum" sz="quarter" idx="5"/>
          </p:nvPr>
        </p:nvSpPr>
        <p:spPr/>
        <p:txBody>
          <a:bodyPr/>
          <a:lstStyle/>
          <a:p>
            <a:fld id="{59D366D7-E8A7-4CA3-BE39-7EDDC3999B12}" type="slidenum">
              <a:rPr lang="fr-FR" smtClean="0"/>
              <a:t>6</a:t>
            </a:fld>
            <a:endParaRPr lang="fr-FR"/>
          </a:p>
        </p:txBody>
      </p:sp>
    </p:spTree>
    <p:extLst>
      <p:ext uri="{BB962C8B-B14F-4D97-AF65-F5344CB8AC3E}">
        <p14:creationId xmlns:p14="http://schemas.microsoft.com/office/powerpoint/2010/main" val="1310195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79CD0-9A2A-C976-7B48-9D2EE51266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DB5808-E6CD-8C23-9551-34D7075D12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36605CF-239F-AAF0-BDE1-5CD2F3E3CCBA}"/>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499C32A4-DBC4-D36C-D4E8-3D5F9055394F}"/>
              </a:ext>
            </a:extLst>
          </p:cNvPr>
          <p:cNvSpPr>
            <a:spLocks noGrp="1"/>
          </p:cNvSpPr>
          <p:nvPr>
            <p:ph type="sldNum" sz="quarter" idx="5"/>
          </p:nvPr>
        </p:nvSpPr>
        <p:spPr/>
        <p:txBody>
          <a:bodyPr/>
          <a:lstStyle/>
          <a:p>
            <a:fld id="{59D366D7-E8A7-4CA3-BE39-7EDDC3999B12}" type="slidenum">
              <a:rPr lang="fr-FR" smtClean="0"/>
              <a:t>7</a:t>
            </a:fld>
            <a:endParaRPr lang="fr-FR"/>
          </a:p>
        </p:txBody>
      </p:sp>
    </p:spTree>
    <p:extLst>
      <p:ext uri="{BB962C8B-B14F-4D97-AF65-F5344CB8AC3E}">
        <p14:creationId xmlns:p14="http://schemas.microsoft.com/office/powerpoint/2010/main" val="2803758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4EB48-6441-3FEC-229C-C061813F37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CE50F7-9C29-261F-4C95-6B27C3A687E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83CECE3-E700-D1BE-DE91-A16332311911}"/>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Ce n'est pas une limitation technique. FAISS et le pipeline auraient très bien pu ingérer les 913 818 événements nationaux. La décision de filtrer à l'Occitanie est volontaire et justifiée par deux raisons de conception :</a:t>
            </a:r>
          </a:p>
          <a:p>
            <a:r>
              <a:rPr lang="fr-FR" sz="1200" b="1" i="0" kern="1200" dirty="0">
                <a:solidFill>
                  <a:schemeClr val="tx1"/>
                </a:solidFill>
                <a:effectLst/>
                <a:latin typeface="+mn-lt"/>
                <a:ea typeface="+mn-ea"/>
                <a:cs typeface="+mn-cs"/>
              </a:rPr>
              <a:t>Pertinence</a:t>
            </a:r>
            <a:r>
              <a:rPr lang="fr-FR" sz="1200" b="0" i="0" kern="1200" dirty="0">
                <a:solidFill>
                  <a:schemeClr val="tx1"/>
                </a:solidFill>
                <a:effectLst/>
                <a:latin typeface="+mn-lt"/>
                <a:ea typeface="+mn-ea"/>
                <a:cs typeface="+mn-cs"/>
              </a:rPr>
              <a:t> — un utilisateur qui demande "expo à Montpellier" ne veut pas que le retriever noie les résultats pertinents dans des milliers de blocs sur des événements à Lille ou Strasbourg</a:t>
            </a:r>
          </a:p>
          <a:p>
            <a:r>
              <a:rPr lang="fr-FR" sz="1200" b="1" i="0" kern="1200" dirty="0" err="1">
                <a:solidFill>
                  <a:schemeClr val="tx1"/>
                </a:solidFill>
                <a:effectLst/>
                <a:latin typeface="+mn-lt"/>
                <a:ea typeface="+mn-ea"/>
                <a:cs typeface="+mn-cs"/>
              </a:rPr>
              <a:t>Évaluabilité</a:t>
            </a:r>
            <a:r>
              <a:rPr lang="fr-FR" sz="1200" b="0" i="0" kern="1200" dirty="0">
                <a:solidFill>
                  <a:schemeClr val="tx1"/>
                </a:solidFill>
                <a:effectLst/>
                <a:latin typeface="+mn-lt"/>
                <a:ea typeface="+mn-ea"/>
                <a:cs typeface="+mn-cs"/>
              </a:rPr>
              <a:t> — avec 5 questions de test sur l'Occitanie, un index national aurait rendu les métriques Ragas moins fiables (le </a:t>
            </a:r>
            <a:r>
              <a:rPr lang="fr-FR" sz="1200" b="0" i="0" kern="1200" dirty="0" err="1">
                <a:solidFill>
                  <a:schemeClr val="tx1"/>
                </a:solidFill>
                <a:effectLst/>
                <a:latin typeface="+mn-lt"/>
                <a:ea typeface="+mn-ea"/>
                <a:cs typeface="+mn-cs"/>
              </a:rPr>
              <a:t>ground</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truth</a:t>
            </a:r>
            <a:r>
              <a:rPr lang="fr-FR" sz="1200" b="0" i="0" kern="1200" dirty="0">
                <a:solidFill>
                  <a:schemeClr val="tx1"/>
                </a:solidFill>
                <a:effectLst/>
                <a:latin typeface="+mn-lt"/>
                <a:ea typeface="+mn-ea"/>
                <a:cs typeface="+mn-cs"/>
              </a:rPr>
              <a:t> ne couvrait que l'Occitanie)</a:t>
            </a:r>
          </a:p>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50C4D20D-DE64-00D1-4BB7-7DC917459277}"/>
              </a:ext>
            </a:extLst>
          </p:cNvPr>
          <p:cNvSpPr>
            <a:spLocks noGrp="1"/>
          </p:cNvSpPr>
          <p:nvPr>
            <p:ph type="sldNum" sz="quarter" idx="5"/>
          </p:nvPr>
        </p:nvSpPr>
        <p:spPr/>
        <p:txBody>
          <a:bodyPr/>
          <a:lstStyle/>
          <a:p>
            <a:fld id="{59D366D7-E8A7-4CA3-BE39-7EDDC3999B12}" type="slidenum">
              <a:rPr lang="fr-FR" smtClean="0"/>
              <a:t>8</a:t>
            </a:fld>
            <a:endParaRPr lang="fr-FR"/>
          </a:p>
        </p:txBody>
      </p:sp>
    </p:spTree>
    <p:extLst>
      <p:ext uri="{BB962C8B-B14F-4D97-AF65-F5344CB8AC3E}">
        <p14:creationId xmlns:p14="http://schemas.microsoft.com/office/powerpoint/2010/main" val="2152698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5ACDF-4A45-E5F4-77C9-549547BFAEB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2C138C-A53C-767E-146F-88B2B79C732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C17C3E6-B106-CC5F-F343-75EBE26C9922}"/>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MMR (Maximal Marginal Relevance)</a:t>
            </a:r>
            <a:r>
              <a:rPr lang="fr-FR" sz="1200" b="0" i="0" kern="1200" dirty="0">
                <a:solidFill>
                  <a:schemeClr val="tx1"/>
                </a:solidFill>
                <a:effectLst/>
                <a:latin typeface="+mn-lt"/>
                <a:ea typeface="+mn-ea"/>
                <a:cs typeface="+mn-cs"/>
              </a:rPr>
              <a:t> : algorithme de sélection qui choisit chaque résultat en maximisant à la fois sa similarité avec la requête </a:t>
            </a:r>
            <a:r>
              <a:rPr lang="fr-FR" sz="1200" b="1" i="0" kern="1200" dirty="0">
                <a:solidFill>
                  <a:schemeClr val="tx1"/>
                </a:solidFill>
                <a:effectLst/>
                <a:latin typeface="+mn-lt"/>
                <a:ea typeface="+mn-ea"/>
                <a:cs typeface="+mn-cs"/>
              </a:rPr>
              <a:t>et</a:t>
            </a:r>
            <a:r>
              <a:rPr lang="fr-FR" sz="1200" b="0" i="0" kern="1200" dirty="0">
                <a:solidFill>
                  <a:schemeClr val="tx1"/>
                </a:solidFill>
                <a:effectLst/>
                <a:latin typeface="+mn-lt"/>
                <a:ea typeface="+mn-ea"/>
                <a:cs typeface="+mn-cs"/>
              </a:rPr>
              <a:t> sa différence avec les résultats déjà sélectionnés — pour éviter de retourner 10 blocs qui disent tous la même chose.</a:t>
            </a:r>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9A1770E4-6D90-79FF-9E27-DBD7974846DB}"/>
              </a:ext>
            </a:extLst>
          </p:cNvPr>
          <p:cNvSpPr>
            <a:spLocks noGrp="1"/>
          </p:cNvSpPr>
          <p:nvPr>
            <p:ph type="sldNum" sz="quarter" idx="5"/>
          </p:nvPr>
        </p:nvSpPr>
        <p:spPr/>
        <p:txBody>
          <a:bodyPr/>
          <a:lstStyle/>
          <a:p>
            <a:fld id="{59D366D7-E8A7-4CA3-BE39-7EDDC3999B12}" type="slidenum">
              <a:rPr lang="fr-FR" smtClean="0"/>
              <a:t>9</a:t>
            </a:fld>
            <a:endParaRPr lang="fr-FR"/>
          </a:p>
        </p:txBody>
      </p:sp>
    </p:spTree>
    <p:extLst>
      <p:ext uri="{BB962C8B-B14F-4D97-AF65-F5344CB8AC3E}">
        <p14:creationId xmlns:p14="http://schemas.microsoft.com/office/powerpoint/2010/main" val="829721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DE71-20C6-1463-BDFF-241E11D69B4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1D5D284-EF07-0DC1-FDF2-4F3F1734E26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3A5F6CA-B6A0-8C8A-5C58-DBA80EC136AB}"/>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Modèle </a:t>
            </a:r>
            <a:r>
              <a:rPr lang="fr-FR" sz="1200" b="1" i="0" kern="1200" dirty="0" err="1">
                <a:solidFill>
                  <a:schemeClr val="tx1"/>
                </a:solidFill>
                <a:effectLst/>
                <a:latin typeface="+mn-lt"/>
                <a:ea typeface="+mn-ea"/>
                <a:cs typeface="+mn-cs"/>
              </a:rPr>
              <a:t>embedding</a:t>
            </a:r>
            <a:r>
              <a:rPr lang="fr-FR" sz="1200" b="0" i="0" kern="1200" dirty="0">
                <a:solidFill>
                  <a:schemeClr val="tx1"/>
                </a:solidFill>
                <a:effectLst/>
                <a:latin typeface="+mn-lt"/>
                <a:ea typeface="+mn-ea"/>
                <a:cs typeface="+mn-cs"/>
              </a:rPr>
              <a:t> : convertit un texte en vecteur de nombres qui encode son sens</a:t>
            </a:r>
          </a:p>
          <a:p>
            <a:r>
              <a:rPr lang="fr-FR" sz="1200" b="1" i="0" kern="1200" dirty="0" err="1">
                <a:solidFill>
                  <a:schemeClr val="tx1"/>
                </a:solidFill>
                <a:effectLst/>
                <a:latin typeface="+mn-lt"/>
                <a:ea typeface="+mn-ea"/>
                <a:cs typeface="+mn-cs"/>
              </a:rPr>
              <a:t>fetch_k</a:t>
            </a:r>
            <a:r>
              <a:rPr lang="fr-FR" sz="1200" b="0" i="0" kern="1200" dirty="0">
                <a:solidFill>
                  <a:schemeClr val="tx1"/>
                </a:solidFill>
                <a:effectLst/>
                <a:latin typeface="+mn-lt"/>
                <a:ea typeface="+mn-ea"/>
                <a:cs typeface="+mn-cs"/>
              </a:rPr>
              <a:t> : nombre de candidats remontés par FAISS avant le filtre MMR (filet large)</a:t>
            </a:r>
          </a:p>
          <a:p>
            <a:r>
              <a:rPr lang="fr-FR" sz="1200" b="1" i="0" kern="1200" dirty="0">
                <a:solidFill>
                  <a:schemeClr val="tx1"/>
                </a:solidFill>
                <a:effectLst/>
                <a:latin typeface="+mn-lt"/>
                <a:ea typeface="+mn-ea"/>
                <a:cs typeface="+mn-cs"/>
              </a:rPr>
              <a:t>k (</a:t>
            </a:r>
            <a:r>
              <a:rPr lang="fr-FR" sz="1200" b="1" i="0" kern="1200" dirty="0" err="1">
                <a:solidFill>
                  <a:schemeClr val="tx1"/>
                </a:solidFill>
                <a:effectLst/>
                <a:latin typeface="+mn-lt"/>
                <a:ea typeface="+mn-ea"/>
                <a:cs typeface="+mn-cs"/>
              </a:rPr>
              <a:t>chunks</a:t>
            </a:r>
            <a:r>
              <a:rPr lang="fr-FR" sz="1200" b="1" i="0" kern="1200" dirty="0">
                <a:solidFill>
                  <a:schemeClr val="tx1"/>
                </a:solidFill>
                <a:effectLst/>
                <a:latin typeface="+mn-lt"/>
                <a:ea typeface="+mn-ea"/>
                <a:cs typeface="+mn-cs"/>
              </a:rPr>
              <a:t> retournés)</a:t>
            </a:r>
            <a:r>
              <a:rPr lang="fr-FR" sz="1200" b="0" i="0" kern="1200" dirty="0">
                <a:solidFill>
                  <a:schemeClr val="tx1"/>
                </a:solidFill>
                <a:effectLst/>
                <a:latin typeface="+mn-lt"/>
                <a:ea typeface="+mn-ea"/>
                <a:cs typeface="+mn-cs"/>
              </a:rPr>
              <a:t> : nombre de blocs finalement fournis au LLM après MMR (filet serré)</a:t>
            </a:r>
          </a:p>
          <a:p>
            <a:r>
              <a:rPr lang="fr-FR" sz="1200" b="1" i="0" kern="1200" dirty="0" err="1">
                <a:solidFill>
                  <a:schemeClr val="tx1"/>
                </a:solidFill>
                <a:effectLst/>
                <a:latin typeface="+mn-lt"/>
                <a:ea typeface="+mn-ea"/>
                <a:cs typeface="+mn-cs"/>
              </a:rPr>
              <a:t>lambda_mult</a:t>
            </a:r>
            <a:r>
              <a:rPr lang="fr-FR" sz="1200" b="0" i="0" kern="1200" dirty="0">
                <a:solidFill>
                  <a:schemeClr val="tx1"/>
                </a:solidFill>
                <a:effectLst/>
                <a:latin typeface="+mn-lt"/>
                <a:ea typeface="+mn-ea"/>
                <a:cs typeface="+mn-cs"/>
              </a:rPr>
              <a:t> : curseur pertinence/diversité du MMR (0 = tout diversifier, 1 = tout pertinent)</a:t>
            </a:r>
          </a:p>
          <a:p>
            <a:r>
              <a:rPr lang="fr-FR" sz="1200" b="1" i="0" kern="1200" dirty="0" err="1">
                <a:solidFill>
                  <a:schemeClr val="tx1"/>
                </a:solidFill>
                <a:effectLst/>
                <a:latin typeface="+mn-lt"/>
                <a:ea typeface="+mn-ea"/>
                <a:cs typeface="+mn-cs"/>
              </a:rPr>
              <a:t>temperature</a:t>
            </a:r>
            <a:r>
              <a:rPr lang="fr-FR" sz="1200" b="0" i="0" kern="1200" dirty="0">
                <a:solidFill>
                  <a:schemeClr val="tx1"/>
                </a:solidFill>
                <a:effectLst/>
                <a:latin typeface="+mn-lt"/>
                <a:ea typeface="+mn-ea"/>
                <a:cs typeface="+mn-cs"/>
              </a:rPr>
              <a:t> : degré d'aléatoire du LLM (0 = réponse déterministe, 1 = créatif)</a:t>
            </a:r>
          </a:p>
          <a:p>
            <a:r>
              <a:rPr lang="fr-FR" sz="1200" b="1" i="0" kern="1200" dirty="0">
                <a:solidFill>
                  <a:schemeClr val="tx1"/>
                </a:solidFill>
                <a:effectLst/>
                <a:latin typeface="+mn-lt"/>
                <a:ea typeface="+mn-ea"/>
                <a:cs typeface="+mn-cs"/>
              </a:rPr>
              <a:t>Modèle LLM</a:t>
            </a:r>
            <a:r>
              <a:rPr lang="fr-FR" sz="1200" b="0" i="0" kern="1200" dirty="0">
                <a:solidFill>
                  <a:schemeClr val="tx1"/>
                </a:solidFill>
                <a:effectLst/>
                <a:latin typeface="+mn-lt"/>
                <a:ea typeface="+mn-ea"/>
                <a:cs typeface="+mn-cs"/>
              </a:rPr>
              <a:t> : le modèle de langage qui lit les </a:t>
            </a:r>
            <a:r>
              <a:rPr lang="fr-FR" sz="1200" b="0" i="0" kern="1200" dirty="0" err="1">
                <a:solidFill>
                  <a:schemeClr val="tx1"/>
                </a:solidFill>
                <a:effectLst/>
                <a:latin typeface="+mn-lt"/>
                <a:ea typeface="+mn-ea"/>
                <a:cs typeface="+mn-cs"/>
              </a:rPr>
              <a:t>chunks</a:t>
            </a:r>
            <a:r>
              <a:rPr lang="fr-FR" sz="1200" b="0" i="0" kern="1200" dirty="0">
                <a:solidFill>
                  <a:schemeClr val="tx1"/>
                </a:solidFill>
                <a:effectLst/>
                <a:latin typeface="+mn-lt"/>
                <a:ea typeface="+mn-ea"/>
                <a:cs typeface="+mn-cs"/>
              </a:rPr>
              <a:t> et rédige la réponse finale</a:t>
            </a:r>
            <a:endParaRPr lang="fr-FR" sz="1200" b="0" dirty="0">
              <a:solidFill>
                <a:schemeClr val="bg1"/>
              </a:solidFill>
            </a:endParaRPr>
          </a:p>
        </p:txBody>
      </p:sp>
      <p:sp>
        <p:nvSpPr>
          <p:cNvPr id="4" name="Espace réservé du numéro de diapositive 3">
            <a:extLst>
              <a:ext uri="{FF2B5EF4-FFF2-40B4-BE49-F238E27FC236}">
                <a16:creationId xmlns:a16="http://schemas.microsoft.com/office/drawing/2014/main" id="{831D5F80-36DB-4783-9A3D-5904E128EB4C}"/>
              </a:ext>
            </a:extLst>
          </p:cNvPr>
          <p:cNvSpPr>
            <a:spLocks noGrp="1"/>
          </p:cNvSpPr>
          <p:nvPr>
            <p:ph type="sldNum" sz="quarter" idx="5"/>
          </p:nvPr>
        </p:nvSpPr>
        <p:spPr/>
        <p:txBody>
          <a:bodyPr/>
          <a:lstStyle/>
          <a:p>
            <a:fld id="{59D366D7-E8A7-4CA3-BE39-7EDDC3999B12}" type="slidenum">
              <a:rPr lang="fr-FR" smtClean="0"/>
              <a:t>10</a:t>
            </a:fld>
            <a:endParaRPr lang="fr-FR"/>
          </a:p>
        </p:txBody>
      </p:sp>
    </p:spTree>
    <p:extLst>
      <p:ext uri="{BB962C8B-B14F-4D97-AF65-F5344CB8AC3E}">
        <p14:creationId xmlns:p14="http://schemas.microsoft.com/office/powerpoint/2010/main" val="2210913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7F16-5167-9F30-F651-53173BE0717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0905B8F-BA15-3D2A-B90D-52F9B6F7D24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CEDF2F6-19F0-BAA8-C14F-B339B36EFE51}"/>
              </a:ext>
            </a:extLst>
          </p:cNvPr>
          <p:cNvSpPr>
            <a:spLocks noGrp="1"/>
          </p:cNvSpPr>
          <p:nvPr>
            <p:ph type="body" idx="1"/>
          </p:nvPr>
        </p:nvSpPr>
        <p:spPr/>
        <p:txBody>
          <a:bodyPr/>
          <a:lstStyle/>
          <a:p>
            <a:pPr algn="l"/>
            <a:endParaRPr lang="fr-FR" sz="1200" b="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E07EE147-DD0B-A0BD-AB33-0AA3F09A3DE9}"/>
              </a:ext>
            </a:extLst>
          </p:cNvPr>
          <p:cNvSpPr>
            <a:spLocks noGrp="1"/>
          </p:cNvSpPr>
          <p:nvPr>
            <p:ph type="sldNum" sz="quarter" idx="5"/>
          </p:nvPr>
        </p:nvSpPr>
        <p:spPr/>
        <p:txBody>
          <a:bodyPr/>
          <a:lstStyle/>
          <a:p>
            <a:fld id="{59D366D7-E8A7-4CA3-BE39-7EDDC3999B12}" type="slidenum">
              <a:rPr lang="fr-FR" smtClean="0"/>
              <a:t>11</a:t>
            </a:fld>
            <a:endParaRPr lang="fr-FR"/>
          </a:p>
        </p:txBody>
      </p:sp>
    </p:spTree>
    <p:extLst>
      <p:ext uri="{BB962C8B-B14F-4D97-AF65-F5344CB8AC3E}">
        <p14:creationId xmlns:p14="http://schemas.microsoft.com/office/powerpoint/2010/main" val="491114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5C28-EAA0-1CF5-F070-843FB7E7F86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6F6BC08-117F-A6BA-21CD-5DB4D06AD1A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0899F84-63AE-0B88-CA5B-BBBF4ED8C376}"/>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3082D9EE-7B8F-F943-0666-BE380257D0DF}"/>
              </a:ext>
            </a:extLst>
          </p:cNvPr>
          <p:cNvSpPr>
            <a:spLocks noGrp="1"/>
          </p:cNvSpPr>
          <p:nvPr>
            <p:ph type="sldNum" sz="quarter" idx="5"/>
          </p:nvPr>
        </p:nvSpPr>
        <p:spPr/>
        <p:txBody>
          <a:bodyPr/>
          <a:lstStyle/>
          <a:p>
            <a:fld id="{59D366D7-E8A7-4CA3-BE39-7EDDC3999B12}" type="slidenum">
              <a:rPr lang="fr-FR" smtClean="0"/>
              <a:t>12</a:t>
            </a:fld>
            <a:endParaRPr lang="fr-FR"/>
          </a:p>
        </p:txBody>
      </p:sp>
    </p:spTree>
    <p:extLst>
      <p:ext uri="{BB962C8B-B14F-4D97-AF65-F5344CB8AC3E}">
        <p14:creationId xmlns:p14="http://schemas.microsoft.com/office/powerpoint/2010/main" val="3566800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CD7CE-24AB-634B-1358-1C0CE3EFCF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84C4F8-92E3-5A6B-8E01-53F266AD1F9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3C13C59-17A0-3A5F-347F-6FD5ED7A0AE2}"/>
              </a:ext>
            </a:extLst>
          </p:cNvPr>
          <p:cNvSpPr>
            <a:spLocks noGrp="1"/>
          </p:cNvSpPr>
          <p:nvPr>
            <p:ph type="body" idx="1"/>
          </p:nvPr>
        </p:nvSpPr>
        <p:spPr/>
        <p:txBody>
          <a:bodyPr/>
          <a:lstStyle/>
          <a:p>
            <a:pPr algn="l"/>
            <a:r>
              <a:rPr lang="fr-FR" sz="1200" b="0" dirty="0">
                <a:solidFill>
                  <a:schemeClr val="bg1"/>
                </a:solidFill>
              </a:rPr>
              <a:t>Point fort : </a:t>
            </a:r>
            <a:r>
              <a:rPr lang="fr-FR" sz="1200" b="0" dirty="0" err="1">
                <a:solidFill>
                  <a:schemeClr val="bg1"/>
                </a:solidFill>
              </a:rPr>
              <a:t>answer_relevancy</a:t>
            </a:r>
            <a:r>
              <a:rPr lang="fr-FR" sz="1200" b="0" dirty="0">
                <a:solidFill>
                  <a:schemeClr val="bg1"/>
                </a:solidFill>
              </a:rPr>
              <a:t> = 0.910 — le LLM formule des réponses de qualité</a:t>
            </a:r>
          </a:p>
          <a:p>
            <a:pPr algn="l"/>
            <a:r>
              <a:rPr lang="fr-FR" sz="1200" b="0" dirty="0">
                <a:solidFill>
                  <a:schemeClr val="bg1"/>
                </a:solidFill>
              </a:rPr>
              <a:t>Point faible : </a:t>
            </a:r>
            <a:r>
              <a:rPr lang="fr-FR" sz="1200" b="0" dirty="0" err="1">
                <a:solidFill>
                  <a:schemeClr val="bg1"/>
                </a:solidFill>
              </a:rPr>
              <a:t>context_recall</a:t>
            </a:r>
            <a:r>
              <a:rPr lang="fr-FR" sz="1200" b="0" dirty="0">
                <a:solidFill>
                  <a:schemeClr val="bg1"/>
                </a:solidFill>
              </a:rPr>
              <a:t> = 0.583 — on ne récupère pas toujours tous les passages utiles avec 10 blocs</a:t>
            </a:r>
          </a:p>
          <a:p>
            <a:pPr algn="l"/>
            <a:endParaRPr lang="fr-FR" sz="1200" b="0" dirty="0">
              <a:solidFill>
                <a:schemeClr val="bg1"/>
              </a:solidFill>
            </a:endParaRPr>
          </a:p>
          <a:p>
            <a:r>
              <a:rPr lang="fr-FR" sz="1200" b="1" kern="1200" dirty="0">
                <a:solidFill>
                  <a:schemeClr val="tx1"/>
                </a:solidFill>
                <a:effectLst/>
                <a:latin typeface="+mn-lt"/>
                <a:ea typeface="+mn-ea"/>
                <a:cs typeface="+mn-cs"/>
              </a:rPr>
              <a:t>Le problème de l'évaluation subjective : </a:t>
            </a:r>
            <a:r>
              <a:rPr lang="fr-FR" sz="1200" b="0" kern="1200" dirty="0">
                <a:solidFill>
                  <a:schemeClr val="tx1"/>
                </a:solidFill>
                <a:effectLst/>
                <a:latin typeface="+mn-lt"/>
                <a:ea typeface="+mn-ea"/>
                <a:cs typeface="+mn-cs"/>
              </a:rPr>
              <a:t>Dire "les réponses ont l'air bonnes" ne suffit pas. Il faut des indicateurs objectifs, reproductibles, qui séparent les deux composantes du système : le </a:t>
            </a:r>
            <a:r>
              <a:rPr lang="fr-FR" sz="1200" b="1" kern="1200" dirty="0">
                <a:solidFill>
                  <a:schemeClr val="tx1"/>
                </a:solidFill>
                <a:effectLst/>
                <a:latin typeface="+mn-lt"/>
                <a:ea typeface="+mn-ea"/>
                <a:cs typeface="+mn-cs"/>
              </a:rPr>
              <a:t>**retriever**</a:t>
            </a:r>
            <a:r>
              <a:rPr lang="fr-FR" sz="1200" b="0" kern="1200" dirty="0">
                <a:solidFill>
                  <a:schemeClr val="tx1"/>
                </a:solidFill>
                <a:effectLst/>
                <a:latin typeface="+mn-lt"/>
                <a:ea typeface="+mn-ea"/>
                <a:cs typeface="+mn-cs"/>
              </a:rPr>
              <a:t> (a-t-il trouvé les bons passages ?) et le </a:t>
            </a:r>
            <a:r>
              <a:rPr lang="fr-FR" sz="1200" b="1" kern="1200" dirty="0">
                <a:solidFill>
                  <a:schemeClr val="tx1"/>
                </a:solidFill>
                <a:effectLst/>
                <a:latin typeface="+mn-lt"/>
                <a:ea typeface="+mn-ea"/>
                <a:cs typeface="+mn-cs"/>
              </a:rPr>
              <a:t>**LLM**</a:t>
            </a:r>
            <a:r>
              <a:rPr lang="fr-FR" sz="1200" b="0" kern="1200" dirty="0">
                <a:solidFill>
                  <a:schemeClr val="tx1"/>
                </a:solidFill>
                <a:effectLst/>
                <a:latin typeface="+mn-lt"/>
                <a:ea typeface="+mn-ea"/>
                <a:cs typeface="+mn-cs"/>
              </a:rPr>
              <a:t> (a-t-il bien répondu avec ces passages ?).</a:t>
            </a:r>
          </a:p>
        </p:txBody>
      </p:sp>
      <p:sp>
        <p:nvSpPr>
          <p:cNvPr id="4" name="Espace réservé du numéro de diapositive 3">
            <a:extLst>
              <a:ext uri="{FF2B5EF4-FFF2-40B4-BE49-F238E27FC236}">
                <a16:creationId xmlns:a16="http://schemas.microsoft.com/office/drawing/2014/main" id="{D07DA32B-664B-9D5D-024C-0FF6A56BFFCD}"/>
              </a:ext>
            </a:extLst>
          </p:cNvPr>
          <p:cNvSpPr>
            <a:spLocks noGrp="1"/>
          </p:cNvSpPr>
          <p:nvPr>
            <p:ph type="sldNum" sz="quarter" idx="5"/>
          </p:nvPr>
        </p:nvSpPr>
        <p:spPr/>
        <p:txBody>
          <a:bodyPr/>
          <a:lstStyle/>
          <a:p>
            <a:fld id="{59D366D7-E8A7-4CA3-BE39-7EDDC3999B12}" type="slidenum">
              <a:rPr lang="fr-FR" smtClean="0"/>
              <a:t>13</a:t>
            </a:fld>
            <a:endParaRPr lang="fr-FR"/>
          </a:p>
        </p:txBody>
      </p:sp>
    </p:spTree>
    <p:extLst>
      <p:ext uri="{BB962C8B-B14F-4D97-AF65-F5344CB8AC3E}">
        <p14:creationId xmlns:p14="http://schemas.microsoft.com/office/powerpoint/2010/main" val="1693143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0E87B-DA2D-814D-46DD-7154DBFAEE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C2B280A-684F-78FA-64E9-EE95E7ED5D3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44D087F-4D96-0D69-EC01-16ACBE246647}"/>
              </a:ext>
            </a:extLst>
          </p:cNvPr>
          <p:cNvSpPr>
            <a:spLocks noGrp="1"/>
          </p:cNvSpPr>
          <p:nvPr>
            <p:ph type="body" idx="1"/>
          </p:nvPr>
        </p:nvSpPr>
        <p:spPr/>
        <p:txBody>
          <a:bodyPr/>
          <a:lstStyle/>
          <a:p>
            <a:endParaRPr lang="fr-FR" b="0" i="0" u="none" dirty="0">
              <a:solidFill>
                <a:schemeClr val="bg1"/>
              </a:solidFill>
            </a:endParaRPr>
          </a:p>
        </p:txBody>
      </p:sp>
      <p:sp>
        <p:nvSpPr>
          <p:cNvPr id="4" name="Espace réservé du numéro de diapositive 3">
            <a:extLst>
              <a:ext uri="{FF2B5EF4-FFF2-40B4-BE49-F238E27FC236}">
                <a16:creationId xmlns:a16="http://schemas.microsoft.com/office/drawing/2014/main" id="{1303792F-143E-B1A8-297D-2EC24E4CA91C}"/>
              </a:ext>
            </a:extLst>
          </p:cNvPr>
          <p:cNvSpPr>
            <a:spLocks noGrp="1"/>
          </p:cNvSpPr>
          <p:nvPr>
            <p:ph type="sldNum" sz="quarter" idx="5"/>
          </p:nvPr>
        </p:nvSpPr>
        <p:spPr/>
        <p:txBody>
          <a:bodyPr/>
          <a:lstStyle/>
          <a:p>
            <a:fld id="{59D366D7-E8A7-4CA3-BE39-7EDDC3999B12}" type="slidenum">
              <a:rPr lang="fr-FR" smtClean="0"/>
              <a:t>14</a:t>
            </a:fld>
            <a:endParaRPr lang="fr-FR"/>
          </a:p>
        </p:txBody>
      </p:sp>
    </p:spTree>
    <p:extLst>
      <p:ext uri="{BB962C8B-B14F-4D97-AF65-F5344CB8AC3E}">
        <p14:creationId xmlns:p14="http://schemas.microsoft.com/office/powerpoint/2010/main" val="869170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3367-6792-6D4C-2800-72DEC78D97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3E41FC-3E0C-7785-8182-F09269701EB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EA3621-284C-C413-BE7C-0E16842D9D3E}"/>
              </a:ext>
            </a:extLst>
          </p:cNvPr>
          <p:cNvSpPr>
            <a:spLocks noGrp="1"/>
          </p:cNvSpPr>
          <p:nvPr>
            <p:ph type="body" idx="1"/>
          </p:nvPr>
        </p:nvSpPr>
        <p:spPr/>
        <p:txBody>
          <a:bodyPr/>
          <a:lstStyle/>
          <a:p>
            <a:pPr algn="l"/>
            <a:endParaRPr lang="fr-FR" sz="1200" b="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15BA3AA0-7089-EC43-21BD-892F68F9A709}"/>
              </a:ext>
            </a:extLst>
          </p:cNvPr>
          <p:cNvSpPr>
            <a:spLocks noGrp="1"/>
          </p:cNvSpPr>
          <p:nvPr>
            <p:ph type="sldNum" sz="quarter" idx="5"/>
          </p:nvPr>
        </p:nvSpPr>
        <p:spPr/>
        <p:txBody>
          <a:bodyPr/>
          <a:lstStyle/>
          <a:p>
            <a:fld id="{59D366D7-E8A7-4CA3-BE39-7EDDC3999B12}" type="slidenum">
              <a:rPr lang="fr-FR" smtClean="0"/>
              <a:t>15</a:t>
            </a:fld>
            <a:endParaRPr lang="fr-FR"/>
          </a:p>
        </p:txBody>
      </p:sp>
    </p:spTree>
    <p:extLst>
      <p:ext uri="{BB962C8B-B14F-4D97-AF65-F5344CB8AC3E}">
        <p14:creationId xmlns:p14="http://schemas.microsoft.com/office/powerpoint/2010/main" val="1217572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7436FB-2017-DAAC-33DD-803EED4E100F}"/>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AB8C73E-FEB7-8287-11B0-CE5881466B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692A293-9CAF-944A-0E13-3A3D4373A785}"/>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5" name="Espace réservé du pied de page 4">
            <a:extLst>
              <a:ext uri="{FF2B5EF4-FFF2-40B4-BE49-F238E27FC236}">
                <a16:creationId xmlns:a16="http://schemas.microsoft.com/office/drawing/2014/main" id="{44E89E3F-63E7-D90B-13FF-20B8F1C3953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284C371-FC6A-C4A7-4462-4368AB72E18B}"/>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242984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372DFA-AE7C-429F-2540-6E01C3CD099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24D9518-492A-9434-6143-618E0E79534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6BF44D6-0CFC-C484-BDF5-A50AE1E7924D}"/>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5" name="Espace réservé du pied de page 4">
            <a:extLst>
              <a:ext uri="{FF2B5EF4-FFF2-40B4-BE49-F238E27FC236}">
                <a16:creationId xmlns:a16="http://schemas.microsoft.com/office/drawing/2014/main" id="{10E70280-8030-B766-23D4-7E0B797B95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4C06F4D-02A6-1F45-E0C2-58F52AC1E469}"/>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3122960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A16A33-73B6-F716-7FC3-383B7DAAED6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8D3D2DD-50BE-C7E5-3699-C8B21A39E3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B717FA4-5765-9CF9-E6A4-23D946F68EEC}"/>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5" name="Espace réservé du pied de page 4">
            <a:extLst>
              <a:ext uri="{FF2B5EF4-FFF2-40B4-BE49-F238E27FC236}">
                <a16:creationId xmlns:a16="http://schemas.microsoft.com/office/drawing/2014/main" id="{14EABC71-280E-2185-0C64-F1D40B4766D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4E41A87-92C7-E47D-4335-E59201F7C6C4}"/>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07430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D6CC10-C3E1-15BF-3179-2F2CF3C0447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EE9E93A-3DA6-8B6D-34F1-4AE37B4AD8A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5F67109-BA27-CBA7-D355-47733E9E207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36C8631-E72A-4294-445F-D7E09B6B2845}"/>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6" name="Espace réservé du pied de page 5">
            <a:extLst>
              <a:ext uri="{FF2B5EF4-FFF2-40B4-BE49-F238E27FC236}">
                <a16:creationId xmlns:a16="http://schemas.microsoft.com/office/drawing/2014/main" id="{DDF2A644-1043-2A25-AFF1-AB243CD6C4D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9000902-A0AD-DB29-C122-FA584C4F737C}"/>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772742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188506-0554-1402-5BA1-1084EF21DEC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7BCB0EB-A26F-03C3-D76D-5FC28DB30D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785986B-5F28-A9A9-B4E3-1DFD1864437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D4DAC5D-817B-77C7-4012-AD81DBE2CB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A9BA20D-F5A4-7E5F-10B4-8DDACC59439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F93DE39-FE3F-8414-2F5E-3E516D94EA76}"/>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8" name="Espace réservé du pied de page 7">
            <a:extLst>
              <a:ext uri="{FF2B5EF4-FFF2-40B4-BE49-F238E27FC236}">
                <a16:creationId xmlns:a16="http://schemas.microsoft.com/office/drawing/2014/main" id="{52BB5454-D574-7A02-679A-412B26F26D5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A29C25F-8472-6BB6-7DE0-96A67CF4CE62}"/>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053768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2D7F5C-F201-C7ED-8E6C-9A8F71CFB75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4023054-2D38-36B7-EC10-00C355C81499}"/>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4" name="Espace réservé du pied de page 3">
            <a:extLst>
              <a:ext uri="{FF2B5EF4-FFF2-40B4-BE49-F238E27FC236}">
                <a16:creationId xmlns:a16="http://schemas.microsoft.com/office/drawing/2014/main" id="{C5B7229D-25A2-AB4C-039C-3CAE7FF9B49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9AE0224-2B1D-5EFC-5BC4-AC7BA7EE3122}"/>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306552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C9E9B1E-C1FE-6F10-44AE-B3C2F3845C6D}"/>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3" name="Espace réservé du pied de page 2">
            <a:extLst>
              <a:ext uri="{FF2B5EF4-FFF2-40B4-BE49-F238E27FC236}">
                <a16:creationId xmlns:a16="http://schemas.microsoft.com/office/drawing/2014/main" id="{9FC0102C-E1EB-64D8-608D-590453B2376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42C3AFD-4B20-02CD-E6F6-3F29DC6EB78D}"/>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7231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F40C6-AB61-D42C-DEF2-75E5DD580E7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0DB1C5A-BC3E-7E44-38E9-EF44295812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E44BE18-6284-9460-375A-7C146174E0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4DC37E5-0645-78C7-236B-55618FEFFB74}"/>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6" name="Espace réservé du pied de page 5">
            <a:extLst>
              <a:ext uri="{FF2B5EF4-FFF2-40B4-BE49-F238E27FC236}">
                <a16:creationId xmlns:a16="http://schemas.microsoft.com/office/drawing/2014/main" id="{E70CA692-B9E3-E2B0-2FED-42722BF94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6F72F6A-C263-8997-69EA-649D1B05048E}"/>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504846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76CAD7-7746-9BAC-3DC0-E1103E0F238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850F559-A938-B0E1-85C3-DCFBC4FC05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D805005-F86B-397E-8E71-A8D55C2F7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4DF5F55-08E2-B4B5-4341-A98175C0145B}"/>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6" name="Espace réservé du pied de page 5">
            <a:extLst>
              <a:ext uri="{FF2B5EF4-FFF2-40B4-BE49-F238E27FC236}">
                <a16:creationId xmlns:a16="http://schemas.microsoft.com/office/drawing/2014/main" id="{54C1A391-B5E6-96F7-9833-18EA0FFD11B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69AA9D4-E1EE-DB37-9C5F-C9B2F29DE043}"/>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101019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21A6AE-C529-BB77-1729-17F77F528FE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27A62EB-8BCB-57B9-F2C3-5782B8E213D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DBA6081-E8AC-6224-8D6F-3993549707D5}"/>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5" name="Espace réservé du pied de page 4">
            <a:extLst>
              <a:ext uri="{FF2B5EF4-FFF2-40B4-BE49-F238E27FC236}">
                <a16:creationId xmlns:a16="http://schemas.microsoft.com/office/drawing/2014/main" id="{FC9EB1FB-762F-4549-5ABE-83E82414D4D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B0C5F42-9ACD-190D-991C-5B60A508A4F4}"/>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3425816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B0DDD27-3FF0-EA71-4233-2E12E332CB8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63F9E75-44EE-78C1-0D43-69B25278188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EE3AB6-A251-B346-E78D-471AD5D0E006}"/>
              </a:ext>
            </a:extLst>
          </p:cNvPr>
          <p:cNvSpPr>
            <a:spLocks noGrp="1"/>
          </p:cNvSpPr>
          <p:nvPr>
            <p:ph type="dt" sz="half" idx="10"/>
          </p:nvPr>
        </p:nvSpPr>
        <p:spPr/>
        <p:txBody>
          <a:bodyPr/>
          <a:lstStyle/>
          <a:p>
            <a:fld id="{F60878AB-3368-4025-A10C-3112E0B9CFA3}" type="datetimeFigureOut">
              <a:rPr lang="fr-FR" smtClean="0"/>
              <a:t>25/02/2026</a:t>
            </a:fld>
            <a:endParaRPr lang="fr-FR"/>
          </a:p>
        </p:txBody>
      </p:sp>
      <p:sp>
        <p:nvSpPr>
          <p:cNvPr id="5" name="Espace réservé du pied de page 4">
            <a:extLst>
              <a:ext uri="{FF2B5EF4-FFF2-40B4-BE49-F238E27FC236}">
                <a16:creationId xmlns:a16="http://schemas.microsoft.com/office/drawing/2014/main" id="{F4800DC5-0FCC-9F06-DEB0-839F2324E48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4F4BFF8-FEAD-5EB2-1A4C-2FB4B91EA658}"/>
              </a:ext>
            </a:extLst>
          </p:cNvPr>
          <p:cNvSpPr>
            <a:spLocks noGrp="1"/>
          </p:cNvSpPr>
          <p:nvPr>
            <p:ph type="sldNum" sz="quarter" idx="12"/>
          </p:nvPr>
        </p:nvSpPr>
        <p:spPr/>
        <p:txBody>
          <a:bodyPr/>
          <a:lstStyle/>
          <a:p>
            <a:fld id="{2B8FE9B2-AB8A-4885-AB40-CCEB4CC506AA}" type="slidenum">
              <a:rPr lang="fr-FR" smtClean="0"/>
              <a:t>‹N°›</a:t>
            </a:fld>
            <a:endParaRPr lang="fr-FR"/>
          </a:p>
        </p:txBody>
      </p:sp>
    </p:spTree>
    <p:extLst>
      <p:ext uri="{BB962C8B-B14F-4D97-AF65-F5344CB8AC3E}">
        <p14:creationId xmlns:p14="http://schemas.microsoft.com/office/powerpoint/2010/main" val="4101762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78B8E8"/>
            </a:gs>
            <a:gs pos="54000">
              <a:srgbClr val="3D85C6"/>
            </a:gs>
            <a:gs pos="100000">
              <a:srgbClr val="16537E"/>
            </a:gs>
          </a:gsLst>
          <a:lin ang="2520000" scaled="0"/>
          <a:tileRect/>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E879EF0-FB8E-ED39-7CE6-BBE2E2A31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99BAC32-E680-996A-42B7-DEDF4744F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C67B42B-2109-88DE-962A-592EF19D5E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0878AB-3368-4025-A10C-3112E0B9CFA3}" type="datetimeFigureOut">
              <a:rPr lang="fr-FR" smtClean="0"/>
              <a:t>25/02/2026</a:t>
            </a:fld>
            <a:endParaRPr lang="fr-FR"/>
          </a:p>
        </p:txBody>
      </p:sp>
      <p:sp>
        <p:nvSpPr>
          <p:cNvPr id="5" name="Espace réservé du pied de page 4">
            <a:extLst>
              <a:ext uri="{FF2B5EF4-FFF2-40B4-BE49-F238E27FC236}">
                <a16:creationId xmlns:a16="http://schemas.microsoft.com/office/drawing/2014/main" id="{9D785987-B997-278B-8BED-72C0F06D04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B23EABD-B5C3-9CC0-14AB-7D580474D8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8FE9B2-AB8A-4885-AB40-CCEB4CC506AA}" type="slidenum">
              <a:rPr lang="fr-FR" smtClean="0"/>
              <a:t>‹N°›</a:t>
            </a:fld>
            <a:endParaRPr lang="fr-FR"/>
          </a:p>
        </p:txBody>
      </p:sp>
    </p:spTree>
    <p:extLst>
      <p:ext uri="{BB962C8B-B14F-4D97-AF65-F5344CB8AC3E}">
        <p14:creationId xmlns:p14="http://schemas.microsoft.com/office/powerpoint/2010/main" val="2705552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E8A55CE1-B7C8-7DE3-C7C9-FB588E4847BF}"/>
              </a:ext>
            </a:extLst>
          </p:cNvPr>
          <p:cNvSpPr txBox="1"/>
          <p:nvPr/>
        </p:nvSpPr>
        <p:spPr>
          <a:xfrm>
            <a:off x="0" y="2461481"/>
            <a:ext cx="12192000" cy="923330"/>
          </a:xfrm>
          <a:prstGeom prst="rect">
            <a:avLst/>
          </a:prstGeom>
          <a:noFill/>
        </p:spPr>
        <p:txBody>
          <a:bodyPr wrap="square" rtlCol="0" anchor="ctr" anchorCtr="1">
            <a:spAutoFit/>
          </a:bodyPr>
          <a:lstStyle/>
          <a:p>
            <a:r>
              <a:rPr lang="fr-FR" sz="5400" b="1" dirty="0">
                <a:solidFill>
                  <a:schemeClr val="tx1">
                    <a:lumMod val="85000"/>
                    <a:lumOff val="15000"/>
                  </a:schemeClr>
                </a:solidFill>
              </a:rPr>
              <a:t>Assistant Conversationnel</a:t>
            </a:r>
          </a:p>
        </p:txBody>
      </p:sp>
      <p:sp>
        <p:nvSpPr>
          <p:cNvPr id="7" name="Rectangle 6">
            <a:extLst>
              <a:ext uri="{FF2B5EF4-FFF2-40B4-BE49-F238E27FC236}">
                <a16:creationId xmlns:a16="http://schemas.microsoft.com/office/drawing/2014/main" id="{D1AA7EC2-7E6D-74FD-5839-8ACBC69A272E}"/>
              </a:ext>
            </a:extLst>
          </p:cNvPr>
          <p:cNvSpPr/>
          <p:nvPr/>
        </p:nvSpPr>
        <p:spPr>
          <a:xfrm>
            <a:off x="0" y="3384811"/>
            <a:ext cx="12192000" cy="8837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8" name="ZoneTexte 7">
            <a:extLst>
              <a:ext uri="{FF2B5EF4-FFF2-40B4-BE49-F238E27FC236}">
                <a16:creationId xmlns:a16="http://schemas.microsoft.com/office/drawing/2014/main" id="{F7A8AD0A-0063-9AE9-A6A8-2B28510AFE71}"/>
              </a:ext>
            </a:extLst>
          </p:cNvPr>
          <p:cNvSpPr txBox="1"/>
          <p:nvPr/>
        </p:nvSpPr>
        <p:spPr>
          <a:xfrm>
            <a:off x="1" y="3538699"/>
            <a:ext cx="12191999" cy="338554"/>
          </a:xfrm>
          <a:prstGeom prst="rect">
            <a:avLst/>
          </a:prstGeom>
          <a:noFill/>
        </p:spPr>
        <p:txBody>
          <a:bodyPr wrap="square" rtlCol="0" anchor="ctr" anchorCtr="1">
            <a:spAutoFit/>
          </a:bodyPr>
          <a:lstStyle/>
          <a:p>
            <a:r>
              <a:rPr lang="fr-FR" sz="1600" i="1" dirty="0" err="1"/>
              <a:t>Retrieval-Augmented</a:t>
            </a:r>
            <a:r>
              <a:rPr lang="fr-FR" sz="1600" i="1" dirty="0"/>
              <a:t> </a:t>
            </a:r>
            <a:r>
              <a:rPr lang="fr-FR" sz="1600" i="1" dirty="0" err="1"/>
              <a:t>Generation</a:t>
            </a:r>
            <a:r>
              <a:rPr lang="fr-FR" sz="1600" i="1" dirty="0"/>
              <a:t> (RAG) appliqué aux événements culturels pour </a:t>
            </a:r>
            <a:r>
              <a:rPr lang="fr-FR" sz="1600" i="1" dirty="0" err="1"/>
              <a:t>Puls</a:t>
            </a:r>
            <a:r>
              <a:rPr lang="fr-FR" sz="1600" i="1" dirty="0"/>
              <a:t>-Events</a:t>
            </a:r>
          </a:p>
        </p:txBody>
      </p:sp>
    </p:spTree>
    <p:extLst>
      <p:ext uri="{BB962C8B-B14F-4D97-AF65-F5344CB8AC3E}">
        <p14:creationId xmlns:p14="http://schemas.microsoft.com/office/powerpoint/2010/main" val="284351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D67C-E731-1A2C-F763-37C9572EC7E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83FBB8B-F552-E463-906F-10E6E11C48B2}"/>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LE DÉFI PULS-ÉVENTS</a:t>
            </a:r>
          </a:p>
        </p:txBody>
      </p:sp>
      <p:sp>
        <p:nvSpPr>
          <p:cNvPr id="3" name="ZoneTexte 2">
            <a:extLst>
              <a:ext uri="{FF2B5EF4-FFF2-40B4-BE49-F238E27FC236}">
                <a16:creationId xmlns:a16="http://schemas.microsoft.com/office/drawing/2014/main" id="{1E8193A3-600F-76EB-D14C-51CD9EF3D0FF}"/>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a:t>
            </a:r>
          </a:p>
        </p:txBody>
      </p:sp>
      <p:sp>
        <p:nvSpPr>
          <p:cNvPr id="4" name="Rectangle 3">
            <a:extLst>
              <a:ext uri="{FF2B5EF4-FFF2-40B4-BE49-F238E27FC236}">
                <a16:creationId xmlns:a16="http://schemas.microsoft.com/office/drawing/2014/main" id="{30400190-AE93-EF7E-B119-D3BF1F3252A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ZoneTexte 5">
            <a:extLst>
              <a:ext uri="{FF2B5EF4-FFF2-40B4-BE49-F238E27FC236}">
                <a16:creationId xmlns:a16="http://schemas.microsoft.com/office/drawing/2014/main" id="{C1747E99-A477-6C49-9D01-7C26F1569D45}"/>
              </a:ext>
            </a:extLst>
          </p:cNvPr>
          <p:cNvSpPr txBox="1"/>
          <p:nvPr/>
        </p:nvSpPr>
        <p:spPr>
          <a:xfrm>
            <a:off x="142875" y="950595"/>
            <a:ext cx="11772034" cy="3308598"/>
          </a:xfrm>
          <a:prstGeom prst="rect">
            <a:avLst/>
          </a:prstGeom>
          <a:noFill/>
        </p:spPr>
        <p:txBody>
          <a:bodyPr wrap="square" rtlCol="0">
            <a:spAutoFit/>
          </a:bodyPr>
          <a:lstStyle/>
          <a:p>
            <a:r>
              <a:rPr lang="fr-FR" sz="2800" u="sng" dirty="0">
                <a:solidFill>
                  <a:schemeClr val="bg1"/>
                </a:solidFill>
              </a:rPr>
              <a:t>Contexte :</a:t>
            </a:r>
          </a:p>
          <a:p>
            <a:endParaRPr lang="fr-FR" dirty="0"/>
          </a:p>
          <a:p>
            <a:pPr marL="449263"/>
            <a:r>
              <a:rPr lang="fr-FR" dirty="0" err="1">
                <a:solidFill>
                  <a:schemeClr val="bg1"/>
                </a:solidFill>
              </a:rPr>
              <a:t>Puls</a:t>
            </a:r>
            <a:r>
              <a:rPr lang="fr-FR" dirty="0">
                <a:solidFill>
                  <a:schemeClr val="bg1"/>
                </a:solidFill>
              </a:rPr>
              <a:t>-Events est une plateforme de recommandation d'événements culturels qui agrège et expose à ses 	utilisateurs un catalogue de près d'un million d'événements publics à travers toute la France :</a:t>
            </a:r>
          </a:p>
          <a:p>
            <a:endParaRPr lang="fr-FR" sz="600" dirty="0">
              <a:solidFill>
                <a:schemeClr val="bg1"/>
              </a:solidFill>
            </a:endParaRPr>
          </a:p>
          <a:p>
            <a:pPr marL="742950" lvl="1" indent="-285750">
              <a:buFontTx/>
              <a:buChar char="-"/>
            </a:pPr>
            <a:r>
              <a:rPr lang="fr-FR" dirty="0">
                <a:solidFill>
                  <a:schemeClr val="bg1"/>
                </a:solidFill>
              </a:rPr>
              <a:t>Aujourd’hui : une recherche par mots-clés retourne des listes brutes</a:t>
            </a:r>
          </a:p>
          <a:p>
            <a:pPr marL="742950" lvl="1" indent="-285750">
              <a:buFontTx/>
              <a:buChar char="-"/>
            </a:pPr>
            <a:r>
              <a:rPr lang="fr-FR" dirty="0">
                <a:solidFill>
                  <a:schemeClr val="bg1"/>
                </a:solidFill>
              </a:rPr>
              <a:t>C’est à l’utilisateur de lire, trier, et comprendre les résultats</a:t>
            </a:r>
          </a:p>
          <a:p>
            <a:endParaRPr lang="fr-FR" dirty="0"/>
          </a:p>
          <a:p>
            <a:r>
              <a:rPr lang="fr-FR" sz="2800" u="sng" dirty="0">
                <a:solidFill>
                  <a:schemeClr val="bg1"/>
                </a:solidFill>
              </a:rPr>
              <a:t>Problématique métier :</a:t>
            </a:r>
          </a:p>
          <a:p>
            <a:endParaRPr lang="fr-FR" dirty="0">
              <a:solidFill>
                <a:schemeClr val="bg1"/>
              </a:solidFill>
            </a:endParaRPr>
          </a:p>
          <a:p>
            <a:pPr marL="449263"/>
            <a:r>
              <a:rPr lang="fr-FR" dirty="0">
                <a:solidFill>
                  <a:schemeClr val="bg1"/>
                </a:solidFill>
              </a:rPr>
              <a:t>Comment Interroger une base d’événements en langage naturel ?</a:t>
            </a:r>
          </a:p>
        </p:txBody>
      </p:sp>
      <p:pic>
        <p:nvPicPr>
          <p:cNvPr id="8" name="Graphique 7" descr="Base de données avec un remplissage uni">
            <a:extLst>
              <a:ext uri="{FF2B5EF4-FFF2-40B4-BE49-F238E27FC236}">
                <a16:creationId xmlns:a16="http://schemas.microsoft.com/office/drawing/2014/main" id="{5A15C9D1-2546-94F6-6985-703875F045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39718" y="4153131"/>
            <a:ext cx="2500057" cy="2500057"/>
          </a:xfrm>
          <a:prstGeom prst="rect">
            <a:avLst/>
          </a:prstGeom>
        </p:spPr>
      </p:pic>
      <p:sp>
        <p:nvSpPr>
          <p:cNvPr id="5" name="ZoneTexte 4">
            <a:extLst>
              <a:ext uri="{FF2B5EF4-FFF2-40B4-BE49-F238E27FC236}">
                <a16:creationId xmlns:a16="http://schemas.microsoft.com/office/drawing/2014/main" id="{AB96C320-81EA-AE67-2C02-2B5A9895F9F5}"/>
              </a:ext>
            </a:extLst>
          </p:cNvPr>
          <p:cNvSpPr txBox="1"/>
          <p:nvPr/>
        </p:nvSpPr>
        <p:spPr>
          <a:xfrm>
            <a:off x="1938137" y="4425108"/>
            <a:ext cx="1503218" cy="1415772"/>
          </a:xfrm>
          <a:prstGeom prst="rect">
            <a:avLst/>
          </a:prstGeom>
          <a:noFill/>
        </p:spPr>
        <p:txBody>
          <a:bodyPr wrap="square" rtlCol="0" anchor="ctr" anchorCtr="0">
            <a:spAutoFit/>
          </a:bodyPr>
          <a:lstStyle/>
          <a:p>
            <a:pPr algn="ctr"/>
            <a:r>
              <a:rPr lang="fr-FR" dirty="0">
                <a:solidFill>
                  <a:schemeClr val="bg1"/>
                </a:solidFill>
              </a:rPr>
              <a:t>Évènements</a:t>
            </a:r>
          </a:p>
          <a:p>
            <a:pPr algn="ctr"/>
            <a:endParaRPr lang="fr-FR" sz="1400" dirty="0">
              <a:solidFill>
                <a:schemeClr val="bg1"/>
              </a:solidFill>
            </a:endParaRPr>
          </a:p>
          <a:p>
            <a:pPr algn="ctr"/>
            <a:r>
              <a:rPr lang="fr-FR" dirty="0">
                <a:solidFill>
                  <a:schemeClr val="bg1"/>
                </a:solidFill>
              </a:rPr>
              <a:t>Open Agenda</a:t>
            </a:r>
          </a:p>
          <a:p>
            <a:pPr algn="ctr"/>
            <a:endParaRPr lang="fr-FR" dirty="0">
              <a:solidFill>
                <a:schemeClr val="bg1"/>
              </a:solidFill>
            </a:endParaRPr>
          </a:p>
          <a:p>
            <a:pPr algn="ctr"/>
            <a:r>
              <a:rPr lang="fr-FR" dirty="0">
                <a:solidFill>
                  <a:schemeClr val="bg1"/>
                </a:solidFill>
              </a:rPr>
              <a:t>913 818 </a:t>
            </a:r>
          </a:p>
        </p:txBody>
      </p:sp>
      <p:pic>
        <p:nvPicPr>
          <p:cNvPr id="9" name="Graphique 8" descr="Questions avec un remplissage uni">
            <a:extLst>
              <a:ext uri="{FF2B5EF4-FFF2-40B4-BE49-F238E27FC236}">
                <a16:creationId xmlns:a16="http://schemas.microsoft.com/office/drawing/2014/main" id="{864B81AC-185F-D469-5944-521CE90C11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6053" y="4153131"/>
            <a:ext cx="2500057" cy="2500057"/>
          </a:xfrm>
          <a:prstGeom prst="rect">
            <a:avLst/>
          </a:prstGeom>
        </p:spPr>
      </p:pic>
      <p:sp>
        <p:nvSpPr>
          <p:cNvPr id="10" name="Rectangle : coins arrondis 9">
            <a:extLst>
              <a:ext uri="{FF2B5EF4-FFF2-40B4-BE49-F238E27FC236}">
                <a16:creationId xmlns:a16="http://schemas.microsoft.com/office/drawing/2014/main" id="{81A590F1-C029-65C1-3E23-F9143035FCCA}"/>
              </a:ext>
            </a:extLst>
          </p:cNvPr>
          <p:cNvSpPr/>
          <p:nvPr/>
        </p:nvSpPr>
        <p:spPr>
          <a:xfrm>
            <a:off x="8001002" y="4348133"/>
            <a:ext cx="3075708" cy="803565"/>
          </a:xfrm>
          <a:prstGeom prst="roundRect">
            <a:avLst/>
          </a:prstGeom>
          <a:solidFill>
            <a:srgbClr val="3D85C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DC4ACBB4-DC38-FB05-1D60-2AA8E3A3251A}"/>
              </a:ext>
            </a:extLst>
          </p:cNvPr>
          <p:cNvSpPr txBox="1"/>
          <p:nvPr/>
        </p:nvSpPr>
        <p:spPr>
          <a:xfrm>
            <a:off x="8091056" y="4457527"/>
            <a:ext cx="2895600" cy="584775"/>
          </a:xfrm>
          <a:prstGeom prst="rect">
            <a:avLst/>
          </a:prstGeom>
          <a:solidFill>
            <a:srgbClr val="3D85C6"/>
          </a:solidFill>
        </p:spPr>
        <p:txBody>
          <a:bodyPr wrap="square" rtlCol="0">
            <a:spAutoFit/>
          </a:bodyPr>
          <a:lstStyle/>
          <a:p>
            <a:r>
              <a:rPr lang="fr-FR" sz="1600" dirty="0">
                <a:solidFill>
                  <a:schemeClr val="bg1"/>
                </a:solidFill>
              </a:rPr>
              <a:t>Y a-t-il des expos pour enfants à Montpellier ce weekend ?</a:t>
            </a:r>
          </a:p>
        </p:txBody>
      </p:sp>
      <p:sp>
        <p:nvSpPr>
          <p:cNvPr id="12" name="Flèche : double flèche horizontale 11">
            <a:extLst>
              <a:ext uri="{FF2B5EF4-FFF2-40B4-BE49-F238E27FC236}">
                <a16:creationId xmlns:a16="http://schemas.microsoft.com/office/drawing/2014/main" id="{EE9E4669-87D7-2F98-BEAB-5ACAAFB3ADA5}"/>
              </a:ext>
            </a:extLst>
          </p:cNvPr>
          <p:cNvSpPr/>
          <p:nvPr/>
        </p:nvSpPr>
        <p:spPr>
          <a:xfrm>
            <a:off x="4227885" y="4865436"/>
            <a:ext cx="2500057" cy="1191491"/>
          </a:xfrm>
          <a:prstGeom prst="leftRightArrow">
            <a:avLst/>
          </a:prstGeom>
          <a:solidFill>
            <a:srgbClr val="3D85C6"/>
          </a:solidFill>
          <a:ln w="63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endParaRPr lang="fr-FR" dirty="0"/>
          </a:p>
        </p:txBody>
      </p:sp>
      <p:cxnSp>
        <p:nvCxnSpPr>
          <p:cNvPr id="15" name="Connecteur droit 14">
            <a:extLst>
              <a:ext uri="{FF2B5EF4-FFF2-40B4-BE49-F238E27FC236}">
                <a16:creationId xmlns:a16="http://schemas.microsoft.com/office/drawing/2014/main" id="{EE7B6EA3-2EB5-D161-61F9-50DF82D6B48A}"/>
              </a:ext>
            </a:extLst>
          </p:cNvPr>
          <p:cNvCxnSpPr>
            <a:cxnSpLocks/>
          </p:cNvCxnSpPr>
          <p:nvPr/>
        </p:nvCxnSpPr>
        <p:spPr>
          <a:xfrm>
            <a:off x="8308181" y="5151698"/>
            <a:ext cx="192881" cy="0"/>
          </a:xfrm>
          <a:prstGeom prst="line">
            <a:avLst/>
          </a:prstGeom>
          <a:ln>
            <a:solidFill>
              <a:srgbClr val="3D85C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318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47CC6-4636-6635-5CF2-E50BF407C64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81F5DE-B829-65E2-FD85-1DFA9CD05DCE}"/>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SOURCE ET OBJECTIFS</a:t>
            </a:r>
          </a:p>
        </p:txBody>
      </p:sp>
      <p:sp>
        <p:nvSpPr>
          <p:cNvPr id="3" name="ZoneTexte 2">
            <a:extLst>
              <a:ext uri="{FF2B5EF4-FFF2-40B4-BE49-F238E27FC236}">
                <a16:creationId xmlns:a16="http://schemas.microsoft.com/office/drawing/2014/main" id="{F6915514-F9EB-F49C-9FE5-23F92D67D82F}"/>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2</a:t>
            </a:r>
          </a:p>
        </p:txBody>
      </p:sp>
      <p:sp>
        <p:nvSpPr>
          <p:cNvPr id="4" name="Rectangle 3">
            <a:extLst>
              <a:ext uri="{FF2B5EF4-FFF2-40B4-BE49-F238E27FC236}">
                <a16:creationId xmlns:a16="http://schemas.microsoft.com/office/drawing/2014/main" id="{E9807D0C-51F9-7488-8F30-387C0B998973}"/>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42EB5CE-6190-213C-748A-64F47DE68DCD}"/>
              </a:ext>
            </a:extLst>
          </p:cNvPr>
          <p:cNvSpPr txBox="1"/>
          <p:nvPr/>
        </p:nvSpPr>
        <p:spPr>
          <a:xfrm>
            <a:off x="142876" y="950595"/>
            <a:ext cx="11591924" cy="5281574"/>
          </a:xfrm>
          <a:prstGeom prst="rect">
            <a:avLst/>
          </a:prstGeom>
          <a:noFill/>
        </p:spPr>
        <p:txBody>
          <a:bodyPr wrap="square" rtlCol="0">
            <a:spAutoFit/>
          </a:bodyPr>
          <a:lstStyle/>
          <a:p>
            <a:r>
              <a:rPr lang="fr-FR" sz="2800" u="sng" dirty="0">
                <a:solidFill>
                  <a:schemeClr val="bg1"/>
                </a:solidFill>
              </a:rPr>
              <a:t>Sources :</a:t>
            </a:r>
            <a:r>
              <a:rPr lang="fr-FR" dirty="0">
                <a:solidFill>
                  <a:schemeClr val="bg1"/>
                </a:solidFill>
              </a:rPr>
              <a:t> </a:t>
            </a:r>
          </a:p>
          <a:p>
            <a:pPr marL="742950" lvl="1" indent="-285750">
              <a:lnSpc>
                <a:spcPct val="150000"/>
              </a:lnSpc>
              <a:buFont typeface="Wingdings" panose="05000000000000000000" pitchFamily="2" charset="2"/>
              <a:buChar char="Ø"/>
            </a:pPr>
            <a:r>
              <a:rPr lang="fr-FR" b="1" dirty="0">
                <a:solidFill>
                  <a:schemeClr val="bg1"/>
                </a:solidFill>
              </a:rPr>
              <a:t>Open Agenda </a:t>
            </a:r>
            <a:r>
              <a:rPr lang="fr-FR" sz="1400" i="1" dirty="0">
                <a:solidFill>
                  <a:schemeClr val="accent1">
                    <a:lumMod val="40000"/>
                    <a:lumOff val="60000"/>
                  </a:schemeClr>
                </a:solidFill>
                <a:sym typeface="Wingdings" panose="05000000000000000000" pitchFamily="2" charset="2"/>
              </a:rPr>
              <a:t>(</a:t>
            </a:r>
            <a:r>
              <a:rPr lang="fr-FR" sz="1400" i="1" dirty="0">
                <a:solidFill>
                  <a:schemeClr val="accent1">
                    <a:lumMod val="40000"/>
                    <a:lumOff val="60000"/>
                  </a:schemeClr>
                </a:solidFill>
              </a:rPr>
              <a:t>913 818 événements au 03/02/2026)</a:t>
            </a:r>
          </a:p>
          <a:p>
            <a:pPr marL="1200150" lvl="2" indent="-285750">
              <a:lnSpc>
                <a:spcPct val="150000"/>
              </a:lnSpc>
              <a:buFont typeface="Arial" panose="020B0604020202020204" pitchFamily="34" charset="0"/>
              <a:buChar char="•"/>
            </a:pPr>
            <a:r>
              <a:rPr lang="fr-FR" i="1" dirty="0">
                <a:solidFill>
                  <a:schemeClr val="bg1"/>
                </a:solidFill>
              </a:rPr>
              <a:t>Concerts, expositions, festivals, spectacles, conférences…</a:t>
            </a:r>
            <a:endParaRPr lang="fr-FR" dirty="0">
              <a:solidFill>
                <a:schemeClr val="bg1"/>
              </a:solidFill>
            </a:endParaRPr>
          </a:p>
          <a:p>
            <a:pPr marL="742950" lvl="1" indent="-285750">
              <a:lnSpc>
                <a:spcPct val="150000"/>
              </a:lnSpc>
              <a:buFont typeface="Wingdings" panose="05000000000000000000" pitchFamily="2" charset="2"/>
              <a:buChar char="Ø"/>
            </a:pPr>
            <a:r>
              <a:rPr lang="fr-FR" b="1" dirty="0">
                <a:solidFill>
                  <a:schemeClr val="bg1"/>
                </a:solidFill>
              </a:rPr>
              <a:t>Région Occitanie </a:t>
            </a:r>
            <a:r>
              <a:rPr lang="fr-FR" sz="1400" i="1" dirty="0">
                <a:solidFill>
                  <a:schemeClr val="accent1">
                    <a:lumMod val="40000"/>
                    <a:lumOff val="60000"/>
                  </a:schemeClr>
                </a:solidFill>
                <a:sym typeface="Wingdings" panose="05000000000000000000" pitchFamily="2" charset="2"/>
              </a:rPr>
              <a:t>(</a:t>
            </a:r>
            <a:r>
              <a:rPr lang="fr-FR" sz="1400" i="1" dirty="0">
                <a:solidFill>
                  <a:schemeClr val="accent1">
                    <a:lumMod val="40000"/>
                    <a:lumOff val="60000"/>
                  </a:schemeClr>
                </a:solidFill>
              </a:rPr>
              <a:t>périmètre volontairement restreint pour valider la chaîne technique)</a:t>
            </a:r>
            <a:r>
              <a:rPr lang="fr-FR" dirty="0">
                <a:solidFill>
                  <a:schemeClr val="bg1"/>
                </a:solidFill>
              </a:rPr>
              <a:t> </a:t>
            </a:r>
          </a:p>
          <a:p>
            <a:pPr marL="742950" lvl="1" indent="-285750">
              <a:lnSpc>
                <a:spcPct val="150000"/>
              </a:lnSpc>
              <a:buFont typeface="Wingdings" panose="05000000000000000000" pitchFamily="2" charset="2"/>
              <a:buChar char="Ø"/>
            </a:pPr>
            <a:r>
              <a:rPr lang="fr-FR" dirty="0">
                <a:solidFill>
                  <a:schemeClr val="bg1"/>
                </a:solidFill>
              </a:rPr>
              <a:t>Événements des </a:t>
            </a:r>
            <a:r>
              <a:rPr lang="fr-FR" b="1" dirty="0">
                <a:solidFill>
                  <a:schemeClr val="bg1"/>
                </a:solidFill>
              </a:rPr>
              <a:t>12 derniers mois + futurs </a:t>
            </a:r>
            <a:r>
              <a:rPr lang="fr-FR" sz="1400" i="1" dirty="0">
                <a:solidFill>
                  <a:schemeClr val="accent1">
                    <a:lumMod val="40000"/>
                    <a:lumOff val="60000"/>
                  </a:schemeClr>
                </a:solidFill>
              </a:rPr>
              <a:t>(7 960 événements pertinents retenus)</a:t>
            </a:r>
          </a:p>
          <a:p>
            <a:pPr>
              <a:lnSpc>
                <a:spcPct val="150000"/>
              </a:lnSpc>
            </a:pPr>
            <a:endParaRPr lang="fr-FR" dirty="0">
              <a:solidFill>
                <a:schemeClr val="bg1"/>
              </a:solidFill>
            </a:endParaRPr>
          </a:p>
          <a:p>
            <a:pPr>
              <a:lnSpc>
                <a:spcPct val="150000"/>
              </a:lnSpc>
            </a:pPr>
            <a:r>
              <a:rPr lang="fr-FR" sz="2800" u="sng" dirty="0">
                <a:solidFill>
                  <a:schemeClr val="bg1"/>
                </a:solidFill>
              </a:rPr>
              <a:t>Objectifs :</a:t>
            </a:r>
            <a:r>
              <a:rPr lang="fr-FR" sz="2800" b="1" dirty="0">
                <a:solidFill>
                  <a:schemeClr val="bg1"/>
                </a:solidFill>
              </a:rPr>
              <a:t> </a:t>
            </a:r>
            <a:endParaRPr lang="fr-FR" b="1"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a:solidFill>
                  <a:schemeClr val="bg1"/>
                </a:solidFill>
              </a:rPr>
              <a:t>Valider la chaîne RAG de bout en bout</a:t>
            </a:r>
          </a:p>
          <a:p>
            <a:pPr marL="742950" lvl="1" indent="-285750">
              <a:lnSpc>
                <a:spcPct val="150000"/>
              </a:lnSpc>
              <a:buClr>
                <a:srgbClr val="00B050"/>
              </a:buClr>
              <a:buFont typeface="Wingdings" panose="05000000000000000000" pitchFamily="2" charset="2"/>
              <a:buChar char="ü"/>
            </a:pPr>
            <a:r>
              <a:rPr lang="fr-FR" dirty="0">
                <a:solidFill>
                  <a:schemeClr val="bg1"/>
                </a:solidFill>
              </a:rPr>
              <a:t>Démontrer la pertinence du </a:t>
            </a:r>
            <a:r>
              <a:rPr lang="fr-FR" dirty="0" err="1">
                <a:solidFill>
                  <a:schemeClr val="bg1"/>
                </a:solidFill>
              </a:rPr>
              <a:t>retrieval</a:t>
            </a:r>
            <a:r>
              <a:rPr lang="fr-FR" dirty="0">
                <a:solidFill>
                  <a:schemeClr val="bg1"/>
                </a:solidFill>
              </a:rPr>
              <a:t> vectoriel</a:t>
            </a:r>
          </a:p>
          <a:p>
            <a:pPr marL="742950" lvl="1" indent="-285750">
              <a:lnSpc>
                <a:spcPct val="150000"/>
              </a:lnSpc>
              <a:buClr>
                <a:srgbClr val="00B050"/>
              </a:buClr>
              <a:buFont typeface="Wingdings" panose="05000000000000000000" pitchFamily="2" charset="2"/>
              <a:buChar char="ü"/>
            </a:pPr>
            <a:r>
              <a:rPr lang="fr-FR" dirty="0">
                <a:solidFill>
                  <a:schemeClr val="bg1"/>
                </a:solidFill>
              </a:rPr>
              <a:t>Évaluer la qualité des réponses générées</a:t>
            </a:r>
          </a:p>
          <a:p>
            <a:pPr marL="742950" lvl="1" indent="-285750">
              <a:lnSpc>
                <a:spcPct val="150000"/>
              </a:lnSpc>
              <a:buClr>
                <a:srgbClr val="00B050"/>
              </a:buClr>
              <a:buFont typeface="Wingdings" panose="05000000000000000000" pitchFamily="2" charset="2"/>
              <a:buChar char="ü"/>
            </a:pPr>
            <a:r>
              <a:rPr lang="fr-FR" dirty="0">
                <a:solidFill>
                  <a:schemeClr val="bg1"/>
                </a:solidFill>
              </a:rPr>
              <a:t>Vérifier la robustesse hors périmètre</a:t>
            </a:r>
          </a:p>
          <a:p>
            <a:pPr marL="742950" lvl="1" indent="-285750">
              <a:lnSpc>
                <a:spcPct val="150000"/>
              </a:lnSpc>
              <a:buClr>
                <a:srgbClr val="00B050"/>
              </a:buClr>
              <a:buFont typeface="Wingdings" panose="05000000000000000000" pitchFamily="2" charset="2"/>
              <a:buChar char="ü"/>
            </a:pPr>
            <a:r>
              <a:rPr lang="fr-FR" dirty="0">
                <a:solidFill>
                  <a:schemeClr val="bg1"/>
                </a:solidFill>
              </a:rPr>
              <a:t>Produire une base technique reproductible b       </a:t>
            </a:r>
          </a:p>
        </p:txBody>
      </p:sp>
      <p:pic>
        <p:nvPicPr>
          <p:cNvPr id="7" name="Image 6">
            <a:extLst>
              <a:ext uri="{FF2B5EF4-FFF2-40B4-BE49-F238E27FC236}">
                <a16:creationId xmlns:a16="http://schemas.microsoft.com/office/drawing/2014/main" id="{FCBFBD8B-A5E1-4C2B-61CF-6BAC86DC2A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501974" y="3192363"/>
            <a:ext cx="3021857" cy="2990434"/>
          </a:xfrm>
          <a:prstGeom prst="rect">
            <a:avLst/>
          </a:prstGeom>
        </p:spPr>
      </p:pic>
    </p:spTree>
    <p:extLst>
      <p:ext uri="{BB962C8B-B14F-4D97-AF65-F5344CB8AC3E}">
        <p14:creationId xmlns:p14="http://schemas.microsoft.com/office/powerpoint/2010/main" val="239160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BCAB3-B308-46FF-4D8C-B8BEE1194DAA}"/>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98474F0-DC4C-CF4A-80ED-CB4D219CB01C}"/>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PIPELINE COMPLET </a:t>
            </a:r>
          </a:p>
        </p:txBody>
      </p:sp>
      <p:sp>
        <p:nvSpPr>
          <p:cNvPr id="3" name="ZoneTexte 2">
            <a:extLst>
              <a:ext uri="{FF2B5EF4-FFF2-40B4-BE49-F238E27FC236}">
                <a16:creationId xmlns:a16="http://schemas.microsoft.com/office/drawing/2014/main" id="{298C0DA5-F29B-1B3D-2674-F0000A9BAA0C}"/>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3</a:t>
            </a:r>
          </a:p>
        </p:txBody>
      </p:sp>
      <p:sp>
        <p:nvSpPr>
          <p:cNvPr id="4" name="Rectangle 3">
            <a:extLst>
              <a:ext uri="{FF2B5EF4-FFF2-40B4-BE49-F238E27FC236}">
                <a16:creationId xmlns:a16="http://schemas.microsoft.com/office/drawing/2014/main" id="{0C760BB9-0EE7-8A0D-63F9-7B6A20DBDC10}"/>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A9A9B93-526C-E633-D15D-EA9C0E9E8C83}"/>
              </a:ext>
            </a:extLst>
          </p:cNvPr>
          <p:cNvSpPr txBox="1"/>
          <p:nvPr/>
        </p:nvSpPr>
        <p:spPr>
          <a:xfrm>
            <a:off x="4986068" y="1582206"/>
            <a:ext cx="7063057" cy="4231928"/>
          </a:xfrm>
          <a:prstGeom prst="rect">
            <a:avLst/>
          </a:prstGeom>
          <a:noFill/>
        </p:spPr>
        <p:txBody>
          <a:bodyPr wrap="square" rtlCol="0">
            <a:spAutoFit/>
          </a:bodyPr>
          <a:lstStyle/>
          <a:p>
            <a:r>
              <a:rPr lang="fr-FR" sz="2800" u="sng" dirty="0">
                <a:solidFill>
                  <a:schemeClr val="bg1"/>
                </a:solidFill>
              </a:rPr>
              <a:t>Ce que fait chaque étape :</a:t>
            </a:r>
          </a:p>
          <a:p>
            <a:pPr>
              <a:lnSpc>
                <a:spcPct val="150000"/>
              </a:lnSpc>
            </a:pPr>
            <a:endParaRPr lang="fr-FR" sz="1000" u="sng" dirty="0">
              <a:solidFill>
                <a:schemeClr val="bg1"/>
              </a:solidFill>
            </a:endParaRPr>
          </a:p>
          <a:p>
            <a:pPr marL="801688" indent="-342900">
              <a:buFont typeface="+mj-lt"/>
              <a:buAutoNum type="arabicPeriod"/>
            </a:pPr>
            <a:r>
              <a:rPr lang="fr-FR" dirty="0">
                <a:solidFill>
                  <a:schemeClr val="bg1"/>
                </a:solidFill>
              </a:rPr>
              <a:t>Source : fichier Open Agenda brut (913 818 événements)</a:t>
            </a:r>
          </a:p>
          <a:p>
            <a:pPr marL="801688" indent="-342900">
              <a:buFont typeface="+mj-lt"/>
              <a:buAutoNum type="arabicPeriod"/>
            </a:pPr>
            <a:r>
              <a:rPr lang="fr-FR" dirty="0" err="1">
                <a:solidFill>
                  <a:schemeClr val="bg1"/>
                </a:solidFill>
              </a:rPr>
              <a:t>Preprocessing</a:t>
            </a:r>
            <a:r>
              <a:rPr lang="fr-FR" dirty="0">
                <a:solidFill>
                  <a:schemeClr val="bg1"/>
                </a:solidFill>
              </a:rPr>
              <a:t> : Nettoyage + filtre géo et temporel → 7 960 utiles</a:t>
            </a:r>
          </a:p>
          <a:p>
            <a:pPr marL="801688" indent="-342900">
              <a:buFont typeface="+mj-lt"/>
              <a:buAutoNum type="arabicPeriod"/>
            </a:pPr>
            <a:r>
              <a:rPr lang="fr-FR" dirty="0" err="1">
                <a:solidFill>
                  <a:schemeClr val="bg1"/>
                </a:solidFill>
              </a:rPr>
              <a:t>Chunking</a:t>
            </a:r>
            <a:r>
              <a:rPr lang="fr-FR" dirty="0">
                <a:solidFill>
                  <a:schemeClr val="bg1"/>
                </a:solidFill>
              </a:rPr>
              <a:t> : découpage en blocs de texte de taille fixe</a:t>
            </a:r>
          </a:p>
          <a:p>
            <a:pPr marL="801688" indent="-342900">
              <a:buFont typeface="+mj-lt"/>
              <a:buAutoNum type="arabicPeriod"/>
            </a:pPr>
            <a:r>
              <a:rPr lang="fr-FR" dirty="0">
                <a:solidFill>
                  <a:schemeClr val="bg1"/>
                </a:solidFill>
              </a:rPr>
              <a:t>Vectorisation : chaque bloc → empreinte 1024D (Mistral)</a:t>
            </a:r>
          </a:p>
          <a:p>
            <a:pPr marL="801688" indent="-342900">
              <a:buFont typeface="+mj-lt"/>
              <a:buAutoNum type="arabicPeriod"/>
            </a:pPr>
            <a:r>
              <a:rPr lang="fr-FR" dirty="0">
                <a:solidFill>
                  <a:schemeClr val="bg1"/>
                </a:solidFill>
              </a:rPr>
              <a:t>FAISS : stockage de toutes les empreintes (40.94 MB)</a:t>
            </a:r>
          </a:p>
          <a:p>
            <a:pPr marL="801688" indent="-342900">
              <a:buFont typeface="+mj-lt"/>
              <a:buAutoNum type="arabicPeriod"/>
            </a:pPr>
            <a:r>
              <a:rPr lang="fr-FR" dirty="0">
                <a:solidFill>
                  <a:schemeClr val="bg1"/>
                </a:solidFill>
              </a:rPr>
              <a:t>RAG : recherche + génération de la réponse</a:t>
            </a:r>
          </a:p>
          <a:p>
            <a:pPr marL="801688" indent="-342900">
              <a:buFont typeface="+mj-lt"/>
              <a:buAutoNum type="arabicPeriod"/>
            </a:pPr>
            <a:r>
              <a:rPr lang="fr-FR" dirty="0">
                <a:solidFill>
                  <a:schemeClr val="bg1"/>
                </a:solidFill>
              </a:rPr>
              <a:t>Interface </a:t>
            </a:r>
            <a:r>
              <a:rPr lang="fr-FR" dirty="0" err="1">
                <a:solidFill>
                  <a:schemeClr val="bg1"/>
                </a:solidFill>
              </a:rPr>
              <a:t>Streamlit</a:t>
            </a:r>
            <a:r>
              <a:rPr lang="fr-FR" dirty="0">
                <a:solidFill>
                  <a:schemeClr val="bg1"/>
                </a:solidFill>
              </a:rPr>
              <a:t> + évaluation Ragas</a:t>
            </a:r>
          </a:p>
          <a:p>
            <a:endParaRPr lang="fr-FR" dirty="0">
              <a:solidFill>
                <a:schemeClr val="bg1"/>
              </a:solidFill>
            </a:endParaRPr>
          </a:p>
          <a:p>
            <a:r>
              <a:rPr lang="fr-FR" sz="2800" u="sng" dirty="0">
                <a:solidFill>
                  <a:schemeClr val="bg1"/>
                </a:solidFill>
              </a:rPr>
              <a:t>Orchestration :</a:t>
            </a:r>
          </a:p>
          <a:p>
            <a:pPr marL="449263"/>
            <a:r>
              <a:rPr lang="fr-FR" b="1" dirty="0" err="1">
                <a:solidFill>
                  <a:schemeClr val="bg1"/>
                </a:solidFill>
              </a:rPr>
              <a:t>LangChain</a:t>
            </a:r>
            <a:r>
              <a:rPr lang="fr-FR" dirty="0">
                <a:solidFill>
                  <a:schemeClr val="bg1"/>
                </a:solidFill>
              </a:rPr>
              <a:t> est le chef d'orchestre : il enchaîne les étapes (</a:t>
            </a:r>
            <a:r>
              <a:rPr lang="fr-FR" dirty="0" err="1">
                <a:solidFill>
                  <a:schemeClr val="bg1"/>
                </a:solidFill>
              </a:rPr>
              <a:t>embedding</a:t>
            </a:r>
            <a:r>
              <a:rPr lang="fr-FR" dirty="0">
                <a:solidFill>
                  <a:schemeClr val="bg1"/>
                </a:solidFill>
              </a:rPr>
              <a:t> → recherche FAISS → prompt → LLM) en une seule chaîne d'appel, sans qu'on ait à câbler manuellement chaque transition.</a:t>
            </a:r>
          </a:p>
        </p:txBody>
      </p:sp>
      <p:pic>
        <p:nvPicPr>
          <p:cNvPr id="14" name="Image 13">
            <a:extLst>
              <a:ext uri="{FF2B5EF4-FFF2-40B4-BE49-F238E27FC236}">
                <a16:creationId xmlns:a16="http://schemas.microsoft.com/office/drawing/2014/main" id="{7D62796B-2D45-6837-1D74-F9CB19B076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709" y="1945957"/>
            <a:ext cx="4581525" cy="3781425"/>
          </a:xfrm>
          <a:prstGeom prst="rect">
            <a:avLst/>
          </a:prstGeom>
        </p:spPr>
      </p:pic>
    </p:spTree>
    <p:extLst>
      <p:ext uri="{BB962C8B-B14F-4D97-AF65-F5344CB8AC3E}">
        <p14:creationId xmlns:p14="http://schemas.microsoft.com/office/powerpoint/2010/main" val="1839711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6B7D8-D781-4341-857C-569A4D31B00E}"/>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E53E046-C0CD-D0AD-D41F-A20F10E682FF}"/>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RETRIEVAL-AUGMENTED GENERATION OU RAG</a:t>
            </a:r>
          </a:p>
        </p:txBody>
      </p:sp>
      <p:sp>
        <p:nvSpPr>
          <p:cNvPr id="3" name="ZoneTexte 2">
            <a:extLst>
              <a:ext uri="{FF2B5EF4-FFF2-40B4-BE49-F238E27FC236}">
                <a16:creationId xmlns:a16="http://schemas.microsoft.com/office/drawing/2014/main" id="{16067669-F7A0-A0EF-F61E-374F91C605CB}"/>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4</a:t>
            </a:r>
          </a:p>
        </p:txBody>
      </p:sp>
      <p:sp>
        <p:nvSpPr>
          <p:cNvPr id="4" name="Rectangle 3">
            <a:extLst>
              <a:ext uri="{FF2B5EF4-FFF2-40B4-BE49-F238E27FC236}">
                <a16:creationId xmlns:a16="http://schemas.microsoft.com/office/drawing/2014/main" id="{1AE78FAD-E32E-A766-289C-5D00D0354228}"/>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ZoneTexte 4">
            <a:extLst>
              <a:ext uri="{FF2B5EF4-FFF2-40B4-BE49-F238E27FC236}">
                <a16:creationId xmlns:a16="http://schemas.microsoft.com/office/drawing/2014/main" id="{57A8DAD5-015A-C5D6-3DC0-3279C6EF8A49}"/>
              </a:ext>
            </a:extLst>
          </p:cNvPr>
          <p:cNvSpPr txBox="1"/>
          <p:nvPr/>
        </p:nvSpPr>
        <p:spPr>
          <a:xfrm>
            <a:off x="142874" y="950595"/>
            <a:ext cx="11906249" cy="4431983"/>
          </a:xfrm>
          <a:prstGeom prst="rect">
            <a:avLst/>
          </a:prstGeom>
          <a:noFill/>
        </p:spPr>
        <p:txBody>
          <a:bodyPr wrap="square" rtlCol="0">
            <a:spAutoFit/>
          </a:bodyPr>
          <a:lstStyle/>
          <a:p>
            <a:r>
              <a:rPr lang="fr-FR" sz="2800" u="sng" dirty="0">
                <a:solidFill>
                  <a:schemeClr val="bg1"/>
                </a:solidFill>
              </a:rPr>
              <a:t>Qu’es ce qu’un RAG :</a:t>
            </a:r>
          </a:p>
          <a:p>
            <a:endParaRPr lang="fr-FR" sz="1000" u="sng" dirty="0">
              <a:solidFill>
                <a:schemeClr val="bg1"/>
              </a:solidFill>
            </a:endParaRPr>
          </a:p>
          <a:p>
            <a:pPr marL="449263"/>
            <a:r>
              <a:rPr lang="fr-FR" dirty="0">
                <a:solidFill>
                  <a:schemeClr val="bg1"/>
                </a:solidFill>
              </a:rPr>
              <a:t>Le RAG est une architecture qui permet à une IA de </a:t>
            </a:r>
            <a:r>
              <a:rPr lang="fr-FR" b="1" dirty="0">
                <a:solidFill>
                  <a:schemeClr val="bg1"/>
                </a:solidFill>
              </a:rPr>
              <a:t>consulter des sources externes fiables</a:t>
            </a:r>
            <a:r>
              <a:rPr lang="fr-FR" dirty="0">
                <a:solidFill>
                  <a:schemeClr val="bg1"/>
                </a:solidFill>
              </a:rPr>
              <a:t> </a:t>
            </a:r>
            <a:r>
              <a:rPr lang="fr-FR" sz="1400" i="1" dirty="0">
                <a:solidFill>
                  <a:schemeClr val="bg1"/>
                </a:solidFill>
              </a:rPr>
              <a:t>(vos documents, le web, des bases de données)</a:t>
            </a:r>
            <a:r>
              <a:rPr lang="fr-FR" dirty="0">
                <a:solidFill>
                  <a:schemeClr val="bg1"/>
                </a:solidFill>
              </a:rPr>
              <a:t> avant de répondre, au lieu de se fier uniquement à sa mémoire interne.</a:t>
            </a:r>
          </a:p>
          <a:p>
            <a:endParaRPr lang="fr-FR" sz="1000" dirty="0">
              <a:solidFill>
                <a:schemeClr val="bg1"/>
              </a:solidFill>
            </a:endParaRPr>
          </a:p>
          <a:p>
            <a:r>
              <a:rPr lang="fr-FR" sz="2800" u="sng" dirty="0">
                <a:solidFill>
                  <a:schemeClr val="bg1"/>
                </a:solidFill>
              </a:rPr>
              <a:t>Pourquoi c'est indispensable ?</a:t>
            </a:r>
          </a:p>
          <a:p>
            <a:endParaRPr lang="fr-FR" sz="1000" dirty="0">
              <a:solidFill>
                <a:schemeClr val="bg1"/>
              </a:solidFill>
            </a:endParaRPr>
          </a:p>
          <a:p>
            <a:pPr marL="742950" lvl="1" indent="-285750">
              <a:buFontTx/>
              <a:buChar char="-"/>
            </a:pPr>
            <a:r>
              <a:rPr lang="fr-FR" b="1" dirty="0">
                <a:solidFill>
                  <a:schemeClr val="bg1"/>
                </a:solidFill>
              </a:rPr>
              <a:t>Zéro Hallucination </a:t>
            </a:r>
            <a:r>
              <a:rPr lang="fr-FR" dirty="0">
                <a:solidFill>
                  <a:schemeClr val="bg1"/>
                </a:solidFill>
              </a:rPr>
              <a:t>: L'IA ne "devine" plus, elle cite les faits présents dans vos documents.</a:t>
            </a:r>
          </a:p>
          <a:p>
            <a:pPr marL="742950" lvl="1" indent="-285750">
              <a:buFontTx/>
              <a:buChar char="-"/>
            </a:pPr>
            <a:r>
              <a:rPr lang="fr-FR" b="1" dirty="0">
                <a:solidFill>
                  <a:schemeClr val="bg1"/>
                </a:solidFill>
              </a:rPr>
              <a:t>Données à jour </a:t>
            </a:r>
            <a:r>
              <a:rPr lang="fr-FR" dirty="0">
                <a:solidFill>
                  <a:schemeClr val="bg1"/>
                </a:solidFill>
              </a:rPr>
              <a:t>: Pas besoin de réentraîner le modèle ; il suffit d'ajouter un nouveau fichier à la base.</a:t>
            </a:r>
          </a:p>
          <a:p>
            <a:pPr marL="742950" lvl="1" indent="-285750">
              <a:buFontTx/>
              <a:buChar char="-"/>
            </a:pPr>
            <a:r>
              <a:rPr lang="fr-FR" b="1" dirty="0">
                <a:solidFill>
                  <a:schemeClr val="bg1"/>
                </a:solidFill>
              </a:rPr>
              <a:t>Confidentialité</a:t>
            </a:r>
            <a:r>
              <a:rPr lang="fr-FR" dirty="0">
                <a:solidFill>
                  <a:schemeClr val="bg1"/>
                </a:solidFill>
              </a:rPr>
              <a:t> : Vous pouvez connecter l'IA à vos documents internes privés sans qu'ils ne servent à entraîner le modèle public.</a:t>
            </a:r>
          </a:p>
          <a:p>
            <a:pPr marL="0" lvl="1"/>
            <a:endParaRPr lang="fr-FR" sz="1000" dirty="0">
              <a:solidFill>
                <a:schemeClr val="bg1"/>
              </a:solidFill>
            </a:endParaRPr>
          </a:p>
          <a:p>
            <a:pPr marL="0" lvl="1"/>
            <a:r>
              <a:rPr lang="fr-FR" sz="2800" u="sng" dirty="0" err="1">
                <a:solidFill>
                  <a:schemeClr val="bg1"/>
                </a:solidFill>
              </a:rPr>
              <a:t>LangChain</a:t>
            </a:r>
            <a:r>
              <a:rPr lang="fr-FR" sz="2800" u="sng" dirty="0">
                <a:solidFill>
                  <a:schemeClr val="bg1"/>
                </a:solidFill>
              </a:rPr>
              <a:t> - le chef d'orchestre :</a:t>
            </a:r>
          </a:p>
          <a:p>
            <a:pPr marL="0" lvl="1"/>
            <a:endParaRPr lang="fr-FR" sz="1000" u="sng" dirty="0">
              <a:solidFill>
                <a:schemeClr val="bg1"/>
              </a:solidFill>
            </a:endParaRPr>
          </a:p>
          <a:p>
            <a:pPr marL="449263" lvl="1"/>
            <a:r>
              <a:rPr lang="fr-FR" dirty="0" err="1">
                <a:solidFill>
                  <a:schemeClr val="bg1"/>
                </a:solidFill>
              </a:rPr>
              <a:t>LangChain</a:t>
            </a:r>
            <a:r>
              <a:rPr lang="fr-FR" dirty="0">
                <a:solidFill>
                  <a:schemeClr val="bg1"/>
                </a:solidFill>
              </a:rPr>
              <a:t> enchaîne toutes les étapes (</a:t>
            </a:r>
            <a:r>
              <a:rPr lang="fr-FR" dirty="0" err="1">
                <a:solidFill>
                  <a:schemeClr val="bg1"/>
                </a:solidFill>
              </a:rPr>
              <a:t>embedding</a:t>
            </a:r>
            <a:r>
              <a:rPr lang="fr-FR" dirty="0">
                <a:solidFill>
                  <a:schemeClr val="bg1"/>
                </a:solidFill>
              </a:rPr>
              <a:t> → recherche FAISS → formatage du prompt → appel LLM) en une seule chaîne d'appel, sans qu'on ait à câbler manuellement chaque transition. C'est lui qui "colle" les briques ensemble.</a:t>
            </a:r>
          </a:p>
        </p:txBody>
      </p:sp>
      <p:sp>
        <p:nvSpPr>
          <p:cNvPr id="9" name="Rectangle 8">
            <a:extLst>
              <a:ext uri="{FF2B5EF4-FFF2-40B4-BE49-F238E27FC236}">
                <a16:creationId xmlns:a16="http://schemas.microsoft.com/office/drawing/2014/main" id="{030CCB64-8A8B-6208-164F-EC479D9B43D9}"/>
              </a:ext>
            </a:extLst>
          </p:cNvPr>
          <p:cNvSpPr/>
          <p:nvPr/>
        </p:nvSpPr>
        <p:spPr>
          <a:xfrm>
            <a:off x="165308" y="5433857"/>
            <a:ext cx="5326380" cy="113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1 - </a:t>
            </a:r>
            <a:r>
              <a:rPr lang="fr-FR" b="1" dirty="0" err="1"/>
              <a:t>Retrieval-Augmented</a:t>
            </a:r>
            <a:endParaRPr lang="fr-FR" b="1" dirty="0"/>
          </a:p>
          <a:p>
            <a:pPr algn="ctr"/>
            <a:r>
              <a:rPr lang="fr-FR" dirty="0"/>
              <a:t>Chercher </a:t>
            </a:r>
            <a:r>
              <a:rPr lang="fr-FR" sz="1400" i="1" dirty="0"/>
              <a:t>(</a:t>
            </a:r>
            <a:r>
              <a:rPr lang="fr-FR" sz="1400" i="1" dirty="0" err="1"/>
              <a:t>embedding</a:t>
            </a:r>
            <a:r>
              <a:rPr lang="fr-FR" sz="1400" i="1" dirty="0"/>
              <a:t> → recherche FAISS → formatage du prompt )</a:t>
            </a:r>
          </a:p>
          <a:p>
            <a:pPr algn="ctr"/>
            <a:endParaRPr lang="fr-FR" sz="600" i="1" dirty="0"/>
          </a:p>
          <a:p>
            <a:pPr algn="ctr"/>
            <a:r>
              <a:rPr lang="fr-FR" sz="1200" dirty="0">
                <a:solidFill>
                  <a:srgbClr val="FFFFFF"/>
                </a:solidFill>
              </a:rPr>
              <a:t>On transforme la question en empreinte numérique et on cherche dans la base les passages les plus proches sémantiquement</a:t>
            </a:r>
            <a:endParaRPr lang="fr-FR" i="1" dirty="0"/>
          </a:p>
        </p:txBody>
      </p:sp>
      <p:sp>
        <p:nvSpPr>
          <p:cNvPr id="10" name="Rectangle 9">
            <a:extLst>
              <a:ext uri="{FF2B5EF4-FFF2-40B4-BE49-F238E27FC236}">
                <a16:creationId xmlns:a16="http://schemas.microsoft.com/office/drawing/2014/main" id="{5600D69C-AF2C-E841-5AA5-2C07D7877B99}"/>
              </a:ext>
            </a:extLst>
          </p:cNvPr>
          <p:cNvSpPr/>
          <p:nvPr/>
        </p:nvSpPr>
        <p:spPr>
          <a:xfrm>
            <a:off x="6708343" y="5433857"/>
            <a:ext cx="5326380" cy="1136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2 - </a:t>
            </a:r>
            <a:r>
              <a:rPr lang="fr-FR" b="1" dirty="0" err="1"/>
              <a:t>Generation</a:t>
            </a:r>
            <a:endParaRPr lang="fr-FR" b="1" dirty="0"/>
          </a:p>
          <a:p>
            <a:pPr algn="ctr"/>
            <a:r>
              <a:rPr lang="fr-FR" dirty="0"/>
              <a:t>Rédiger </a:t>
            </a:r>
            <a:r>
              <a:rPr lang="fr-FR" sz="1400" i="1" dirty="0"/>
              <a:t>(appel LLM)</a:t>
            </a:r>
          </a:p>
          <a:p>
            <a:pPr algn="ctr"/>
            <a:endParaRPr lang="fr-FR" sz="600" i="1" dirty="0"/>
          </a:p>
          <a:p>
            <a:pPr algn="ctr"/>
            <a:r>
              <a:rPr lang="fr-FR" sz="1200" dirty="0">
                <a:solidFill>
                  <a:srgbClr val="FFFFFF"/>
                </a:solidFill>
              </a:rPr>
              <a:t>Le LLM reçoit ces passages comme contexte et rédige une réponse en se basant UNIQUEMENT sur eux = pas d’invention possible</a:t>
            </a:r>
          </a:p>
        </p:txBody>
      </p:sp>
      <p:sp>
        <p:nvSpPr>
          <p:cNvPr id="11" name="Flèche : double flèche horizontale 10">
            <a:extLst>
              <a:ext uri="{FF2B5EF4-FFF2-40B4-BE49-F238E27FC236}">
                <a16:creationId xmlns:a16="http://schemas.microsoft.com/office/drawing/2014/main" id="{4DDD10D7-0114-5983-3534-2F90EC2F79B8}"/>
              </a:ext>
            </a:extLst>
          </p:cNvPr>
          <p:cNvSpPr/>
          <p:nvPr/>
        </p:nvSpPr>
        <p:spPr>
          <a:xfrm>
            <a:off x="5436441" y="5657814"/>
            <a:ext cx="1327150" cy="68889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dirty="0" err="1"/>
              <a:t>LangChain</a:t>
            </a:r>
            <a:endParaRPr lang="fr-FR" dirty="0"/>
          </a:p>
        </p:txBody>
      </p:sp>
    </p:spTree>
    <p:extLst>
      <p:ext uri="{BB962C8B-B14F-4D97-AF65-F5344CB8AC3E}">
        <p14:creationId xmlns:p14="http://schemas.microsoft.com/office/powerpoint/2010/main" val="1178461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C4C79-0CF5-65A0-7D36-96446987E21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4EA3CEC-C2BB-9D92-6AC4-09060BCFDB9E}"/>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FAISS : La bibliothèque de recherche vectorielle</a:t>
            </a:r>
          </a:p>
        </p:txBody>
      </p:sp>
      <p:sp>
        <p:nvSpPr>
          <p:cNvPr id="3" name="ZoneTexte 2">
            <a:extLst>
              <a:ext uri="{FF2B5EF4-FFF2-40B4-BE49-F238E27FC236}">
                <a16:creationId xmlns:a16="http://schemas.microsoft.com/office/drawing/2014/main" id="{C6A50C28-8B95-D0F5-6FD0-E956B751DD46}"/>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5</a:t>
            </a:r>
          </a:p>
        </p:txBody>
      </p:sp>
      <p:pic>
        <p:nvPicPr>
          <p:cNvPr id="13" name="Image 12">
            <a:extLst>
              <a:ext uri="{FF2B5EF4-FFF2-40B4-BE49-F238E27FC236}">
                <a16:creationId xmlns:a16="http://schemas.microsoft.com/office/drawing/2014/main" id="{F66006BF-1976-BD77-9AE6-9E106B844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138" y="1503997"/>
            <a:ext cx="8763721" cy="4665345"/>
          </a:xfrm>
          <a:prstGeom prst="rect">
            <a:avLst/>
          </a:prstGeom>
        </p:spPr>
      </p:pic>
      <p:sp>
        <p:nvSpPr>
          <p:cNvPr id="4" name="Rectangle 3">
            <a:extLst>
              <a:ext uri="{FF2B5EF4-FFF2-40B4-BE49-F238E27FC236}">
                <a16:creationId xmlns:a16="http://schemas.microsoft.com/office/drawing/2014/main" id="{85CE2D4D-7D18-2423-E76F-921A165863C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476CEA6-6449-49EF-2536-B7EF1EF48F5F}"/>
              </a:ext>
            </a:extLst>
          </p:cNvPr>
          <p:cNvSpPr txBox="1"/>
          <p:nvPr/>
        </p:nvSpPr>
        <p:spPr>
          <a:xfrm>
            <a:off x="142875" y="950595"/>
            <a:ext cx="11906250" cy="1938992"/>
          </a:xfrm>
          <a:prstGeom prst="rect">
            <a:avLst/>
          </a:prstGeom>
          <a:noFill/>
        </p:spPr>
        <p:txBody>
          <a:bodyPr wrap="square" rtlCol="0">
            <a:spAutoFit/>
          </a:bodyPr>
          <a:lstStyle/>
          <a:p>
            <a:r>
              <a:rPr lang="fr-FR" sz="2800" u="sng" dirty="0">
                <a:solidFill>
                  <a:schemeClr val="bg1"/>
                </a:solidFill>
              </a:rPr>
              <a:t>Qu’es ce que FAISS :</a:t>
            </a:r>
          </a:p>
          <a:p>
            <a:endParaRPr lang="fr-FR" sz="1000" u="sng" dirty="0">
              <a:solidFill>
                <a:schemeClr val="bg1"/>
              </a:solidFill>
            </a:endParaRPr>
          </a:p>
          <a:p>
            <a:pPr marL="449263"/>
            <a:r>
              <a:rPr lang="fr-FR" dirty="0">
                <a:solidFill>
                  <a:schemeClr val="bg1"/>
                </a:solidFill>
              </a:rPr>
              <a:t>FAISS </a:t>
            </a:r>
            <a:r>
              <a:rPr lang="fr-FR" sz="1400" i="1" dirty="0">
                <a:solidFill>
                  <a:schemeClr val="accent1">
                    <a:lumMod val="40000"/>
                    <a:lumOff val="60000"/>
                  </a:schemeClr>
                </a:solidFill>
              </a:rPr>
              <a:t>(Facebook AI </a:t>
            </a:r>
            <a:r>
              <a:rPr lang="fr-FR" sz="1400" i="1" dirty="0" err="1">
                <a:solidFill>
                  <a:schemeClr val="accent1">
                    <a:lumMod val="40000"/>
                    <a:lumOff val="60000"/>
                  </a:schemeClr>
                </a:solidFill>
              </a:rPr>
              <a:t>Similarity</a:t>
            </a:r>
            <a:r>
              <a:rPr lang="fr-FR" sz="1400" i="1" dirty="0">
                <a:solidFill>
                  <a:schemeClr val="accent1">
                    <a:lumMod val="40000"/>
                    <a:lumOff val="60000"/>
                  </a:schemeClr>
                </a:solidFill>
              </a:rPr>
              <a:t> </a:t>
            </a:r>
            <a:r>
              <a:rPr lang="fr-FR" sz="1400" i="1" dirty="0" err="1">
                <a:solidFill>
                  <a:schemeClr val="accent1">
                    <a:lumMod val="40000"/>
                    <a:lumOff val="60000"/>
                  </a:schemeClr>
                </a:solidFill>
              </a:rPr>
              <a:t>Search</a:t>
            </a:r>
            <a:r>
              <a:rPr lang="fr-FR" sz="1400" i="1" dirty="0">
                <a:solidFill>
                  <a:schemeClr val="accent1">
                    <a:lumMod val="40000"/>
                    <a:lumOff val="60000"/>
                  </a:schemeClr>
                </a:solidFill>
              </a:rPr>
              <a:t>) </a:t>
            </a:r>
            <a:r>
              <a:rPr lang="fr-FR" dirty="0">
                <a:solidFill>
                  <a:schemeClr val="bg1"/>
                </a:solidFill>
              </a:rPr>
              <a:t>est une bibliothèque open-source développée par Meta pour effectuer des recherches de similarité ultra-rapides au sein de bases de données massives contenant des millions (voire des milliards) de vecteurs.</a:t>
            </a:r>
          </a:p>
          <a:p>
            <a:endParaRPr lang="fr-FR" dirty="0">
              <a:solidFill>
                <a:schemeClr val="bg1"/>
              </a:solidFill>
            </a:endParaRPr>
          </a:p>
          <a:p>
            <a:r>
              <a:rPr lang="fr-FR" sz="2800" u="sng" dirty="0">
                <a:solidFill>
                  <a:schemeClr val="bg1"/>
                </a:solidFill>
              </a:rPr>
              <a:t>Pourquoi FAISS :</a:t>
            </a:r>
            <a:endParaRPr lang="fr-FR" dirty="0">
              <a:solidFill>
                <a:schemeClr val="bg1"/>
              </a:solidFill>
            </a:endParaRPr>
          </a:p>
        </p:txBody>
      </p:sp>
      <p:graphicFrame>
        <p:nvGraphicFramePr>
          <p:cNvPr id="6" name="Tableau 5">
            <a:extLst>
              <a:ext uri="{FF2B5EF4-FFF2-40B4-BE49-F238E27FC236}">
                <a16:creationId xmlns:a16="http://schemas.microsoft.com/office/drawing/2014/main" id="{B9F295A0-646A-3D65-D63C-1B30BC2FC38D}"/>
              </a:ext>
            </a:extLst>
          </p:cNvPr>
          <p:cNvGraphicFramePr>
            <a:graphicFrameLocks noGrp="1"/>
          </p:cNvGraphicFramePr>
          <p:nvPr>
            <p:extLst>
              <p:ext uri="{D42A27DB-BD31-4B8C-83A1-F6EECF244321}">
                <p14:modId xmlns:p14="http://schemas.microsoft.com/office/powerpoint/2010/main" val="2845423713"/>
              </p:ext>
            </p:extLst>
          </p:nvPr>
        </p:nvGraphicFramePr>
        <p:xfrm>
          <a:off x="1295397" y="3005464"/>
          <a:ext cx="9601201" cy="1524000"/>
        </p:xfrm>
        <a:graphic>
          <a:graphicData uri="http://schemas.openxmlformats.org/drawingml/2006/table">
            <a:tbl>
              <a:tblPr firstRow="1" bandRow="1">
                <a:tableStyleId>{FABFCF23-3B69-468F-B69F-88F6DE6A72F2}</a:tableStyleId>
              </a:tblPr>
              <a:tblGrid>
                <a:gridCol w="2473036">
                  <a:extLst>
                    <a:ext uri="{9D8B030D-6E8A-4147-A177-3AD203B41FA5}">
                      <a16:colId xmlns:a16="http://schemas.microsoft.com/office/drawing/2014/main" val="3485878314"/>
                    </a:ext>
                  </a:extLst>
                </a:gridCol>
                <a:gridCol w="3814619">
                  <a:extLst>
                    <a:ext uri="{9D8B030D-6E8A-4147-A177-3AD203B41FA5}">
                      <a16:colId xmlns:a16="http://schemas.microsoft.com/office/drawing/2014/main" val="1720066954"/>
                    </a:ext>
                  </a:extLst>
                </a:gridCol>
                <a:gridCol w="3313546">
                  <a:extLst>
                    <a:ext uri="{9D8B030D-6E8A-4147-A177-3AD203B41FA5}">
                      <a16:colId xmlns:a16="http://schemas.microsoft.com/office/drawing/2014/main" val="954909294"/>
                    </a:ext>
                  </a:extLst>
                </a:gridCol>
              </a:tblGrid>
              <a:tr h="0">
                <a:tc>
                  <a:txBody>
                    <a:bodyPr/>
                    <a:lstStyle/>
                    <a:p>
                      <a:pPr algn="ctr"/>
                      <a:r>
                        <a:rPr sz="1800" b="1" dirty="0" err="1">
                          <a:solidFill>
                            <a:schemeClr val="bg1"/>
                          </a:solidFill>
                        </a:rPr>
                        <a:t>Critère</a:t>
                      </a:r>
                      <a:r>
                        <a:rPr lang="fr-FR" sz="1800" b="1" dirty="0">
                          <a:solidFill>
                            <a:schemeClr val="bg1"/>
                          </a:solidFill>
                        </a:rPr>
                        <a:t>s</a:t>
                      </a:r>
                      <a:endParaRPr sz="1800" b="1" dirty="0">
                        <a:solidFill>
                          <a:schemeClr val="bg1"/>
                        </a:solidFill>
                      </a:endParaRPr>
                    </a:p>
                  </a:txBody>
                  <a:tcPr>
                    <a:solidFill>
                      <a:srgbClr val="3D85C6"/>
                    </a:solidFill>
                  </a:tcPr>
                </a:tc>
                <a:tc>
                  <a:txBody>
                    <a:bodyPr/>
                    <a:lstStyle/>
                    <a:p>
                      <a:pPr algn="ctr"/>
                      <a:r>
                        <a:rPr sz="1800" b="1" dirty="0">
                          <a:solidFill>
                            <a:schemeClr val="bg1"/>
                          </a:solidFill>
                        </a:rPr>
                        <a:t>FAISS</a:t>
                      </a:r>
                    </a:p>
                  </a:txBody>
                  <a:tcPr>
                    <a:solidFill>
                      <a:srgbClr val="3D85C6"/>
                    </a:solidFill>
                  </a:tcPr>
                </a:tc>
                <a:tc>
                  <a:txBody>
                    <a:bodyPr/>
                    <a:lstStyle/>
                    <a:p>
                      <a:pPr algn="ctr"/>
                      <a:r>
                        <a:rPr sz="1800" b="1" dirty="0">
                          <a:solidFill>
                            <a:schemeClr val="bg1"/>
                          </a:solidFill>
                        </a:rPr>
                        <a:t>Alternatives (Chroma, </a:t>
                      </a:r>
                      <a:r>
                        <a:rPr sz="1800" b="1" dirty="0" err="1">
                          <a:solidFill>
                            <a:schemeClr val="bg1"/>
                          </a:solidFill>
                        </a:rPr>
                        <a:t>Weaviate</a:t>
                      </a:r>
                      <a:r>
                        <a:rPr sz="1800" b="1" dirty="0">
                          <a:solidFill>
                            <a:schemeClr val="bg1"/>
                          </a:solidFill>
                        </a:rPr>
                        <a:t>)</a:t>
                      </a:r>
                    </a:p>
                  </a:txBody>
                  <a:tcPr>
                    <a:solidFill>
                      <a:srgbClr val="3D85C6"/>
                    </a:solidFill>
                  </a:tcPr>
                </a:tc>
                <a:extLst>
                  <a:ext uri="{0D108BD9-81ED-4DB2-BD59-A6C34878D82A}">
                    <a16:rowId xmlns:a16="http://schemas.microsoft.com/office/drawing/2014/main" val="1457453432"/>
                  </a:ext>
                </a:extLst>
              </a:tr>
              <a:tr h="141929">
                <a:tc>
                  <a:txBody>
                    <a:bodyPr/>
                    <a:lstStyle/>
                    <a:p>
                      <a:pPr algn="ctr"/>
                      <a:r>
                        <a:rPr sz="1300" b="0" dirty="0" err="1">
                          <a:solidFill>
                            <a:srgbClr val="262626"/>
                          </a:solidFill>
                        </a:rPr>
                        <a:t>Déploiement</a:t>
                      </a:r>
                      <a:endParaRPr sz="1300" b="0" dirty="0">
                        <a:solidFill>
                          <a:srgbClr val="262626"/>
                        </a:solidFill>
                      </a:endParaRPr>
                    </a:p>
                  </a:txBody>
                  <a:tcPr/>
                </a:tc>
                <a:tc>
                  <a:txBody>
                    <a:bodyPr/>
                    <a:lstStyle/>
                    <a:p>
                      <a:pPr algn="ctr"/>
                      <a:r>
                        <a:rPr sz="1300" b="0" dirty="0" err="1">
                          <a:solidFill>
                            <a:srgbClr val="262626"/>
                          </a:solidFill>
                        </a:rPr>
                        <a:t>Fichier</a:t>
                      </a:r>
                      <a:r>
                        <a:rPr sz="1300" b="0" dirty="0">
                          <a:solidFill>
                            <a:srgbClr val="262626"/>
                          </a:solidFill>
                        </a:rPr>
                        <a:t> .bin, </a:t>
                      </a:r>
                      <a:r>
                        <a:rPr sz="1300" b="0" dirty="0" err="1">
                          <a:solidFill>
                            <a:srgbClr val="262626"/>
                          </a:solidFill>
                        </a:rPr>
                        <a:t>zéro</a:t>
                      </a:r>
                      <a:r>
                        <a:rPr sz="1300" b="0" dirty="0">
                          <a:solidFill>
                            <a:srgbClr val="262626"/>
                          </a:solidFill>
                        </a:rPr>
                        <a:t> </a:t>
                      </a:r>
                      <a:r>
                        <a:rPr sz="1300" b="0" dirty="0" err="1">
                          <a:solidFill>
                            <a:srgbClr val="262626"/>
                          </a:solidFill>
                        </a:rPr>
                        <a:t>serveur</a:t>
                      </a:r>
                      <a:endParaRPr sz="1300" b="0" dirty="0">
                        <a:solidFill>
                          <a:srgbClr val="262626"/>
                        </a:solidFill>
                      </a:endParaRPr>
                    </a:p>
                  </a:txBody>
                  <a:tcPr/>
                </a:tc>
                <a:tc>
                  <a:txBody>
                    <a:bodyPr/>
                    <a:lstStyle/>
                    <a:p>
                      <a:pPr algn="ctr"/>
                      <a:r>
                        <a:rPr sz="1300" b="0" dirty="0">
                          <a:solidFill>
                            <a:srgbClr val="262626"/>
                          </a:solidFill>
                        </a:rPr>
                        <a:t>Service </a:t>
                      </a:r>
                      <a:r>
                        <a:rPr sz="1300" b="0" dirty="0" err="1">
                          <a:solidFill>
                            <a:srgbClr val="262626"/>
                          </a:solidFill>
                        </a:rPr>
                        <a:t>dédié</a:t>
                      </a:r>
                      <a:r>
                        <a:rPr sz="1300" b="0" dirty="0">
                          <a:solidFill>
                            <a:srgbClr val="262626"/>
                          </a:solidFill>
                        </a:rPr>
                        <a:t> </a:t>
                      </a:r>
                      <a:r>
                        <a:rPr sz="1300" b="0" dirty="0" err="1">
                          <a:solidFill>
                            <a:srgbClr val="262626"/>
                          </a:solidFill>
                        </a:rPr>
                        <a:t>requis</a:t>
                      </a:r>
                      <a:endParaRPr sz="1300" b="0" dirty="0">
                        <a:solidFill>
                          <a:srgbClr val="262626"/>
                        </a:solidFill>
                      </a:endParaRPr>
                    </a:p>
                  </a:txBody>
                  <a:tcPr/>
                </a:tc>
                <a:extLst>
                  <a:ext uri="{0D108BD9-81ED-4DB2-BD59-A6C34878D82A}">
                    <a16:rowId xmlns:a16="http://schemas.microsoft.com/office/drawing/2014/main" val="3533428795"/>
                  </a:ext>
                </a:extLst>
              </a:tr>
              <a:tr h="0">
                <a:tc>
                  <a:txBody>
                    <a:bodyPr/>
                    <a:lstStyle/>
                    <a:p>
                      <a:pPr algn="ctr"/>
                      <a:r>
                        <a:rPr sz="1300" b="0" dirty="0">
                          <a:solidFill>
                            <a:srgbClr val="262626"/>
                          </a:solidFill>
                        </a:rPr>
                        <a:t>Performance</a:t>
                      </a:r>
                    </a:p>
                  </a:txBody>
                  <a:tcPr/>
                </a:tc>
                <a:tc>
                  <a:txBody>
                    <a:bodyPr/>
                    <a:lstStyle/>
                    <a:p>
                      <a:pPr algn="ctr"/>
                      <a:r>
                        <a:rPr sz="1300" b="0" dirty="0">
                          <a:solidFill>
                            <a:srgbClr val="262626"/>
                          </a:solidFill>
                        </a:rPr>
                        <a:t>Recherche </a:t>
                      </a:r>
                      <a:r>
                        <a:rPr sz="1300" b="0" dirty="0" err="1">
                          <a:solidFill>
                            <a:srgbClr val="262626"/>
                          </a:solidFill>
                        </a:rPr>
                        <a:t>exacte</a:t>
                      </a:r>
                      <a:r>
                        <a:rPr sz="1300" b="0" dirty="0">
                          <a:solidFill>
                            <a:srgbClr val="262626"/>
                          </a:solidFill>
                        </a:rPr>
                        <a:t> &lt; 1ms / 10 480 </a:t>
                      </a:r>
                      <a:r>
                        <a:rPr sz="1300" b="0" dirty="0" err="1">
                          <a:solidFill>
                            <a:srgbClr val="262626"/>
                          </a:solidFill>
                        </a:rPr>
                        <a:t>vecteurs</a:t>
                      </a:r>
                      <a:endParaRPr sz="1300" b="0" dirty="0">
                        <a:solidFill>
                          <a:srgbClr val="262626"/>
                        </a:solidFill>
                      </a:endParaRPr>
                    </a:p>
                  </a:txBody>
                  <a:tcPr/>
                </a:tc>
                <a:tc>
                  <a:txBody>
                    <a:bodyPr/>
                    <a:lstStyle/>
                    <a:p>
                      <a:pPr algn="ctr"/>
                      <a:r>
                        <a:rPr sz="1300" b="0" dirty="0">
                          <a:solidFill>
                            <a:srgbClr val="262626"/>
                          </a:solidFill>
                        </a:rPr>
                        <a:t>Overkill &lt; 100K </a:t>
                      </a:r>
                      <a:r>
                        <a:rPr sz="1300" b="0" dirty="0" err="1">
                          <a:solidFill>
                            <a:srgbClr val="262626"/>
                          </a:solidFill>
                        </a:rPr>
                        <a:t>vecteurs</a:t>
                      </a:r>
                      <a:endParaRPr sz="1300" b="0" dirty="0">
                        <a:solidFill>
                          <a:srgbClr val="262626"/>
                        </a:solidFill>
                      </a:endParaRPr>
                    </a:p>
                  </a:txBody>
                  <a:tcPr/>
                </a:tc>
                <a:extLst>
                  <a:ext uri="{0D108BD9-81ED-4DB2-BD59-A6C34878D82A}">
                    <a16:rowId xmlns:a16="http://schemas.microsoft.com/office/drawing/2014/main" val="2996422529"/>
                  </a:ext>
                </a:extLst>
              </a:tr>
              <a:tr h="0">
                <a:tc>
                  <a:txBody>
                    <a:bodyPr/>
                    <a:lstStyle/>
                    <a:p>
                      <a:pPr algn="ctr"/>
                      <a:r>
                        <a:rPr sz="1300" b="0">
                          <a:solidFill>
                            <a:srgbClr val="262626"/>
                          </a:solidFill>
                        </a:rPr>
                        <a:t>Intégration LangChain</a:t>
                      </a:r>
                    </a:p>
                  </a:txBody>
                  <a:tcPr/>
                </a:tc>
                <a:tc>
                  <a:txBody>
                    <a:bodyPr/>
                    <a:lstStyle/>
                    <a:p>
                      <a:pPr algn="ctr"/>
                      <a:r>
                        <a:rPr sz="1300" b="0" dirty="0" err="1">
                          <a:solidFill>
                            <a:srgbClr val="262626"/>
                          </a:solidFill>
                        </a:rPr>
                        <a:t>FAISS.load_local</a:t>
                      </a:r>
                      <a:r>
                        <a:rPr sz="1300" b="0" dirty="0">
                          <a:solidFill>
                            <a:srgbClr val="262626"/>
                          </a:solidFill>
                        </a:rPr>
                        <a:t>() </a:t>
                      </a:r>
                      <a:r>
                        <a:rPr sz="1300" b="0" dirty="0" err="1">
                          <a:solidFill>
                            <a:srgbClr val="262626"/>
                          </a:solidFill>
                        </a:rPr>
                        <a:t>natif</a:t>
                      </a:r>
                      <a:endParaRPr sz="1300" b="0" dirty="0">
                        <a:solidFill>
                          <a:srgbClr val="262626"/>
                        </a:solidFill>
                      </a:endParaRPr>
                    </a:p>
                  </a:txBody>
                  <a:tcPr/>
                </a:tc>
                <a:tc>
                  <a:txBody>
                    <a:bodyPr/>
                    <a:lstStyle/>
                    <a:p>
                      <a:pPr algn="ctr"/>
                      <a:r>
                        <a:rPr sz="1300" b="0" dirty="0">
                          <a:solidFill>
                            <a:srgbClr val="262626"/>
                          </a:solidFill>
                        </a:rPr>
                        <a:t>Variable</a:t>
                      </a:r>
                    </a:p>
                  </a:txBody>
                  <a:tcPr/>
                </a:tc>
                <a:extLst>
                  <a:ext uri="{0D108BD9-81ED-4DB2-BD59-A6C34878D82A}">
                    <a16:rowId xmlns:a16="http://schemas.microsoft.com/office/drawing/2014/main" val="141760056"/>
                  </a:ext>
                </a:extLst>
              </a:tr>
              <a:tr h="0">
                <a:tc>
                  <a:txBody>
                    <a:bodyPr/>
                    <a:lstStyle/>
                    <a:p>
                      <a:pPr algn="ctr"/>
                      <a:r>
                        <a:rPr sz="1300" b="0">
                          <a:solidFill>
                            <a:srgbClr val="262626"/>
                          </a:solidFill>
                        </a:rPr>
                        <a:t>Coût</a:t>
                      </a:r>
                    </a:p>
                  </a:txBody>
                  <a:tcPr/>
                </a:tc>
                <a:tc>
                  <a:txBody>
                    <a:bodyPr/>
                    <a:lstStyle/>
                    <a:p>
                      <a:pPr algn="ctr"/>
                      <a:r>
                        <a:rPr sz="1300" b="0" dirty="0" err="1">
                          <a:solidFill>
                            <a:srgbClr val="262626"/>
                          </a:solidFill>
                        </a:rPr>
                        <a:t>Gratuit</a:t>
                      </a:r>
                      <a:r>
                        <a:rPr sz="1300" b="0" dirty="0">
                          <a:solidFill>
                            <a:srgbClr val="262626"/>
                          </a:solidFill>
                        </a:rPr>
                        <a:t>, open-source</a:t>
                      </a:r>
                    </a:p>
                  </a:txBody>
                  <a:tcPr/>
                </a:tc>
                <a:tc>
                  <a:txBody>
                    <a:bodyPr/>
                    <a:lstStyle/>
                    <a:p>
                      <a:pPr algn="ctr"/>
                      <a:r>
                        <a:rPr sz="1300" b="0" dirty="0">
                          <a:solidFill>
                            <a:srgbClr val="262626"/>
                          </a:solidFill>
                        </a:rPr>
                        <a:t>Parfois </a:t>
                      </a:r>
                      <a:r>
                        <a:rPr sz="1300" b="0" dirty="0" err="1">
                          <a:solidFill>
                            <a:srgbClr val="262626"/>
                          </a:solidFill>
                        </a:rPr>
                        <a:t>payant</a:t>
                      </a:r>
                      <a:r>
                        <a:rPr sz="1300" b="0" dirty="0">
                          <a:solidFill>
                            <a:srgbClr val="262626"/>
                          </a:solidFill>
                        </a:rPr>
                        <a:t> </a:t>
                      </a:r>
                      <a:r>
                        <a:rPr sz="1300" b="0" dirty="0" err="1">
                          <a:solidFill>
                            <a:srgbClr val="262626"/>
                          </a:solidFill>
                        </a:rPr>
                        <a:t>en</a:t>
                      </a:r>
                      <a:r>
                        <a:rPr sz="1300" b="0" dirty="0">
                          <a:solidFill>
                            <a:srgbClr val="262626"/>
                          </a:solidFill>
                        </a:rPr>
                        <a:t> cloud</a:t>
                      </a:r>
                    </a:p>
                  </a:txBody>
                  <a:tcPr/>
                </a:tc>
                <a:extLst>
                  <a:ext uri="{0D108BD9-81ED-4DB2-BD59-A6C34878D82A}">
                    <a16:rowId xmlns:a16="http://schemas.microsoft.com/office/drawing/2014/main" val="3059310038"/>
                  </a:ext>
                </a:extLst>
              </a:tr>
            </a:tbl>
          </a:graphicData>
        </a:graphic>
      </p:graphicFrame>
      <p:pic>
        <p:nvPicPr>
          <p:cNvPr id="15" name="Image 14">
            <a:extLst>
              <a:ext uri="{FF2B5EF4-FFF2-40B4-BE49-F238E27FC236}">
                <a16:creationId xmlns:a16="http://schemas.microsoft.com/office/drawing/2014/main" id="{34A01606-DB6A-9C86-52A1-89A700200C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8128" y="0"/>
            <a:ext cx="1503872" cy="800583"/>
          </a:xfrm>
          <a:prstGeom prst="rect">
            <a:avLst/>
          </a:prstGeom>
        </p:spPr>
      </p:pic>
    </p:spTree>
    <p:extLst>
      <p:ext uri="{BB962C8B-B14F-4D97-AF65-F5344CB8AC3E}">
        <p14:creationId xmlns:p14="http://schemas.microsoft.com/office/powerpoint/2010/main" val="2022766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4596-1597-D633-6C1A-C64ADCE4E81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2255E39-3524-FD02-07ED-240CC422D79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MISTRAL AI : Un seul fournisseur, trois rôles distincts</a:t>
            </a:r>
          </a:p>
        </p:txBody>
      </p:sp>
      <p:sp>
        <p:nvSpPr>
          <p:cNvPr id="3" name="ZoneTexte 2">
            <a:extLst>
              <a:ext uri="{FF2B5EF4-FFF2-40B4-BE49-F238E27FC236}">
                <a16:creationId xmlns:a16="http://schemas.microsoft.com/office/drawing/2014/main" id="{07DA9BBC-C536-89DF-7E31-A6C894D491C7}"/>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6</a:t>
            </a:r>
          </a:p>
        </p:txBody>
      </p:sp>
      <p:pic>
        <p:nvPicPr>
          <p:cNvPr id="8" name="Image 7">
            <a:extLst>
              <a:ext uri="{FF2B5EF4-FFF2-40B4-BE49-F238E27FC236}">
                <a16:creationId xmlns:a16="http://schemas.microsoft.com/office/drawing/2014/main" id="{2336F42D-F067-5437-5E99-36888E7AC2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7049" y="1157719"/>
            <a:ext cx="5357902" cy="5357902"/>
          </a:xfrm>
          <a:prstGeom prst="rect">
            <a:avLst/>
          </a:prstGeom>
        </p:spPr>
      </p:pic>
      <p:sp>
        <p:nvSpPr>
          <p:cNvPr id="4" name="Rectangle 3">
            <a:extLst>
              <a:ext uri="{FF2B5EF4-FFF2-40B4-BE49-F238E27FC236}">
                <a16:creationId xmlns:a16="http://schemas.microsoft.com/office/drawing/2014/main" id="{ABE87951-1CB2-D519-D161-7A9ED35A6748}"/>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46F9115-5864-E6C5-A32D-5200EA324E4A}"/>
              </a:ext>
            </a:extLst>
          </p:cNvPr>
          <p:cNvSpPr txBox="1"/>
          <p:nvPr/>
        </p:nvSpPr>
        <p:spPr>
          <a:xfrm>
            <a:off x="142875" y="950595"/>
            <a:ext cx="11906250" cy="5724644"/>
          </a:xfrm>
          <a:prstGeom prst="rect">
            <a:avLst/>
          </a:prstGeom>
          <a:noFill/>
        </p:spPr>
        <p:txBody>
          <a:bodyPr wrap="square" rtlCol="0">
            <a:spAutoFit/>
          </a:bodyPr>
          <a:lstStyle/>
          <a:p>
            <a:r>
              <a:rPr lang="fr-FR" sz="2800" u="sng" dirty="0">
                <a:solidFill>
                  <a:schemeClr val="bg1"/>
                </a:solidFill>
              </a:rPr>
              <a:t>Qu’es ce que </a:t>
            </a:r>
            <a:r>
              <a:rPr lang="fr-FR" sz="2800" u="sng" dirty="0" err="1">
                <a:solidFill>
                  <a:schemeClr val="bg1"/>
                </a:solidFill>
              </a:rPr>
              <a:t>MistralAI</a:t>
            </a:r>
            <a:r>
              <a:rPr lang="fr-FR" sz="2800" u="sng" dirty="0">
                <a:solidFill>
                  <a:schemeClr val="bg1"/>
                </a:solidFill>
              </a:rPr>
              <a:t> :</a:t>
            </a:r>
          </a:p>
          <a:p>
            <a:endParaRPr lang="fr-FR" sz="1000" u="sng" dirty="0">
              <a:solidFill>
                <a:schemeClr val="bg1"/>
              </a:solidFill>
            </a:endParaRPr>
          </a:p>
          <a:p>
            <a:pPr marL="449263"/>
            <a:r>
              <a:rPr lang="fr-FR" dirty="0">
                <a:solidFill>
                  <a:schemeClr val="bg1"/>
                </a:solidFill>
              </a:rPr>
              <a:t>Mistral AI est une entreprise française, spécialisée dans l'intelligence artificielle générative. Elle développe de grands modèles de langages open source et propriétaires.</a:t>
            </a:r>
          </a:p>
          <a:p>
            <a:pPr marL="449263"/>
            <a:r>
              <a:rPr lang="fr-FR" dirty="0">
                <a:solidFill>
                  <a:schemeClr val="bg1"/>
                </a:solidFill>
              </a:rPr>
              <a:t>Dans notre cas, utiliser un seul fournisseur garantit la cohérence : le modèle qui "comprend" les textes au moment de l'indexation est le même que celui qui "comprend" les questions à la volée. Cela évite les distorsions entre les représentations.</a:t>
            </a:r>
          </a:p>
          <a:p>
            <a:pPr marL="449263"/>
            <a:endParaRPr lang="fr-FR" dirty="0">
              <a:solidFill>
                <a:schemeClr val="bg1"/>
              </a:solidFill>
            </a:endParaRPr>
          </a:p>
          <a:p>
            <a:r>
              <a:rPr lang="fr-FR" sz="2800" u="sng" dirty="0">
                <a:solidFill>
                  <a:schemeClr val="bg1"/>
                </a:solidFill>
              </a:rPr>
              <a:t>Qu’elles sont les </a:t>
            </a:r>
            <a:r>
              <a:rPr lang="fr-FR" sz="2800" u="sng" dirty="0" err="1">
                <a:solidFill>
                  <a:schemeClr val="bg1"/>
                </a:solidFill>
              </a:rPr>
              <a:t>models</a:t>
            </a:r>
            <a:r>
              <a:rPr lang="fr-FR" sz="2800" u="sng" dirty="0">
                <a:solidFill>
                  <a:schemeClr val="bg1"/>
                </a:solidFill>
              </a:rPr>
              <a:t> utilisés :</a:t>
            </a:r>
          </a:p>
          <a:p>
            <a:endParaRPr lang="fr-FR" sz="1000"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endParaRPr lang="fr-FR" u="sng" dirty="0">
              <a:solidFill>
                <a:schemeClr val="bg1"/>
              </a:solidFill>
            </a:endParaRPr>
          </a:p>
          <a:p>
            <a:r>
              <a:rPr lang="fr-FR" sz="2800" u="sng" dirty="0">
                <a:solidFill>
                  <a:schemeClr val="bg1"/>
                </a:solidFill>
              </a:rPr>
              <a:t>Pattern producteur léger / juge lourd :</a:t>
            </a:r>
          </a:p>
          <a:p>
            <a:endParaRPr lang="fr-FR" sz="1000" u="sng" dirty="0">
              <a:solidFill>
                <a:schemeClr val="bg1"/>
              </a:solidFill>
            </a:endParaRPr>
          </a:p>
          <a:p>
            <a:pPr marL="449263"/>
            <a:r>
              <a:rPr lang="fr-FR" dirty="0">
                <a:solidFill>
                  <a:schemeClr val="bg1"/>
                </a:solidFill>
              </a:rPr>
              <a:t>On utilise un modèle économique pour produire des réponses en continu, et on réserve le modèle premium </a:t>
            </a:r>
            <a:r>
              <a:rPr lang="fr-FR" sz="1400" i="1" dirty="0">
                <a:solidFill>
                  <a:schemeClr val="accent1">
                    <a:lumMod val="40000"/>
                    <a:lumOff val="60000"/>
                  </a:schemeClr>
                </a:solidFill>
              </a:rPr>
              <a:t>(plus coûteux) </a:t>
            </a:r>
            <a:r>
              <a:rPr lang="fr-FR" dirty="0">
                <a:solidFill>
                  <a:schemeClr val="bg1"/>
                </a:solidFill>
              </a:rPr>
              <a:t>uniquement pour les phases d'évaluation ponctuelles. C'est une pratique standard en production RAG.</a:t>
            </a:r>
          </a:p>
        </p:txBody>
      </p:sp>
      <p:pic>
        <p:nvPicPr>
          <p:cNvPr id="10" name="Image 9">
            <a:extLst>
              <a:ext uri="{FF2B5EF4-FFF2-40B4-BE49-F238E27FC236}">
                <a16:creationId xmlns:a16="http://schemas.microsoft.com/office/drawing/2014/main" id="{F890CE9B-BEBC-2FB4-C8E4-59266B201C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94347" y="102438"/>
            <a:ext cx="1797653" cy="595223"/>
          </a:xfrm>
          <a:prstGeom prst="rect">
            <a:avLst/>
          </a:prstGeom>
        </p:spPr>
      </p:pic>
      <p:graphicFrame>
        <p:nvGraphicFramePr>
          <p:cNvPr id="12" name="Tableau 11">
            <a:extLst>
              <a:ext uri="{FF2B5EF4-FFF2-40B4-BE49-F238E27FC236}">
                <a16:creationId xmlns:a16="http://schemas.microsoft.com/office/drawing/2014/main" id="{855D03B4-4CC5-79D2-32E1-B2AB5802775C}"/>
              </a:ext>
            </a:extLst>
          </p:cNvPr>
          <p:cNvGraphicFramePr>
            <a:graphicFrameLocks noGrp="1"/>
          </p:cNvGraphicFramePr>
          <p:nvPr>
            <p:extLst>
              <p:ext uri="{D42A27DB-BD31-4B8C-83A1-F6EECF244321}">
                <p14:modId xmlns:p14="http://schemas.microsoft.com/office/powerpoint/2010/main" val="2429718148"/>
              </p:ext>
            </p:extLst>
          </p:nvPr>
        </p:nvGraphicFramePr>
        <p:xfrm>
          <a:off x="536275" y="3822016"/>
          <a:ext cx="11119449" cy="1234440"/>
        </p:xfrm>
        <a:graphic>
          <a:graphicData uri="http://schemas.openxmlformats.org/drawingml/2006/table">
            <a:tbl>
              <a:tblPr firstRow="1" bandRow="1">
                <a:tableStyleId>{5C22544A-7EE6-4342-B048-85BDC9FD1C3A}</a:tableStyleId>
              </a:tblPr>
              <a:tblGrid>
                <a:gridCol w="2734573">
                  <a:extLst>
                    <a:ext uri="{9D8B030D-6E8A-4147-A177-3AD203B41FA5}">
                      <a16:colId xmlns:a16="http://schemas.microsoft.com/office/drawing/2014/main" val="1772969847"/>
                    </a:ext>
                  </a:extLst>
                </a:gridCol>
                <a:gridCol w="3157268">
                  <a:extLst>
                    <a:ext uri="{9D8B030D-6E8A-4147-A177-3AD203B41FA5}">
                      <a16:colId xmlns:a16="http://schemas.microsoft.com/office/drawing/2014/main" val="2136407717"/>
                    </a:ext>
                  </a:extLst>
                </a:gridCol>
                <a:gridCol w="5227608">
                  <a:extLst>
                    <a:ext uri="{9D8B030D-6E8A-4147-A177-3AD203B41FA5}">
                      <a16:colId xmlns:a16="http://schemas.microsoft.com/office/drawing/2014/main" val="799026415"/>
                    </a:ext>
                  </a:extLst>
                </a:gridCol>
              </a:tblGrid>
              <a:tr h="140107">
                <a:tc>
                  <a:txBody>
                    <a:bodyPr/>
                    <a:lstStyle/>
                    <a:p>
                      <a:pPr algn="ctr"/>
                      <a:r>
                        <a:rPr sz="1800" b="1" dirty="0" err="1">
                          <a:solidFill>
                            <a:schemeClr val="bg1"/>
                          </a:solidFill>
                        </a:rPr>
                        <a:t>Rôle</a:t>
                      </a:r>
                      <a:endParaRPr sz="1800" b="1" dirty="0">
                        <a:solidFill>
                          <a:schemeClr val="bg1"/>
                        </a:solidFill>
                      </a:endParaRPr>
                    </a:p>
                  </a:txBody>
                  <a:tcPr>
                    <a:solidFill>
                      <a:srgbClr val="3D85C6"/>
                    </a:solidFill>
                  </a:tcPr>
                </a:tc>
                <a:tc>
                  <a:txBody>
                    <a:bodyPr/>
                    <a:lstStyle/>
                    <a:p>
                      <a:pPr algn="ctr"/>
                      <a:r>
                        <a:rPr sz="1800" b="1" dirty="0" err="1">
                          <a:solidFill>
                            <a:schemeClr val="bg1"/>
                          </a:solidFill>
                        </a:rPr>
                        <a:t>Modèle</a:t>
                      </a:r>
                      <a:endParaRPr sz="1800" b="1" dirty="0">
                        <a:solidFill>
                          <a:schemeClr val="bg1"/>
                        </a:solidFill>
                      </a:endParaRPr>
                    </a:p>
                  </a:txBody>
                  <a:tcPr>
                    <a:solidFill>
                      <a:srgbClr val="3D85C6"/>
                    </a:solidFill>
                  </a:tcPr>
                </a:tc>
                <a:tc>
                  <a:txBody>
                    <a:bodyPr/>
                    <a:lstStyle/>
                    <a:p>
                      <a:pPr algn="ctr"/>
                      <a:r>
                        <a:rPr sz="1800" b="1" dirty="0">
                          <a:solidFill>
                            <a:schemeClr val="bg1"/>
                          </a:solidFill>
                        </a:rPr>
                        <a:t>Ce </a:t>
                      </a:r>
                      <a:r>
                        <a:rPr sz="1800" b="1" dirty="0" err="1">
                          <a:solidFill>
                            <a:schemeClr val="bg1"/>
                          </a:solidFill>
                        </a:rPr>
                        <a:t>qu’il</a:t>
                      </a:r>
                      <a:r>
                        <a:rPr sz="1800" b="1" dirty="0">
                          <a:solidFill>
                            <a:schemeClr val="bg1"/>
                          </a:solidFill>
                        </a:rPr>
                        <a:t> fait </a:t>
                      </a:r>
                      <a:r>
                        <a:rPr sz="1800" b="1" dirty="0" err="1">
                          <a:solidFill>
                            <a:schemeClr val="bg1"/>
                          </a:solidFill>
                        </a:rPr>
                        <a:t>concrètement</a:t>
                      </a:r>
                      <a:endParaRPr sz="1800" b="1" dirty="0">
                        <a:solidFill>
                          <a:schemeClr val="bg1"/>
                        </a:solidFill>
                      </a:endParaRPr>
                    </a:p>
                  </a:txBody>
                  <a:tcPr>
                    <a:solidFill>
                      <a:srgbClr val="3D85C6"/>
                    </a:solidFill>
                  </a:tcPr>
                </a:tc>
                <a:extLst>
                  <a:ext uri="{0D108BD9-81ED-4DB2-BD59-A6C34878D82A}">
                    <a16:rowId xmlns:a16="http://schemas.microsoft.com/office/drawing/2014/main" val="945676015"/>
                  </a:ext>
                </a:extLst>
              </a:tr>
              <a:tr h="0">
                <a:tc>
                  <a:txBody>
                    <a:bodyPr/>
                    <a:lstStyle/>
                    <a:p>
                      <a:pPr algn="ctr"/>
                      <a:r>
                        <a:rPr sz="1300" b="0" dirty="0">
                          <a:solidFill>
                            <a:srgbClr val="262626"/>
                          </a:solidFill>
                        </a:rPr>
                        <a:t>Transformer le </a:t>
                      </a:r>
                      <a:r>
                        <a:rPr sz="1300" b="0" dirty="0" err="1">
                          <a:solidFill>
                            <a:srgbClr val="262626"/>
                          </a:solidFill>
                        </a:rPr>
                        <a:t>texte</a:t>
                      </a:r>
                      <a:r>
                        <a:rPr sz="1300" b="0" dirty="0">
                          <a:solidFill>
                            <a:srgbClr val="262626"/>
                          </a:solidFill>
                        </a:rPr>
                        <a:t> </a:t>
                      </a:r>
                      <a:r>
                        <a:rPr sz="1300" b="0" dirty="0" err="1">
                          <a:solidFill>
                            <a:srgbClr val="262626"/>
                          </a:solidFill>
                        </a:rPr>
                        <a:t>en</a:t>
                      </a:r>
                      <a:r>
                        <a:rPr sz="1300" b="0" dirty="0">
                          <a:solidFill>
                            <a:srgbClr val="262626"/>
                          </a:solidFill>
                        </a:rPr>
                        <a:t> </a:t>
                      </a:r>
                      <a:r>
                        <a:rPr sz="1300" b="0" dirty="0" err="1">
                          <a:solidFill>
                            <a:srgbClr val="262626"/>
                          </a:solidFill>
                        </a:rPr>
                        <a:t>vecteur</a:t>
                      </a:r>
                      <a:endParaRPr sz="1300" b="0" dirty="0">
                        <a:solidFill>
                          <a:srgbClr val="262626"/>
                        </a:solidFill>
                      </a:endParaRPr>
                    </a:p>
                  </a:txBody>
                  <a:tcPr/>
                </a:tc>
                <a:tc>
                  <a:txBody>
                    <a:bodyPr/>
                    <a:lstStyle/>
                    <a:p>
                      <a:pPr algn="ctr"/>
                      <a:r>
                        <a:rPr sz="1300" b="1" dirty="0">
                          <a:solidFill>
                            <a:srgbClr val="262626"/>
                          </a:solidFill>
                        </a:rPr>
                        <a:t>mistral-embed</a:t>
                      </a:r>
                    </a:p>
                  </a:txBody>
                  <a:tcPr/>
                </a:tc>
                <a:tc>
                  <a:txBody>
                    <a:bodyPr/>
                    <a:lstStyle/>
                    <a:p>
                      <a:pPr algn="l"/>
                      <a:r>
                        <a:rPr sz="1300" b="0" dirty="0" err="1">
                          <a:solidFill>
                            <a:srgbClr val="262626"/>
                          </a:solidFill>
                        </a:rPr>
                        <a:t>Convertit</a:t>
                      </a:r>
                      <a:r>
                        <a:rPr sz="1300" b="0" dirty="0">
                          <a:solidFill>
                            <a:srgbClr val="262626"/>
                          </a:solidFill>
                        </a:rPr>
                        <a:t> </a:t>
                      </a:r>
                      <a:r>
                        <a:rPr sz="1300" b="0" dirty="0" err="1">
                          <a:solidFill>
                            <a:srgbClr val="262626"/>
                          </a:solidFill>
                        </a:rPr>
                        <a:t>chaque</a:t>
                      </a:r>
                      <a:r>
                        <a:rPr sz="1300" b="0" dirty="0">
                          <a:solidFill>
                            <a:srgbClr val="262626"/>
                          </a:solidFill>
                        </a:rPr>
                        <a:t> bloc </a:t>
                      </a:r>
                      <a:r>
                        <a:rPr sz="1300" b="0" dirty="0" err="1">
                          <a:solidFill>
                            <a:srgbClr val="262626"/>
                          </a:solidFill>
                        </a:rPr>
                        <a:t>en</a:t>
                      </a:r>
                      <a:r>
                        <a:rPr sz="1300" b="0" dirty="0">
                          <a:solidFill>
                            <a:srgbClr val="262626"/>
                          </a:solidFill>
                        </a:rPr>
                        <a:t> 1024 </a:t>
                      </a:r>
                      <a:r>
                        <a:rPr sz="1300" b="0" dirty="0" err="1">
                          <a:solidFill>
                            <a:srgbClr val="262626"/>
                          </a:solidFill>
                        </a:rPr>
                        <a:t>nombres</a:t>
                      </a:r>
                      <a:r>
                        <a:rPr sz="1300" b="0" dirty="0">
                          <a:solidFill>
                            <a:srgbClr val="262626"/>
                          </a:solidFill>
                        </a:rPr>
                        <a:t> qui </a:t>
                      </a:r>
                      <a:r>
                        <a:rPr sz="1300" b="0" dirty="0" err="1">
                          <a:solidFill>
                            <a:srgbClr val="262626"/>
                          </a:solidFill>
                        </a:rPr>
                        <a:t>encodent</a:t>
                      </a:r>
                      <a:r>
                        <a:rPr sz="1300" b="0" dirty="0">
                          <a:solidFill>
                            <a:srgbClr val="262626"/>
                          </a:solidFill>
                        </a:rPr>
                        <a:t> son </a:t>
                      </a:r>
                      <a:r>
                        <a:rPr sz="1300" b="0" dirty="0" err="1">
                          <a:solidFill>
                            <a:srgbClr val="262626"/>
                          </a:solidFill>
                        </a:rPr>
                        <a:t>sens</a:t>
                      </a:r>
                      <a:endParaRPr sz="1300" b="0" dirty="0">
                        <a:solidFill>
                          <a:srgbClr val="262626"/>
                        </a:solidFill>
                      </a:endParaRPr>
                    </a:p>
                  </a:txBody>
                  <a:tcPr/>
                </a:tc>
                <a:extLst>
                  <a:ext uri="{0D108BD9-81ED-4DB2-BD59-A6C34878D82A}">
                    <a16:rowId xmlns:a16="http://schemas.microsoft.com/office/drawing/2014/main" val="3031660504"/>
                  </a:ext>
                </a:extLst>
              </a:tr>
              <a:tr h="0">
                <a:tc>
                  <a:txBody>
                    <a:bodyPr/>
                    <a:lstStyle/>
                    <a:p>
                      <a:pPr algn="ctr"/>
                      <a:r>
                        <a:rPr sz="1300" b="0" dirty="0" err="1">
                          <a:solidFill>
                            <a:srgbClr val="262626"/>
                          </a:solidFill>
                        </a:rPr>
                        <a:t>Générer</a:t>
                      </a:r>
                      <a:r>
                        <a:rPr sz="1300" b="0" dirty="0">
                          <a:solidFill>
                            <a:srgbClr val="262626"/>
                          </a:solidFill>
                        </a:rPr>
                        <a:t> la </a:t>
                      </a:r>
                      <a:r>
                        <a:rPr sz="1300" b="0" dirty="0" err="1">
                          <a:solidFill>
                            <a:srgbClr val="262626"/>
                          </a:solidFill>
                        </a:rPr>
                        <a:t>réponse</a:t>
                      </a:r>
                      <a:endParaRPr sz="1300" b="0" dirty="0">
                        <a:solidFill>
                          <a:srgbClr val="262626"/>
                        </a:solidFill>
                      </a:endParaRPr>
                    </a:p>
                  </a:txBody>
                  <a:tcPr/>
                </a:tc>
                <a:tc>
                  <a:txBody>
                    <a:bodyPr/>
                    <a:lstStyle/>
                    <a:p>
                      <a:pPr algn="ctr"/>
                      <a:r>
                        <a:rPr sz="1300" b="1" dirty="0">
                          <a:solidFill>
                            <a:srgbClr val="262626"/>
                          </a:solidFill>
                        </a:rPr>
                        <a:t>mistral-small-latest</a:t>
                      </a:r>
                    </a:p>
                  </a:txBody>
                  <a:tcPr/>
                </a:tc>
                <a:tc>
                  <a:txBody>
                    <a:bodyPr/>
                    <a:lstStyle/>
                    <a:p>
                      <a:pPr algn="l"/>
                      <a:r>
                        <a:rPr sz="1300" b="0" dirty="0">
                          <a:solidFill>
                            <a:srgbClr val="262626"/>
                          </a:solidFill>
                        </a:rPr>
                        <a:t>Lit les passages </a:t>
                      </a:r>
                      <a:r>
                        <a:rPr sz="1300" b="0" dirty="0" err="1">
                          <a:solidFill>
                            <a:srgbClr val="262626"/>
                          </a:solidFill>
                        </a:rPr>
                        <a:t>récupérés</a:t>
                      </a:r>
                      <a:r>
                        <a:rPr sz="1300" b="0" dirty="0">
                          <a:solidFill>
                            <a:srgbClr val="262626"/>
                          </a:solidFill>
                        </a:rPr>
                        <a:t> et </a:t>
                      </a:r>
                      <a:r>
                        <a:rPr sz="1300" b="0" dirty="0" err="1">
                          <a:solidFill>
                            <a:srgbClr val="262626"/>
                          </a:solidFill>
                        </a:rPr>
                        <a:t>rédige</a:t>
                      </a:r>
                      <a:r>
                        <a:rPr sz="1300" b="0" dirty="0">
                          <a:solidFill>
                            <a:srgbClr val="262626"/>
                          </a:solidFill>
                        </a:rPr>
                        <a:t> </a:t>
                      </a:r>
                      <a:r>
                        <a:rPr sz="1300" b="0" dirty="0" err="1">
                          <a:solidFill>
                            <a:srgbClr val="262626"/>
                          </a:solidFill>
                        </a:rPr>
                        <a:t>une</a:t>
                      </a:r>
                      <a:r>
                        <a:rPr sz="1300" b="0" dirty="0">
                          <a:solidFill>
                            <a:srgbClr val="262626"/>
                          </a:solidFill>
                        </a:rPr>
                        <a:t> </a:t>
                      </a:r>
                      <a:r>
                        <a:rPr sz="1300" b="0" dirty="0" err="1">
                          <a:solidFill>
                            <a:srgbClr val="262626"/>
                          </a:solidFill>
                        </a:rPr>
                        <a:t>réponse</a:t>
                      </a:r>
                      <a:r>
                        <a:rPr sz="1300" b="0" dirty="0">
                          <a:solidFill>
                            <a:srgbClr val="262626"/>
                          </a:solidFill>
                        </a:rPr>
                        <a:t> </a:t>
                      </a:r>
                      <a:r>
                        <a:rPr sz="1300" b="0" dirty="0" err="1">
                          <a:solidFill>
                            <a:srgbClr val="262626"/>
                          </a:solidFill>
                        </a:rPr>
                        <a:t>en</a:t>
                      </a:r>
                      <a:r>
                        <a:rPr sz="1300" b="0" dirty="0">
                          <a:solidFill>
                            <a:srgbClr val="262626"/>
                          </a:solidFill>
                        </a:rPr>
                        <a:t> français</a:t>
                      </a:r>
                    </a:p>
                  </a:txBody>
                  <a:tcPr/>
                </a:tc>
                <a:extLst>
                  <a:ext uri="{0D108BD9-81ED-4DB2-BD59-A6C34878D82A}">
                    <a16:rowId xmlns:a16="http://schemas.microsoft.com/office/drawing/2014/main" val="3576267072"/>
                  </a:ext>
                </a:extLst>
              </a:tr>
              <a:tr h="0">
                <a:tc>
                  <a:txBody>
                    <a:bodyPr/>
                    <a:lstStyle/>
                    <a:p>
                      <a:pPr algn="ctr"/>
                      <a:r>
                        <a:rPr sz="1300" b="0">
                          <a:solidFill>
                            <a:srgbClr val="262626"/>
                          </a:solidFill>
                        </a:rPr>
                        <a:t>Évaluer la qualité</a:t>
                      </a:r>
                    </a:p>
                  </a:txBody>
                  <a:tcPr/>
                </a:tc>
                <a:tc>
                  <a:txBody>
                    <a:bodyPr/>
                    <a:lstStyle/>
                    <a:p>
                      <a:pPr algn="ctr"/>
                      <a:r>
                        <a:rPr sz="1300" b="1" dirty="0">
                          <a:solidFill>
                            <a:srgbClr val="262626"/>
                          </a:solidFill>
                        </a:rPr>
                        <a:t>mistral-large-latest</a:t>
                      </a:r>
                    </a:p>
                  </a:txBody>
                  <a:tcPr/>
                </a:tc>
                <a:tc>
                  <a:txBody>
                    <a:bodyPr/>
                    <a:lstStyle/>
                    <a:p>
                      <a:pPr algn="l"/>
                      <a:r>
                        <a:rPr sz="1300" b="0" dirty="0" err="1">
                          <a:solidFill>
                            <a:srgbClr val="262626"/>
                          </a:solidFill>
                        </a:rPr>
                        <a:t>Joue</a:t>
                      </a:r>
                      <a:r>
                        <a:rPr sz="1300" b="0" dirty="0">
                          <a:solidFill>
                            <a:srgbClr val="262626"/>
                          </a:solidFill>
                        </a:rPr>
                        <a:t> le </a:t>
                      </a:r>
                      <a:r>
                        <a:rPr sz="1300" b="0" dirty="0" err="1">
                          <a:solidFill>
                            <a:srgbClr val="262626"/>
                          </a:solidFill>
                        </a:rPr>
                        <a:t>rôle</a:t>
                      </a:r>
                      <a:r>
                        <a:rPr sz="1300" b="0" dirty="0">
                          <a:solidFill>
                            <a:srgbClr val="262626"/>
                          </a:solidFill>
                        </a:rPr>
                        <a:t> de </a:t>
                      </a:r>
                      <a:r>
                        <a:rPr sz="1300" b="0" dirty="0" err="1">
                          <a:solidFill>
                            <a:srgbClr val="262626"/>
                          </a:solidFill>
                        </a:rPr>
                        <a:t>juge</a:t>
                      </a:r>
                      <a:r>
                        <a:rPr sz="1300" b="0" dirty="0">
                          <a:solidFill>
                            <a:srgbClr val="262626"/>
                          </a:solidFill>
                        </a:rPr>
                        <a:t> pour noter les </a:t>
                      </a:r>
                      <a:r>
                        <a:rPr sz="1300" b="0" dirty="0" err="1">
                          <a:solidFill>
                            <a:srgbClr val="262626"/>
                          </a:solidFill>
                        </a:rPr>
                        <a:t>réponses</a:t>
                      </a:r>
                      <a:r>
                        <a:rPr sz="1300" b="0" dirty="0">
                          <a:solidFill>
                            <a:srgbClr val="262626"/>
                          </a:solidFill>
                        </a:rPr>
                        <a:t> </a:t>
                      </a:r>
                      <a:r>
                        <a:rPr sz="1300" b="0" dirty="0" err="1">
                          <a:solidFill>
                            <a:srgbClr val="262626"/>
                          </a:solidFill>
                        </a:rPr>
                        <a:t>générées</a:t>
                      </a:r>
                      <a:endParaRPr sz="1300" b="0" dirty="0">
                        <a:solidFill>
                          <a:srgbClr val="262626"/>
                        </a:solidFill>
                      </a:endParaRPr>
                    </a:p>
                  </a:txBody>
                  <a:tcPr/>
                </a:tc>
                <a:extLst>
                  <a:ext uri="{0D108BD9-81ED-4DB2-BD59-A6C34878D82A}">
                    <a16:rowId xmlns:a16="http://schemas.microsoft.com/office/drawing/2014/main" val="590601730"/>
                  </a:ext>
                </a:extLst>
              </a:tr>
            </a:tbl>
          </a:graphicData>
        </a:graphic>
      </p:graphicFrame>
    </p:spTree>
    <p:extLst>
      <p:ext uri="{BB962C8B-B14F-4D97-AF65-F5344CB8AC3E}">
        <p14:creationId xmlns:p14="http://schemas.microsoft.com/office/powerpoint/2010/main" val="2910811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2CCE-295D-FBC7-6327-B5FAB511687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2007393-A0E2-620A-5A8D-FEC80D375797}"/>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MÉTHODOLOGIE : pré-</a:t>
            </a:r>
            <a:r>
              <a:rPr lang="fr-FR" sz="3200" b="1" dirty="0" err="1">
                <a:solidFill>
                  <a:srgbClr val="3D85C6"/>
                </a:solidFill>
              </a:rPr>
              <a:t>processing</a:t>
            </a:r>
            <a:r>
              <a:rPr lang="fr-FR" sz="3200" b="1" dirty="0">
                <a:solidFill>
                  <a:srgbClr val="3D85C6"/>
                </a:solidFill>
              </a:rPr>
              <a:t> des données</a:t>
            </a:r>
          </a:p>
        </p:txBody>
      </p:sp>
      <p:sp>
        <p:nvSpPr>
          <p:cNvPr id="3" name="ZoneTexte 2">
            <a:extLst>
              <a:ext uri="{FF2B5EF4-FFF2-40B4-BE49-F238E27FC236}">
                <a16:creationId xmlns:a16="http://schemas.microsoft.com/office/drawing/2014/main" id="{C1B9E6FA-9E82-F7A7-DEF0-DE61B1F6A1FA}"/>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7</a:t>
            </a:r>
          </a:p>
        </p:txBody>
      </p:sp>
      <p:sp>
        <p:nvSpPr>
          <p:cNvPr id="4" name="Rectangle 3">
            <a:extLst>
              <a:ext uri="{FF2B5EF4-FFF2-40B4-BE49-F238E27FC236}">
                <a16:creationId xmlns:a16="http://schemas.microsoft.com/office/drawing/2014/main" id="{248CCFDC-E4C8-650D-C7F1-BF49F2D6E721}"/>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23D94D8-8354-C40C-3A12-0E12E3A30B9F}"/>
              </a:ext>
            </a:extLst>
          </p:cNvPr>
          <p:cNvSpPr txBox="1"/>
          <p:nvPr/>
        </p:nvSpPr>
        <p:spPr>
          <a:xfrm>
            <a:off x="142875" y="950595"/>
            <a:ext cx="11906250" cy="5309146"/>
          </a:xfrm>
          <a:prstGeom prst="rect">
            <a:avLst/>
          </a:prstGeom>
          <a:noFill/>
        </p:spPr>
        <p:txBody>
          <a:bodyPr wrap="square" rtlCol="0">
            <a:spAutoFit/>
          </a:bodyPr>
          <a:lstStyle/>
          <a:p>
            <a:r>
              <a:rPr lang="fr-FR" sz="2800" u="sng" dirty="0">
                <a:solidFill>
                  <a:schemeClr val="bg1"/>
                </a:solidFill>
              </a:rPr>
              <a:t>Pourquoi filtrer ?</a:t>
            </a:r>
          </a:p>
          <a:p>
            <a:endParaRPr lang="fr-FR" sz="1000" dirty="0">
              <a:solidFill>
                <a:schemeClr val="bg1"/>
              </a:solidFill>
            </a:endParaRPr>
          </a:p>
          <a:p>
            <a:pPr marL="449263"/>
            <a:r>
              <a:rPr lang="fr-FR" dirty="0">
                <a:solidFill>
                  <a:schemeClr val="bg1"/>
                </a:solidFill>
              </a:rPr>
              <a:t>Indexer un million d'événements nationaux pour répondre sur l'Occitanie serait du bruit. Un index trop large dilue la pertinence et ralentit l'évaluation. Le filtrage est une décision de conception, pas une contrainte technique.</a:t>
            </a:r>
          </a:p>
          <a:p>
            <a:pPr marL="449263"/>
            <a:endParaRPr lang="fr-FR" sz="2800" u="sng" dirty="0">
              <a:solidFill>
                <a:schemeClr val="bg1"/>
              </a:solidFill>
            </a:endParaRPr>
          </a:p>
          <a:p>
            <a:r>
              <a:rPr lang="fr-FR" sz="2800" u="sng" dirty="0">
                <a:solidFill>
                  <a:schemeClr val="bg1"/>
                </a:solidFill>
              </a:rPr>
              <a:t>Qu’es ce qui est filtré :</a:t>
            </a:r>
            <a:endParaRPr lang="fr-FR" u="sng" dirty="0">
              <a:solidFill>
                <a:schemeClr val="bg1"/>
              </a:solidFill>
            </a:endParaRPr>
          </a:p>
          <a:p>
            <a:pPr marL="800100" lvl="1" indent="-342900">
              <a:lnSpc>
                <a:spcPct val="150000"/>
              </a:lnSpc>
              <a:buFont typeface="+mj-lt"/>
              <a:buAutoNum type="arabicPeriod"/>
            </a:pPr>
            <a:r>
              <a:rPr lang="fr-FR" b="1" dirty="0">
                <a:solidFill>
                  <a:schemeClr val="bg1"/>
                </a:solidFill>
              </a:rPr>
              <a:t>Filtre géographique :</a:t>
            </a:r>
            <a:r>
              <a:rPr lang="fr-FR" dirty="0">
                <a:solidFill>
                  <a:schemeClr val="bg1"/>
                </a:solidFill>
              </a:rPr>
              <a:t> Ne conserver que les événements Occitanie  →  </a:t>
            </a:r>
            <a:r>
              <a:rPr lang="fr-FR" b="1" dirty="0">
                <a:solidFill>
                  <a:schemeClr val="bg1"/>
                </a:solidFill>
              </a:rPr>
              <a:t>89 491 événements</a:t>
            </a:r>
          </a:p>
          <a:p>
            <a:pPr marL="800100" lvl="1" indent="-342900">
              <a:lnSpc>
                <a:spcPct val="150000"/>
              </a:lnSpc>
              <a:buFont typeface="+mj-lt"/>
              <a:buAutoNum type="arabicPeriod"/>
            </a:pPr>
            <a:r>
              <a:rPr lang="fr-FR" b="1" dirty="0">
                <a:solidFill>
                  <a:schemeClr val="bg1"/>
                </a:solidFill>
              </a:rPr>
              <a:t>Filtre temporel :</a:t>
            </a:r>
            <a:r>
              <a:rPr lang="fr-FR" dirty="0">
                <a:solidFill>
                  <a:schemeClr val="bg1"/>
                </a:solidFill>
              </a:rPr>
              <a:t> Éliminer les événements terminés depuis plus d’un an et garder les futurs  →  </a:t>
            </a:r>
            <a:r>
              <a:rPr lang="fr-FR" b="1" dirty="0">
                <a:solidFill>
                  <a:schemeClr val="bg1"/>
                </a:solidFill>
              </a:rPr>
              <a:t>7 960 événements</a:t>
            </a:r>
          </a:p>
          <a:p>
            <a:pPr marL="800100" lvl="1" indent="-342900">
              <a:lnSpc>
                <a:spcPct val="150000"/>
              </a:lnSpc>
              <a:buFont typeface="+mj-lt"/>
              <a:buAutoNum type="arabicPeriod"/>
            </a:pPr>
            <a:r>
              <a:rPr lang="fr-FR" b="1" dirty="0">
                <a:solidFill>
                  <a:schemeClr val="bg1"/>
                </a:solidFill>
              </a:rPr>
              <a:t>Nettoyage :</a:t>
            </a:r>
            <a:r>
              <a:rPr lang="fr-FR" dirty="0">
                <a:solidFill>
                  <a:schemeClr val="bg1"/>
                </a:solidFill>
              </a:rPr>
              <a:t> Colonnes avec &gt; 70 % valeurs manquantes supprimées, balises HTML retirées</a:t>
            </a:r>
          </a:p>
          <a:p>
            <a:pPr marL="800100" lvl="1" indent="-342900">
              <a:lnSpc>
                <a:spcPct val="150000"/>
              </a:lnSpc>
              <a:buFont typeface="+mj-lt"/>
              <a:buAutoNum type="arabicPeriod"/>
            </a:pPr>
            <a:endParaRPr lang="fr-FR" dirty="0">
              <a:solidFill>
                <a:schemeClr val="bg1"/>
              </a:solidFill>
            </a:endParaRPr>
          </a:p>
          <a:p>
            <a:pPr marL="0" lvl="1"/>
            <a:r>
              <a:rPr lang="fr-FR" sz="2800" u="sng" dirty="0">
                <a:solidFill>
                  <a:schemeClr val="bg1"/>
                </a:solidFill>
              </a:rPr>
              <a:t>Construction du champ texte par événement :</a:t>
            </a:r>
          </a:p>
          <a:p>
            <a:pPr marL="0" lvl="1"/>
            <a:endParaRPr lang="fr-FR" sz="1000" u="sng" dirty="0">
              <a:solidFill>
                <a:schemeClr val="bg1"/>
              </a:solidFill>
            </a:endParaRPr>
          </a:p>
          <a:p>
            <a:pPr marL="449263" lvl="1"/>
            <a:r>
              <a:rPr lang="fr-FR" dirty="0">
                <a:solidFill>
                  <a:schemeClr val="bg1"/>
                </a:solidFill>
              </a:rPr>
              <a:t>Chaque événement est représenté par un champ texte structuré qui regroupe toutes ses informations utiles :</a:t>
            </a:r>
          </a:p>
          <a:p>
            <a:pPr marL="1192213" lvl="2" indent="-285750">
              <a:lnSpc>
                <a:spcPct val="150000"/>
              </a:lnSpc>
              <a:buFont typeface="Wingdings" panose="05000000000000000000" pitchFamily="2" charset="2"/>
              <a:buChar char="v"/>
            </a:pPr>
            <a:r>
              <a:rPr lang="fr-FR" dirty="0">
                <a:solidFill>
                  <a:schemeClr val="bg1"/>
                </a:solidFill>
              </a:rPr>
              <a:t>Titre | Description | Détails | Mots-clés | Lieu</a:t>
            </a:r>
          </a:p>
          <a:p>
            <a:pPr marL="449263" lvl="1"/>
            <a:r>
              <a:rPr lang="fr-FR" dirty="0">
                <a:solidFill>
                  <a:schemeClr val="bg1"/>
                </a:solidFill>
              </a:rPr>
              <a:t>La séparation par | aide le LLM à distinguer les différents champs lors de la génération de la réponse.</a:t>
            </a:r>
          </a:p>
        </p:txBody>
      </p:sp>
    </p:spTree>
    <p:extLst>
      <p:ext uri="{BB962C8B-B14F-4D97-AF65-F5344CB8AC3E}">
        <p14:creationId xmlns:p14="http://schemas.microsoft.com/office/powerpoint/2010/main" val="1797135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C5B3-FB1D-5CA1-0271-92148E75E5CB}"/>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77B3D2E7-2745-0D97-798B-183CADE42594}"/>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MÉTHODOLOGIE : </a:t>
            </a:r>
            <a:r>
              <a:rPr lang="fr-FR" sz="3200" b="1" dirty="0" err="1">
                <a:solidFill>
                  <a:srgbClr val="3D85C6"/>
                </a:solidFill>
              </a:rPr>
              <a:t>chunking</a:t>
            </a:r>
            <a:r>
              <a:rPr lang="fr-FR" sz="3200" b="1" dirty="0">
                <a:solidFill>
                  <a:srgbClr val="3D85C6"/>
                </a:solidFill>
              </a:rPr>
              <a:t> &amp; vectorisation</a:t>
            </a:r>
          </a:p>
        </p:txBody>
      </p:sp>
      <p:sp>
        <p:nvSpPr>
          <p:cNvPr id="3" name="ZoneTexte 2">
            <a:extLst>
              <a:ext uri="{FF2B5EF4-FFF2-40B4-BE49-F238E27FC236}">
                <a16:creationId xmlns:a16="http://schemas.microsoft.com/office/drawing/2014/main" id="{DF24A59B-F6DE-9094-4A70-0D2F0ABD2615}"/>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8</a:t>
            </a:r>
          </a:p>
        </p:txBody>
      </p:sp>
      <p:sp>
        <p:nvSpPr>
          <p:cNvPr id="4" name="Rectangle 3">
            <a:extLst>
              <a:ext uri="{FF2B5EF4-FFF2-40B4-BE49-F238E27FC236}">
                <a16:creationId xmlns:a16="http://schemas.microsoft.com/office/drawing/2014/main" id="{3803D135-1B6C-9D7D-CCF8-A8B81C853C6C}"/>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9433DEE-961A-3514-758B-296FA1753DD9}"/>
              </a:ext>
            </a:extLst>
          </p:cNvPr>
          <p:cNvSpPr txBox="1"/>
          <p:nvPr/>
        </p:nvSpPr>
        <p:spPr>
          <a:xfrm>
            <a:off x="142875" y="950595"/>
            <a:ext cx="11906250" cy="5755422"/>
          </a:xfrm>
          <a:prstGeom prst="rect">
            <a:avLst/>
          </a:prstGeom>
          <a:noFill/>
        </p:spPr>
        <p:txBody>
          <a:bodyPr wrap="square" rtlCol="0">
            <a:spAutoFit/>
          </a:bodyPr>
          <a:lstStyle/>
          <a:p>
            <a:r>
              <a:rPr lang="fr-FR" sz="2800" u="sng" dirty="0">
                <a:solidFill>
                  <a:schemeClr val="bg1"/>
                </a:solidFill>
              </a:rPr>
              <a:t>Le </a:t>
            </a:r>
            <a:r>
              <a:rPr lang="fr-FR" sz="2800" u="sng" dirty="0" err="1">
                <a:solidFill>
                  <a:schemeClr val="bg1"/>
                </a:solidFill>
              </a:rPr>
              <a:t>chunking</a:t>
            </a:r>
            <a:r>
              <a:rPr lang="fr-FR" sz="2800" u="sng" dirty="0">
                <a:solidFill>
                  <a:schemeClr val="bg1"/>
                </a:solidFill>
              </a:rPr>
              <a:t> - pourquoi découper le texte ?</a:t>
            </a:r>
          </a:p>
          <a:p>
            <a:endParaRPr lang="fr-FR" sz="1000" dirty="0">
              <a:solidFill>
                <a:schemeClr val="bg1"/>
              </a:solidFill>
            </a:endParaRPr>
          </a:p>
          <a:p>
            <a:pPr marL="449263"/>
            <a:r>
              <a:rPr lang="fr-FR" dirty="0">
                <a:solidFill>
                  <a:schemeClr val="bg1"/>
                </a:solidFill>
              </a:rPr>
              <a:t>Un LLM ne peut pas "lire" un texte trop long d'un coup : il a une fenêtre de contexte limitée. On découpe donc chaque texte en blocs </a:t>
            </a:r>
            <a:r>
              <a:rPr lang="fr-FR" sz="1400" i="1" dirty="0">
                <a:solidFill>
                  <a:schemeClr val="accent1">
                    <a:lumMod val="40000"/>
                    <a:lumOff val="60000"/>
                  </a:schemeClr>
                </a:solidFill>
              </a:rPr>
              <a:t>(</a:t>
            </a:r>
            <a:r>
              <a:rPr lang="fr-FR" sz="1400" i="1" dirty="0" err="1">
                <a:solidFill>
                  <a:schemeClr val="accent1">
                    <a:lumMod val="40000"/>
                    <a:lumOff val="60000"/>
                  </a:schemeClr>
                </a:solidFill>
              </a:rPr>
              <a:t>chunks</a:t>
            </a:r>
            <a:r>
              <a:rPr lang="fr-FR" sz="1400" i="1" dirty="0">
                <a:solidFill>
                  <a:schemeClr val="accent1">
                    <a:lumMod val="40000"/>
                    <a:lumOff val="60000"/>
                  </a:schemeClr>
                </a:solidFill>
              </a:rPr>
              <a:t>) </a:t>
            </a:r>
            <a:r>
              <a:rPr lang="fr-FR" dirty="0">
                <a:solidFill>
                  <a:schemeClr val="bg1"/>
                </a:solidFill>
              </a:rPr>
              <a:t>de taille fixe. On utilise un chevauchement </a:t>
            </a:r>
            <a:r>
              <a:rPr lang="fr-FR" sz="1400" i="1" dirty="0">
                <a:solidFill>
                  <a:schemeClr val="accent1">
                    <a:lumMod val="40000"/>
                    <a:lumOff val="60000"/>
                  </a:schemeClr>
                </a:solidFill>
              </a:rPr>
              <a:t>(</a:t>
            </a:r>
            <a:r>
              <a:rPr lang="fr-FR" sz="1400" i="1" dirty="0" err="1">
                <a:solidFill>
                  <a:schemeClr val="accent1">
                    <a:lumMod val="40000"/>
                    <a:lumOff val="60000"/>
                  </a:schemeClr>
                </a:solidFill>
              </a:rPr>
              <a:t>overlap</a:t>
            </a:r>
            <a:r>
              <a:rPr lang="fr-FR" sz="1400" i="1" dirty="0">
                <a:solidFill>
                  <a:schemeClr val="accent1">
                    <a:lumMod val="40000"/>
                    <a:lumOff val="60000"/>
                  </a:schemeClr>
                </a:solidFill>
              </a:rPr>
              <a:t>) </a:t>
            </a:r>
            <a:r>
              <a:rPr lang="fr-FR" dirty="0">
                <a:solidFill>
                  <a:schemeClr val="bg1"/>
                </a:solidFill>
              </a:rPr>
              <a:t>: chaque bloc chevauche légèrement le précédent pour ne pas couper une phrase en plein milieu.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La vectorisation - transformer le texte en nombres :</a:t>
            </a:r>
          </a:p>
          <a:p>
            <a:endParaRPr lang="fr-FR" sz="1000" u="sng" dirty="0">
              <a:solidFill>
                <a:schemeClr val="bg1"/>
              </a:solidFill>
            </a:endParaRPr>
          </a:p>
          <a:p>
            <a:pPr marL="449263"/>
            <a:r>
              <a:rPr lang="fr-FR" dirty="0">
                <a:solidFill>
                  <a:schemeClr val="bg1"/>
                </a:solidFill>
              </a:rPr>
              <a:t>Chaque </a:t>
            </a:r>
            <a:r>
              <a:rPr lang="fr-FR" dirty="0" err="1">
                <a:solidFill>
                  <a:schemeClr val="bg1"/>
                </a:solidFill>
              </a:rPr>
              <a:t>chunk</a:t>
            </a:r>
            <a:r>
              <a:rPr lang="fr-FR" dirty="0">
                <a:solidFill>
                  <a:schemeClr val="bg1"/>
                </a:solidFill>
              </a:rPr>
              <a:t> est envoyé au modèle </a:t>
            </a:r>
            <a:r>
              <a:rPr lang="fr-FR" b="1" dirty="0">
                <a:solidFill>
                  <a:schemeClr val="bg1"/>
                </a:solidFill>
              </a:rPr>
              <a:t>mistral-</a:t>
            </a:r>
            <a:r>
              <a:rPr lang="fr-FR" b="1" dirty="0" err="1">
                <a:solidFill>
                  <a:schemeClr val="bg1"/>
                </a:solidFill>
              </a:rPr>
              <a:t>embed</a:t>
            </a:r>
            <a:r>
              <a:rPr lang="fr-FR" dirty="0">
                <a:solidFill>
                  <a:schemeClr val="bg1"/>
                </a:solidFill>
              </a:rPr>
              <a:t> qui le convertit en un vecteur de 1024 nombres. Ces nombres encodent le "sens" du texte : deux événements similaires auront des vecteurs proches dans cet espace mathématique.</a:t>
            </a:r>
          </a:p>
          <a:p>
            <a:endParaRPr lang="fr-FR" dirty="0">
              <a:solidFill>
                <a:schemeClr val="bg1"/>
              </a:solidFill>
            </a:endParaRPr>
          </a:p>
          <a:p>
            <a:r>
              <a:rPr lang="fr-FR" sz="2800" u="sng" dirty="0">
                <a:solidFill>
                  <a:schemeClr val="bg1"/>
                </a:solidFill>
              </a:rPr>
              <a:t>Le retriever MMR - éviter les répétitions :</a:t>
            </a:r>
          </a:p>
          <a:p>
            <a:endParaRPr lang="fr-FR" sz="1000" u="sng" dirty="0">
              <a:solidFill>
                <a:schemeClr val="bg1"/>
              </a:solidFill>
            </a:endParaRPr>
          </a:p>
          <a:p>
            <a:pPr marL="449263"/>
            <a:r>
              <a:rPr lang="fr-FR" dirty="0">
                <a:solidFill>
                  <a:schemeClr val="bg1"/>
                </a:solidFill>
              </a:rPr>
              <a:t>La recherche simple peut retourner plusieurs </a:t>
            </a:r>
            <a:r>
              <a:rPr lang="fr-FR" dirty="0" err="1">
                <a:solidFill>
                  <a:schemeClr val="bg1"/>
                </a:solidFill>
              </a:rPr>
              <a:t>chunk</a:t>
            </a:r>
            <a:r>
              <a:rPr lang="fr-FR" dirty="0">
                <a:solidFill>
                  <a:schemeClr val="bg1"/>
                </a:solidFill>
              </a:rPr>
              <a:t> du même événement. Le MMR </a:t>
            </a:r>
            <a:r>
              <a:rPr lang="fr-FR" sz="1400" i="1" dirty="0">
                <a:solidFill>
                  <a:schemeClr val="accent1">
                    <a:lumMod val="40000"/>
                    <a:lumOff val="60000"/>
                  </a:schemeClr>
                </a:solidFill>
              </a:rPr>
              <a:t>(Maximal Marginal Relevance) </a:t>
            </a:r>
            <a:r>
              <a:rPr lang="fr-FR" dirty="0">
                <a:solidFill>
                  <a:schemeClr val="bg1"/>
                </a:solidFill>
              </a:rPr>
              <a:t>corrige ça : il sélectionne des blocs à la fois pertinents ET diversifiés </a:t>
            </a:r>
            <a:r>
              <a:rPr lang="fr-FR" sz="1400" i="1" dirty="0">
                <a:solidFill>
                  <a:schemeClr val="accent1">
                    <a:lumMod val="40000"/>
                    <a:lumOff val="60000"/>
                  </a:schemeClr>
                </a:solidFill>
              </a:rPr>
              <a:t>(70% pertinence, 30% nouveauté)</a:t>
            </a:r>
            <a:r>
              <a:rPr lang="fr-FR" dirty="0">
                <a:solidFill>
                  <a:schemeClr val="bg1"/>
                </a:solidFill>
              </a:rPr>
              <a:t>.</a:t>
            </a:r>
            <a:endParaRPr lang="fr-FR" sz="1400" dirty="0">
              <a:solidFill>
                <a:schemeClr val="bg1"/>
              </a:solidFill>
            </a:endParaRPr>
          </a:p>
        </p:txBody>
      </p:sp>
      <p:graphicFrame>
        <p:nvGraphicFramePr>
          <p:cNvPr id="6" name="Tableau 5">
            <a:extLst>
              <a:ext uri="{FF2B5EF4-FFF2-40B4-BE49-F238E27FC236}">
                <a16:creationId xmlns:a16="http://schemas.microsoft.com/office/drawing/2014/main" id="{37F96E06-9AE7-C7D5-F93A-A6C46A803C2C}"/>
              </a:ext>
            </a:extLst>
          </p:cNvPr>
          <p:cNvGraphicFramePr>
            <a:graphicFrameLocks noGrp="1"/>
          </p:cNvGraphicFramePr>
          <p:nvPr>
            <p:extLst>
              <p:ext uri="{D42A27DB-BD31-4B8C-83A1-F6EECF244321}">
                <p14:modId xmlns:p14="http://schemas.microsoft.com/office/powerpoint/2010/main" val="3587096762"/>
              </p:ext>
            </p:extLst>
          </p:nvPr>
        </p:nvGraphicFramePr>
        <p:xfrm>
          <a:off x="1933754" y="2532747"/>
          <a:ext cx="8324492" cy="1243538"/>
        </p:xfrm>
        <a:graphic>
          <a:graphicData uri="http://schemas.openxmlformats.org/drawingml/2006/table">
            <a:tbl>
              <a:tblPr firstRow="1" bandRow="1">
                <a:tableStyleId>{5C22544A-7EE6-4342-B048-85BDC9FD1C3A}</a:tableStyleId>
              </a:tblPr>
              <a:tblGrid>
                <a:gridCol w="1802922">
                  <a:extLst>
                    <a:ext uri="{9D8B030D-6E8A-4147-A177-3AD203B41FA5}">
                      <a16:colId xmlns:a16="http://schemas.microsoft.com/office/drawing/2014/main" val="2468015850"/>
                    </a:ext>
                  </a:extLst>
                </a:gridCol>
                <a:gridCol w="2173857">
                  <a:extLst>
                    <a:ext uri="{9D8B030D-6E8A-4147-A177-3AD203B41FA5}">
                      <a16:colId xmlns:a16="http://schemas.microsoft.com/office/drawing/2014/main" val="2728579519"/>
                    </a:ext>
                  </a:extLst>
                </a:gridCol>
                <a:gridCol w="4347713">
                  <a:extLst>
                    <a:ext uri="{9D8B030D-6E8A-4147-A177-3AD203B41FA5}">
                      <a16:colId xmlns:a16="http://schemas.microsoft.com/office/drawing/2014/main" val="3594426404"/>
                    </a:ext>
                  </a:extLst>
                </a:gridCol>
              </a:tblGrid>
              <a:tr h="374858">
                <a:tc>
                  <a:txBody>
                    <a:bodyPr/>
                    <a:lstStyle/>
                    <a:p>
                      <a:pPr algn="ctr"/>
                      <a:r>
                        <a:rPr sz="1800" b="1" dirty="0" err="1">
                          <a:solidFill>
                            <a:schemeClr val="bg1"/>
                          </a:solidFill>
                        </a:rPr>
                        <a:t>Paramètre</a:t>
                      </a:r>
                      <a:endParaRPr sz="1800" b="1" dirty="0">
                        <a:solidFill>
                          <a:schemeClr val="bg1"/>
                        </a:solidFill>
                      </a:endParaRPr>
                    </a:p>
                  </a:txBody>
                  <a:tcPr>
                    <a:solidFill>
                      <a:srgbClr val="3D85C6"/>
                    </a:solidFill>
                  </a:tcPr>
                </a:tc>
                <a:tc>
                  <a:txBody>
                    <a:bodyPr/>
                    <a:lstStyle/>
                    <a:p>
                      <a:pPr algn="ctr"/>
                      <a:r>
                        <a:rPr sz="1800" b="1" dirty="0">
                          <a:solidFill>
                            <a:schemeClr val="bg1"/>
                          </a:solidFill>
                        </a:rPr>
                        <a:t>Valeur</a:t>
                      </a:r>
                    </a:p>
                  </a:txBody>
                  <a:tcPr>
                    <a:solidFill>
                      <a:srgbClr val="3D85C6"/>
                    </a:solidFill>
                  </a:tcPr>
                </a:tc>
                <a:tc>
                  <a:txBody>
                    <a:bodyPr/>
                    <a:lstStyle/>
                    <a:p>
                      <a:pPr algn="ctr"/>
                      <a:r>
                        <a:rPr sz="1800" b="1" dirty="0">
                          <a:solidFill>
                            <a:schemeClr val="bg1"/>
                          </a:solidFill>
                        </a:rPr>
                        <a:t>Ce </a:t>
                      </a:r>
                      <a:r>
                        <a:rPr sz="1800" b="1" dirty="0" err="1">
                          <a:solidFill>
                            <a:schemeClr val="bg1"/>
                          </a:solidFill>
                        </a:rPr>
                        <a:t>que</a:t>
                      </a:r>
                      <a:r>
                        <a:rPr sz="1800" b="1" dirty="0">
                          <a:solidFill>
                            <a:schemeClr val="bg1"/>
                          </a:solidFill>
                        </a:rPr>
                        <a:t> </a:t>
                      </a:r>
                      <a:r>
                        <a:rPr sz="1800" b="1" dirty="0" err="1">
                          <a:solidFill>
                            <a:schemeClr val="bg1"/>
                          </a:solidFill>
                        </a:rPr>
                        <a:t>ça</a:t>
                      </a:r>
                      <a:r>
                        <a:rPr sz="1800" b="1" dirty="0">
                          <a:solidFill>
                            <a:schemeClr val="bg1"/>
                          </a:solidFill>
                        </a:rPr>
                        <a:t> </a:t>
                      </a:r>
                      <a:r>
                        <a:rPr sz="1800" b="1" dirty="0" err="1">
                          <a:solidFill>
                            <a:schemeClr val="bg1"/>
                          </a:solidFill>
                        </a:rPr>
                        <a:t>signifie</a:t>
                      </a:r>
                      <a:endParaRPr sz="1800" b="1" dirty="0">
                        <a:solidFill>
                          <a:schemeClr val="bg1"/>
                        </a:solidFill>
                      </a:endParaRPr>
                    </a:p>
                  </a:txBody>
                  <a:tcPr>
                    <a:solidFill>
                      <a:srgbClr val="3D85C6"/>
                    </a:solidFill>
                  </a:tcPr>
                </a:tc>
                <a:extLst>
                  <a:ext uri="{0D108BD9-81ED-4DB2-BD59-A6C34878D82A}">
                    <a16:rowId xmlns:a16="http://schemas.microsoft.com/office/drawing/2014/main" val="2160124239"/>
                  </a:ext>
                </a:extLst>
              </a:tr>
              <a:tr h="151354">
                <a:tc>
                  <a:txBody>
                    <a:bodyPr/>
                    <a:lstStyle/>
                    <a:p>
                      <a:pPr algn="ctr"/>
                      <a:r>
                        <a:rPr lang="fr-FR" sz="1300" b="0" dirty="0" err="1">
                          <a:solidFill>
                            <a:srgbClr val="262626"/>
                          </a:solidFill>
                        </a:rPr>
                        <a:t>Chunk</a:t>
                      </a:r>
                      <a:endParaRPr sz="1300" b="0" dirty="0">
                        <a:solidFill>
                          <a:srgbClr val="262626"/>
                        </a:solidFill>
                      </a:endParaRPr>
                    </a:p>
                  </a:txBody>
                  <a:tcPr/>
                </a:tc>
                <a:tc>
                  <a:txBody>
                    <a:bodyPr/>
                    <a:lstStyle/>
                    <a:p>
                      <a:pPr algn="ctr"/>
                      <a:r>
                        <a:rPr sz="1300" b="1" dirty="0">
                          <a:solidFill>
                            <a:srgbClr val="262626"/>
                          </a:solidFill>
                        </a:rPr>
                        <a:t>250 tokens (~180 mots)</a:t>
                      </a:r>
                    </a:p>
                  </a:txBody>
                  <a:tcPr/>
                </a:tc>
                <a:tc>
                  <a:txBody>
                    <a:bodyPr/>
                    <a:lstStyle/>
                    <a:p>
                      <a:pPr algn="l"/>
                      <a:r>
                        <a:rPr sz="1300" b="0" dirty="0" err="1">
                          <a:solidFill>
                            <a:srgbClr val="262626"/>
                          </a:solidFill>
                        </a:rPr>
                        <a:t>Assez</a:t>
                      </a:r>
                      <a:r>
                        <a:rPr sz="1300" b="0" dirty="0">
                          <a:solidFill>
                            <a:srgbClr val="262626"/>
                          </a:solidFill>
                        </a:rPr>
                        <a:t> court pour </a:t>
                      </a:r>
                      <a:r>
                        <a:rPr sz="1300" b="0" dirty="0" err="1">
                          <a:solidFill>
                            <a:srgbClr val="262626"/>
                          </a:solidFill>
                        </a:rPr>
                        <a:t>être</a:t>
                      </a:r>
                      <a:r>
                        <a:rPr sz="1300" b="0" dirty="0">
                          <a:solidFill>
                            <a:srgbClr val="262626"/>
                          </a:solidFill>
                        </a:rPr>
                        <a:t> précis, </a:t>
                      </a:r>
                      <a:r>
                        <a:rPr sz="1300" b="0" dirty="0" err="1">
                          <a:solidFill>
                            <a:srgbClr val="262626"/>
                          </a:solidFill>
                        </a:rPr>
                        <a:t>assez</a:t>
                      </a:r>
                      <a:r>
                        <a:rPr sz="1300" b="0" dirty="0">
                          <a:solidFill>
                            <a:srgbClr val="262626"/>
                          </a:solidFill>
                        </a:rPr>
                        <a:t> long pour </a:t>
                      </a:r>
                      <a:r>
                        <a:rPr sz="1300" b="0" dirty="0" err="1">
                          <a:solidFill>
                            <a:srgbClr val="262626"/>
                          </a:solidFill>
                        </a:rPr>
                        <a:t>avoir</a:t>
                      </a:r>
                      <a:r>
                        <a:rPr sz="1300" b="0" dirty="0">
                          <a:solidFill>
                            <a:srgbClr val="262626"/>
                          </a:solidFill>
                        </a:rPr>
                        <a:t> du </a:t>
                      </a:r>
                      <a:r>
                        <a:rPr sz="1300" b="0" dirty="0" err="1">
                          <a:solidFill>
                            <a:srgbClr val="262626"/>
                          </a:solidFill>
                        </a:rPr>
                        <a:t>sens</a:t>
                      </a:r>
                      <a:endParaRPr sz="1300" b="0" dirty="0">
                        <a:solidFill>
                          <a:srgbClr val="262626"/>
                        </a:solidFill>
                      </a:endParaRPr>
                    </a:p>
                  </a:txBody>
                  <a:tcPr/>
                </a:tc>
                <a:extLst>
                  <a:ext uri="{0D108BD9-81ED-4DB2-BD59-A6C34878D82A}">
                    <a16:rowId xmlns:a16="http://schemas.microsoft.com/office/drawing/2014/main" val="617184408"/>
                  </a:ext>
                </a:extLst>
              </a:tr>
              <a:tr h="0">
                <a:tc>
                  <a:txBody>
                    <a:bodyPr/>
                    <a:lstStyle/>
                    <a:p>
                      <a:pPr algn="ctr"/>
                      <a:r>
                        <a:rPr lang="fr-FR" sz="1300" b="0" dirty="0" err="1">
                          <a:solidFill>
                            <a:srgbClr val="262626"/>
                          </a:solidFill>
                        </a:rPr>
                        <a:t>Overlap</a:t>
                      </a:r>
                      <a:endParaRPr sz="1300" b="0" dirty="0">
                        <a:solidFill>
                          <a:srgbClr val="262626"/>
                        </a:solidFill>
                      </a:endParaRPr>
                    </a:p>
                  </a:txBody>
                  <a:tcPr/>
                </a:tc>
                <a:tc>
                  <a:txBody>
                    <a:bodyPr/>
                    <a:lstStyle/>
                    <a:p>
                      <a:pPr algn="ctr"/>
                      <a:r>
                        <a:rPr sz="1300" b="1" dirty="0">
                          <a:solidFill>
                            <a:srgbClr val="262626"/>
                          </a:solidFill>
                        </a:rPr>
                        <a:t>75 tokens (30 %)</a:t>
                      </a:r>
                    </a:p>
                  </a:txBody>
                  <a:tcPr/>
                </a:tc>
                <a:tc>
                  <a:txBody>
                    <a:bodyPr/>
                    <a:lstStyle/>
                    <a:p>
                      <a:pPr algn="l"/>
                      <a:r>
                        <a:rPr sz="1300" b="0" dirty="0">
                          <a:solidFill>
                            <a:srgbClr val="262626"/>
                          </a:solidFill>
                        </a:rPr>
                        <a:t>Les 75 </a:t>
                      </a:r>
                      <a:r>
                        <a:rPr sz="1300" b="0" dirty="0" err="1">
                          <a:solidFill>
                            <a:srgbClr val="262626"/>
                          </a:solidFill>
                        </a:rPr>
                        <a:t>derniers</a:t>
                      </a:r>
                      <a:r>
                        <a:rPr sz="1300" b="0" dirty="0">
                          <a:solidFill>
                            <a:srgbClr val="262626"/>
                          </a:solidFill>
                        </a:rPr>
                        <a:t> tokens d’un bloc = les 75 premiers du </a:t>
                      </a:r>
                      <a:r>
                        <a:rPr sz="1300" b="0" dirty="0" err="1">
                          <a:solidFill>
                            <a:srgbClr val="262626"/>
                          </a:solidFill>
                        </a:rPr>
                        <a:t>suivant</a:t>
                      </a:r>
                      <a:endParaRPr sz="1300" b="0" dirty="0">
                        <a:solidFill>
                          <a:srgbClr val="262626"/>
                        </a:solidFill>
                      </a:endParaRPr>
                    </a:p>
                  </a:txBody>
                  <a:tcPr/>
                </a:tc>
                <a:extLst>
                  <a:ext uri="{0D108BD9-81ED-4DB2-BD59-A6C34878D82A}">
                    <a16:rowId xmlns:a16="http://schemas.microsoft.com/office/drawing/2014/main" val="559656280"/>
                  </a:ext>
                </a:extLst>
              </a:tr>
              <a:tr h="0">
                <a:tc>
                  <a:txBody>
                    <a:bodyPr/>
                    <a:lstStyle/>
                    <a:p>
                      <a:pPr algn="ctr"/>
                      <a:r>
                        <a:rPr sz="1300" b="0">
                          <a:solidFill>
                            <a:srgbClr val="262626"/>
                          </a:solidFill>
                        </a:rPr>
                        <a:t>Résultat</a:t>
                      </a:r>
                    </a:p>
                  </a:txBody>
                  <a:tcPr/>
                </a:tc>
                <a:tc>
                  <a:txBody>
                    <a:bodyPr/>
                    <a:lstStyle/>
                    <a:p>
                      <a:pPr algn="ctr"/>
                      <a:r>
                        <a:rPr sz="1300" b="1" dirty="0">
                          <a:solidFill>
                            <a:srgbClr val="262626"/>
                          </a:solidFill>
                        </a:rPr>
                        <a:t>10 480 </a:t>
                      </a:r>
                      <a:r>
                        <a:rPr lang="fr-FR" sz="1300" b="1" dirty="0" err="1">
                          <a:solidFill>
                            <a:srgbClr val="262626"/>
                          </a:solidFill>
                        </a:rPr>
                        <a:t>chunks</a:t>
                      </a:r>
                      <a:endParaRPr sz="1300" b="1" dirty="0">
                        <a:solidFill>
                          <a:srgbClr val="262626"/>
                        </a:solidFill>
                      </a:endParaRPr>
                    </a:p>
                  </a:txBody>
                  <a:tcPr/>
                </a:tc>
                <a:tc>
                  <a:txBody>
                    <a:bodyPr/>
                    <a:lstStyle/>
                    <a:p>
                      <a:pPr algn="l"/>
                      <a:r>
                        <a:rPr sz="1300" b="0" dirty="0">
                          <a:solidFill>
                            <a:srgbClr val="262626"/>
                          </a:solidFill>
                        </a:rPr>
                        <a:t>En </a:t>
                      </a:r>
                      <a:r>
                        <a:rPr sz="1300" b="0" dirty="0" err="1">
                          <a:solidFill>
                            <a:srgbClr val="262626"/>
                          </a:solidFill>
                        </a:rPr>
                        <a:t>moyenne</a:t>
                      </a:r>
                      <a:r>
                        <a:rPr sz="1300" b="0" dirty="0">
                          <a:solidFill>
                            <a:srgbClr val="262626"/>
                          </a:solidFill>
                        </a:rPr>
                        <a:t> 1.31 </a:t>
                      </a:r>
                      <a:r>
                        <a:rPr lang="fr-FR" sz="1300" b="0" dirty="0" err="1">
                          <a:solidFill>
                            <a:srgbClr val="262626"/>
                          </a:solidFill>
                        </a:rPr>
                        <a:t>chunks</a:t>
                      </a:r>
                      <a:r>
                        <a:rPr sz="1300" b="0" dirty="0">
                          <a:solidFill>
                            <a:srgbClr val="262626"/>
                          </a:solidFill>
                        </a:rPr>
                        <a:t> par </a:t>
                      </a:r>
                      <a:r>
                        <a:rPr sz="1300" b="0" dirty="0" err="1">
                          <a:solidFill>
                            <a:srgbClr val="262626"/>
                          </a:solidFill>
                        </a:rPr>
                        <a:t>événement</a:t>
                      </a:r>
                      <a:endParaRPr sz="1300" b="0" dirty="0">
                        <a:solidFill>
                          <a:srgbClr val="262626"/>
                        </a:solidFill>
                      </a:endParaRPr>
                    </a:p>
                  </a:txBody>
                  <a:tcPr/>
                </a:tc>
                <a:extLst>
                  <a:ext uri="{0D108BD9-81ED-4DB2-BD59-A6C34878D82A}">
                    <a16:rowId xmlns:a16="http://schemas.microsoft.com/office/drawing/2014/main" val="2428607161"/>
                  </a:ext>
                </a:extLst>
              </a:tr>
            </a:tbl>
          </a:graphicData>
        </a:graphic>
      </p:graphicFrame>
    </p:spTree>
    <p:extLst>
      <p:ext uri="{BB962C8B-B14F-4D97-AF65-F5344CB8AC3E}">
        <p14:creationId xmlns:p14="http://schemas.microsoft.com/office/powerpoint/2010/main" val="3875967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B00E-45DF-D13F-BADA-1267CDFCDFF0}"/>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B429995-8C3E-E1BC-9A1C-70BE05523163}"/>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CONSTRUCTION DU SYSTÈME RAG</a:t>
            </a:r>
          </a:p>
        </p:txBody>
      </p:sp>
      <p:sp>
        <p:nvSpPr>
          <p:cNvPr id="3" name="ZoneTexte 2">
            <a:extLst>
              <a:ext uri="{FF2B5EF4-FFF2-40B4-BE49-F238E27FC236}">
                <a16:creationId xmlns:a16="http://schemas.microsoft.com/office/drawing/2014/main" id="{8458DB11-925D-41F6-7147-FB461FE04677}"/>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9</a:t>
            </a:r>
          </a:p>
        </p:txBody>
      </p:sp>
      <p:sp>
        <p:nvSpPr>
          <p:cNvPr id="4" name="Rectangle 3">
            <a:extLst>
              <a:ext uri="{FF2B5EF4-FFF2-40B4-BE49-F238E27FC236}">
                <a16:creationId xmlns:a16="http://schemas.microsoft.com/office/drawing/2014/main" id="{B69B52A0-5CED-C995-5E3D-A6BA47140AD4}"/>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ZoneTexte 4">
            <a:extLst>
              <a:ext uri="{FF2B5EF4-FFF2-40B4-BE49-F238E27FC236}">
                <a16:creationId xmlns:a16="http://schemas.microsoft.com/office/drawing/2014/main" id="{EA614DDE-BAD1-C547-3D2B-D715ABC23874}"/>
              </a:ext>
            </a:extLst>
          </p:cNvPr>
          <p:cNvSpPr txBox="1"/>
          <p:nvPr/>
        </p:nvSpPr>
        <p:spPr>
          <a:xfrm>
            <a:off x="142875" y="950595"/>
            <a:ext cx="11906250" cy="6093976"/>
          </a:xfrm>
          <a:prstGeom prst="rect">
            <a:avLst/>
          </a:prstGeom>
          <a:noFill/>
        </p:spPr>
        <p:txBody>
          <a:bodyPr wrap="square" rtlCol="0">
            <a:spAutoFit/>
          </a:bodyPr>
          <a:lstStyle/>
          <a:p>
            <a:r>
              <a:rPr lang="fr-FR" sz="2800" u="sng" dirty="0">
                <a:solidFill>
                  <a:schemeClr val="bg1"/>
                </a:solidFill>
              </a:rPr>
              <a:t>Ce qui se passe quand l'utilisateur pose une question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Paramètres clé du système :</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u="sng" dirty="0">
              <a:solidFill>
                <a:schemeClr val="bg1"/>
              </a:solidFill>
            </a:endParaRPr>
          </a:p>
          <a:p>
            <a:r>
              <a:rPr lang="fr-FR" sz="2800" u="sng" dirty="0">
                <a:solidFill>
                  <a:schemeClr val="bg1"/>
                </a:solidFill>
              </a:rPr>
              <a:t>Le prompt - ce que le LLM reçoit vraiment :</a:t>
            </a:r>
          </a:p>
          <a:p>
            <a:pPr marL="449263"/>
            <a:r>
              <a:rPr lang="fr-FR" dirty="0">
                <a:solidFill>
                  <a:schemeClr val="bg1"/>
                </a:solidFill>
              </a:rPr>
              <a:t>Le système injecte une instruction explicite : "Réponds uniquement avec les informations du contexte fourni. Si l'information n'est pas disponible, dis-le clairement." C'est ce qui empêche les hallucinations.</a:t>
            </a:r>
          </a:p>
          <a:p>
            <a:endParaRPr lang="fr-FR" dirty="0">
              <a:solidFill>
                <a:schemeClr val="bg1"/>
              </a:solidFill>
            </a:endParaRPr>
          </a:p>
        </p:txBody>
      </p:sp>
      <p:sp>
        <p:nvSpPr>
          <p:cNvPr id="9" name="Rectangle 8">
            <a:extLst>
              <a:ext uri="{FF2B5EF4-FFF2-40B4-BE49-F238E27FC236}">
                <a16:creationId xmlns:a16="http://schemas.microsoft.com/office/drawing/2014/main" id="{1E56B4EC-5C3C-C6B1-EFB9-49A60D77EFE9}"/>
              </a:ext>
            </a:extLst>
          </p:cNvPr>
          <p:cNvSpPr/>
          <p:nvPr/>
        </p:nvSpPr>
        <p:spPr>
          <a:xfrm>
            <a:off x="1632298" y="1595854"/>
            <a:ext cx="163824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err="1"/>
              <a:t>Embedding</a:t>
            </a:r>
            <a:endParaRPr lang="fr-FR" b="1" dirty="0"/>
          </a:p>
          <a:p>
            <a:pPr algn="ctr"/>
            <a:endParaRPr lang="fr-FR" sz="800" b="1" dirty="0"/>
          </a:p>
          <a:p>
            <a:pPr algn="ctr"/>
            <a:r>
              <a:rPr lang="fr-FR" sz="1200" b="1" dirty="0"/>
              <a:t>Vecteur </a:t>
            </a:r>
            <a:r>
              <a:rPr lang="fr-FR" sz="1200" dirty="0"/>
              <a:t>mistral-</a:t>
            </a:r>
            <a:r>
              <a:rPr lang="fr-FR" sz="1200" dirty="0" err="1"/>
              <a:t>embed</a:t>
            </a:r>
            <a:endParaRPr lang="fr-FR" dirty="0"/>
          </a:p>
        </p:txBody>
      </p:sp>
      <p:sp>
        <p:nvSpPr>
          <p:cNvPr id="10" name="Rectangle 9">
            <a:extLst>
              <a:ext uri="{FF2B5EF4-FFF2-40B4-BE49-F238E27FC236}">
                <a16:creationId xmlns:a16="http://schemas.microsoft.com/office/drawing/2014/main" id="{BD6839C8-8EBA-5224-7B51-4503B925F1DD}"/>
              </a:ext>
            </a:extLst>
          </p:cNvPr>
          <p:cNvSpPr/>
          <p:nvPr/>
        </p:nvSpPr>
        <p:spPr>
          <a:xfrm>
            <a:off x="3535858" y="1595854"/>
            <a:ext cx="1762100"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FAISS</a:t>
            </a:r>
            <a:r>
              <a:rPr lang="fr-FR" sz="1200" dirty="0"/>
              <a:t> </a:t>
            </a:r>
          </a:p>
          <a:p>
            <a:pPr algn="ctr"/>
            <a:endParaRPr lang="fr-FR" sz="800" dirty="0"/>
          </a:p>
          <a:p>
            <a:pPr algn="ctr"/>
            <a:r>
              <a:rPr lang="fr-FR" sz="1200" dirty="0"/>
              <a:t>Recherche des 20 vecteurs les plus proches</a:t>
            </a:r>
          </a:p>
          <a:p>
            <a:pPr algn="ctr"/>
            <a:r>
              <a:rPr lang="fr-FR" sz="1200" dirty="0"/>
              <a:t>(</a:t>
            </a:r>
            <a:r>
              <a:rPr lang="fr-FR" sz="1200" dirty="0" err="1"/>
              <a:t>k_fetch</a:t>
            </a:r>
            <a:r>
              <a:rPr lang="fr-FR" sz="1200" dirty="0"/>
              <a:t>=20)</a:t>
            </a:r>
            <a:endParaRPr lang="fr-FR" dirty="0"/>
          </a:p>
        </p:txBody>
      </p:sp>
      <p:sp>
        <p:nvSpPr>
          <p:cNvPr id="11" name="Rectangle 10">
            <a:extLst>
              <a:ext uri="{FF2B5EF4-FFF2-40B4-BE49-F238E27FC236}">
                <a16:creationId xmlns:a16="http://schemas.microsoft.com/office/drawing/2014/main" id="{E3A6122D-9B81-C0E9-C032-40C8B7187724}"/>
              </a:ext>
            </a:extLst>
          </p:cNvPr>
          <p:cNvSpPr/>
          <p:nvPr/>
        </p:nvSpPr>
        <p:spPr>
          <a:xfrm>
            <a:off x="5561195" y="1595854"/>
            <a:ext cx="163824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MMR</a:t>
            </a:r>
            <a:r>
              <a:rPr lang="fr-FR" sz="1200" dirty="0"/>
              <a:t> </a:t>
            </a:r>
          </a:p>
          <a:p>
            <a:pPr algn="ctr"/>
            <a:endParaRPr lang="fr-FR" sz="800" dirty="0"/>
          </a:p>
          <a:p>
            <a:pPr algn="ctr"/>
            <a:r>
              <a:rPr lang="fr-FR" sz="1200" dirty="0"/>
              <a:t>Sélection de 10 blocs diversifiés parmi les 20</a:t>
            </a:r>
          </a:p>
          <a:p>
            <a:pPr algn="ctr"/>
            <a:r>
              <a:rPr lang="fr-FR" sz="1200" dirty="0"/>
              <a:t>(k=10, λ=0.7)</a:t>
            </a:r>
            <a:endParaRPr lang="fr-FR" dirty="0"/>
          </a:p>
        </p:txBody>
      </p:sp>
      <p:sp>
        <p:nvSpPr>
          <p:cNvPr id="12" name="Rectangle 11">
            <a:extLst>
              <a:ext uri="{FF2B5EF4-FFF2-40B4-BE49-F238E27FC236}">
                <a16:creationId xmlns:a16="http://schemas.microsoft.com/office/drawing/2014/main" id="{04B55C3F-11F1-20E5-A539-32D342856345}"/>
              </a:ext>
            </a:extLst>
          </p:cNvPr>
          <p:cNvSpPr/>
          <p:nvPr/>
        </p:nvSpPr>
        <p:spPr>
          <a:xfrm>
            <a:off x="7462676" y="1595854"/>
            <a:ext cx="1545340"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Prompt</a:t>
            </a:r>
            <a:r>
              <a:rPr lang="fr-FR" sz="1200" dirty="0"/>
              <a:t> </a:t>
            </a:r>
            <a:endParaRPr lang="fr-FR" sz="800" dirty="0"/>
          </a:p>
          <a:p>
            <a:pPr algn="ctr"/>
            <a:endParaRPr lang="fr-FR" sz="800" dirty="0"/>
          </a:p>
          <a:p>
            <a:pPr algn="ctr"/>
            <a:r>
              <a:rPr lang="fr-FR" sz="1200" dirty="0"/>
              <a:t>Blocs injectés dans un </a:t>
            </a:r>
            <a:r>
              <a:rPr lang="fr-FR" sz="1200" dirty="0" err="1"/>
              <a:t>template</a:t>
            </a:r>
            <a:r>
              <a:rPr lang="fr-FR" sz="1200" dirty="0"/>
              <a:t> structuré</a:t>
            </a:r>
            <a:endParaRPr lang="fr-FR" dirty="0"/>
          </a:p>
        </p:txBody>
      </p:sp>
      <p:sp>
        <p:nvSpPr>
          <p:cNvPr id="13" name="Rectangle 12">
            <a:extLst>
              <a:ext uri="{FF2B5EF4-FFF2-40B4-BE49-F238E27FC236}">
                <a16:creationId xmlns:a16="http://schemas.microsoft.com/office/drawing/2014/main" id="{696F7AB2-4058-5DCB-8300-29D7C745999D}"/>
              </a:ext>
            </a:extLst>
          </p:cNvPr>
          <p:cNvSpPr/>
          <p:nvPr/>
        </p:nvSpPr>
        <p:spPr>
          <a:xfrm>
            <a:off x="9271253" y="1592712"/>
            <a:ext cx="1365654" cy="978772"/>
          </a:xfrm>
          <a:prstGeom prst="rect">
            <a:avLst/>
          </a:prstGeom>
          <a:solidFill>
            <a:srgbClr val="3D85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LLM</a:t>
            </a:r>
            <a:r>
              <a:rPr lang="fr-FR" sz="1200" dirty="0"/>
              <a:t> </a:t>
            </a:r>
          </a:p>
          <a:p>
            <a:pPr algn="ctr"/>
            <a:endParaRPr lang="fr-FR" sz="800" dirty="0"/>
          </a:p>
          <a:p>
            <a:pPr algn="ctr"/>
            <a:r>
              <a:rPr lang="fr-FR" sz="1200" dirty="0"/>
              <a:t>mistral-</a:t>
            </a:r>
            <a:r>
              <a:rPr lang="fr-FR" sz="1200" dirty="0" err="1"/>
              <a:t>small</a:t>
            </a:r>
            <a:r>
              <a:rPr lang="fr-FR" sz="1200" dirty="0"/>
              <a:t>-</a:t>
            </a:r>
            <a:r>
              <a:rPr lang="fr-FR" sz="1200" dirty="0" err="1"/>
              <a:t>latest</a:t>
            </a:r>
            <a:r>
              <a:rPr lang="fr-FR" sz="1200" dirty="0"/>
              <a:t> génère la réponse</a:t>
            </a:r>
            <a:endParaRPr lang="fr-FR" dirty="0"/>
          </a:p>
        </p:txBody>
      </p:sp>
      <p:sp>
        <p:nvSpPr>
          <p:cNvPr id="15" name="Bulle narrative : ronde 14">
            <a:extLst>
              <a:ext uri="{FF2B5EF4-FFF2-40B4-BE49-F238E27FC236}">
                <a16:creationId xmlns:a16="http://schemas.microsoft.com/office/drawing/2014/main" id="{DA282C41-0284-30E1-CAA1-1E008D3EB3BC}"/>
              </a:ext>
            </a:extLst>
          </p:cNvPr>
          <p:cNvSpPr/>
          <p:nvPr/>
        </p:nvSpPr>
        <p:spPr>
          <a:xfrm>
            <a:off x="10900144" y="1715319"/>
            <a:ext cx="965671" cy="733554"/>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b="1" dirty="0"/>
              <a:t>Réponse</a:t>
            </a:r>
          </a:p>
        </p:txBody>
      </p:sp>
      <p:sp>
        <p:nvSpPr>
          <p:cNvPr id="16" name="Bulle narrative : ronde 15">
            <a:extLst>
              <a:ext uri="{FF2B5EF4-FFF2-40B4-BE49-F238E27FC236}">
                <a16:creationId xmlns:a16="http://schemas.microsoft.com/office/drawing/2014/main" id="{2F46E1F8-6BEA-1468-76BF-201933E9F4E9}"/>
              </a:ext>
            </a:extLst>
          </p:cNvPr>
          <p:cNvSpPr/>
          <p:nvPr/>
        </p:nvSpPr>
        <p:spPr>
          <a:xfrm>
            <a:off x="397567" y="1721153"/>
            <a:ext cx="965671" cy="733554"/>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b="1" dirty="0"/>
              <a:t>Question</a:t>
            </a:r>
          </a:p>
        </p:txBody>
      </p:sp>
      <p:pic>
        <p:nvPicPr>
          <p:cNvPr id="18" name="Graphique 17" descr="Ligne fléchée : droite avec un remplissage uni">
            <a:extLst>
              <a:ext uri="{FF2B5EF4-FFF2-40B4-BE49-F238E27FC236}">
                <a16:creationId xmlns:a16="http://schemas.microsoft.com/office/drawing/2014/main" id="{8C36E167-F88D-2870-4DA5-E940E3C535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5293803" y="1948405"/>
            <a:ext cx="267391" cy="267391"/>
          </a:xfrm>
          <a:prstGeom prst="rect">
            <a:avLst/>
          </a:prstGeom>
        </p:spPr>
      </p:pic>
      <p:pic>
        <p:nvPicPr>
          <p:cNvPr id="20" name="Graphique 19" descr="Ligne fléchée : droite avec un remplissage uni">
            <a:extLst>
              <a:ext uri="{FF2B5EF4-FFF2-40B4-BE49-F238E27FC236}">
                <a16:creationId xmlns:a16="http://schemas.microsoft.com/office/drawing/2014/main" id="{7FDAED8C-B5B6-B68E-4A0E-55B0B872AA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3270544" y="1948405"/>
            <a:ext cx="267391" cy="267391"/>
          </a:xfrm>
          <a:prstGeom prst="rect">
            <a:avLst/>
          </a:prstGeom>
        </p:spPr>
      </p:pic>
      <p:pic>
        <p:nvPicPr>
          <p:cNvPr id="21" name="Graphique 20" descr="Ligne fléchée : droite avec un remplissage uni">
            <a:extLst>
              <a:ext uri="{FF2B5EF4-FFF2-40B4-BE49-F238E27FC236}">
                <a16:creationId xmlns:a16="http://schemas.microsoft.com/office/drawing/2014/main" id="{09A65EBF-6C65-4F18-981B-E16A37F613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7195285" y="1948404"/>
            <a:ext cx="267391" cy="267391"/>
          </a:xfrm>
          <a:prstGeom prst="rect">
            <a:avLst/>
          </a:prstGeom>
        </p:spPr>
      </p:pic>
      <p:pic>
        <p:nvPicPr>
          <p:cNvPr id="22" name="Graphique 21" descr="Ligne fléchée : droite avec un remplissage uni">
            <a:extLst>
              <a:ext uri="{FF2B5EF4-FFF2-40B4-BE49-F238E27FC236}">
                <a16:creationId xmlns:a16="http://schemas.microsoft.com/office/drawing/2014/main" id="{F511E28F-EC9E-29B6-9FF2-51B747F811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9003862" y="1948403"/>
            <a:ext cx="267391" cy="267391"/>
          </a:xfrm>
          <a:prstGeom prst="rect">
            <a:avLst/>
          </a:prstGeom>
        </p:spPr>
      </p:pic>
      <p:pic>
        <p:nvPicPr>
          <p:cNvPr id="23" name="Graphique 22" descr="Ligne fléchée : droite avec un remplissage uni">
            <a:extLst>
              <a:ext uri="{FF2B5EF4-FFF2-40B4-BE49-F238E27FC236}">
                <a16:creationId xmlns:a16="http://schemas.microsoft.com/office/drawing/2014/main" id="{F3AAFB3B-E655-DE69-0B15-B28C500268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632753" y="1948402"/>
            <a:ext cx="267391" cy="267391"/>
          </a:xfrm>
          <a:prstGeom prst="rect">
            <a:avLst/>
          </a:prstGeom>
        </p:spPr>
      </p:pic>
      <p:pic>
        <p:nvPicPr>
          <p:cNvPr id="24" name="Graphique 23" descr="Ligne fléchée : droite avec un remplissage uni">
            <a:extLst>
              <a:ext uri="{FF2B5EF4-FFF2-40B4-BE49-F238E27FC236}">
                <a16:creationId xmlns:a16="http://schemas.microsoft.com/office/drawing/2014/main" id="{A3E0BD4E-D70E-D292-21F8-EAD9D16B27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364073" y="1948401"/>
            <a:ext cx="267391" cy="267391"/>
          </a:xfrm>
          <a:prstGeom prst="rect">
            <a:avLst/>
          </a:prstGeom>
        </p:spPr>
      </p:pic>
      <p:graphicFrame>
        <p:nvGraphicFramePr>
          <p:cNvPr id="26" name="Tableau 25">
            <a:extLst>
              <a:ext uri="{FF2B5EF4-FFF2-40B4-BE49-F238E27FC236}">
                <a16:creationId xmlns:a16="http://schemas.microsoft.com/office/drawing/2014/main" id="{44AC5FAF-40DB-4FDE-CD12-4CE1787D2794}"/>
              </a:ext>
            </a:extLst>
          </p:cNvPr>
          <p:cNvGraphicFramePr>
            <a:graphicFrameLocks noGrp="1"/>
          </p:cNvGraphicFramePr>
          <p:nvPr>
            <p:extLst>
              <p:ext uri="{D42A27DB-BD31-4B8C-83A1-F6EECF244321}">
                <p14:modId xmlns:p14="http://schemas.microsoft.com/office/powerpoint/2010/main" val="3147563906"/>
              </p:ext>
            </p:extLst>
          </p:nvPr>
        </p:nvGraphicFramePr>
        <p:xfrm>
          <a:off x="2173824" y="3329940"/>
          <a:ext cx="7844352" cy="2129790"/>
        </p:xfrm>
        <a:graphic>
          <a:graphicData uri="http://schemas.openxmlformats.org/drawingml/2006/table">
            <a:tbl>
              <a:tblPr firstRow="1" bandRow="1">
                <a:tableStyleId>{5C22544A-7EE6-4342-B048-85BDC9FD1C3A}</a:tableStyleId>
              </a:tblPr>
              <a:tblGrid>
                <a:gridCol w="1649292">
                  <a:extLst>
                    <a:ext uri="{9D8B030D-6E8A-4147-A177-3AD203B41FA5}">
                      <a16:colId xmlns:a16="http://schemas.microsoft.com/office/drawing/2014/main" val="3408771244"/>
                    </a:ext>
                  </a:extLst>
                </a:gridCol>
                <a:gridCol w="2459573">
                  <a:extLst>
                    <a:ext uri="{9D8B030D-6E8A-4147-A177-3AD203B41FA5}">
                      <a16:colId xmlns:a16="http://schemas.microsoft.com/office/drawing/2014/main" val="3239684397"/>
                    </a:ext>
                  </a:extLst>
                </a:gridCol>
                <a:gridCol w="3735487">
                  <a:extLst>
                    <a:ext uri="{9D8B030D-6E8A-4147-A177-3AD203B41FA5}">
                      <a16:colId xmlns:a16="http://schemas.microsoft.com/office/drawing/2014/main" val="3080173716"/>
                    </a:ext>
                  </a:extLst>
                </a:gridCol>
              </a:tblGrid>
              <a:tr h="194371">
                <a:tc>
                  <a:txBody>
                    <a:bodyPr/>
                    <a:lstStyle/>
                    <a:p>
                      <a:pPr algn="l">
                        <a:buNone/>
                      </a:pPr>
                      <a:r>
                        <a:rPr lang="fr-FR" dirty="0">
                          <a:solidFill>
                            <a:schemeClr val="bg1"/>
                          </a:solidFill>
                          <a:effectLst/>
                        </a:rPr>
                        <a:t>Paramètre</a:t>
                      </a:r>
                    </a:p>
                  </a:txBody>
                  <a:tcPr marL="95250" marR="95250" marT="47625" marB="47625" anchor="ctr">
                    <a:solidFill>
                      <a:srgbClr val="3D85C6"/>
                    </a:solidFill>
                  </a:tcPr>
                </a:tc>
                <a:tc>
                  <a:txBody>
                    <a:bodyPr/>
                    <a:lstStyle/>
                    <a:p>
                      <a:pPr algn="l">
                        <a:buNone/>
                      </a:pPr>
                      <a:r>
                        <a:rPr lang="fr-FR" dirty="0">
                          <a:solidFill>
                            <a:schemeClr val="bg1"/>
                          </a:solidFill>
                          <a:effectLst/>
                        </a:rPr>
                        <a:t>Valeur</a:t>
                      </a:r>
                    </a:p>
                  </a:txBody>
                  <a:tcPr marL="95250" marR="95250" marT="47625" marB="47625" anchor="ctr">
                    <a:solidFill>
                      <a:srgbClr val="3D85C6"/>
                    </a:solidFill>
                  </a:tcPr>
                </a:tc>
                <a:tc>
                  <a:txBody>
                    <a:bodyPr/>
                    <a:lstStyle/>
                    <a:p>
                      <a:pPr algn="l">
                        <a:buNone/>
                      </a:pPr>
                      <a:r>
                        <a:rPr lang="fr-FR" dirty="0">
                          <a:solidFill>
                            <a:schemeClr val="bg1"/>
                          </a:solidFill>
                          <a:effectLst/>
                        </a:rPr>
                        <a:t>Rôle</a:t>
                      </a:r>
                    </a:p>
                  </a:txBody>
                  <a:tcPr marL="95250" marR="95250" marT="47625" marB="47625" anchor="ctr">
                    <a:solidFill>
                      <a:srgbClr val="3D85C6"/>
                    </a:solidFill>
                  </a:tcPr>
                </a:tc>
                <a:extLst>
                  <a:ext uri="{0D108BD9-81ED-4DB2-BD59-A6C34878D82A}">
                    <a16:rowId xmlns:a16="http://schemas.microsoft.com/office/drawing/2014/main" val="1969625059"/>
                  </a:ext>
                </a:extLst>
              </a:tr>
              <a:tr h="154295">
                <a:tc>
                  <a:txBody>
                    <a:bodyPr/>
                    <a:lstStyle/>
                    <a:p>
                      <a:pPr>
                        <a:buNone/>
                      </a:pPr>
                      <a:r>
                        <a:rPr lang="fr-FR" sz="1300" dirty="0">
                          <a:solidFill>
                            <a:srgbClr val="262626"/>
                          </a:solidFill>
                          <a:effectLst/>
                        </a:rPr>
                        <a:t>Modèle </a:t>
                      </a:r>
                      <a:r>
                        <a:rPr lang="fr-FR" sz="1300" dirty="0" err="1">
                          <a:solidFill>
                            <a:srgbClr val="262626"/>
                          </a:solidFill>
                          <a:effectLst/>
                        </a:rPr>
                        <a:t>embedding</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mistral-</a:t>
                      </a:r>
                      <a:r>
                        <a:rPr lang="fr-FR" sz="1300" b="1" dirty="0" err="1">
                          <a:solidFill>
                            <a:srgbClr val="262626"/>
                          </a:solidFill>
                          <a:effectLst/>
                        </a:rPr>
                        <a:t>embed</a:t>
                      </a:r>
                      <a:endParaRPr lang="fr-FR" sz="1300" b="1" dirty="0">
                        <a:solidFill>
                          <a:srgbClr val="262626"/>
                        </a:solidFill>
                        <a:effectLst/>
                      </a:endParaRPr>
                    </a:p>
                  </a:txBody>
                  <a:tcPr marL="95250" marR="95250" marT="47625" marB="47625" anchor="ctr"/>
                </a:tc>
                <a:tc>
                  <a:txBody>
                    <a:bodyPr/>
                    <a:lstStyle/>
                    <a:p>
                      <a:pPr>
                        <a:buNone/>
                      </a:pPr>
                      <a:r>
                        <a:rPr lang="fr-FR" sz="1300" dirty="0">
                          <a:solidFill>
                            <a:srgbClr val="262626"/>
                          </a:solidFill>
                          <a:effectLst/>
                        </a:rPr>
                        <a:t>Transforme question et </a:t>
                      </a:r>
                      <a:r>
                        <a:rPr lang="fr-FR" sz="1300" dirty="0" err="1">
                          <a:solidFill>
                            <a:srgbClr val="262626"/>
                          </a:solidFill>
                          <a:effectLst/>
                        </a:rPr>
                        <a:t>chunks</a:t>
                      </a:r>
                      <a:r>
                        <a:rPr lang="fr-FR" sz="1300" dirty="0">
                          <a:solidFill>
                            <a:srgbClr val="262626"/>
                          </a:solidFill>
                          <a:effectLst/>
                        </a:rPr>
                        <a:t> en vecteurs 1024D</a:t>
                      </a:r>
                    </a:p>
                  </a:txBody>
                  <a:tcPr marL="95250" marR="95250" marT="47625" marB="47625" anchor="ctr"/>
                </a:tc>
                <a:extLst>
                  <a:ext uri="{0D108BD9-81ED-4DB2-BD59-A6C34878D82A}">
                    <a16:rowId xmlns:a16="http://schemas.microsoft.com/office/drawing/2014/main" val="4010646305"/>
                  </a:ext>
                </a:extLst>
              </a:tr>
              <a:tr h="154295">
                <a:tc>
                  <a:txBody>
                    <a:bodyPr/>
                    <a:lstStyle/>
                    <a:p>
                      <a:pPr>
                        <a:buNone/>
                      </a:pPr>
                      <a:r>
                        <a:rPr lang="fr-FR" sz="1300">
                          <a:solidFill>
                            <a:srgbClr val="262626"/>
                          </a:solidFill>
                          <a:effectLst/>
                        </a:rPr>
                        <a:t>fetch_k</a:t>
                      </a:r>
                    </a:p>
                  </a:txBody>
                  <a:tcPr marL="95250" marR="95250" marT="47625" marB="47625" anchor="ctr"/>
                </a:tc>
                <a:tc>
                  <a:txBody>
                    <a:bodyPr/>
                    <a:lstStyle/>
                    <a:p>
                      <a:pPr algn="ctr">
                        <a:buNone/>
                      </a:pPr>
                      <a:r>
                        <a:rPr lang="fr-FR" sz="1300" b="1" dirty="0">
                          <a:solidFill>
                            <a:srgbClr val="262626"/>
                          </a:solidFill>
                          <a:effectLst/>
                        </a:rPr>
                        <a:t>20</a:t>
                      </a:r>
                    </a:p>
                  </a:txBody>
                  <a:tcPr marL="95250" marR="95250" marT="47625" marB="47625" anchor="ctr"/>
                </a:tc>
                <a:tc>
                  <a:txBody>
                    <a:bodyPr/>
                    <a:lstStyle/>
                    <a:p>
                      <a:pPr>
                        <a:buNone/>
                      </a:pPr>
                      <a:r>
                        <a:rPr lang="fr-FR" sz="1300" dirty="0">
                          <a:solidFill>
                            <a:srgbClr val="262626"/>
                          </a:solidFill>
                          <a:effectLst/>
                        </a:rPr>
                        <a:t>Candidats FAISS avant filtrage MMR</a:t>
                      </a:r>
                    </a:p>
                  </a:txBody>
                  <a:tcPr marL="95250" marR="95250" marT="47625" marB="47625" anchor="ctr"/>
                </a:tc>
                <a:extLst>
                  <a:ext uri="{0D108BD9-81ED-4DB2-BD59-A6C34878D82A}">
                    <a16:rowId xmlns:a16="http://schemas.microsoft.com/office/drawing/2014/main" val="1142403089"/>
                  </a:ext>
                </a:extLst>
              </a:tr>
              <a:tr h="154295">
                <a:tc>
                  <a:txBody>
                    <a:bodyPr/>
                    <a:lstStyle/>
                    <a:p>
                      <a:pPr>
                        <a:buNone/>
                      </a:pPr>
                      <a:r>
                        <a:rPr lang="fr-FR" sz="1300" dirty="0">
                          <a:solidFill>
                            <a:srgbClr val="262626"/>
                          </a:solidFill>
                          <a:effectLst/>
                        </a:rPr>
                        <a:t>k </a:t>
                      </a:r>
                      <a:r>
                        <a:rPr lang="fr-FR" sz="1100" i="1" dirty="0">
                          <a:solidFill>
                            <a:srgbClr val="262626"/>
                          </a:solidFill>
                          <a:effectLst/>
                        </a:rPr>
                        <a:t>(</a:t>
                      </a:r>
                      <a:r>
                        <a:rPr lang="fr-FR" sz="1100" i="1" dirty="0" err="1">
                          <a:solidFill>
                            <a:srgbClr val="262626"/>
                          </a:solidFill>
                          <a:effectLst/>
                        </a:rPr>
                        <a:t>chunk</a:t>
                      </a:r>
                      <a:r>
                        <a:rPr lang="fr-FR" sz="1100" i="1" dirty="0">
                          <a:solidFill>
                            <a:srgbClr val="262626"/>
                          </a:solidFill>
                          <a:effectLst/>
                        </a:rPr>
                        <a:t> retournés)</a:t>
                      </a:r>
                      <a:endParaRPr lang="fr-FR" sz="1300" i="1"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10</a:t>
                      </a:r>
                    </a:p>
                  </a:txBody>
                  <a:tcPr marL="95250" marR="95250" marT="47625" marB="47625" anchor="ctr"/>
                </a:tc>
                <a:tc>
                  <a:txBody>
                    <a:bodyPr/>
                    <a:lstStyle/>
                    <a:p>
                      <a:pPr>
                        <a:buNone/>
                      </a:pPr>
                      <a:r>
                        <a:rPr lang="fr-FR" sz="1300" dirty="0">
                          <a:solidFill>
                            <a:srgbClr val="262626"/>
                          </a:solidFill>
                          <a:effectLst/>
                        </a:rPr>
                        <a:t>Nombre de </a:t>
                      </a:r>
                      <a:r>
                        <a:rPr lang="fr-FR" sz="1300" dirty="0" err="1">
                          <a:solidFill>
                            <a:srgbClr val="262626"/>
                          </a:solidFill>
                          <a:effectLst/>
                        </a:rPr>
                        <a:t>chunks</a:t>
                      </a:r>
                      <a:r>
                        <a:rPr lang="fr-FR" sz="1300" dirty="0">
                          <a:solidFill>
                            <a:srgbClr val="262626"/>
                          </a:solidFill>
                          <a:effectLst/>
                        </a:rPr>
                        <a:t> fournis au LLM</a:t>
                      </a:r>
                    </a:p>
                  </a:txBody>
                  <a:tcPr marL="95250" marR="95250" marT="47625" marB="47625" anchor="ctr"/>
                </a:tc>
                <a:extLst>
                  <a:ext uri="{0D108BD9-81ED-4DB2-BD59-A6C34878D82A}">
                    <a16:rowId xmlns:a16="http://schemas.microsoft.com/office/drawing/2014/main" val="3680406939"/>
                  </a:ext>
                </a:extLst>
              </a:tr>
              <a:tr h="154295">
                <a:tc>
                  <a:txBody>
                    <a:bodyPr/>
                    <a:lstStyle/>
                    <a:p>
                      <a:pPr>
                        <a:buNone/>
                      </a:pPr>
                      <a:r>
                        <a:rPr lang="fr-FR" sz="1300" dirty="0" err="1">
                          <a:solidFill>
                            <a:srgbClr val="262626"/>
                          </a:solidFill>
                          <a:effectLst/>
                        </a:rPr>
                        <a:t>lambda_mult</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0.7</a:t>
                      </a:r>
                    </a:p>
                  </a:txBody>
                  <a:tcPr marL="95250" marR="95250" marT="47625" marB="47625" anchor="ctr"/>
                </a:tc>
                <a:tc>
                  <a:txBody>
                    <a:bodyPr/>
                    <a:lstStyle/>
                    <a:p>
                      <a:pPr>
                        <a:buNone/>
                      </a:pPr>
                      <a:r>
                        <a:rPr lang="fr-FR" sz="1300" dirty="0">
                          <a:solidFill>
                            <a:srgbClr val="262626"/>
                          </a:solidFill>
                          <a:effectLst/>
                        </a:rPr>
                        <a:t>Équilibre pertinence/diversité (70%/30%)</a:t>
                      </a:r>
                    </a:p>
                  </a:txBody>
                  <a:tcPr marL="95250" marR="95250" marT="47625" marB="47625" anchor="ctr"/>
                </a:tc>
                <a:extLst>
                  <a:ext uri="{0D108BD9-81ED-4DB2-BD59-A6C34878D82A}">
                    <a16:rowId xmlns:a16="http://schemas.microsoft.com/office/drawing/2014/main" val="389729313"/>
                  </a:ext>
                </a:extLst>
              </a:tr>
              <a:tr h="154295">
                <a:tc>
                  <a:txBody>
                    <a:bodyPr/>
                    <a:lstStyle/>
                    <a:p>
                      <a:pPr>
                        <a:buNone/>
                      </a:pPr>
                      <a:r>
                        <a:rPr lang="fr-FR" sz="1300" dirty="0" err="1">
                          <a:solidFill>
                            <a:srgbClr val="262626"/>
                          </a:solidFill>
                          <a:effectLst/>
                        </a:rPr>
                        <a:t>temperature</a:t>
                      </a:r>
                      <a:endParaRPr lang="fr-FR" sz="1300" dirty="0">
                        <a:solidFill>
                          <a:srgbClr val="262626"/>
                        </a:solidFill>
                        <a:effectLst/>
                      </a:endParaRPr>
                    </a:p>
                  </a:txBody>
                  <a:tcPr marL="95250" marR="95250" marT="47625" marB="47625" anchor="ctr"/>
                </a:tc>
                <a:tc>
                  <a:txBody>
                    <a:bodyPr/>
                    <a:lstStyle/>
                    <a:p>
                      <a:pPr algn="ctr">
                        <a:buNone/>
                      </a:pPr>
                      <a:r>
                        <a:rPr lang="fr-FR" sz="1300" b="1" dirty="0">
                          <a:solidFill>
                            <a:srgbClr val="262626"/>
                          </a:solidFill>
                          <a:effectLst/>
                        </a:rPr>
                        <a:t>0.0</a:t>
                      </a:r>
                    </a:p>
                  </a:txBody>
                  <a:tcPr marL="95250" marR="95250" marT="47625" marB="47625" anchor="ctr"/>
                </a:tc>
                <a:tc>
                  <a:txBody>
                    <a:bodyPr/>
                    <a:lstStyle/>
                    <a:p>
                      <a:pPr>
                        <a:buNone/>
                      </a:pPr>
                      <a:r>
                        <a:rPr lang="fr-FR" sz="1300" dirty="0">
                          <a:solidFill>
                            <a:srgbClr val="262626"/>
                          </a:solidFill>
                          <a:effectLst/>
                        </a:rPr>
                        <a:t>Réponses déterministes, pas aléatoires</a:t>
                      </a:r>
                    </a:p>
                  </a:txBody>
                  <a:tcPr marL="95250" marR="95250" marT="47625" marB="47625" anchor="ctr"/>
                </a:tc>
                <a:extLst>
                  <a:ext uri="{0D108BD9-81ED-4DB2-BD59-A6C34878D82A}">
                    <a16:rowId xmlns:a16="http://schemas.microsoft.com/office/drawing/2014/main" val="3257920021"/>
                  </a:ext>
                </a:extLst>
              </a:tr>
              <a:tr h="154295">
                <a:tc>
                  <a:txBody>
                    <a:bodyPr/>
                    <a:lstStyle/>
                    <a:p>
                      <a:pPr>
                        <a:buNone/>
                      </a:pPr>
                      <a:r>
                        <a:rPr lang="fr-FR" sz="1300" dirty="0">
                          <a:solidFill>
                            <a:srgbClr val="262626"/>
                          </a:solidFill>
                          <a:effectLst/>
                        </a:rPr>
                        <a:t>Modèle LLM</a:t>
                      </a:r>
                    </a:p>
                  </a:txBody>
                  <a:tcPr marL="95250" marR="95250" marT="47625" marB="47625" anchor="ctr"/>
                </a:tc>
                <a:tc>
                  <a:txBody>
                    <a:bodyPr/>
                    <a:lstStyle/>
                    <a:p>
                      <a:pPr algn="ctr">
                        <a:buNone/>
                      </a:pPr>
                      <a:r>
                        <a:rPr lang="fr-FR" sz="1300" b="1" dirty="0">
                          <a:solidFill>
                            <a:srgbClr val="262626"/>
                          </a:solidFill>
                          <a:effectLst/>
                        </a:rPr>
                        <a:t>mistral-</a:t>
                      </a:r>
                      <a:r>
                        <a:rPr lang="fr-FR" sz="1300" b="1" dirty="0" err="1">
                          <a:solidFill>
                            <a:srgbClr val="262626"/>
                          </a:solidFill>
                          <a:effectLst/>
                        </a:rPr>
                        <a:t>small</a:t>
                      </a:r>
                      <a:r>
                        <a:rPr lang="fr-FR" sz="1300" b="1" dirty="0">
                          <a:solidFill>
                            <a:srgbClr val="262626"/>
                          </a:solidFill>
                          <a:effectLst/>
                        </a:rPr>
                        <a:t>-</a:t>
                      </a:r>
                      <a:r>
                        <a:rPr lang="fr-FR" sz="1300" b="1" dirty="0" err="1">
                          <a:solidFill>
                            <a:srgbClr val="262626"/>
                          </a:solidFill>
                          <a:effectLst/>
                        </a:rPr>
                        <a:t>latest</a:t>
                      </a:r>
                      <a:endParaRPr lang="fr-FR" sz="1300" b="1" dirty="0">
                        <a:solidFill>
                          <a:srgbClr val="262626"/>
                        </a:solidFill>
                        <a:effectLst/>
                      </a:endParaRPr>
                    </a:p>
                  </a:txBody>
                  <a:tcPr marL="95250" marR="95250" marT="47625" marB="47625" anchor="ctr"/>
                </a:tc>
                <a:tc>
                  <a:txBody>
                    <a:bodyPr/>
                    <a:lstStyle/>
                    <a:p>
                      <a:pPr>
                        <a:buNone/>
                      </a:pPr>
                      <a:r>
                        <a:rPr lang="fr-FR" sz="1300" dirty="0">
                          <a:solidFill>
                            <a:srgbClr val="262626"/>
                          </a:solidFill>
                          <a:effectLst/>
                        </a:rPr>
                        <a:t>Génère la réponse finale</a:t>
                      </a:r>
                    </a:p>
                  </a:txBody>
                  <a:tcPr marL="95250" marR="95250" marT="47625" marB="47625" anchor="ctr"/>
                </a:tc>
                <a:extLst>
                  <a:ext uri="{0D108BD9-81ED-4DB2-BD59-A6C34878D82A}">
                    <a16:rowId xmlns:a16="http://schemas.microsoft.com/office/drawing/2014/main" val="4257800849"/>
                  </a:ext>
                </a:extLst>
              </a:tr>
            </a:tbl>
          </a:graphicData>
        </a:graphic>
      </p:graphicFrame>
    </p:spTree>
    <p:extLst>
      <p:ext uri="{BB962C8B-B14F-4D97-AF65-F5344CB8AC3E}">
        <p14:creationId xmlns:p14="http://schemas.microsoft.com/office/powerpoint/2010/main" val="88323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A319E-793D-5FE0-FDD8-75F2AAE35CD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6595B580-4F64-9F41-277A-651A01FFE87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ÉVALUATION : RAGAS</a:t>
            </a:r>
          </a:p>
        </p:txBody>
      </p:sp>
      <p:sp>
        <p:nvSpPr>
          <p:cNvPr id="3" name="ZoneTexte 2">
            <a:extLst>
              <a:ext uri="{FF2B5EF4-FFF2-40B4-BE49-F238E27FC236}">
                <a16:creationId xmlns:a16="http://schemas.microsoft.com/office/drawing/2014/main" id="{F9C341D0-CA2B-357A-1D27-15261F69EEA2}"/>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10</a:t>
            </a:r>
          </a:p>
        </p:txBody>
      </p:sp>
      <p:sp>
        <p:nvSpPr>
          <p:cNvPr id="4" name="Rectangle 3">
            <a:extLst>
              <a:ext uri="{FF2B5EF4-FFF2-40B4-BE49-F238E27FC236}">
                <a16:creationId xmlns:a16="http://schemas.microsoft.com/office/drawing/2014/main" id="{B5CC6936-6111-BE94-0BD1-3BE75203B970}"/>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DAE93E4-F180-7E66-B633-B1D5A8223379}"/>
              </a:ext>
            </a:extLst>
          </p:cNvPr>
          <p:cNvSpPr txBox="1"/>
          <p:nvPr/>
        </p:nvSpPr>
        <p:spPr>
          <a:xfrm>
            <a:off x="142875" y="950595"/>
            <a:ext cx="11906250" cy="5786199"/>
          </a:xfrm>
          <a:prstGeom prst="rect">
            <a:avLst/>
          </a:prstGeom>
          <a:noFill/>
        </p:spPr>
        <p:txBody>
          <a:bodyPr wrap="square" rtlCol="0">
            <a:spAutoFit/>
          </a:bodyPr>
          <a:lstStyle/>
          <a:p>
            <a:r>
              <a:rPr lang="fr-FR" sz="2800" u="sng" dirty="0">
                <a:solidFill>
                  <a:schemeClr val="bg1"/>
                </a:solidFill>
              </a:rPr>
              <a:t>Qu’es ce que RAGAS : </a:t>
            </a:r>
          </a:p>
          <a:p>
            <a:endParaRPr lang="fr-FR" sz="1000" u="sng" dirty="0">
              <a:solidFill>
                <a:schemeClr val="bg1"/>
              </a:solidFill>
            </a:endParaRPr>
          </a:p>
          <a:p>
            <a:pPr marL="449263"/>
            <a:r>
              <a:rPr lang="fr-FR" dirty="0">
                <a:solidFill>
                  <a:schemeClr val="bg1"/>
                </a:solidFill>
              </a:rPr>
              <a:t>Ragas </a:t>
            </a:r>
            <a:r>
              <a:rPr lang="fr-FR" sz="1400" i="1" dirty="0">
                <a:solidFill>
                  <a:schemeClr val="accent1">
                    <a:lumMod val="40000"/>
                    <a:lumOff val="60000"/>
                  </a:schemeClr>
                </a:solidFill>
              </a:rPr>
              <a:t>(</a:t>
            </a:r>
            <a:r>
              <a:rPr lang="fr-FR" sz="1400" i="1" dirty="0" err="1">
                <a:solidFill>
                  <a:schemeClr val="accent1">
                    <a:lumMod val="40000"/>
                    <a:lumOff val="60000"/>
                  </a:schemeClr>
                </a:solidFill>
              </a:rPr>
              <a:t>Retrieval</a:t>
            </a:r>
            <a:r>
              <a:rPr lang="fr-FR" sz="1400" i="1" dirty="0">
                <a:solidFill>
                  <a:schemeClr val="accent1">
                    <a:lumMod val="40000"/>
                    <a:lumOff val="60000"/>
                  </a:schemeClr>
                </a:solidFill>
              </a:rPr>
              <a:t> </a:t>
            </a:r>
            <a:r>
              <a:rPr lang="fr-FR" sz="1400" i="1" dirty="0" err="1">
                <a:solidFill>
                  <a:schemeClr val="accent1">
                    <a:lumMod val="40000"/>
                    <a:lumOff val="60000"/>
                  </a:schemeClr>
                </a:solidFill>
              </a:rPr>
              <a:t>Augmented</a:t>
            </a:r>
            <a:r>
              <a:rPr lang="fr-FR" sz="1400" i="1" dirty="0">
                <a:solidFill>
                  <a:schemeClr val="accent1">
                    <a:lumMod val="40000"/>
                    <a:lumOff val="60000"/>
                  </a:schemeClr>
                </a:solidFill>
              </a:rPr>
              <a:t> </a:t>
            </a:r>
            <a:r>
              <a:rPr lang="fr-FR" sz="1400" i="1" dirty="0" err="1">
                <a:solidFill>
                  <a:schemeClr val="accent1">
                    <a:lumMod val="40000"/>
                    <a:lumOff val="60000"/>
                  </a:schemeClr>
                </a:solidFill>
              </a:rPr>
              <a:t>Generation</a:t>
            </a:r>
            <a:r>
              <a:rPr lang="fr-FR" sz="1400" i="1" dirty="0">
                <a:solidFill>
                  <a:schemeClr val="accent1">
                    <a:lumMod val="40000"/>
                    <a:lumOff val="60000"/>
                  </a:schemeClr>
                </a:solidFill>
              </a:rPr>
              <a:t> </a:t>
            </a:r>
            <a:r>
              <a:rPr lang="fr-FR" sz="1400" i="1" dirty="0" err="1">
                <a:solidFill>
                  <a:schemeClr val="accent1">
                    <a:lumMod val="40000"/>
                    <a:lumOff val="60000"/>
                  </a:schemeClr>
                </a:solidFill>
              </a:rPr>
              <a:t>Assessment</a:t>
            </a:r>
            <a:r>
              <a:rPr lang="fr-FR" sz="1400" i="1" dirty="0">
                <a:solidFill>
                  <a:schemeClr val="accent1">
                    <a:lumMod val="40000"/>
                    <a:lumOff val="60000"/>
                  </a:schemeClr>
                </a:solidFill>
              </a:rPr>
              <a:t>) </a:t>
            </a:r>
            <a:r>
              <a:rPr lang="fr-FR" dirty="0">
                <a:solidFill>
                  <a:schemeClr val="bg1"/>
                </a:solidFill>
              </a:rPr>
              <a:t>est un </a:t>
            </a:r>
            <a:r>
              <a:rPr lang="fr-FR" dirty="0" err="1">
                <a:solidFill>
                  <a:schemeClr val="bg1"/>
                </a:solidFill>
              </a:rPr>
              <a:t>framework</a:t>
            </a:r>
            <a:r>
              <a:rPr lang="fr-FR" dirty="0">
                <a:solidFill>
                  <a:schemeClr val="bg1"/>
                </a:solidFill>
              </a:rPr>
              <a:t> d'évaluation automatique des systèmes RAG : </a:t>
            </a:r>
          </a:p>
          <a:p>
            <a:pPr marL="1192213" lvl="1" indent="-285750">
              <a:buFont typeface="Wingdings" panose="05000000000000000000" pitchFamily="2" charset="2"/>
              <a:buChar char="v"/>
            </a:pPr>
            <a:r>
              <a:rPr lang="fr-FR" dirty="0">
                <a:solidFill>
                  <a:schemeClr val="bg1"/>
                </a:solidFill>
              </a:rPr>
              <a:t>On ne peut pas se contenter de lire les réponses : il faut mesurer. Ragas utilise un LLM "juge" </a:t>
            </a:r>
            <a:r>
              <a:rPr lang="fr-FR" sz="1400" i="1" dirty="0">
                <a:solidFill>
                  <a:schemeClr val="accent1">
                    <a:lumMod val="40000"/>
                    <a:lumOff val="60000"/>
                  </a:schemeClr>
                </a:solidFill>
              </a:rPr>
              <a:t>(mistral-large-</a:t>
            </a:r>
            <a:r>
              <a:rPr lang="fr-FR" sz="1400" i="1" dirty="0" err="1">
                <a:solidFill>
                  <a:schemeClr val="accent1">
                    <a:lumMod val="40000"/>
                    <a:lumOff val="60000"/>
                  </a:schemeClr>
                </a:solidFill>
              </a:rPr>
              <a:t>latest</a:t>
            </a:r>
            <a:r>
              <a:rPr lang="fr-FR" sz="1400" i="1" dirty="0">
                <a:solidFill>
                  <a:schemeClr val="accent1">
                    <a:lumMod val="40000"/>
                    <a:lumOff val="60000"/>
                  </a:schemeClr>
                </a:solidFill>
              </a:rPr>
              <a:t>) </a:t>
            </a:r>
            <a:r>
              <a:rPr lang="fr-FR" dirty="0">
                <a:solidFill>
                  <a:schemeClr val="bg1"/>
                </a:solidFill>
              </a:rPr>
              <a:t>pour noter automatiquement les réponses selon 4 métriques.</a:t>
            </a:r>
          </a:p>
          <a:p>
            <a:endParaRPr lang="fr-FR" dirty="0">
              <a:solidFill>
                <a:schemeClr val="bg1"/>
              </a:solidFill>
            </a:endParaRPr>
          </a:p>
          <a:p>
            <a:r>
              <a:rPr lang="fr-FR" sz="2800" u="sng" dirty="0">
                <a:solidFill>
                  <a:schemeClr val="bg1"/>
                </a:solidFill>
              </a:rPr>
              <a:t>Protocole :</a:t>
            </a:r>
          </a:p>
          <a:p>
            <a:endParaRPr lang="fr-FR" sz="1000" u="sng" dirty="0">
              <a:solidFill>
                <a:schemeClr val="bg1"/>
              </a:solidFill>
            </a:endParaRPr>
          </a:p>
          <a:p>
            <a:pPr marL="449263"/>
            <a:r>
              <a:rPr lang="fr-FR" dirty="0">
                <a:solidFill>
                  <a:schemeClr val="bg1"/>
                </a:solidFill>
              </a:rPr>
              <a:t>Cinq questions représentatives et un juge : mistral-large-</a:t>
            </a:r>
            <a:r>
              <a:rPr lang="fr-FR" dirty="0" err="1">
                <a:solidFill>
                  <a:schemeClr val="bg1"/>
                </a:solidFill>
              </a:rPr>
              <a:t>latest</a:t>
            </a:r>
            <a:r>
              <a:rPr lang="fr-FR" dirty="0">
                <a:solidFill>
                  <a:schemeClr val="bg1"/>
                </a:solidFill>
              </a:rPr>
              <a:t>.</a:t>
            </a: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endParaRPr lang="fr-FR" dirty="0">
              <a:solidFill>
                <a:schemeClr val="bg1"/>
              </a:solidFill>
            </a:endParaRPr>
          </a:p>
          <a:p>
            <a:r>
              <a:rPr lang="fr-FR" sz="2800" u="sng" dirty="0">
                <a:solidFill>
                  <a:schemeClr val="bg1"/>
                </a:solidFill>
              </a:rPr>
              <a:t>Lecture globale :</a:t>
            </a:r>
          </a:p>
          <a:p>
            <a:endParaRPr lang="fr-FR" sz="1000" dirty="0">
              <a:solidFill>
                <a:schemeClr val="bg1"/>
              </a:solidFill>
            </a:endParaRPr>
          </a:p>
          <a:p>
            <a:pPr marL="449263"/>
            <a:r>
              <a:rPr lang="fr-FR" dirty="0">
                <a:solidFill>
                  <a:schemeClr val="bg1"/>
                </a:solidFill>
              </a:rPr>
              <a:t>Le système répond bien aux questions </a:t>
            </a:r>
            <a:r>
              <a:rPr lang="fr-FR" sz="1400" i="1" dirty="0">
                <a:solidFill>
                  <a:schemeClr val="accent1">
                    <a:lumMod val="40000"/>
                    <a:lumOff val="60000"/>
                  </a:schemeClr>
                </a:solidFill>
              </a:rPr>
              <a:t>(</a:t>
            </a:r>
            <a:r>
              <a:rPr lang="fr-FR" sz="1400" i="1" dirty="0" err="1">
                <a:solidFill>
                  <a:schemeClr val="accent1">
                    <a:lumMod val="40000"/>
                    <a:lumOff val="60000"/>
                  </a:schemeClr>
                </a:solidFill>
              </a:rPr>
              <a:t>answer_relevancy</a:t>
            </a:r>
            <a:r>
              <a:rPr lang="fr-FR" sz="1400" i="1" dirty="0">
                <a:solidFill>
                  <a:schemeClr val="accent1">
                    <a:lumMod val="40000"/>
                    <a:lumOff val="60000"/>
                  </a:schemeClr>
                </a:solidFill>
              </a:rPr>
              <a:t> élevé) </a:t>
            </a:r>
            <a:r>
              <a:rPr lang="fr-FR" dirty="0">
                <a:solidFill>
                  <a:schemeClr val="bg1"/>
                </a:solidFill>
              </a:rPr>
              <a:t>et n'invente pas </a:t>
            </a:r>
            <a:r>
              <a:rPr lang="fr-FR" sz="1400" i="1" dirty="0">
                <a:solidFill>
                  <a:schemeClr val="accent1">
                    <a:lumMod val="40000"/>
                    <a:lumOff val="60000"/>
                  </a:schemeClr>
                </a:solidFill>
              </a:rPr>
              <a:t>(</a:t>
            </a:r>
            <a:r>
              <a:rPr lang="fr-FR" sz="1400" i="1" dirty="0" err="1">
                <a:solidFill>
                  <a:schemeClr val="accent1">
                    <a:lumMod val="40000"/>
                    <a:lumOff val="60000"/>
                  </a:schemeClr>
                </a:solidFill>
              </a:rPr>
              <a:t>faithfulness</a:t>
            </a:r>
            <a:r>
              <a:rPr lang="fr-FR" sz="1400" i="1" dirty="0">
                <a:solidFill>
                  <a:schemeClr val="accent1">
                    <a:lumMod val="40000"/>
                    <a:lumOff val="60000"/>
                  </a:schemeClr>
                </a:solidFill>
              </a:rPr>
              <a:t> correct)</a:t>
            </a:r>
            <a:r>
              <a:rPr lang="fr-FR" dirty="0">
                <a:solidFill>
                  <a:schemeClr val="bg1"/>
                </a:solidFill>
              </a:rPr>
              <a:t>. Le point faible </a:t>
            </a:r>
            <a:r>
              <a:rPr lang="fr-FR" sz="1400" i="1" dirty="0">
                <a:solidFill>
                  <a:schemeClr val="accent1">
                    <a:lumMod val="40000"/>
                    <a:lumOff val="60000"/>
                  </a:schemeClr>
                </a:solidFill>
              </a:rPr>
              <a:t>(pour le moment) </a:t>
            </a:r>
            <a:r>
              <a:rPr lang="fr-FR" dirty="0">
                <a:solidFill>
                  <a:schemeClr val="bg1"/>
                </a:solidFill>
              </a:rPr>
              <a:t>est le rappel : on ne récupère pas toujours tous les passages utiles avec seulement 10 blocs.</a:t>
            </a:r>
          </a:p>
        </p:txBody>
      </p:sp>
      <p:graphicFrame>
        <p:nvGraphicFramePr>
          <p:cNvPr id="7" name="Tableau 6">
            <a:extLst>
              <a:ext uri="{FF2B5EF4-FFF2-40B4-BE49-F238E27FC236}">
                <a16:creationId xmlns:a16="http://schemas.microsoft.com/office/drawing/2014/main" id="{E471903C-C5FB-D919-1184-91011AC24D92}"/>
              </a:ext>
            </a:extLst>
          </p:cNvPr>
          <p:cNvGraphicFramePr>
            <a:graphicFrameLocks noGrp="1"/>
          </p:cNvGraphicFramePr>
          <p:nvPr>
            <p:extLst>
              <p:ext uri="{D42A27DB-BD31-4B8C-83A1-F6EECF244321}">
                <p14:modId xmlns:p14="http://schemas.microsoft.com/office/powerpoint/2010/main" val="1945525544"/>
              </p:ext>
            </p:extLst>
          </p:nvPr>
        </p:nvGraphicFramePr>
        <p:xfrm>
          <a:off x="1588770" y="3645746"/>
          <a:ext cx="9014460" cy="1524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3105025812"/>
                    </a:ext>
                  </a:extLst>
                </a:gridCol>
                <a:gridCol w="1447800">
                  <a:extLst>
                    <a:ext uri="{9D8B030D-6E8A-4147-A177-3AD203B41FA5}">
                      <a16:colId xmlns:a16="http://schemas.microsoft.com/office/drawing/2014/main" val="1643087397"/>
                    </a:ext>
                  </a:extLst>
                </a:gridCol>
                <a:gridCol w="5890260">
                  <a:extLst>
                    <a:ext uri="{9D8B030D-6E8A-4147-A177-3AD203B41FA5}">
                      <a16:colId xmlns:a16="http://schemas.microsoft.com/office/drawing/2014/main" val="2056720373"/>
                    </a:ext>
                  </a:extLst>
                </a:gridCol>
              </a:tblGrid>
              <a:tr h="149014">
                <a:tc>
                  <a:txBody>
                    <a:bodyPr/>
                    <a:lstStyle/>
                    <a:p>
                      <a:pPr algn="ctr"/>
                      <a:r>
                        <a:rPr sz="1800" b="1" dirty="0" err="1">
                          <a:solidFill>
                            <a:schemeClr val="bg1"/>
                          </a:solidFill>
                        </a:rPr>
                        <a:t>Métrique</a:t>
                      </a:r>
                      <a:endParaRPr sz="1800" b="1" dirty="0">
                        <a:solidFill>
                          <a:schemeClr val="bg1"/>
                        </a:solidFill>
                      </a:endParaRPr>
                    </a:p>
                  </a:txBody>
                  <a:tcPr>
                    <a:solidFill>
                      <a:srgbClr val="3D85C6"/>
                    </a:solidFill>
                  </a:tcPr>
                </a:tc>
                <a:tc>
                  <a:txBody>
                    <a:bodyPr/>
                    <a:lstStyle/>
                    <a:p>
                      <a:pPr algn="ctr"/>
                      <a:r>
                        <a:rPr sz="1800" b="1">
                          <a:solidFill>
                            <a:schemeClr val="bg1"/>
                          </a:solidFill>
                        </a:rPr>
                        <a:t>Score</a:t>
                      </a:r>
                    </a:p>
                  </a:txBody>
                  <a:tcPr>
                    <a:solidFill>
                      <a:srgbClr val="3D85C6"/>
                    </a:solidFill>
                  </a:tcPr>
                </a:tc>
                <a:tc>
                  <a:txBody>
                    <a:bodyPr/>
                    <a:lstStyle/>
                    <a:p>
                      <a:pPr algn="ctr"/>
                      <a:r>
                        <a:rPr sz="1800" b="1" dirty="0">
                          <a:solidFill>
                            <a:schemeClr val="bg1"/>
                          </a:solidFill>
                        </a:rPr>
                        <a:t>Ce </a:t>
                      </a:r>
                      <a:r>
                        <a:rPr sz="1800" b="1" dirty="0" err="1">
                          <a:solidFill>
                            <a:schemeClr val="bg1"/>
                          </a:solidFill>
                        </a:rPr>
                        <a:t>que</a:t>
                      </a:r>
                      <a:r>
                        <a:rPr sz="1800" b="1" dirty="0">
                          <a:solidFill>
                            <a:schemeClr val="bg1"/>
                          </a:solidFill>
                        </a:rPr>
                        <a:t> </a:t>
                      </a:r>
                      <a:r>
                        <a:rPr sz="1800" b="1" dirty="0" err="1">
                          <a:solidFill>
                            <a:schemeClr val="bg1"/>
                          </a:solidFill>
                        </a:rPr>
                        <a:t>ça</a:t>
                      </a:r>
                      <a:r>
                        <a:rPr sz="1800" b="1" dirty="0">
                          <a:solidFill>
                            <a:schemeClr val="bg1"/>
                          </a:solidFill>
                        </a:rPr>
                        <a:t> </a:t>
                      </a:r>
                      <a:r>
                        <a:rPr sz="1800" b="1" dirty="0" err="1">
                          <a:solidFill>
                            <a:schemeClr val="bg1"/>
                          </a:solidFill>
                        </a:rPr>
                        <a:t>mesure</a:t>
                      </a:r>
                      <a:r>
                        <a:rPr sz="1800" b="1" dirty="0">
                          <a:solidFill>
                            <a:schemeClr val="bg1"/>
                          </a:solidFill>
                        </a:rPr>
                        <a:t> </a:t>
                      </a:r>
                      <a:r>
                        <a:rPr sz="1800" b="1" dirty="0" err="1">
                          <a:solidFill>
                            <a:schemeClr val="bg1"/>
                          </a:solidFill>
                        </a:rPr>
                        <a:t>en</a:t>
                      </a:r>
                      <a:r>
                        <a:rPr sz="1800" b="1" dirty="0">
                          <a:solidFill>
                            <a:schemeClr val="bg1"/>
                          </a:solidFill>
                        </a:rPr>
                        <a:t> </a:t>
                      </a:r>
                      <a:r>
                        <a:rPr sz="1800" b="1" dirty="0" err="1">
                          <a:solidFill>
                            <a:schemeClr val="bg1"/>
                          </a:solidFill>
                        </a:rPr>
                        <a:t>clair</a:t>
                      </a:r>
                      <a:endParaRPr sz="1800" b="1" dirty="0">
                        <a:solidFill>
                          <a:schemeClr val="bg1"/>
                        </a:solidFill>
                      </a:endParaRPr>
                    </a:p>
                  </a:txBody>
                  <a:tcPr>
                    <a:solidFill>
                      <a:srgbClr val="3D85C6"/>
                    </a:solidFill>
                  </a:tcPr>
                </a:tc>
                <a:extLst>
                  <a:ext uri="{0D108BD9-81ED-4DB2-BD59-A6C34878D82A}">
                    <a16:rowId xmlns:a16="http://schemas.microsoft.com/office/drawing/2014/main" val="1027993564"/>
                  </a:ext>
                </a:extLst>
              </a:tr>
              <a:tr h="0">
                <a:tc>
                  <a:txBody>
                    <a:bodyPr/>
                    <a:lstStyle/>
                    <a:p>
                      <a:pPr algn="ctr"/>
                      <a:r>
                        <a:rPr sz="1300" b="0" dirty="0">
                          <a:solidFill>
                            <a:srgbClr val="262626"/>
                          </a:solidFill>
                        </a:rPr>
                        <a:t>faithfulness</a:t>
                      </a:r>
                    </a:p>
                  </a:txBody>
                  <a:tcPr/>
                </a:tc>
                <a:tc>
                  <a:txBody>
                    <a:bodyPr/>
                    <a:lstStyle/>
                    <a:p>
                      <a:pPr algn="ctr"/>
                      <a:r>
                        <a:rPr sz="1300" b="1" dirty="0">
                          <a:solidFill>
                            <a:srgbClr val="262626"/>
                          </a:solidFill>
                        </a:rPr>
                        <a:t>0.764</a:t>
                      </a:r>
                    </a:p>
                  </a:txBody>
                  <a:tcPr/>
                </a:tc>
                <a:tc>
                  <a:txBody>
                    <a:bodyPr/>
                    <a:lstStyle/>
                    <a:p>
                      <a:pPr algn="l"/>
                      <a:r>
                        <a:rPr sz="1300" b="0" dirty="0">
                          <a:solidFill>
                            <a:srgbClr val="262626"/>
                          </a:solidFill>
                        </a:rPr>
                        <a:t>Les </a:t>
                      </a:r>
                      <a:r>
                        <a:rPr sz="1300" b="0" dirty="0" err="1">
                          <a:solidFill>
                            <a:srgbClr val="262626"/>
                          </a:solidFill>
                        </a:rPr>
                        <a:t>réponses</a:t>
                      </a:r>
                      <a:r>
                        <a:rPr sz="1300" b="0" dirty="0">
                          <a:solidFill>
                            <a:srgbClr val="262626"/>
                          </a:solidFill>
                        </a:rPr>
                        <a:t> </a:t>
                      </a:r>
                      <a:r>
                        <a:rPr sz="1300" b="0" dirty="0" err="1">
                          <a:solidFill>
                            <a:srgbClr val="262626"/>
                          </a:solidFill>
                        </a:rPr>
                        <a:t>s’appuient-elles</a:t>
                      </a:r>
                      <a:r>
                        <a:rPr sz="1300" b="0" dirty="0">
                          <a:solidFill>
                            <a:srgbClr val="262626"/>
                          </a:solidFill>
                        </a:rPr>
                        <a:t> </a:t>
                      </a:r>
                      <a:r>
                        <a:rPr sz="1300" b="0" dirty="0" err="1">
                          <a:solidFill>
                            <a:srgbClr val="262626"/>
                          </a:solidFill>
                        </a:rPr>
                        <a:t>vraiment</a:t>
                      </a:r>
                      <a:r>
                        <a:rPr sz="1300" b="0" dirty="0">
                          <a:solidFill>
                            <a:srgbClr val="262626"/>
                          </a:solidFill>
                        </a:rPr>
                        <a:t> sur les passages </a:t>
                      </a:r>
                      <a:r>
                        <a:rPr sz="1300" b="0" dirty="0" err="1">
                          <a:solidFill>
                            <a:srgbClr val="262626"/>
                          </a:solidFill>
                        </a:rPr>
                        <a:t>récupérés</a:t>
                      </a:r>
                      <a:r>
                        <a:rPr sz="1300" b="0" dirty="0">
                          <a:solidFill>
                            <a:srgbClr val="262626"/>
                          </a:solidFill>
                        </a:rPr>
                        <a:t> ? (pas </a:t>
                      </a:r>
                      <a:r>
                        <a:rPr sz="1300" b="0" dirty="0" err="1">
                          <a:solidFill>
                            <a:srgbClr val="262626"/>
                          </a:solidFill>
                        </a:rPr>
                        <a:t>d’invention</a:t>
                      </a:r>
                      <a:r>
                        <a:rPr sz="1300" b="0" dirty="0">
                          <a:solidFill>
                            <a:srgbClr val="262626"/>
                          </a:solidFill>
                        </a:rPr>
                        <a:t>)</a:t>
                      </a:r>
                    </a:p>
                  </a:txBody>
                  <a:tcPr/>
                </a:tc>
                <a:extLst>
                  <a:ext uri="{0D108BD9-81ED-4DB2-BD59-A6C34878D82A}">
                    <a16:rowId xmlns:a16="http://schemas.microsoft.com/office/drawing/2014/main" val="431269586"/>
                  </a:ext>
                </a:extLst>
              </a:tr>
              <a:tr h="126154">
                <a:tc>
                  <a:txBody>
                    <a:bodyPr/>
                    <a:lstStyle/>
                    <a:p>
                      <a:pPr algn="ctr"/>
                      <a:r>
                        <a:rPr sz="1300" b="0">
                          <a:solidFill>
                            <a:srgbClr val="262626"/>
                          </a:solidFill>
                        </a:rPr>
                        <a:t>answer_relevancy</a:t>
                      </a:r>
                    </a:p>
                  </a:txBody>
                  <a:tcPr/>
                </a:tc>
                <a:tc>
                  <a:txBody>
                    <a:bodyPr/>
                    <a:lstStyle/>
                    <a:p>
                      <a:pPr algn="ctr"/>
                      <a:r>
                        <a:rPr sz="1300" b="1" dirty="0">
                          <a:solidFill>
                            <a:srgbClr val="262626"/>
                          </a:solidFill>
                        </a:rPr>
                        <a:t>0.910</a:t>
                      </a:r>
                    </a:p>
                  </a:txBody>
                  <a:tcPr/>
                </a:tc>
                <a:tc>
                  <a:txBody>
                    <a:bodyPr/>
                    <a:lstStyle/>
                    <a:p>
                      <a:pPr algn="l"/>
                      <a:r>
                        <a:rPr sz="1300" b="0" dirty="0">
                          <a:solidFill>
                            <a:srgbClr val="262626"/>
                          </a:solidFill>
                        </a:rPr>
                        <a:t>La </a:t>
                      </a:r>
                      <a:r>
                        <a:rPr sz="1300" b="0" dirty="0" err="1">
                          <a:solidFill>
                            <a:srgbClr val="262626"/>
                          </a:solidFill>
                        </a:rPr>
                        <a:t>réponse</a:t>
                      </a:r>
                      <a:r>
                        <a:rPr sz="1300" b="0" dirty="0">
                          <a:solidFill>
                            <a:srgbClr val="262626"/>
                          </a:solidFill>
                        </a:rPr>
                        <a:t> </a:t>
                      </a:r>
                      <a:r>
                        <a:rPr sz="1300" b="0" dirty="0" err="1">
                          <a:solidFill>
                            <a:srgbClr val="262626"/>
                          </a:solidFill>
                        </a:rPr>
                        <a:t>répond-elle</a:t>
                      </a:r>
                      <a:r>
                        <a:rPr sz="1300" b="0" dirty="0">
                          <a:solidFill>
                            <a:srgbClr val="262626"/>
                          </a:solidFill>
                        </a:rPr>
                        <a:t> bien à la question </a:t>
                      </a:r>
                      <a:r>
                        <a:rPr sz="1300" b="0" dirty="0" err="1">
                          <a:solidFill>
                            <a:srgbClr val="262626"/>
                          </a:solidFill>
                        </a:rPr>
                        <a:t>posée</a:t>
                      </a:r>
                      <a:r>
                        <a:rPr sz="1300" b="0" dirty="0">
                          <a:solidFill>
                            <a:srgbClr val="262626"/>
                          </a:solidFill>
                        </a:rPr>
                        <a:t> ?</a:t>
                      </a:r>
                    </a:p>
                  </a:txBody>
                  <a:tcPr/>
                </a:tc>
                <a:extLst>
                  <a:ext uri="{0D108BD9-81ED-4DB2-BD59-A6C34878D82A}">
                    <a16:rowId xmlns:a16="http://schemas.microsoft.com/office/drawing/2014/main" val="3022891757"/>
                  </a:ext>
                </a:extLst>
              </a:tr>
              <a:tr h="0">
                <a:tc>
                  <a:txBody>
                    <a:bodyPr/>
                    <a:lstStyle/>
                    <a:p>
                      <a:pPr algn="ctr"/>
                      <a:r>
                        <a:rPr sz="1300" b="0">
                          <a:solidFill>
                            <a:srgbClr val="262626"/>
                          </a:solidFill>
                        </a:rPr>
                        <a:t>context_precision</a:t>
                      </a:r>
                    </a:p>
                  </a:txBody>
                  <a:tcPr/>
                </a:tc>
                <a:tc>
                  <a:txBody>
                    <a:bodyPr/>
                    <a:lstStyle/>
                    <a:p>
                      <a:pPr algn="ctr"/>
                      <a:r>
                        <a:rPr sz="1300" b="1" dirty="0">
                          <a:solidFill>
                            <a:srgbClr val="262626"/>
                          </a:solidFill>
                        </a:rPr>
                        <a:t>0.700</a:t>
                      </a:r>
                    </a:p>
                  </a:txBody>
                  <a:tcPr/>
                </a:tc>
                <a:tc>
                  <a:txBody>
                    <a:bodyPr/>
                    <a:lstStyle/>
                    <a:p>
                      <a:pPr algn="l"/>
                      <a:r>
                        <a:rPr sz="1300" b="0" dirty="0">
                          <a:solidFill>
                            <a:srgbClr val="262626"/>
                          </a:solidFill>
                        </a:rPr>
                        <a:t>Les passages </a:t>
                      </a:r>
                      <a:r>
                        <a:rPr sz="1300" b="0" dirty="0" err="1">
                          <a:solidFill>
                            <a:srgbClr val="262626"/>
                          </a:solidFill>
                        </a:rPr>
                        <a:t>récupérés</a:t>
                      </a:r>
                      <a:r>
                        <a:rPr sz="1300" b="0" dirty="0">
                          <a:solidFill>
                            <a:srgbClr val="262626"/>
                          </a:solidFill>
                        </a:rPr>
                        <a:t> </a:t>
                      </a:r>
                      <a:r>
                        <a:rPr sz="1300" b="0" dirty="0" err="1">
                          <a:solidFill>
                            <a:srgbClr val="262626"/>
                          </a:solidFill>
                        </a:rPr>
                        <a:t>sont-ils</a:t>
                      </a:r>
                      <a:r>
                        <a:rPr sz="1300" b="0" dirty="0">
                          <a:solidFill>
                            <a:srgbClr val="262626"/>
                          </a:solidFill>
                        </a:rPr>
                        <a:t> bien </a:t>
                      </a:r>
                      <a:r>
                        <a:rPr sz="1300" b="0" dirty="0" err="1">
                          <a:solidFill>
                            <a:srgbClr val="262626"/>
                          </a:solidFill>
                        </a:rPr>
                        <a:t>tous</a:t>
                      </a:r>
                      <a:r>
                        <a:rPr sz="1300" b="0" dirty="0">
                          <a:solidFill>
                            <a:srgbClr val="262626"/>
                          </a:solidFill>
                        </a:rPr>
                        <a:t> </a:t>
                      </a:r>
                      <a:r>
                        <a:rPr sz="1300" b="0" dirty="0" err="1">
                          <a:solidFill>
                            <a:srgbClr val="262626"/>
                          </a:solidFill>
                        </a:rPr>
                        <a:t>utiles</a:t>
                      </a:r>
                      <a:r>
                        <a:rPr sz="1300" b="0" dirty="0">
                          <a:solidFill>
                            <a:srgbClr val="262626"/>
                          </a:solidFill>
                        </a:rPr>
                        <a:t> ? (peu de bruit)</a:t>
                      </a:r>
                    </a:p>
                  </a:txBody>
                  <a:tcPr/>
                </a:tc>
                <a:extLst>
                  <a:ext uri="{0D108BD9-81ED-4DB2-BD59-A6C34878D82A}">
                    <a16:rowId xmlns:a16="http://schemas.microsoft.com/office/drawing/2014/main" val="174095565"/>
                  </a:ext>
                </a:extLst>
              </a:tr>
              <a:tr h="0">
                <a:tc>
                  <a:txBody>
                    <a:bodyPr/>
                    <a:lstStyle/>
                    <a:p>
                      <a:pPr algn="ctr"/>
                      <a:r>
                        <a:rPr sz="1300" b="0">
                          <a:solidFill>
                            <a:srgbClr val="262626"/>
                          </a:solidFill>
                        </a:rPr>
                        <a:t>context_recall</a:t>
                      </a:r>
                    </a:p>
                  </a:txBody>
                  <a:tcPr/>
                </a:tc>
                <a:tc>
                  <a:txBody>
                    <a:bodyPr/>
                    <a:lstStyle/>
                    <a:p>
                      <a:pPr algn="ctr"/>
                      <a:r>
                        <a:rPr sz="1300" b="1" dirty="0">
                          <a:solidFill>
                            <a:srgbClr val="262626"/>
                          </a:solidFill>
                        </a:rPr>
                        <a:t>0.583</a:t>
                      </a:r>
                    </a:p>
                  </a:txBody>
                  <a:tcPr/>
                </a:tc>
                <a:tc>
                  <a:txBody>
                    <a:bodyPr/>
                    <a:lstStyle/>
                    <a:p>
                      <a:pPr algn="l"/>
                      <a:r>
                        <a:rPr sz="1300" b="0" dirty="0">
                          <a:solidFill>
                            <a:srgbClr val="262626"/>
                          </a:solidFill>
                        </a:rPr>
                        <a:t>A-t-on </a:t>
                      </a:r>
                      <a:r>
                        <a:rPr sz="1300" b="0" dirty="0" err="1">
                          <a:solidFill>
                            <a:srgbClr val="262626"/>
                          </a:solidFill>
                        </a:rPr>
                        <a:t>récupéré</a:t>
                      </a:r>
                      <a:r>
                        <a:rPr sz="1300" b="0" dirty="0">
                          <a:solidFill>
                            <a:srgbClr val="262626"/>
                          </a:solidFill>
                        </a:rPr>
                        <a:t> </a:t>
                      </a:r>
                      <a:r>
                        <a:rPr sz="1300" b="0" dirty="0" err="1">
                          <a:solidFill>
                            <a:srgbClr val="262626"/>
                          </a:solidFill>
                        </a:rPr>
                        <a:t>toutes</a:t>
                      </a:r>
                      <a:r>
                        <a:rPr sz="1300" b="0" dirty="0">
                          <a:solidFill>
                            <a:srgbClr val="262626"/>
                          </a:solidFill>
                        </a:rPr>
                        <a:t> les </a:t>
                      </a:r>
                      <a:r>
                        <a:rPr sz="1300" b="0" dirty="0" err="1">
                          <a:solidFill>
                            <a:srgbClr val="262626"/>
                          </a:solidFill>
                        </a:rPr>
                        <a:t>informations</a:t>
                      </a:r>
                      <a:r>
                        <a:rPr sz="1300" b="0" dirty="0">
                          <a:solidFill>
                            <a:srgbClr val="262626"/>
                          </a:solidFill>
                        </a:rPr>
                        <a:t> </a:t>
                      </a:r>
                      <a:r>
                        <a:rPr sz="1300" b="0" dirty="0" err="1">
                          <a:solidFill>
                            <a:srgbClr val="262626"/>
                          </a:solidFill>
                        </a:rPr>
                        <a:t>nécessaires</a:t>
                      </a:r>
                      <a:r>
                        <a:rPr sz="1300" b="0" dirty="0">
                          <a:solidFill>
                            <a:srgbClr val="262626"/>
                          </a:solidFill>
                        </a:rPr>
                        <a:t> pour </a:t>
                      </a:r>
                      <a:r>
                        <a:rPr sz="1300" b="0" dirty="0" err="1">
                          <a:solidFill>
                            <a:srgbClr val="262626"/>
                          </a:solidFill>
                        </a:rPr>
                        <a:t>répondre</a:t>
                      </a:r>
                      <a:r>
                        <a:rPr sz="1300" b="0" dirty="0">
                          <a:solidFill>
                            <a:srgbClr val="262626"/>
                          </a:solidFill>
                        </a:rPr>
                        <a:t> ?</a:t>
                      </a:r>
                    </a:p>
                  </a:txBody>
                  <a:tcPr/>
                </a:tc>
                <a:extLst>
                  <a:ext uri="{0D108BD9-81ED-4DB2-BD59-A6C34878D82A}">
                    <a16:rowId xmlns:a16="http://schemas.microsoft.com/office/drawing/2014/main" val="1293155391"/>
                  </a:ext>
                </a:extLst>
              </a:tr>
            </a:tbl>
          </a:graphicData>
        </a:graphic>
      </p:graphicFrame>
    </p:spTree>
    <p:extLst>
      <p:ext uri="{BB962C8B-B14F-4D97-AF65-F5344CB8AC3E}">
        <p14:creationId xmlns:p14="http://schemas.microsoft.com/office/powerpoint/2010/main" val="3898350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5DBDC-7140-23D3-5DD8-CB1E6ADA58D4}"/>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48803ACE-69E4-9B0E-C01B-E46501C8E3B5}"/>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INTERFACE : STREAMLIT</a:t>
            </a:r>
          </a:p>
        </p:txBody>
      </p:sp>
      <p:sp>
        <p:nvSpPr>
          <p:cNvPr id="3" name="ZoneTexte 2">
            <a:extLst>
              <a:ext uri="{FF2B5EF4-FFF2-40B4-BE49-F238E27FC236}">
                <a16:creationId xmlns:a16="http://schemas.microsoft.com/office/drawing/2014/main" id="{F6642008-39B5-3D74-F85A-DE34DA209C3C}"/>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11</a:t>
            </a:r>
          </a:p>
        </p:txBody>
      </p:sp>
      <p:pic>
        <p:nvPicPr>
          <p:cNvPr id="8" name="Image 7">
            <a:extLst>
              <a:ext uri="{FF2B5EF4-FFF2-40B4-BE49-F238E27FC236}">
                <a16:creationId xmlns:a16="http://schemas.microsoft.com/office/drawing/2014/main" id="{D3E6B0C0-1108-DAA2-DCE7-34B221E9A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084" y="1523523"/>
            <a:ext cx="8073832" cy="4626293"/>
          </a:xfrm>
          <a:prstGeom prst="rect">
            <a:avLst/>
          </a:prstGeom>
        </p:spPr>
      </p:pic>
      <p:sp>
        <p:nvSpPr>
          <p:cNvPr id="4" name="Rectangle 3">
            <a:extLst>
              <a:ext uri="{FF2B5EF4-FFF2-40B4-BE49-F238E27FC236}">
                <a16:creationId xmlns:a16="http://schemas.microsoft.com/office/drawing/2014/main" id="{7B60D703-89B3-4011-F31B-29A9DD4E4B63}"/>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33A24C17-84A4-001F-E0D2-FB51FB22B433}"/>
              </a:ext>
            </a:extLst>
          </p:cNvPr>
          <p:cNvSpPr txBox="1"/>
          <p:nvPr/>
        </p:nvSpPr>
        <p:spPr>
          <a:xfrm>
            <a:off x="142875" y="950595"/>
            <a:ext cx="11906250" cy="4339650"/>
          </a:xfrm>
          <a:prstGeom prst="rect">
            <a:avLst/>
          </a:prstGeom>
          <a:noFill/>
        </p:spPr>
        <p:txBody>
          <a:bodyPr wrap="square" rtlCol="0">
            <a:spAutoFit/>
          </a:bodyPr>
          <a:lstStyle/>
          <a:p>
            <a:r>
              <a:rPr lang="fr-FR" sz="2800" u="sng" dirty="0">
                <a:solidFill>
                  <a:schemeClr val="bg1"/>
                </a:solidFill>
              </a:rPr>
              <a:t>Qu’es ce que STREAMLIT :</a:t>
            </a:r>
          </a:p>
          <a:p>
            <a:endParaRPr lang="fr-FR" sz="1000" dirty="0">
              <a:solidFill>
                <a:schemeClr val="bg1"/>
              </a:solidFill>
            </a:endParaRPr>
          </a:p>
          <a:p>
            <a:pPr marL="449263"/>
            <a:r>
              <a:rPr lang="fr-FR" dirty="0" err="1">
                <a:solidFill>
                  <a:schemeClr val="bg1"/>
                </a:solidFill>
              </a:rPr>
              <a:t>Streamlit</a:t>
            </a:r>
            <a:r>
              <a:rPr lang="fr-FR" dirty="0">
                <a:solidFill>
                  <a:schemeClr val="bg1"/>
                </a:solidFill>
              </a:rPr>
              <a:t> est un </a:t>
            </a:r>
            <a:r>
              <a:rPr lang="fr-FR" dirty="0" err="1">
                <a:solidFill>
                  <a:schemeClr val="bg1"/>
                </a:solidFill>
              </a:rPr>
              <a:t>framework</a:t>
            </a:r>
            <a:r>
              <a:rPr lang="fr-FR" dirty="0">
                <a:solidFill>
                  <a:schemeClr val="bg1"/>
                </a:solidFill>
              </a:rPr>
              <a:t> Python open-source qui permet de créer des applications web interactives en écrivant uniquement du Python sans HTML, CSS ni JavaScript.</a:t>
            </a:r>
          </a:p>
          <a:p>
            <a:endParaRPr lang="fr-FR" dirty="0">
              <a:solidFill>
                <a:schemeClr val="bg1"/>
              </a:solidFill>
            </a:endParaRPr>
          </a:p>
          <a:p>
            <a:r>
              <a:rPr lang="fr-FR" sz="2800" u="sng" dirty="0">
                <a:solidFill>
                  <a:schemeClr val="bg1"/>
                </a:solidFill>
              </a:rPr>
              <a:t>Ce que l'utilisateur voit :</a:t>
            </a:r>
            <a:endParaRPr lang="fr-FR" sz="1000" u="sng" dirty="0">
              <a:solidFill>
                <a:schemeClr val="bg1"/>
              </a:solidFill>
            </a:endParaRPr>
          </a:p>
          <a:p>
            <a:endParaRPr lang="fr-FR" sz="1000" dirty="0">
              <a:solidFill>
                <a:schemeClr val="bg1"/>
              </a:solidFill>
            </a:endParaRPr>
          </a:p>
          <a:p>
            <a:pPr marL="449263"/>
            <a:r>
              <a:rPr lang="fr-FR" dirty="0">
                <a:solidFill>
                  <a:schemeClr val="bg1"/>
                </a:solidFill>
              </a:rPr>
              <a:t>Une interface de type "chat" accessible directement dans le navigateur, sans installation pour l'utilisateur final.</a:t>
            </a:r>
          </a:p>
          <a:p>
            <a:pPr marL="449263"/>
            <a:endParaRPr lang="fr-FR" dirty="0">
              <a:solidFill>
                <a:schemeClr val="bg1"/>
              </a:solidFill>
            </a:endParaRPr>
          </a:p>
          <a:p>
            <a:r>
              <a:rPr lang="fr-FR" sz="2800" u="sng" dirty="0">
                <a:solidFill>
                  <a:schemeClr val="bg1"/>
                </a:solidFill>
              </a:rPr>
              <a:t>Fonctionnalités de l'interface :</a:t>
            </a:r>
          </a:p>
          <a:p>
            <a:endParaRPr lang="fr-FR" sz="1000" dirty="0">
              <a:solidFill>
                <a:schemeClr val="bg1"/>
              </a:solidFill>
            </a:endParaRPr>
          </a:p>
          <a:p>
            <a:pPr marL="742950" lvl="1" indent="-285750">
              <a:buFont typeface="Wingdings" panose="05000000000000000000" pitchFamily="2" charset="2"/>
              <a:buChar char="v"/>
            </a:pPr>
            <a:r>
              <a:rPr lang="fr-FR" dirty="0">
                <a:solidFill>
                  <a:schemeClr val="bg1"/>
                </a:solidFill>
              </a:rPr>
              <a:t>Zone de saisie libre en langage naturel</a:t>
            </a:r>
          </a:p>
          <a:p>
            <a:pPr marL="742950" lvl="1" indent="-285750">
              <a:buFont typeface="Wingdings" panose="05000000000000000000" pitchFamily="2" charset="2"/>
              <a:buChar char="v"/>
            </a:pPr>
            <a:r>
              <a:rPr lang="fr-FR" dirty="0">
                <a:solidFill>
                  <a:schemeClr val="bg1"/>
                </a:solidFill>
              </a:rPr>
              <a:t>Historique de la conversation durant la session</a:t>
            </a:r>
          </a:p>
          <a:p>
            <a:pPr marL="742950" lvl="1" indent="-285750">
              <a:buFont typeface="Wingdings" panose="05000000000000000000" pitchFamily="2" charset="2"/>
              <a:buChar char="v"/>
            </a:pPr>
            <a:r>
              <a:rPr lang="fr-FR" dirty="0">
                <a:solidFill>
                  <a:schemeClr val="bg1"/>
                </a:solidFill>
              </a:rPr>
              <a:t>Réponse générée en quelques secondes, ancrée dans les données de la base</a:t>
            </a:r>
          </a:p>
          <a:p>
            <a:pPr marL="742950" lvl="1" indent="-285750">
              <a:buFont typeface="Wingdings" panose="05000000000000000000" pitchFamily="2" charset="2"/>
              <a:buChar char="v"/>
            </a:pPr>
            <a:r>
              <a:rPr lang="fr-FR" dirty="0">
                <a:solidFill>
                  <a:schemeClr val="bg1"/>
                </a:solidFill>
              </a:rPr>
              <a:t>Pas de configuration requise côté utilisateur</a:t>
            </a:r>
          </a:p>
        </p:txBody>
      </p:sp>
      <p:pic>
        <p:nvPicPr>
          <p:cNvPr id="10" name="Image 9">
            <a:extLst>
              <a:ext uri="{FF2B5EF4-FFF2-40B4-BE49-F238E27FC236}">
                <a16:creationId xmlns:a16="http://schemas.microsoft.com/office/drawing/2014/main" id="{DB573A30-3EB9-5DBE-D8B2-8D3A4707B5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5161" y="-1"/>
            <a:ext cx="1386840" cy="811375"/>
          </a:xfrm>
          <a:prstGeom prst="rect">
            <a:avLst/>
          </a:prstGeom>
        </p:spPr>
      </p:pic>
      <p:pic>
        <p:nvPicPr>
          <p:cNvPr id="14" name="Image 13" descr="Une image contenant texte, capture d’écran, logiciel, Logiciel multimédia&#10;&#10;Le contenu généré par l’IA peut être incorrect.">
            <a:extLst>
              <a:ext uri="{FF2B5EF4-FFF2-40B4-BE49-F238E27FC236}">
                <a16:creationId xmlns:a16="http://schemas.microsoft.com/office/drawing/2014/main" id="{781292EE-35C3-A36B-3468-2D3D948F2D59}"/>
              </a:ext>
            </a:extLst>
          </p:cNvPr>
          <p:cNvPicPr>
            <a:picLocks noChangeAspect="1"/>
          </p:cNvPicPr>
          <p:nvPr/>
        </p:nvPicPr>
        <p:blipFill>
          <a:blip r:embed="rId5"/>
          <a:stretch>
            <a:fillRect/>
          </a:stretch>
        </p:blipFill>
        <p:spPr>
          <a:xfrm>
            <a:off x="8398490" y="4633117"/>
            <a:ext cx="3468851" cy="1890079"/>
          </a:xfrm>
          <a:prstGeom prst="rect">
            <a:avLst/>
          </a:prstGeom>
        </p:spPr>
      </p:pic>
    </p:spTree>
    <p:extLst>
      <p:ext uri="{BB962C8B-B14F-4D97-AF65-F5344CB8AC3E}">
        <p14:creationId xmlns:p14="http://schemas.microsoft.com/office/powerpoint/2010/main" val="3753343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2BF14-478A-50A0-1610-EE948B3E57B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ADC12D9-64CD-67B6-B27F-D94F78349AE7}"/>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CONCLUSION</a:t>
            </a:r>
          </a:p>
        </p:txBody>
      </p:sp>
      <p:sp>
        <p:nvSpPr>
          <p:cNvPr id="3" name="ZoneTexte 2">
            <a:extLst>
              <a:ext uri="{FF2B5EF4-FFF2-40B4-BE49-F238E27FC236}">
                <a16:creationId xmlns:a16="http://schemas.microsoft.com/office/drawing/2014/main" id="{0125FFDB-0084-73FF-7654-DC3864C4FABB}"/>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12</a:t>
            </a:r>
          </a:p>
        </p:txBody>
      </p:sp>
      <p:sp>
        <p:nvSpPr>
          <p:cNvPr id="4" name="Rectangle 3">
            <a:extLst>
              <a:ext uri="{FF2B5EF4-FFF2-40B4-BE49-F238E27FC236}">
                <a16:creationId xmlns:a16="http://schemas.microsoft.com/office/drawing/2014/main" id="{E19F0756-D854-7D2E-F7FD-FDB3B018E0FB}"/>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0F1258B-2859-3023-E617-D3709A736384}"/>
              </a:ext>
            </a:extLst>
          </p:cNvPr>
          <p:cNvSpPr txBox="1"/>
          <p:nvPr/>
        </p:nvSpPr>
        <p:spPr>
          <a:xfrm>
            <a:off x="142875" y="950595"/>
            <a:ext cx="11906250" cy="4666021"/>
          </a:xfrm>
          <a:prstGeom prst="rect">
            <a:avLst/>
          </a:prstGeom>
          <a:noFill/>
        </p:spPr>
        <p:txBody>
          <a:bodyPr wrap="square" rtlCol="0">
            <a:spAutoFit/>
          </a:bodyPr>
          <a:lstStyle/>
          <a:p>
            <a:r>
              <a:rPr lang="fr-FR" sz="2800" u="sng" dirty="0">
                <a:solidFill>
                  <a:schemeClr val="bg1"/>
                </a:solidFill>
              </a:rPr>
              <a:t>Ce que nous avons construit et validé :</a:t>
            </a:r>
            <a:endParaRPr lang="fr-FR" sz="1000"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a:solidFill>
                  <a:schemeClr val="bg1"/>
                </a:solidFill>
              </a:rPr>
              <a:t>Une chaîne complète et fonctionnelle, de la donnée Open Agenda brute jusqu'à l'interface chat en passant par l'indexation vectorielle et la génération de réponses</a:t>
            </a:r>
          </a:p>
          <a:p>
            <a:pPr marL="742950" lvl="1" indent="-285750">
              <a:lnSpc>
                <a:spcPct val="150000"/>
              </a:lnSpc>
              <a:buClr>
                <a:srgbClr val="00B050"/>
              </a:buClr>
              <a:buFont typeface="Wingdings" panose="05000000000000000000" pitchFamily="2" charset="2"/>
              <a:buChar char="ü"/>
            </a:pPr>
            <a:r>
              <a:rPr lang="fr-FR" dirty="0">
                <a:solidFill>
                  <a:schemeClr val="bg1"/>
                </a:solidFill>
              </a:rPr>
              <a:t>Un système évalué quantitativement, avec des métriques reproductibles, pas seulement une démo "qui a l'air de marcher »</a:t>
            </a:r>
          </a:p>
          <a:p>
            <a:pPr marL="742950" lvl="1" indent="-285750">
              <a:lnSpc>
                <a:spcPct val="150000"/>
              </a:lnSpc>
              <a:buClr>
                <a:srgbClr val="00B050"/>
              </a:buClr>
              <a:buFont typeface="Wingdings" panose="05000000000000000000" pitchFamily="2" charset="2"/>
              <a:buChar char="ü"/>
            </a:pPr>
            <a:r>
              <a:rPr lang="fr-FR" dirty="0">
                <a:solidFill>
                  <a:schemeClr val="bg1"/>
                </a:solidFill>
              </a:rPr>
              <a:t>Une architecture pragmatique : aucun serveur supplémentaire, entièrement reproductible à partir du README</a:t>
            </a:r>
          </a:p>
          <a:p>
            <a:endParaRPr lang="fr-FR" sz="2800" u="sng" dirty="0">
              <a:solidFill>
                <a:schemeClr val="bg1"/>
              </a:solidFill>
            </a:endParaRPr>
          </a:p>
          <a:p>
            <a:r>
              <a:rPr lang="fr-FR" sz="2800" u="sng" dirty="0">
                <a:solidFill>
                  <a:schemeClr val="bg1"/>
                </a:solidFill>
              </a:rPr>
              <a:t>Les trois résultats clés :</a:t>
            </a:r>
            <a:endParaRPr lang="fr-FR" sz="1000" dirty="0">
              <a:solidFill>
                <a:schemeClr val="bg1"/>
              </a:solidFill>
            </a:endParaRPr>
          </a:p>
          <a:p>
            <a:pPr marL="742950" lvl="1" indent="-285750">
              <a:lnSpc>
                <a:spcPct val="150000"/>
              </a:lnSpc>
              <a:buClr>
                <a:srgbClr val="00B050"/>
              </a:buClr>
              <a:buFont typeface="Wingdings" panose="05000000000000000000" pitchFamily="2" charset="2"/>
              <a:buChar char="ü"/>
            </a:pPr>
            <a:r>
              <a:rPr lang="fr-FR" dirty="0" err="1">
                <a:solidFill>
                  <a:schemeClr val="bg1"/>
                </a:solidFill>
              </a:rPr>
              <a:t>answer_relevancy</a:t>
            </a:r>
            <a:r>
              <a:rPr lang="fr-FR" dirty="0">
                <a:solidFill>
                  <a:schemeClr val="bg1"/>
                </a:solidFill>
              </a:rPr>
              <a:t> = 0.910 — les réponses sont bien adaptées aux questions posées</a:t>
            </a:r>
          </a:p>
          <a:p>
            <a:pPr marL="742950" lvl="1" indent="-285750">
              <a:lnSpc>
                <a:spcPct val="150000"/>
              </a:lnSpc>
              <a:buClr>
                <a:srgbClr val="00B050"/>
              </a:buClr>
              <a:buFont typeface="Wingdings" panose="05000000000000000000" pitchFamily="2" charset="2"/>
              <a:buChar char="ü"/>
            </a:pPr>
            <a:r>
              <a:rPr lang="fr-FR" dirty="0" err="1">
                <a:solidFill>
                  <a:schemeClr val="bg1"/>
                </a:solidFill>
              </a:rPr>
              <a:t>faithfulness</a:t>
            </a:r>
            <a:r>
              <a:rPr lang="fr-FR" dirty="0">
                <a:solidFill>
                  <a:schemeClr val="bg1"/>
                </a:solidFill>
              </a:rPr>
              <a:t> = 0.764 — le système ne fabrique pas d'informations</a:t>
            </a:r>
          </a:p>
          <a:p>
            <a:pPr marL="742950" lvl="1" indent="-285750">
              <a:lnSpc>
                <a:spcPct val="150000"/>
              </a:lnSpc>
              <a:buClr>
                <a:srgbClr val="00B050"/>
              </a:buClr>
              <a:buFont typeface="Wingdings" panose="05000000000000000000" pitchFamily="2" charset="2"/>
              <a:buChar char="ü"/>
            </a:pPr>
            <a:r>
              <a:rPr lang="fr-FR" dirty="0">
                <a:solidFill>
                  <a:schemeClr val="bg1"/>
                </a:solidFill>
              </a:rPr>
              <a:t>Stack </a:t>
            </a:r>
            <a:r>
              <a:rPr lang="fr-FR" dirty="0" err="1">
                <a:solidFill>
                  <a:schemeClr val="bg1"/>
                </a:solidFill>
              </a:rPr>
              <a:t>LangChain</a:t>
            </a:r>
            <a:r>
              <a:rPr lang="fr-FR" dirty="0">
                <a:solidFill>
                  <a:schemeClr val="bg1"/>
                </a:solidFill>
              </a:rPr>
              <a:t> + FAISS + Mistral AI : déployable sans infrastructure lourde</a:t>
            </a:r>
            <a:endParaRPr lang="fr-FR" sz="1200" dirty="0">
              <a:solidFill>
                <a:schemeClr val="bg1"/>
              </a:solidFill>
            </a:endParaRPr>
          </a:p>
        </p:txBody>
      </p:sp>
      <p:pic>
        <p:nvPicPr>
          <p:cNvPr id="8" name="Image 7">
            <a:extLst>
              <a:ext uri="{FF2B5EF4-FFF2-40B4-BE49-F238E27FC236}">
                <a16:creationId xmlns:a16="http://schemas.microsoft.com/office/drawing/2014/main" id="{CEA8FA22-9A62-647B-39A8-A3D16EFD0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7609" y="3688080"/>
            <a:ext cx="2901590" cy="2844165"/>
          </a:xfrm>
          <a:prstGeom prst="rect">
            <a:avLst/>
          </a:prstGeom>
        </p:spPr>
      </p:pic>
    </p:spTree>
    <p:extLst>
      <p:ext uri="{BB962C8B-B14F-4D97-AF65-F5344CB8AC3E}">
        <p14:creationId xmlns:p14="http://schemas.microsoft.com/office/powerpoint/2010/main" val="1546176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67B39-B06C-30EF-5EFA-45BE1171FA3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CD6DA068-CE9B-B00F-CDF5-ABF715CC6D71}"/>
              </a:ext>
            </a:extLst>
          </p:cNvPr>
          <p:cNvSpPr txBox="1">
            <a:spLocks/>
          </p:cNvSpPr>
          <p:nvPr/>
        </p:nvSpPr>
        <p:spPr>
          <a:xfrm>
            <a:off x="1079500" y="0"/>
            <a:ext cx="11112500" cy="800100"/>
          </a:xfrm>
          <a:prstGeom prst="rect">
            <a:avLst/>
          </a:prstGeom>
          <a:solidFill>
            <a:schemeClr val="tx1">
              <a:lumMod val="85000"/>
              <a:lumOff val="15000"/>
            </a:schemeClr>
          </a:solidFill>
        </p:spPr>
        <p:txBody>
          <a:bodyPr wrap="square" rtlCol="0" anchor="ctr" anchorCtr="0">
            <a:noAutofit/>
          </a:bodyPr>
          <a:lstStyle/>
          <a:p>
            <a:r>
              <a:rPr lang="fr-FR" sz="3200" b="1" dirty="0">
                <a:solidFill>
                  <a:srgbClr val="3D85C6"/>
                </a:solidFill>
              </a:rPr>
              <a:t>DÉMONTRATION</a:t>
            </a:r>
          </a:p>
        </p:txBody>
      </p:sp>
      <p:sp>
        <p:nvSpPr>
          <p:cNvPr id="3" name="ZoneTexte 2">
            <a:extLst>
              <a:ext uri="{FF2B5EF4-FFF2-40B4-BE49-F238E27FC236}">
                <a16:creationId xmlns:a16="http://schemas.microsoft.com/office/drawing/2014/main" id="{0F102D94-91A9-101D-2333-D34B84DF4C4E}"/>
              </a:ext>
            </a:extLst>
          </p:cNvPr>
          <p:cNvSpPr txBox="1"/>
          <p:nvPr/>
        </p:nvSpPr>
        <p:spPr>
          <a:xfrm>
            <a:off x="0" y="0"/>
            <a:ext cx="1079500" cy="800100"/>
          </a:xfrm>
          <a:prstGeom prst="rect">
            <a:avLst/>
          </a:prstGeom>
          <a:solidFill>
            <a:srgbClr val="3D85C6"/>
          </a:solidFill>
        </p:spPr>
        <p:txBody>
          <a:bodyPr wrap="square" rtlCol="0" anchor="ctr" anchorCtr="0">
            <a:noAutofit/>
          </a:bodyPr>
          <a:lstStyle/>
          <a:p>
            <a:pPr algn="r"/>
            <a:r>
              <a:rPr lang="fr-FR" sz="3200" b="1" dirty="0">
                <a:solidFill>
                  <a:schemeClr val="tx1">
                    <a:lumMod val="85000"/>
                    <a:lumOff val="15000"/>
                  </a:schemeClr>
                </a:solidFill>
              </a:rPr>
              <a:t>13</a:t>
            </a:r>
          </a:p>
        </p:txBody>
      </p:sp>
      <p:pic>
        <p:nvPicPr>
          <p:cNvPr id="8" name="Image 7">
            <a:extLst>
              <a:ext uri="{FF2B5EF4-FFF2-40B4-BE49-F238E27FC236}">
                <a16:creationId xmlns:a16="http://schemas.microsoft.com/office/drawing/2014/main" id="{014A2877-9676-DAA2-7712-B6A5E03DD4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084" y="1523523"/>
            <a:ext cx="8073832" cy="4626293"/>
          </a:xfrm>
          <a:prstGeom prst="rect">
            <a:avLst/>
          </a:prstGeom>
        </p:spPr>
      </p:pic>
      <p:sp>
        <p:nvSpPr>
          <p:cNvPr id="4" name="Rectangle 3">
            <a:extLst>
              <a:ext uri="{FF2B5EF4-FFF2-40B4-BE49-F238E27FC236}">
                <a16:creationId xmlns:a16="http://schemas.microsoft.com/office/drawing/2014/main" id="{1B456A36-0EC0-37A4-FFDE-9CCD0DB2B295}"/>
              </a:ext>
            </a:extLst>
          </p:cNvPr>
          <p:cNvSpPr/>
          <p:nvPr/>
        </p:nvSpPr>
        <p:spPr>
          <a:xfrm>
            <a:off x="142875" y="950595"/>
            <a:ext cx="11906250" cy="5772150"/>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F9307053-598A-39D1-70C0-51D0918A4D00}"/>
              </a:ext>
            </a:extLst>
          </p:cNvPr>
          <p:cNvSpPr txBox="1"/>
          <p:nvPr/>
        </p:nvSpPr>
        <p:spPr>
          <a:xfrm>
            <a:off x="142875" y="950595"/>
            <a:ext cx="11906250" cy="5478423"/>
          </a:xfrm>
          <a:prstGeom prst="rect">
            <a:avLst/>
          </a:prstGeom>
          <a:noFill/>
        </p:spPr>
        <p:txBody>
          <a:bodyPr wrap="square" rtlCol="0">
            <a:spAutoFit/>
          </a:bodyPr>
          <a:lstStyle/>
          <a:p>
            <a:r>
              <a:rPr lang="fr-FR" sz="2800" u="sng" dirty="0">
                <a:solidFill>
                  <a:schemeClr val="bg1"/>
                </a:solidFill>
              </a:rPr>
              <a:t>Quelques questions / réponses :</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1 - Concerts à Toulouse : </a:t>
            </a:r>
            <a:r>
              <a:rPr lang="fr-FR" dirty="0">
                <a:solidFill>
                  <a:schemeClr val="bg1"/>
                </a:solidFill>
              </a:rPr>
              <a:t>Quels concerts ont lieu à Toulouse en ce moment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RAG cite 2-3 concerts avec titre, date et lieu précis </a:t>
            </a:r>
            <a:r>
              <a:rPr lang="fr-FR" i="1" dirty="0">
                <a:solidFill>
                  <a:schemeClr val="bg1"/>
                </a:solidFill>
              </a:rPr>
              <a:t>(salle, quartier)</a:t>
            </a:r>
            <a:r>
              <a:rPr lang="fr-FR" dirty="0">
                <a:solidFill>
                  <a:schemeClr val="bg1"/>
                </a:solidFill>
              </a:rPr>
              <a:t>. Il indique s'ils sont passés ou à venir.</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2 - Activités enfants : </a:t>
            </a:r>
            <a:r>
              <a:rPr lang="fr-FR" dirty="0">
                <a:solidFill>
                  <a:schemeClr val="bg1"/>
                </a:solidFill>
              </a:rPr>
              <a:t>Quels spectacles sont adaptés aux enfants à Montpellier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Liste de spectacles jeune public </a:t>
            </a:r>
            <a:r>
              <a:rPr lang="fr-FR" i="1" dirty="0">
                <a:solidFill>
                  <a:schemeClr val="bg1"/>
                </a:solidFill>
              </a:rPr>
              <a:t>(théâtre, marionnettes, cirque) </a:t>
            </a:r>
            <a:r>
              <a:rPr lang="fr-FR" dirty="0">
                <a:solidFill>
                  <a:schemeClr val="bg1"/>
                </a:solidFill>
              </a:rPr>
              <a:t>avec noms de salles et dates. Le LLM précise "adapté aux enfants" ou "tout public".</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3 - Événements gratuits : </a:t>
            </a:r>
            <a:r>
              <a:rPr lang="fr-FR" dirty="0">
                <a:solidFill>
                  <a:schemeClr val="bg1"/>
                </a:solidFill>
              </a:rPr>
              <a:t>Y a-t-il des événements gratuits dans le Gard ce week-end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RAG remonte des événements en citant les métadonnées disponibles. Attention : si la gratuité n'est pas dans les </a:t>
            </a:r>
            <a:r>
              <a:rPr lang="fr-FR" dirty="0" err="1">
                <a:solidFill>
                  <a:schemeClr val="bg1"/>
                </a:solidFill>
              </a:rPr>
              <a:t>chunks</a:t>
            </a:r>
            <a:r>
              <a:rPr lang="fr-FR" dirty="0">
                <a:solidFill>
                  <a:schemeClr val="bg1"/>
                </a:solidFill>
              </a:rPr>
              <a:t>, le LLM doit dire qu'il ne peut pas confirmer cette information.</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4 - Patrimoine / Festivals :</a:t>
            </a:r>
            <a:r>
              <a:rPr lang="fr-FR" dirty="0">
                <a:solidFill>
                  <a:schemeClr val="bg1"/>
                </a:solidFill>
              </a:rPr>
              <a:t> Quels festivals se déroulent à Carcassonne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Cite le(s) festival(s) trouvés dans la base </a:t>
            </a:r>
            <a:r>
              <a:rPr lang="fr-FR" i="1" dirty="0">
                <a:solidFill>
                  <a:schemeClr val="bg1"/>
                </a:solidFill>
              </a:rPr>
              <a:t>(Festival de la Cité si présent)</a:t>
            </a:r>
            <a:r>
              <a:rPr lang="fr-FR" dirty="0">
                <a:solidFill>
                  <a:schemeClr val="bg1"/>
                </a:solidFill>
              </a:rPr>
              <a:t>, avec dates et descriptions extraites des </a:t>
            </a:r>
            <a:r>
              <a:rPr lang="fr-FR" dirty="0" err="1">
                <a:solidFill>
                  <a:schemeClr val="bg1"/>
                </a:solidFill>
              </a:rPr>
              <a:t>chunks</a:t>
            </a:r>
            <a:r>
              <a:rPr lang="fr-FR" dirty="0">
                <a:solidFill>
                  <a:schemeClr val="bg1"/>
                </a:solidFill>
              </a:rPr>
              <a:t>.</a:t>
            </a:r>
          </a:p>
          <a:p>
            <a:endParaRPr lang="fr-FR" sz="1000" dirty="0">
              <a:solidFill>
                <a:schemeClr val="bg1"/>
              </a:solidFill>
            </a:endParaRPr>
          </a:p>
          <a:p>
            <a:pPr marL="285750" indent="-285750">
              <a:buFont typeface="Arial" panose="020B0604020202020204" pitchFamily="34" charset="0"/>
              <a:buChar char="•"/>
            </a:pPr>
            <a:r>
              <a:rPr lang="fr-FR" b="1" dirty="0">
                <a:solidFill>
                  <a:schemeClr val="bg1"/>
                </a:solidFill>
              </a:rPr>
              <a:t>Question 5 - Hors périmètre </a:t>
            </a:r>
            <a:r>
              <a:rPr lang="fr-FR" b="1" i="1" dirty="0">
                <a:solidFill>
                  <a:schemeClr val="bg1"/>
                </a:solidFill>
              </a:rPr>
              <a:t>(test de robustesse) </a:t>
            </a:r>
            <a:r>
              <a:rPr lang="fr-FR" b="1" dirty="0">
                <a:solidFill>
                  <a:schemeClr val="bg1"/>
                </a:solidFill>
              </a:rPr>
              <a:t>: </a:t>
            </a:r>
            <a:r>
              <a:rPr lang="fr-FR" dirty="0">
                <a:solidFill>
                  <a:schemeClr val="bg1"/>
                </a:solidFill>
              </a:rPr>
              <a:t>Quels concerts ont lieu à Paris en juin ?</a:t>
            </a:r>
          </a:p>
          <a:p>
            <a:pPr marL="285750" indent="-285750">
              <a:buFont typeface="Wingdings" panose="05000000000000000000" pitchFamily="2" charset="2"/>
              <a:buChar char="Ø"/>
            </a:pPr>
            <a:r>
              <a:rPr lang="fr-FR" i="1" dirty="0">
                <a:solidFill>
                  <a:schemeClr val="bg1"/>
                </a:solidFill>
              </a:rPr>
              <a:t>Réponse attendue : </a:t>
            </a:r>
            <a:r>
              <a:rPr lang="fr-FR" dirty="0">
                <a:solidFill>
                  <a:schemeClr val="bg1"/>
                </a:solidFill>
              </a:rPr>
              <a:t>Le LLM doit répondre qu'il ne dispose pas d'informations sur Paris, son périmètre étant limité à la région Occitanie et proposer éventuellement des alternatives en Occitanie.</a:t>
            </a:r>
          </a:p>
        </p:txBody>
      </p:sp>
    </p:spTree>
    <p:extLst>
      <p:ext uri="{BB962C8B-B14F-4D97-AF65-F5344CB8AC3E}">
        <p14:creationId xmlns:p14="http://schemas.microsoft.com/office/powerpoint/2010/main" val="3561634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72AA2-DB22-84B7-921E-451AA4630D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54F498-5228-CDE5-D6FC-1571603FF71A}"/>
              </a:ext>
            </a:extLst>
          </p:cNvPr>
          <p:cNvSpPr/>
          <p:nvPr/>
        </p:nvSpPr>
        <p:spPr>
          <a:xfrm>
            <a:off x="142875" y="137160"/>
            <a:ext cx="11906250" cy="6585585"/>
          </a:xfrm>
          <a:prstGeom prst="rect">
            <a:avLst/>
          </a:prstGeom>
          <a:solidFill>
            <a:schemeClr val="tx1">
              <a:lumMod val="85000"/>
              <a:lumOff val="1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7200" dirty="0"/>
              <a:t>The END</a:t>
            </a:r>
          </a:p>
          <a:p>
            <a:pPr algn="ctr"/>
            <a:r>
              <a:rPr lang="fr-FR" i="1" dirty="0"/>
              <a:t>Des questions ?</a:t>
            </a:r>
          </a:p>
        </p:txBody>
      </p:sp>
    </p:spTree>
    <p:extLst>
      <p:ext uri="{BB962C8B-B14F-4D97-AF65-F5344CB8AC3E}">
        <p14:creationId xmlns:p14="http://schemas.microsoft.com/office/powerpoint/2010/main" val="292122612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639</TotalTime>
  <Words>2848</Words>
  <Application>Microsoft Office PowerPoint</Application>
  <PresentationFormat>Grand écran</PresentationFormat>
  <Paragraphs>364</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Calibri Light</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Aymeric Bailleul</dc:creator>
  <cp:lastModifiedBy>Aymeric Bailleul</cp:lastModifiedBy>
  <cp:revision>16</cp:revision>
  <dcterms:created xsi:type="dcterms:W3CDTF">2026-02-24T09:10:16Z</dcterms:created>
  <dcterms:modified xsi:type="dcterms:W3CDTF">2026-02-25T20:43:58Z</dcterms:modified>
</cp:coreProperties>
</file>