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E1272C-7650-4C6E-9EE2-B4D7A235CCDB}">
  <a:tblStyle styleId="{46E1272C-7650-4C6E-9EE2-B4D7A235CCD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50e15e7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50e15e7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0e15e7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50e15e7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50e15e76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50e15e76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50e15e76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50e15e76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50e15e76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50e15e76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50e15e76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50e15e76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50e15e76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50e15e7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50e15e76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50e15e76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50e15e76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50e15e76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50e15e76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50e15e76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50e15e76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50e15e76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4.xml"/><Relationship Id="rId11" Type="http://schemas.openxmlformats.org/officeDocument/2006/relationships/slide" Target="/ppt/slides/slide11.xml"/><Relationship Id="rId10" Type="http://schemas.openxmlformats.org/officeDocument/2006/relationships/slide" Target="/ppt/slides/slide10.xml"/><Relationship Id="rId12" Type="http://schemas.openxmlformats.org/officeDocument/2006/relationships/slide" Target="/ppt/slides/slide12.xml"/><Relationship Id="rId9" Type="http://schemas.openxmlformats.org/officeDocument/2006/relationships/slide" Target="/ppt/slides/slide9.xml"/><Relationship Id="rId5" Type="http://schemas.openxmlformats.org/officeDocument/2006/relationships/slide" Target="/ppt/slides/slide5.xml"/><Relationship Id="rId6" Type="http://schemas.openxmlformats.org/officeDocument/2006/relationships/slide" Target="/ppt/slides/slide6.xml"/><Relationship Id="rId7" Type="http://schemas.openxmlformats.org/officeDocument/2006/relationships/slide" Target="/ppt/slides/slide7.xml"/><Relationship Id="rId8" Type="http://schemas.openxmlformats.org/officeDocument/2006/relationships/slide" Target="/ppt/slides/slide8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368125" y="1578400"/>
            <a:ext cx="5108100" cy="15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9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Analyse exploratoire</a:t>
            </a:r>
            <a:r>
              <a:rPr lang="fr" sz="2900">
                <a:latin typeface="Arial"/>
                <a:ea typeface="Arial"/>
                <a:cs typeface="Arial"/>
                <a:sym typeface="Arial"/>
              </a:rPr>
              <a:t> pour une </a:t>
            </a:r>
            <a:r>
              <a:rPr b="1" lang="fr" sz="29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expansion à l’internationale</a:t>
            </a:r>
            <a:r>
              <a:rPr lang="fr" sz="2900">
                <a:latin typeface="Arial"/>
                <a:ea typeface="Arial"/>
                <a:cs typeface="Arial"/>
                <a:sym typeface="Arial"/>
              </a:rPr>
              <a:t> </a:t>
            </a:r>
            <a:endParaRPr b="1" sz="2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540475" y="4680700"/>
            <a:ext cx="3470700" cy="3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i="1" lang="fr" sz="1800">
                <a:latin typeface="Arial"/>
                <a:ea typeface="Arial"/>
                <a:cs typeface="Arial"/>
                <a:sym typeface="Arial"/>
              </a:rPr>
              <a:t>EdTech - Academy</a:t>
            </a:r>
            <a:endParaRPr i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051164" y="630215"/>
            <a:ext cx="70389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Sommaire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052550" y="1618250"/>
            <a:ext cx="7038900" cy="23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f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3"/>
              </a:rPr>
              <a:t>Mission, objectif et finalité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f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4"/>
              </a:rPr>
              <a:t>Description des dataframes récupérés</a:t>
            </a:r>
            <a:endParaRPr b="1" sz="30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f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5"/>
              </a:rPr>
              <a:t>Colonnes de liaisons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f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6"/>
              </a:rPr>
              <a:t>Nettoyage des données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f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7"/>
              </a:rPr>
              <a:t>Affinage des résultats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f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8"/>
              </a:rPr>
              <a:t>Analyse des corrélations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f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9"/>
              </a:rPr>
              <a:t>Choix des indicateurs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f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10"/>
              </a:rPr>
              <a:t>Récapitulatif des indicateurs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f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11"/>
              </a:rPr>
              <a:t>Études statistiques des indicateurs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f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12"/>
              </a:rPr>
              <a:t>Conclusion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052550" y="620378"/>
            <a:ext cx="70389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Mission</a:t>
            </a:r>
            <a:r>
              <a:rPr b="1" lang="fr" sz="32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, objectif et finalité</a:t>
            </a:r>
            <a:endParaRPr b="1" sz="3200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906525" y="1567550"/>
            <a:ext cx="7961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latin typeface="Arial"/>
                <a:ea typeface="Arial"/>
                <a:cs typeface="Arial"/>
                <a:sym typeface="Arial"/>
              </a:rPr>
              <a:t>Mission : </a:t>
            </a:r>
            <a:endParaRPr b="1" sz="16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latin typeface="Arial"/>
                <a:ea typeface="Arial"/>
                <a:cs typeface="Arial"/>
                <a:sym typeface="Arial"/>
              </a:rPr>
              <a:t>Mener une </a:t>
            </a:r>
            <a:r>
              <a:rPr b="1" lang="fr" sz="1400">
                <a:latin typeface="Arial"/>
                <a:ea typeface="Arial"/>
                <a:cs typeface="Arial"/>
                <a:sym typeface="Arial"/>
              </a:rPr>
              <a:t>analyse exploratoire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 des </a:t>
            </a:r>
            <a:r>
              <a:rPr b="1" lang="fr" sz="1400">
                <a:latin typeface="Arial"/>
                <a:ea typeface="Arial"/>
                <a:cs typeface="Arial"/>
                <a:sym typeface="Arial"/>
              </a:rPr>
              <a:t>données 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de la </a:t>
            </a:r>
            <a:r>
              <a:rPr b="1" lang="fr" sz="1400">
                <a:latin typeface="Arial"/>
                <a:ea typeface="Arial"/>
                <a:cs typeface="Arial"/>
                <a:sym typeface="Arial"/>
              </a:rPr>
              <a:t>Banque Mondiale sur l'éducation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latin typeface="Arial"/>
                <a:ea typeface="Arial"/>
                <a:cs typeface="Arial"/>
                <a:sym typeface="Arial"/>
              </a:rPr>
              <a:t>Objectif : </a:t>
            </a:r>
            <a:endParaRPr b="1" sz="16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>
                <a:latin typeface="Arial"/>
                <a:ea typeface="Arial"/>
                <a:cs typeface="Arial"/>
                <a:sym typeface="Arial"/>
              </a:rPr>
              <a:t>Identifier 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les </a:t>
            </a:r>
            <a:r>
              <a:rPr b="1" lang="fr" sz="1400">
                <a:latin typeface="Arial"/>
                <a:ea typeface="Arial"/>
                <a:cs typeface="Arial"/>
                <a:sym typeface="Arial"/>
              </a:rPr>
              <a:t>pays 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présentant un </a:t>
            </a:r>
            <a:r>
              <a:rPr b="1" lang="fr" sz="1400">
                <a:latin typeface="Arial"/>
                <a:ea typeface="Arial"/>
                <a:cs typeface="Arial"/>
                <a:sym typeface="Arial"/>
              </a:rPr>
              <a:t>fort potentiel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b="1" lang="fr" sz="1400">
                <a:latin typeface="Arial"/>
                <a:ea typeface="Arial"/>
                <a:cs typeface="Arial"/>
                <a:sym typeface="Arial"/>
              </a:rPr>
              <a:t>clients 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pour nos formations </a:t>
            </a:r>
            <a:r>
              <a:rPr i="1" lang="fr" sz="1400">
                <a:latin typeface="Arial"/>
                <a:ea typeface="Arial"/>
                <a:cs typeface="Arial"/>
                <a:sym typeface="Arial"/>
              </a:rPr>
              <a:t>(niveaux lycée et université)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 et </a:t>
            </a:r>
            <a:r>
              <a:rPr b="1" lang="fr" sz="1400">
                <a:latin typeface="Arial"/>
                <a:ea typeface="Arial"/>
                <a:cs typeface="Arial"/>
                <a:sym typeface="Arial"/>
              </a:rPr>
              <a:t>analyser 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les </a:t>
            </a:r>
            <a:r>
              <a:rPr b="1" lang="fr" sz="1400">
                <a:latin typeface="Arial"/>
                <a:ea typeface="Arial"/>
                <a:cs typeface="Arial"/>
                <a:sym typeface="Arial"/>
              </a:rPr>
              <a:t>tendances d'évolution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 de ces marchés.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 u="sng">
                <a:latin typeface="Arial"/>
                <a:ea typeface="Arial"/>
                <a:cs typeface="Arial"/>
                <a:sym typeface="Arial"/>
              </a:rPr>
              <a:t>Finalité : </a:t>
            </a:r>
            <a:endParaRPr b="1" sz="15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>
                <a:latin typeface="Arial"/>
                <a:ea typeface="Arial"/>
                <a:cs typeface="Arial"/>
                <a:sym typeface="Arial"/>
              </a:rPr>
              <a:t>Valider 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si ces </a:t>
            </a:r>
            <a:r>
              <a:rPr b="1" lang="fr" sz="1400">
                <a:latin typeface="Arial"/>
                <a:ea typeface="Arial"/>
                <a:cs typeface="Arial"/>
                <a:sym typeface="Arial"/>
              </a:rPr>
              <a:t>données 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peuvent fournir des </a:t>
            </a:r>
            <a:r>
              <a:rPr b="1" lang="fr" sz="1400">
                <a:latin typeface="Arial"/>
                <a:ea typeface="Arial"/>
                <a:cs typeface="Arial"/>
                <a:sym typeface="Arial"/>
              </a:rPr>
              <a:t>insights stratégiques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 pour guider le </a:t>
            </a:r>
            <a:r>
              <a:rPr b="1" lang="fr" sz="1400">
                <a:latin typeface="Arial"/>
                <a:ea typeface="Arial"/>
                <a:cs typeface="Arial"/>
                <a:sym typeface="Arial"/>
              </a:rPr>
              <a:t>choix des futurs pays d'implantation</a:t>
            </a:r>
            <a:r>
              <a:rPr lang="fr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024900" y="620350"/>
            <a:ext cx="7958400" cy="7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0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Description des dataframes récupérés</a:t>
            </a:r>
            <a:endParaRPr b="1" sz="3000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3" name="Google Shape;153;p16"/>
          <p:cNvGraphicFramePr/>
          <p:nvPr/>
        </p:nvGraphicFramePr>
        <p:xfrm>
          <a:off x="66113" y="1928158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0F4F9"/>
                </a:solidFill>
                <a:tableStyleId>{46E1272C-7650-4C6E-9EE2-B4D7A235CCDB}</a:tableStyleId>
              </a:tblPr>
              <a:tblGrid>
                <a:gridCol w="1664100"/>
                <a:gridCol w="2668800"/>
                <a:gridCol w="2276950"/>
                <a:gridCol w="1184850"/>
                <a:gridCol w="1181600"/>
              </a:tblGrid>
              <a:tr h="371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Nom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Colonnes clés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Nb </a:t>
                      </a: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lignes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Nb C</a:t>
                      </a: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olonnes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  <a:tr h="15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data_statsCountry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Référentiel des pays.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Country Code, Short Name, Region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241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32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  <a:tr h="163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data_statsSeries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Référentiel des indicateurs disponibles.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Series Code, Topic, Indicator Name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3665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21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  <a:tr h="381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data_statsData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Contient les valeurs des indicateurs pour chaque pays et chaque année.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CountryCode, IndicatorCode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886930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70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  <a:tr h="22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data_statsCountrySeries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Table de liaison indiquant quels indicateurs sont disponibles pour quels pays.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CountryCode, SeriesCode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613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  <a:tr h="287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data_statsFootnote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Fournit des notes et des annotations supplémentaires sur les données.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CountryCode, SeriesCode, Year, DESCRIPTION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643638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/>
        </p:nvSpPr>
        <p:spPr>
          <a:xfrm>
            <a:off x="1024772" y="620761"/>
            <a:ext cx="789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rgbClr val="1155CC"/>
                </a:solidFill>
              </a:rPr>
              <a:t>Colonnes de </a:t>
            </a:r>
            <a:r>
              <a:rPr b="1" lang="fr" sz="3000">
                <a:solidFill>
                  <a:srgbClr val="1155CC"/>
                </a:solidFill>
              </a:rPr>
              <a:t>liaisons</a:t>
            </a:r>
            <a:endParaRPr b="1" sz="3000">
              <a:solidFill>
                <a:srgbClr val="1155CC"/>
              </a:solidFill>
            </a:endParaRPr>
          </a:p>
        </p:txBody>
      </p:sp>
      <p:graphicFrame>
        <p:nvGraphicFramePr>
          <p:cNvPr id="159" name="Google Shape;159;p17"/>
          <p:cNvGraphicFramePr/>
          <p:nvPr/>
        </p:nvGraphicFramePr>
        <p:xfrm>
          <a:off x="67647" y="1921419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0F4F9"/>
                </a:solidFill>
                <a:tableStyleId>{46E1272C-7650-4C6E-9EE2-B4D7A235CCDB}</a:tableStyleId>
              </a:tblPr>
              <a:tblGrid>
                <a:gridCol w="1815150"/>
                <a:gridCol w="2848125"/>
                <a:gridCol w="42863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Donnée / Colonne Clé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Description de la Relation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>
                          <a:solidFill>
                            <a:schemeClr val="dk1"/>
                          </a:solidFill>
                        </a:rPr>
                        <a:t>Dataframes liés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Country Code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Identifiant unique pour chaque pays.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data_statsCountry ↔ data_statsData ↔ data_statsCountrySeries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Series Code / Indicator Code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Identifiant unique pour chaque indicateur statistique.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data_statsSeries ↔ data_statsData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Topic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Catégorie thématique d'un indicateur.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</a:rPr>
                        <a:t>Uniquement dans data_statsSeries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/>
        </p:nvSpPr>
        <p:spPr>
          <a:xfrm>
            <a:off x="1024772" y="620761"/>
            <a:ext cx="789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rgbClr val="1155CC"/>
                </a:solidFill>
              </a:rPr>
              <a:t>Nettoyage</a:t>
            </a:r>
            <a:r>
              <a:rPr b="1" lang="fr" sz="3000">
                <a:solidFill>
                  <a:srgbClr val="1155CC"/>
                </a:solidFill>
              </a:rPr>
              <a:t> des données</a:t>
            </a:r>
            <a:endParaRPr b="1" sz="3000">
              <a:solidFill>
                <a:srgbClr val="1155CC"/>
              </a:solidFill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143000" y="1931275"/>
            <a:ext cx="6375300" cy="2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Modification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fr" sz="1300">
                <a:solidFill>
                  <a:schemeClr val="lt1"/>
                </a:solidFill>
              </a:rPr>
              <a:t>Uniformisation du nom des colonnes </a:t>
            </a:r>
            <a:r>
              <a:rPr i="1" lang="fr" sz="1300">
                <a:solidFill>
                  <a:schemeClr val="lt1"/>
                </a:solidFill>
              </a:rPr>
              <a:t>(Country Code &gt; CountryCode)</a:t>
            </a:r>
            <a:endParaRPr i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Suppression des colonne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fr" sz="1300">
                <a:solidFill>
                  <a:schemeClr val="lt1"/>
                </a:solidFill>
              </a:rPr>
              <a:t>Colonnes vides </a:t>
            </a:r>
            <a:r>
              <a:rPr i="1" lang="fr" sz="1300">
                <a:solidFill>
                  <a:schemeClr val="lt1"/>
                </a:solidFill>
              </a:rPr>
              <a:t>(en calculant la proportion de cellule vide par </a:t>
            </a:r>
            <a:r>
              <a:rPr i="1" lang="fr" sz="1300">
                <a:solidFill>
                  <a:schemeClr val="lt1"/>
                </a:solidFill>
              </a:rPr>
              <a:t>colonnes</a:t>
            </a:r>
            <a:r>
              <a:rPr i="1" lang="fr" sz="1300">
                <a:solidFill>
                  <a:schemeClr val="lt1"/>
                </a:solidFill>
              </a:rPr>
              <a:t>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Suppression des lignes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fr" sz="1300">
                <a:solidFill>
                  <a:schemeClr val="lt1"/>
                </a:solidFill>
              </a:rPr>
              <a:t>Doublons </a:t>
            </a:r>
            <a:r>
              <a:rPr i="1" lang="fr" sz="1300">
                <a:solidFill>
                  <a:schemeClr val="lt1"/>
                </a:solidFill>
              </a:rPr>
              <a:t>(grâce à la méthode .duplicates de panda).</a:t>
            </a:r>
            <a:endParaRPr i="1"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fr" sz="1300">
                <a:solidFill>
                  <a:schemeClr val="lt1"/>
                </a:solidFill>
              </a:rPr>
              <a:t>Faux Pays </a:t>
            </a:r>
            <a:r>
              <a:rPr i="1" lang="fr" sz="1300">
                <a:solidFill>
                  <a:schemeClr val="lt1"/>
                </a:solidFill>
              </a:rPr>
              <a:t>(certain pays sont des nom de régions, des continents, …)</a:t>
            </a:r>
            <a:endParaRPr i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1024772" y="620761"/>
            <a:ext cx="789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rgbClr val="1155CC"/>
                </a:solidFill>
              </a:rPr>
              <a:t>Affinage des résultats</a:t>
            </a:r>
            <a:endParaRPr b="1" sz="3000">
              <a:solidFill>
                <a:srgbClr val="1155CC"/>
              </a:solidFill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143000" y="1399200"/>
            <a:ext cx="76659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Approche métier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b="1" lang="fr" sz="1300">
                <a:solidFill>
                  <a:schemeClr val="lt1"/>
                </a:solidFill>
              </a:rPr>
              <a:t>Recherche</a:t>
            </a:r>
            <a:r>
              <a:rPr b="1" lang="fr" sz="1300">
                <a:solidFill>
                  <a:schemeClr val="lt1"/>
                </a:solidFill>
              </a:rPr>
              <a:t> </a:t>
            </a:r>
            <a:r>
              <a:rPr lang="fr" sz="1300">
                <a:solidFill>
                  <a:schemeClr val="lt1"/>
                </a:solidFill>
              </a:rPr>
              <a:t>des </a:t>
            </a:r>
            <a:r>
              <a:rPr b="1" lang="fr" sz="1300">
                <a:solidFill>
                  <a:schemeClr val="lt1"/>
                </a:solidFill>
              </a:rPr>
              <a:t>métier pertinent </a:t>
            </a:r>
            <a:r>
              <a:rPr i="1" lang="fr" sz="1300">
                <a:solidFill>
                  <a:schemeClr val="lt1"/>
                </a:solidFill>
              </a:rPr>
              <a:t>(Topic dans les dataframe).</a:t>
            </a:r>
            <a:endParaRPr i="1"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b="1" lang="fr" sz="1300">
                <a:solidFill>
                  <a:schemeClr val="lt1"/>
                </a:solidFill>
              </a:rPr>
              <a:t>Sélection</a:t>
            </a:r>
            <a:r>
              <a:rPr b="1" lang="fr" sz="1300">
                <a:solidFill>
                  <a:schemeClr val="lt1"/>
                </a:solidFill>
              </a:rPr>
              <a:t> </a:t>
            </a:r>
            <a:r>
              <a:rPr lang="fr" sz="1300">
                <a:solidFill>
                  <a:schemeClr val="lt1"/>
                </a:solidFill>
              </a:rPr>
              <a:t>et tri des </a:t>
            </a:r>
            <a:r>
              <a:rPr b="1" lang="fr" sz="1300">
                <a:solidFill>
                  <a:schemeClr val="lt1"/>
                </a:solidFill>
              </a:rPr>
              <a:t>métiers </a:t>
            </a:r>
            <a:r>
              <a:rPr lang="fr" sz="1300">
                <a:solidFill>
                  <a:schemeClr val="lt1"/>
                </a:solidFill>
              </a:rPr>
              <a:t>touchant à </a:t>
            </a:r>
            <a:r>
              <a:rPr b="1" lang="fr" sz="1300">
                <a:solidFill>
                  <a:schemeClr val="lt1"/>
                </a:solidFill>
              </a:rPr>
              <a:t>l’éducation</a:t>
            </a:r>
            <a:r>
              <a:rPr lang="fr" sz="1300">
                <a:solidFill>
                  <a:schemeClr val="lt1"/>
                </a:solidFill>
              </a:rPr>
              <a:t>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b="1" lang="fr" sz="1300">
                <a:solidFill>
                  <a:schemeClr val="lt1"/>
                </a:solidFill>
              </a:rPr>
              <a:t>Nettoyage </a:t>
            </a:r>
            <a:r>
              <a:rPr lang="fr" sz="1300">
                <a:solidFill>
                  <a:schemeClr val="lt1"/>
                </a:solidFill>
              </a:rPr>
              <a:t>des autres dataframe en pour ne </a:t>
            </a:r>
            <a:r>
              <a:rPr lang="fr" sz="1300">
                <a:solidFill>
                  <a:schemeClr val="lt1"/>
                </a:solidFill>
              </a:rPr>
              <a:t>garder</a:t>
            </a:r>
            <a:r>
              <a:rPr lang="fr" sz="1300">
                <a:solidFill>
                  <a:schemeClr val="lt1"/>
                </a:solidFill>
              </a:rPr>
              <a:t> que c</a:t>
            </a:r>
            <a:r>
              <a:rPr b="1" lang="fr" sz="1300">
                <a:solidFill>
                  <a:schemeClr val="lt1"/>
                </a:solidFill>
              </a:rPr>
              <a:t>eux ayant un lien avec les métier</a:t>
            </a:r>
            <a:r>
              <a:rPr lang="fr" sz="1300">
                <a:solidFill>
                  <a:schemeClr val="lt1"/>
                </a:solidFill>
              </a:rPr>
              <a:t> </a:t>
            </a:r>
            <a:r>
              <a:rPr lang="fr" sz="1300">
                <a:solidFill>
                  <a:schemeClr val="lt1"/>
                </a:solidFill>
              </a:rPr>
              <a:t>sélectionnés</a:t>
            </a:r>
            <a:r>
              <a:rPr lang="fr" sz="1300">
                <a:solidFill>
                  <a:schemeClr val="lt1"/>
                </a:solidFill>
              </a:rPr>
              <a:t>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b="1" lang="fr" sz="1300">
                <a:solidFill>
                  <a:schemeClr val="lt1"/>
                </a:solidFill>
              </a:rPr>
              <a:t>Suppression</a:t>
            </a:r>
            <a:r>
              <a:rPr b="1" lang="fr" sz="1300">
                <a:solidFill>
                  <a:schemeClr val="lt1"/>
                </a:solidFill>
              </a:rPr>
              <a:t> </a:t>
            </a:r>
            <a:r>
              <a:rPr lang="fr" sz="1300">
                <a:solidFill>
                  <a:schemeClr val="lt1"/>
                </a:solidFill>
              </a:rPr>
              <a:t>des colonnes de </a:t>
            </a:r>
            <a:r>
              <a:rPr b="1" lang="fr" sz="1300">
                <a:solidFill>
                  <a:schemeClr val="lt1"/>
                </a:solidFill>
              </a:rPr>
              <a:t>date futur</a:t>
            </a:r>
            <a:r>
              <a:rPr lang="fr" sz="1300">
                <a:solidFill>
                  <a:schemeClr val="lt1"/>
                </a:solidFill>
              </a:rPr>
              <a:t>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Approche data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b="1" lang="fr" sz="1300">
                <a:solidFill>
                  <a:schemeClr val="lt1"/>
                </a:solidFill>
              </a:rPr>
              <a:t>Recherche </a:t>
            </a:r>
            <a:r>
              <a:rPr lang="fr" sz="1300">
                <a:solidFill>
                  <a:schemeClr val="lt1"/>
                </a:solidFill>
              </a:rPr>
              <a:t>et sélection des</a:t>
            </a:r>
            <a:r>
              <a:rPr b="1" lang="fr" sz="1300">
                <a:solidFill>
                  <a:schemeClr val="lt1"/>
                </a:solidFill>
              </a:rPr>
              <a:t> indicateurs </a:t>
            </a:r>
            <a:r>
              <a:rPr b="1" lang="fr" sz="1300">
                <a:solidFill>
                  <a:schemeClr val="lt1"/>
                </a:solidFill>
              </a:rPr>
              <a:t>renseigné</a:t>
            </a:r>
            <a:r>
              <a:rPr lang="fr" sz="1300">
                <a:solidFill>
                  <a:schemeClr val="lt1"/>
                </a:solidFill>
              </a:rPr>
              <a:t> </a:t>
            </a:r>
            <a:r>
              <a:rPr i="1" lang="fr" sz="1300">
                <a:solidFill>
                  <a:schemeClr val="lt1"/>
                </a:solidFill>
              </a:rPr>
              <a:t>(date ayant des valeur exploitable)</a:t>
            </a:r>
            <a:r>
              <a:rPr lang="fr" sz="1300">
                <a:solidFill>
                  <a:schemeClr val="lt1"/>
                </a:solidFill>
              </a:rPr>
              <a:t>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b="1" lang="fr" sz="1300">
                <a:solidFill>
                  <a:schemeClr val="lt1"/>
                </a:solidFill>
              </a:rPr>
              <a:t>Lien </a:t>
            </a:r>
            <a:r>
              <a:rPr lang="fr" sz="1300">
                <a:solidFill>
                  <a:schemeClr val="lt1"/>
                </a:solidFill>
              </a:rPr>
              <a:t>entre </a:t>
            </a:r>
            <a:r>
              <a:rPr b="1" lang="fr" sz="1300">
                <a:solidFill>
                  <a:schemeClr val="lt1"/>
                </a:solidFill>
              </a:rPr>
              <a:t>indicateurs </a:t>
            </a:r>
            <a:r>
              <a:rPr b="1" lang="fr" sz="1300">
                <a:solidFill>
                  <a:schemeClr val="lt1"/>
                </a:solidFill>
              </a:rPr>
              <a:t>renseignés</a:t>
            </a:r>
            <a:r>
              <a:rPr lang="fr" sz="1300">
                <a:solidFill>
                  <a:schemeClr val="lt1"/>
                </a:solidFill>
              </a:rPr>
              <a:t> et les </a:t>
            </a:r>
            <a:r>
              <a:rPr b="1" lang="fr" sz="1300">
                <a:solidFill>
                  <a:schemeClr val="lt1"/>
                </a:solidFill>
              </a:rPr>
              <a:t>métier </a:t>
            </a:r>
            <a:r>
              <a:rPr lang="fr" sz="1300">
                <a:solidFill>
                  <a:schemeClr val="lt1"/>
                </a:solidFill>
              </a:rPr>
              <a:t>sélectionner pour trouver les </a:t>
            </a:r>
            <a:r>
              <a:rPr b="1" lang="fr" sz="1300">
                <a:solidFill>
                  <a:schemeClr val="lt1"/>
                </a:solidFill>
              </a:rPr>
              <a:t>plus pertinent</a:t>
            </a:r>
            <a:r>
              <a:rPr lang="fr" sz="1300">
                <a:solidFill>
                  <a:schemeClr val="lt1"/>
                </a:solidFill>
              </a:rPr>
              <a:t>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Consolidation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b="1" lang="fr" sz="1300">
                <a:solidFill>
                  <a:schemeClr val="lt1"/>
                </a:solidFill>
              </a:rPr>
              <a:t>Lien </a:t>
            </a:r>
            <a:r>
              <a:rPr lang="fr" sz="1300">
                <a:solidFill>
                  <a:schemeClr val="lt1"/>
                </a:solidFill>
              </a:rPr>
              <a:t>entre les </a:t>
            </a:r>
            <a:r>
              <a:rPr b="1" lang="fr" sz="1300">
                <a:solidFill>
                  <a:schemeClr val="lt1"/>
                </a:solidFill>
              </a:rPr>
              <a:t>métier </a:t>
            </a:r>
            <a:r>
              <a:rPr lang="fr" sz="1300">
                <a:solidFill>
                  <a:schemeClr val="lt1"/>
                </a:solidFill>
              </a:rPr>
              <a:t>et les </a:t>
            </a:r>
            <a:r>
              <a:rPr b="1" lang="fr" sz="1300">
                <a:solidFill>
                  <a:schemeClr val="lt1"/>
                </a:solidFill>
              </a:rPr>
              <a:t>pays </a:t>
            </a:r>
            <a:r>
              <a:rPr lang="fr" sz="1300">
                <a:solidFill>
                  <a:schemeClr val="lt1"/>
                </a:solidFill>
              </a:rPr>
              <a:t>en utilisant les </a:t>
            </a:r>
            <a:r>
              <a:rPr b="1" lang="fr" sz="1300">
                <a:solidFill>
                  <a:schemeClr val="lt1"/>
                </a:solidFill>
              </a:rPr>
              <a:t>indicateurs </a:t>
            </a:r>
            <a:r>
              <a:rPr b="1" lang="fr" sz="1300">
                <a:solidFill>
                  <a:schemeClr val="lt1"/>
                </a:solidFill>
              </a:rPr>
              <a:t>renseignés</a:t>
            </a:r>
            <a:r>
              <a:rPr lang="fr" sz="1300">
                <a:solidFill>
                  <a:schemeClr val="lt1"/>
                </a:solidFill>
              </a:rPr>
              <a:t>.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/>
        </p:nvSpPr>
        <p:spPr>
          <a:xfrm>
            <a:off x="1024772" y="620761"/>
            <a:ext cx="789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rgbClr val="1155CC"/>
                </a:solidFill>
              </a:rPr>
              <a:t>Analyse des corrélations</a:t>
            </a:r>
            <a:endParaRPr b="1" i="1" sz="3000">
              <a:solidFill>
                <a:srgbClr val="1155CC"/>
              </a:solidFill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808375" y="2128350"/>
            <a:ext cx="4109100" cy="22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Méthode</a:t>
            </a:r>
            <a:endParaRPr b="1" sz="1600" u="sng">
              <a:solidFill>
                <a:schemeClr val="lt1"/>
              </a:solidFill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Méthode de Pearson utilisé pour calculer les corrélations entres les indicateurs.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Observation </a:t>
            </a:r>
            <a:endParaRPr b="1" sz="1600" u="sng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Plusieur indicateurs fortement corrélés </a:t>
            </a:r>
            <a:r>
              <a:rPr i="1"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i="1"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supérieur</a:t>
            </a:r>
            <a:r>
              <a:rPr i="1"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 0.9 ou inférieur à -0.9)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Ils seront donc supprimés.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9661"/>
            <a:ext cx="4355412" cy="3571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/>
        </p:nvSpPr>
        <p:spPr>
          <a:xfrm>
            <a:off x="1024772" y="620761"/>
            <a:ext cx="789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rgbClr val="1155CC"/>
                </a:solidFill>
              </a:rPr>
              <a:t>Choix des indicateurs</a:t>
            </a:r>
            <a:endParaRPr b="1" i="1" sz="3000">
              <a:solidFill>
                <a:srgbClr val="1155CC"/>
              </a:solidFill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187100" y="2755600"/>
            <a:ext cx="4109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Observation </a:t>
            </a:r>
            <a:endParaRPr b="1" sz="1600" u="sng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Seul les indicateurs les moins redondants sont gardés.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900" y="1419661"/>
            <a:ext cx="4503574" cy="3538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/>
        </p:nvSpPr>
        <p:spPr>
          <a:xfrm>
            <a:off x="1024772" y="620761"/>
            <a:ext cx="789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rgbClr val="1155CC"/>
                </a:solidFill>
              </a:rPr>
              <a:t>Récapitulatif </a:t>
            </a:r>
            <a:r>
              <a:rPr b="1" lang="fr" sz="3000">
                <a:solidFill>
                  <a:srgbClr val="1155CC"/>
                </a:solidFill>
              </a:rPr>
              <a:t>des indicateurs</a:t>
            </a:r>
            <a:endParaRPr b="1" i="1" sz="3000">
              <a:solidFill>
                <a:srgbClr val="1155CC"/>
              </a:solidFill>
            </a:endParaRPr>
          </a:p>
        </p:txBody>
      </p:sp>
      <p:graphicFrame>
        <p:nvGraphicFramePr>
          <p:cNvPr id="191" name="Google Shape;191;p22"/>
          <p:cNvGraphicFramePr/>
          <p:nvPr/>
        </p:nvGraphicFramePr>
        <p:xfrm>
          <a:off x="154475" y="203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{46E1272C-7650-4C6E-9EE2-B4D7A235CCDB}</a:tableStyleId>
              </a:tblPr>
              <a:tblGrid>
                <a:gridCol w="2245025"/>
                <a:gridCol w="2883725"/>
                <a:gridCol w="1511825"/>
                <a:gridCol w="949350"/>
                <a:gridCol w="1173075"/>
              </a:tblGrid>
              <a:tr h="53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Indicateur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Description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Couverture (nombre de pays)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Moyenne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/>
                        <a:t>Écart-type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7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Student Assessment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Qualité et usage des évaluations des élèves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37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2.29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0.4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Workforce Development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Politiques et systèmes de compétences (TVET)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27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2.15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0.74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School Autonomy and Accountability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Autonomie et responsabilité des écoles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16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2.4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0.54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Education Management Information Systems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Capacité EMIS à gérer et utiliser les données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10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2.23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0.7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/>
        </p:nvSpPr>
        <p:spPr>
          <a:xfrm>
            <a:off x="4808375" y="2617575"/>
            <a:ext cx="41091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Observation</a:t>
            </a:r>
            <a:endParaRPr b="1" sz="1600" u="sng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distribution des indicateurs montre lesquels sont les plus intéressants </a:t>
            </a:r>
            <a:r>
              <a:rPr i="1"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(ici les indicateurs Student Assessment et Workforce Développement sont les plus représentés)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1024772" y="620761"/>
            <a:ext cx="789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rgbClr val="1155CC"/>
                </a:solidFill>
              </a:rPr>
              <a:t>Études statistiques des indicateurs</a:t>
            </a:r>
            <a:endParaRPr b="1" i="1" sz="3000">
              <a:solidFill>
                <a:srgbClr val="1155CC"/>
              </a:solidFill>
            </a:endParaRPr>
          </a:p>
        </p:txBody>
      </p:sp>
      <p:pic>
        <p:nvPicPr>
          <p:cNvPr id="198" name="Google Shape;19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00" y="1959500"/>
            <a:ext cx="4557550" cy="25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/>
        </p:nvSpPr>
        <p:spPr>
          <a:xfrm>
            <a:off x="630525" y="1448450"/>
            <a:ext cx="78927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Analyse exploratoir 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nsemble, ces indicateurs capturent quatre dimensions complémentaires de la performance des systèmes éducatifs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Student Assessment est le plus représentatif </a:t>
            </a:r>
            <a:r>
              <a:rPr i="1"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(meilleure couverture, variabilité modérée)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Workforce Development discrimine le plus </a:t>
            </a:r>
            <a:r>
              <a:rPr i="1"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(forte dispersion)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School Autonomy and Accountability et Education Management Information Systems restent informatifs mais avec couverture plus faible </a:t>
            </a:r>
            <a:r>
              <a:rPr i="1"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(à interpréter avec prudence pour des comparaisons globales)</a:t>
            </a: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>
                <a:solidFill>
                  <a:schemeClr val="lt1"/>
                </a:solidFill>
              </a:rPr>
              <a:t>Pays </a:t>
            </a:r>
            <a:r>
              <a:rPr b="1" lang="fr" sz="1600" u="sng">
                <a:solidFill>
                  <a:schemeClr val="lt1"/>
                </a:solidFill>
              </a:rPr>
              <a:t>sélectionnés</a:t>
            </a:r>
            <a:r>
              <a:rPr b="1" lang="fr" sz="1600" u="sng">
                <a:solidFill>
                  <a:schemeClr val="lt1"/>
                </a:solidFill>
              </a:rPr>
              <a:t> pour une expansion à l’internationale 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Bahreïn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Finlande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États-Unis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Singapour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Pays-Bas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1024772" y="620761"/>
            <a:ext cx="789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rgbClr val="1155CC"/>
                </a:solidFill>
              </a:rPr>
              <a:t>Conclusion </a:t>
            </a:r>
            <a:endParaRPr b="1" i="1" sz="30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