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7049" autoAdjust="0"/>
  </p:normalViewPr>
  <p:slideViewPr>
    <p:cSldViewPr snapToGrid="0">
      <p:cViewPr varScale="1">
        <p:scale>
          <a:sx n="154" d="100"/>
          <a:sy n="154" d="100"/>
        </p:scale>
        <p:origin x="50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B76E8-7572-4EB5-8BC1-D8F277DA4831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5AD06-CE33-4E6E-97A2-90C845482E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813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 sportive (5 % salaire brut)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venir au bureau à pied/vélo/trottinette ET habiter à moins de 15 km (marche/running) ou 25 km (vélo/trottinette). Distance calculée par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jours bien-être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avoir fait au moins 15 activités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dans l'année, peu importe le sport.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salariés inactifs (démissions, etc.) sont exclus des deux calculs.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461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Orange 	&gt; Sources 	           &gt; Données d'entrée (XLSX, API)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Bleu foncé	&gt; ETL, PostgreSQL      &gt; Traitement et stockage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Bleu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           &gt; Orchestration (le "chef d'orchestre")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Vert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Power BI          &gt; Valorisation des données (transformations + restitution)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🟣 Violet 	&gt; Slack 	           &gt; Communication / notifications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Rouge 	&gt;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          &gt; Gestion des erreurs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10 tables + 1 vue — Architecture </a:t>
            </a:r>
            <a:r>
              <a:rPr lang="fr-FR" dirty="0" err="1"/>
              <a:t>Medallion</a:t>
            </a:r>
            <a:r>
              <a:rPr lang="fr-FR" dirty="0"/>
              <a:t> adaptée au RGPD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XLSX = couche </a:t>
            </a:r>
            <a:r>
              <a:rPr lang="fr-FR" dirty="0" err="1"/>
              <a:t>raw</a:t>
            </a:r>
            <a:r>
              <a:rPr lang="fr-FR" dirty="0"/>
              <a:t> logique (sur disque, jamais copiés en base) — seules les données </a:t>
            </a:r>
            <a:r>
              <a:rPr lang="fr-FR" dirty="0" err="1"/>
              <a:t>Strava</a:t>
            </a:r>
            <a:r>
              <a:rPr lang="fr-FR" dirty="0"/>
              <a:t> passent par </a:t>
            </a:r>
            <a:r>
              <a:rPr lang="fr-FR" dirty="0" err="1"/>
              <a:t>raw</a:t>
            </a:r>
            <a:r>
              <a:rPr lang="fr-FR" dirty="0"/>
              <a:t> en base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</a:t>
            </a:r>
            <a:r>
              <a:rPr lang="fr-FR" dirty="0" err="1"/>
              <a:t>staging</a:t>
            </a:r>
            <a:r>
              <a:rPr lang="fr-FR" dirty="0"/>
              <a:t> = 1er niveau DB : anonymisé, nettoyé, incrémental (UPSERT + soft-</a:t>
            </a:r>
            <a:r>
              <a:rPr lang="fr-FR" dirty="0" err="1"/>
              <a:t>delete</a:t>
            </a:r>
            <a:r>
              <a:rPr lang="fr-FR" dirty="0"/>
              <a:t>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dirty="0"/>
              <a:t>• gold = métriques métier calculées par </a:t>
            </a:r>
            <a:r>
              <a:rPr lang="fr-FR" dirty="0" err="1"/>
              <a:t>dbt</a:t>
            </a:r>
            <a:r>
              <a:rPr lang="fr-FR" dirty="0"/>
              <a:t> (éligibilités, impact financier)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 de données en 3 couches progressives, inspirée des médailles olympiques 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Bronze (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brutes, ingérées telles quelles depuis les sources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Silver (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nettoyées, dédupliquées, anonymisées, conformes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données agrégées et enrichies, prêtes à être consommées par les outils métier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rapports)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couche améliore la qualité et la fiabilité des données par rapport à la précédente.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792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2213-C6B1-9C1D-C593-795D87AD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6D3D2C-5926-0276-5EE1-9390BDB2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6184A3-4642-B47C-4F0F-FF3D28175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Principe :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minimisation des données (Art. 5.1.c) +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design (Art. 25)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>
              <a:spcAft>
                <a:spcPts val="60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lang="fr-FR" sz="1200" dirty="0"/>
              <a:t>Principe du moindre privilège : seul </a:t>
            </a:r>
            <a:r>
              <a:rPr lang="fr-FR" sz="1200" dirty="0" err="1"/>
              <a:t>role_rh_admin</a:t>
            </a:r>
            <a:r>
              <a:rPr lang="fr-FR" sz="1200" dirty="0"/>
              <a:t> accède aux données nominatives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Power BI ne voit que gold.* → aucune donnée personnelle dans les </a:t>
            </a:r>
            <a:r>
              <a:rPr lang="fr-FR" sz="1100" dirty="0" err="1"/>
              <a:t>dashboards</a:t>
            </a:r>
            <a:r>
              <a:rPr lang="fr-FR" sz="1100" dirty="0"/>
              <a:t> publics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Les notifications Slack utilisent </a:t>
            </a:r>
            <a:r>
              <a:rPr lang="fr-FR" sz="1100" dirty="0" err="1"/>
              <a:t>rh_prive.identites</a:t>
            </a:r>
            <a:r>
              <a:rPr lang="fr-FR" sz="1100" dirty="0"/>
              <a:t> via </a:t>
            </a:r>
            <a:r>
              <a:rPr lang="fr-FR" sz="1100" dirty="0" err="1"/>
              <a:t>role_rh_admin</a:t>
            </a:r>
            <a:endParaRPr lang="fr-FR" sz="1100" dirty="0"/>
          </a:p>
          <a:p>
            <a:pPr algn="l">
              <a:spcAft>
                <a:spcPts val="600"/>
              </a:spcAft>
              <a:defRPr sz="1200" b="0">
                <a:solidFill>
                  <a:srgbClr val="85929E"/>
                </a:solidFill>
                <a:latin typeface="Calibri"/>
              </a:defRPr>
            </a:pPr>
            <a:r>
              <a:rPr lang="fr-FR" sz="1100" dirty="0"/>
              <a:t>• Soft-</a:t>
            </a:r>
            <a:r>
              <a:rPr lang="fr-FR" sz="1100" dirty="0" err="1"/>
              <a:t>delete</a:t>
            </a:r>
            <a:r>
              <a:rPr lang="fr-FR" sz="1100" dirty="0"/>
              <a:t> (actif=FALSE) : suppression RGPD des identités des employés retirés du fichier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A3F9DF-2F7D-E128-FB05-44C6FFCAE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48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0787-9052-DE63-4E12-A65CDF89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F9D603-BCD9-D973-5335-07ABA6D94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C98911-9314-9714-5A69-F8C5C2D29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rPr lang="fr-FR" dirty="0"/>
              <a:t>Points clés du pipeline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UPSERT + soft-</a:t>
            </a:r>
            <a:r>
              <a:rPr lang="fr-FR" dirty="0" err="1"/>
              <a:t>delete</a:t>
            </a:r>
            <a:r>
              <a:rPr lang="fr-FR" dirty="0"/>
              <a:t> (actif = FALSE) : idempotence, gestion des départs sans perte d'historique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Hash SHA-256 des fichiers sources : détection intelligente des changements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</a:t>
            </a:r>
            <a:r>
              <a:rPr lang="fr-FR" dirty="0" err="1"/>
              <a:t>Watermark</a:t>
            </a:r>
            <a:r>
              <a:rPr lang="fr-FR" dirty="0"/>
              <a:t> </a:t>
            </a:r>
            <a:r>
              <a:rPr lang="fr-FR" dirty="0" err="1"/>
              <a:t>Strava</a:t>
            </a:r>
            <a:r>
              <a:rPr lang="fr-FR" dirty="0"/>
              <a:t> (</a:t>
            </a:r>
            <a:r>
              <a:rPr lang="fr-FR" dirty="0" err="1"/>
              <a:t>inserted_at</a:t>
            </a:r>
            <a:r>
              <a:rPr lang="fr-FR" dirty="0"/>
              <a:t>) : traitement incrémental des nouvelles activités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fr-FR" dirty="0"/>
              <a:t>• Cache distances en base (</a:t>
            </a:r>
            <a:r>
              <a:rPr lang="fr-FR" dirty="0" err="1"/>
              <a:t>staging.cache_distances</a:t>
            </a:r>
            <a:r>
              <a:rPr lang="fr-FR" dirty="0"/>
              <a:t>) : évite les appels API redondants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FB209-1617-B8A7-B6BA-71530C907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293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80FD-7930-A70F-C954-74749F30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EDB5CD-A111-BD6F-F1F0-65EFDB67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4ADABB-9986-FD5C-A5C2-142B2AAE9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vraie question serait plutôt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pas tout en Python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parce que les transformations SQL dans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sont plus lisibles, testables et maintenables que des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pandas pour de la logique métier complexe (croisements de tables,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aggrégations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département)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intégrés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37 tests SQL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not_null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unique,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accepted_values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sans écrire de code de test supplémentaire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 automatique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produit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et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catalog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servis par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le port 4080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Idempotence garantie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un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 peut être relancé N fois sans effet de bord (contrairement aux INSERT/TRUNCATE manuels)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Séparation des responsabilités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Python gère l'ingestion et les appels API (Google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gère uniquement les transformations SQL pures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gold), ce qui est la bonne séparation selon les bonnes pratiques ELT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les modèles SQL sont dans Git, l'historique des changements est traçable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vraie question serait plutôt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pas tout en Python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parce que les transformations SQL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315D5D-B0F5-A1B1-CDF2-4DD62A147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29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17E02-7BAC-D8FC-F334-295274BF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5103EF-EF8A-B1A3-DB95-B61296A0B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3BCE2D-5F79-299E-4244-CDFEA0A49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🔵Bleu 	Déclencheur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06h00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🔵Bleu foncé	Détection		check_changes.py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🟠Orange	Ingestion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reload_rh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reload_sport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recalculate_distances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🟢Vert	Transformations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🟣Violet	Notifications		Slack activités, Slack compte-rendu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⬛Gris	Suivi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pipeline_runs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🔴Rouge	Erreur		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flow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Kestra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sport_data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sport_data_pipeline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s'exécute chaque jour à 06h00 :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check_changes.py compare les hash SHA-256 des XLSX et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savoir si quelque chose a changé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 conditionnelle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Si changement détecté :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reload_rh.py → UPSERT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soft-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départs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reload_sport.py → UPSERT pratiques + suppression des absents</a:t>
            </a:r>
          </a:p>
          <a:p>
            <a:pPr lvl="1"/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recalculate_distances.py →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→ cache en base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Transformations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 (4 modèles) →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 (37 tests) →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 Slack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1 message personnalisé par nouvelle activité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Strava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Finalisation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Mise à jour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watermark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INSERT dans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meta.pipeline_runs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 compte-rendu Slack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En cas d'échec à n'importe quelle étape : log en base (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notification Slack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39F1F8-F3D4-8E80-EF96-1D06F1589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29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2F95-699F-33A5-411E-A86D702C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03708B-4FB7-930C-5942-FCF227286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ECE06A-CF5E-F90A-F9FC-A9B00DF7E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Haversine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formule qui calcule la distance à vol d'oiseau entre deux points GPS, en tenant compte de la courbure terrestre. Dans le projet, c'est le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 Google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échoue. Elle sous-estime la distance réelle (ligne droite vs route).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507FCC-B63E-FEDA-D37E-9B30FF3C0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021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A9CA-119D-B73C-602E-115B810D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A1D05C1-7401-0BB0-D50B-5E28C4A0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331D20-E8C4-929B-6B2E-0A8AD3891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E6697-67F7-BB48-7591-314CF75F0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431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BD923-6122-2994-304C-69ECEE12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648A9C-EE24-0816-5364-5F8DE3194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3361B9-F082-D177-2ACA-25C1C011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DB3B88-6C84-B9FE-6F00-31A5537C9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833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5AD06-CE33-4E6E-97A2-90C845482EC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4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4DDF3-9573-70C1-C696-E0732D8D5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583E24-19D2-23A2-8D8C-9443977E2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555D1-83B2-EC2F-FFE7-5A4A3C2F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7467E8-9732-5448-3A0C-9214C215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3B33B2-F43D-9507-944F-3893B7D8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97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B2F27-EF22-D245-E74F-6338E7DF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12F5AC-7F15-6EC1-5FC5-AC0083E05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ED3A10-8635-EC6B-FFB8-F15D111B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0F568-16E3-3B76-882E-4485A994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AF419-AA16-57F6-3626-1C2A003C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07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DD073D-EAB1-CD83-D93B-4A80A6C8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59C670-385B-29FE-D49C-81D9C60D6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10B2F9-2EAD-4B67-2884-A895E2FB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433637-A3DC-4F24-8514-20AB5FE2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01CA2-512F-1DE3-17FE-1CDE674D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2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09F5A-5B92-D347-5FB2-C7BCBD36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DBCDA2-FF7E-11FC-904C-F3F523088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3F6C5A-C0CA-4958-79BF-C1971F46A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8B48B0-4C00-1BEB-7D75-B259ABDF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6E7082-848B-FF45-DF89-6E450915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8412ED-B4EA-C6E2-489D-460E58AE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98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F6DBD6-231F-F857-FEBF-547A5058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720419-0A04-A4BF-A634-1A908AD1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8165CE-B119-CA97-5C3F-BB7E68B78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83E675-1ADE-ED8F-D0B6-61ABBD0E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1F74-31C8-E31C-5B9A-E15F53EF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CB1207-9D37-95B3-4F45-B6034BBE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139206-0A0D-629B-731A-28B55E9E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FEFCE0-B390-4C9C-459C-EA8B12A5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97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2C97A-CD40-1807-D36C-284924D6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F2B504A-8A0F-67E2-6669-E7E50615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353A9C-AD4A-09B3-5C41-565FE955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653EDD-8B9A-95AB-32C8-1B4AC470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86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E6D805-D193-5E2A-C5A0-97A291B0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4C24F5-A690-C6BF-9D95-197FAD1B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02161C-8EB9-1295-88A9-C79E4277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52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F8F0E-A6B7-5442-9349-C9019FC0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49235-FA8D-CE50-A5E7-39D8731C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48E2BF-7984-0661-3143-0C4B95EE5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61E31-BA3A-8D92-A681-A1342B7C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03EEAF-E666-A1CC-F1F8-5360C47B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CD0AB6-DFE5-6D44-F1F7-ABD103B1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91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DED18-A124-9CC8-1990-F7CAD620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1302E-3D01-EA75-B0B1-5B24DA14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7A923A-5802-A7F6-4BCA-58C0ADC1F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292DAD-26AC-2C8E-A765-4FEB53FC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6268FB-7402-4B84-25EF-7BEBE6D8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1A219D-0CB1-F314-8DD9-8D1AF0E3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6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AADB0-BC70-75C6-AE0D-09F78CCC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60A100-8A0A-389F-734B-32098CF96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08181-D37E-AF58-5A73-7EB74920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8168E0-BC66-914B-8BCC-6B383F88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E8A85-156C-4E44-57A2-62FD1AE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89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FC4315-22AE-1741-A37E-4602E8CC2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566E16-2A93-3580-13CF-FC843B205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70349-7629-6C40-43F9-A60D7C9F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608BC6-05CE-71BC-5F75-D28E5F80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443AA0-F92A-4C22-BFFA-5FAF44CF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33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4A7217-110D-AE2E-1916-AE24A20D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47FCF3-9061-EE26-1043-52BF971C1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1C41F6-F497-574E-A20F-6AA21FDBC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2C99E-D69C-4ADF-8C8D-41420D3DDB02}" type="datetimeFigureOut">
              <a:rPr lang="fr-FR" smtClean="0"/>
              <a:t>30/03/2026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81D91D-B2A5-9232-8625-5E05C2ECC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46134-1CEC-499D-8FA5-9C12D9074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9E8CC-8B31-49BE-8CE1-B8E2FA67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52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1C39820-70C3-9D66-CDB9-C3D4F4E2A91E}"/>
              </a:ext>
            </a:extLst>
          </p:cNvPr>
          <p:cNvSpPr txBox="1"/>
          <p:nvPr/>
        </p:nvSpPr>
        <p:spPr>
          <a:xfrm>
            <a:off x="4184895" y="1918736"/>
            <a:ext cx="58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noProof="0" dirty="0">
                <a:solidFill>
                  <a:schemeClr val="accent2">
                    <a:lumMod val="50000"/>
                  </a:schemeClr>
                </a:solidFill>
              </a:rPr>
              <a:t>Sport Data Solution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403CA7-32D2-710D-9B47-9808AC78BEFD}"/>
              </a:ext>
            </a:extLst>
          </p:cNvPr>
          <p:cNvSpPr txBox="1"/>
          <p:nvPr/>
        </p:nvSpPr>
        <p:spPr>
          <a:xfrm>
            <a:off x="5317504" y="2842066"/>
            <a:ext cx="362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noProof="0" dirty="0">
                <a:solidFill>
                  <a:schemeClr val="accent2">
                    <a:lumMod val="75000"/>
                  </a:schemeClr>
                </a:solidFill>
              </a:rPr>
              <a:t>POC Avantages Sportifs</a:t>
            </a:r>
          </a:p>
        </p:txBody>
      </p:sp>
    </p:spTree>
    <p:extLst>
      <p:ext uri="{BB962C8B-B14F-4D97-AF65-F5344CB8AC3E}">
        <p14:creationId xmlns:p14="http://schemas.microsoft.com/office/powerpoint/2010/main" val="1808043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BD2C-126F-7F93-9729-AA296986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2362F6-E50C-84CC-C5BD-33486A6ED406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6049D2-8CEF-840C-448D-A5406142B4B8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CONTEXTE ET OBJECTIFS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8AEE6-7399-BA36-39CA-05BAD066E0B7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FB32361-6327-0ADD-3781-0A98FFDC888D}"/>
              </a:ext>
            </a:extLst>
          </p:cNvPr>
          <p:cNvSpPr txBox="1"/>
          <p:nvPr/>
        </p:nvSpPr>
        <p:spPr>
          <a:xfrm>
            <a:off x="367145" y="1025236"/>
            <a:ext cx="11520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L’entreprise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 Data Solution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est une startup de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monitoring sportif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Elle souhaite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récompenser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ses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161 salariés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sportifs via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deux avantages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B8AAB2D-D634-39AD-2B5C-727E192F82BE}"/>
              </a:ext>
            </a:extLst>
          </p:cNvPr>
          <p:cNvSpPr txBox="1"/>
          <p:nvPr/>
        </p:nvSpPr>
        <p:spPr>
          <a:xfrm>
            <a:off x="367145" y="2680302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 mission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Récompenser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salariés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sportifs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avec des avantages concrets :</a:t>
            </a:r>
          </a:p>
          <a:p>
            <a:pPr marL="1282700" lvl="1" indent="-285750">
              <a:buFont typeface="Wingdings" panose="05000000000000000000" pitchFamily="2" charset="2"/>
              <a:buChar char="Ø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Prime sportive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(Trajet domicile–bureau sportif)</a:t>
            </a:r>
            <a:r>
              <a:rPr lang="fr-FR" sz="1200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: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5 % du salaire brut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.</a:t>
            </a:r>
          </a:p>
          <a:p>
            <a:pPr marL="1282700" lvl="1" indent="-285750">
              <a:buFont typeface="Wingdings" panose="05000000000000000000" pitchFamily="2" charset="2"/>
              <a:buChar char="Ø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Journées bien-être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(≥ 15 activités physiques / an)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5 jours / an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DB11E5E-8C10-2C74-9EF0-9180210D25FA}"/>
              </a:ext>
            </a:extLst>
          </p:cNvPr>
          <p:cNvSpPr txBox="1"/>
          <p:nvPr/>
        </p:nvSpPr>
        <p:spPr>
          <a:xfrm>
            <a:off x="367145" y="4596979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Objectifs du POC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la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faisabilité technique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la solution.</a:t>
            </a: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Déterminer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à collecter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825500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impact financier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pour l'entreprise.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C4E38C5-04E9-2C0B-2E16-BBC2ADC9B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561" y="3119925"/>
            <a:ext cx="2930348" cy="2899876"/>
          </a:xfrm>
          <a:prstGeom prst="rect">
            <a:avLst/>
          </a:prstGeom>
          <a:noFill/>
          <a:scene3d>
            <a:camera prst="orthographicFront">
              <a:rot lat="0" lon="10799999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63755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EAC17-12CC-0767-C19A-DEC2270C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06B7EDC-D6F9-BF68-A2EB-D22B2A5A1CB5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0FE429E-05B3-2C16-00DA-0C145BD0072A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DONNÉES SOURCES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4DD69-BB68-4673-F28E-BB8367CAF168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708705A-F7B4-02E1-70E7-21554233DDD7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 sources de données pour le POC :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DB96C-5992-8DFF-1ABC-2BECDFB11AA8}"/>
              </a:ext>
            </a:extLst>
          </p:cNvPr>
          <p:cNvSpPr/>
          <p:nvPr/>
        </p:nvSpPr>
        <p:spPr>
          <a:xfrm>
            <a:off x="51677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DA923-901E-79DC-9691-B4E1D5246270}"/>
              </a:ext>
            </a:extLst>
          </p:cNvPr>
          <p:cNvSpPr/>
          <p:nvPr/>
        </p:nvSpPr>
        <p:spPr>
          <a:xfrm>
            <a:off x="516775" y="2061864"/>
            <a:ext cx="34747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529E806-E22D-A7DC-1858-2222531D442F}"/>
              </a:ext>
            </a:extLst>
          </p:cNvPr>
          <p:cNvSpPr txBox="1"/>
          <p:nvPr/>
        </p:nvSpPr>
        <p:spPr>
          <a:xfrm>
            <a:off x="69965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Données RH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CFEFB82B-1886-8743-D20B-D796BCDF9F5E}"/>
              </a:ext>
            </a:extLst>
          </p:cNvPr>
          <p:cNvSpPr txBox="1"/>
          <p:nvPr/>
        </p:nvSpPr>
        <p:spPr>
          <a:xfrm>
            <a:off x="69965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E86C1"/>
                </a:solidFill>
                <a:latin typeface="Calibri"/>
              </a:defRPr>
            </a:pPr>
            <a:r>
              <a:rPr lang="fr-FR" noProof="0" dirty="0">
                <a:solidFill>
                  <a:srgbClr val="2E86C1"/>
                </a:solidFill>
              </a:rPr>
              <a:t>Données+RH.xlsx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161 salariés — 11 colonnes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ID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rPr lang="fr-FR" noProof="0" dirty="0">
                <a:solidFill>
                  <a:srgbClr val="E74C3C"/>
                </a:solidFill>
              </a:rPr>
              <a:t>• Nom, Prénom, DDN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BU (département)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Date d'embauche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Salaire brut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Type de contrat, CP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Adresse domicile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Moyen de déplacement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rPr lang="fr-FR" noProof="0" dirty="0">
                <a:solidFill>
                  <a:srgbClr val="E74C3C"/>
                </a:solidFill>
              </a:rPr>
              <a:t>⚠ Données personnelles → RGPD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0FE5D-553A-DF31-FB69-3FE125BA6D5F}"/>
              </a:ext>
            </a:extLst>
          </p:cNvPr>
          <p:cNvSpPr/>
          <p:nvPr/>
        </p:nvSpPr>
        <p:spPr>
          <a:xfrm>
            <a:off x="435725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0AADFA-BE6A-6BB2-76D9-FD6659C6F066}"/>
              </a:ext>
            </a:extLst>
          </p:cNvPr>
          <p:cNvSpPr/>
          <p:nvPr/>
        </p:nvSpPr>
        <p:spPr>
          <a:xfrm>
            <a:off x="4357255" y="2061864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C8DB1234-B18F-D37C-C1AA-C87A7FE87EB0}"/>
              </a:ext>
            </a:extLst>
          </p:cNvPr>
          <p:cNvSpPr txBox="1"/>
          <p:nvPr/>
        </p:nvSpPr>
        <p:spPr>
          <a:xfrm>
            <a:off x="454013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>
                <a:solidFill>
                  <a:srgbClr val="FFFFFF"/>
                </a:solidFill>
              </a:rPr>
              <a:t>Données sportives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A643606E-6386-8E5B-E92A-43941671AE35}"/>
              </a:ext>
            </a:extLst>
          </p:cNvPr>
          <p:cNvSpPr txBox="1"/>
          <p:nvPr/>
        </p:nvSpPr>
        <p:spPr>
          <a:xfrm>
            <a:off x="454013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lang="fr-FR" noProof="0" dirty="0">
                <a:solidFill>
                  <a:srgbClr val="27AE60"/>
                </a:solidFill>
              </a:rPr>
              <a:t>Données+Sportive.xlsx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161 lignes — 2 colonnes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ID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Pratique d'un sport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Nettoyage appliqué :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Typo « </a:t>
            </a:r>
            <a:r>
              <a:rPr lang="fr-FR" noProof="0" dirty="0" err="1">
                <a:solidFill>
                  <a:srgbClr val="2C3E50"/>
                </a:solidFill>
              </a:rPr>
              <a:t>Runing</a:t>
            </a:r>
            <a:r>
              <a:rPr lang="fr-FR" noProof="0" dirty="0">
                <a:solidFill>
                  <a:srgbClr val="2C3E50"/>
                </a:solidFill>
              </a:rPr>
              <a:t> » → Running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15 sports distincts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0AFEC-7B39-8FBE-579A-10FFD6755573}"/>
              </a:ext>
            </a:extLst>
          </p:cNvPr>
          <p:cNvSpPr/>
          <p:nvPr/>
        </p:nvSpPr>
        <p:spPr>
          <a:xfrm>
            <a:off x="8197735" y="2061864"/>
            <a:ext cx="3474720" cy="3770900"/>
          </a:xfrm>
          <a:prstGeom prst="rect">
            <a:avLst/>
          </a:prstGeom>
          <a:solidFill>
            <a:srgbClr val="F2F3F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BA1588-0F16-E65D-8E1C-076B4BE2B35F}"/>
              </a:ext>
            </a:extLst>
          </p:cNvPr>
          <p:cNvSpPr/>
          <p:nvPr/>
        </p:nvSpPr>
        <p:spPr>
          <a:xfrm>
            <a:off x="8197735" y="2061864"/>
            <a:ext cx="3474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A87905D1-60E1-9B23-58CD-CF2E101E611B}"/>
              </a:ext>
            </a:extLst>
          </p:cNvPr>
          <p:cNvSpPr txBox="1"/>
          <p:nvPr/>
        </p:nvSpPr>
        <p:spPr>
          <a:xfrm>
            <a:off x="8380615" y="21075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noProof="0" dirty="0" err="1">
                <a:solidFill>
                  <a:srgbClr val="FFFFFF"/>
                </a:solidFill>
              </a:rPr>
              <a:t>Strava</a:t>
            </a:r>
            <a:r>
              <a:rPr lang="fr-FR" noProof="0" dirty="0">
                <a:solidFill>
                  <a:srgbClr val="FFFFFF"/>
                </a:solidFill>
              </a:rPr>
              <a:t> (simulé)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40229A47-BDDF-51CB-7370-9E1C85B27A01}"/>
              </a:ext>
            </a:extLst>
          </p:cNvPr>
          <p:cNvSpPr txBox="1"/>
          <p:nvPr/>
        </p:nvSpPr>
        <p:spPr>
          <a:xfrm>
            <a:off x="8380615" y="2701944"/>
            <a:ext cx="3108960" cy="296456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lang="fr-FR" noProof="0" dirty="0">
                <a:solidFill>
                  <a:srgbClr val="E67E22"/>
                </a:solidFill>
              </a:rPr>
              <a:t>generate_strava.py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2 256 activités — 12 mois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95 salariés sportifs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15 types de sports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5-40 activités / salarié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Seed</a:t>
            </a:r>
            <a:r>
              <a:rPr lang="fr-FR" noProof="0" dirty="0">
                <a:solidFill>
                  <a:srgbClr val="2C3E50"/>
                </a:solidFill>
              </a:rPr>
              <a:t> reproductible (42)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  <a:endParaRPr lang="fr-FR" noProof="0" dirty="0">
              <a:solidFill>
                <a:srgbClr val="2C3E50"/>
              </a:solidFill>
            </a:endParaRPr>
          </a:p>
          <a:p>
            <a:pPr algn="l">
              <a:spcAft>
                <a:spcPts val="60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Colonnes :</a:t>
            </a: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id_salarie</a:t>
            </a:r>
            <a:r>
              <a:rPr lang="fr-FR" noProof="0" dirty="0">
                <a:solidFill>
                  <a:srgbClr val="2C3E50"/>
                </a:solidFill>
              </a:rPr>
              <a:t>, </a:t>
            </a:r>
            <a:r>
              <a:rPr lang="fr-FR" noProof="0" dirty="0" err="1">
                <a:solidFill>
                  <a:srgbClr val="2C3E50"/>
                </a:solidFill>
              </a:rPr>
              <a:t>date_debut</a:t>
            </a:r>
            <a:endParaRPr lang="fr-FR" noProof="0" dirty="0">
              <a:solidFill>
                <a:srgbClr val="2C3E50"/>
              </a:solidFill>
            </a:endParaRP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type_sport</a:t>
            </a:r>
            <a:r>
              <a:rPr lang="fr-FR" noProof="0" dirty="0">
                <a:solidFill>
                  <a:srgbClr val="2C3E50"/>
                </a:solidFill>
              </a:rPr>
              <a:t>, </a:t>
            </a:r>
            <a:r>
              <a:rPr lang="fr-FR" noProof="0" dirty="0" err="1">
                <a:solidFill>
                  <a:srgbClr val="2C3E50"/>
                </a:solidFill>
              </a:rPr>
              <a:t>distance_m</a:t>
            </a:r>
            <a:endParaRPr lang="fr-FR" noProof="0" dirty="0">
              <a:solidFill>
                <a:srgbClr val="2C3E50"/>
              </a:solidFill>
            </a:endParaRPr>
          </a:p>
          <a:p>
            <a:pPr marL="360363" algn="l">
              <a:spcAft>
                <a:spcPts val="60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rPr lang="fr-FR" noProof="0" dirty="0">
                <a:solidFill>
                  <a:srgbClr val="2C3E50"/>
                </a:solidFill>
              </a:rPr>
              <a:t>• </a:t>
            </a:r>
            <a:r>
              <a:rPr lang="fr-FR" noProof="0" dirty="0" err="1">
                <a:solidFill>
                  <a:srgbClr val="2C3E50"/>
                </a:solidFill>
              </a:rPr>
              <a:t>duree_s</a:t>
            </a:r>
            <a:r>
              <a:rPr lang="fr-FR" noProof="0" dirty="0">
                <a:solidFill>
                  <a:srgbClr val="2C3E50"/>
                </a:solidFill>
              </a:rPr>
              <a:t>, commentaire</a:t>
            </a:r>
          </a:p>
        </p:txBody>
      </p:sp>
    </p:spTree>
    <p:extLst>
      <p:ext uri="{BB962C8B-B14F-4D97-AF65-F5344CB8AC3E}">
        <p14:creationId xmlns:p14="http://schemas.microsoft.com/office/powerpoint/2010/main" val="84558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D2B3-EF80-EDCF-FC7B-909B2414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C63F3EF-E13A-9593-153A-0D3796A918ED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CBC937-4B9C-1FD9-D345-15EC16407535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ARCHITECTURE TECHNIQUE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64C18-C629-D029-A662-E375D2774211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838F86-7884-8E80-269E-8757E1A7AB87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Vue d’ensemble du stack :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B4587740-545C-9144-F900-B3662B6F6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699095"/>
              </p:ext>
            </p:extLst>
          </p:nvPr>
        </p:nvGraphicFramePr>
        <p:xfrm>
          <a:off x="8163762" y="4029095"/>
          <a:ext cx="3719594" cy="250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831">
                  <a:extLst>
                    <a:ext uri="{9D8B030D-6E8A-4147-A177-3AD203B41FA5}">
                      <a16:colId xmlns:a16="http://schemas.microsoft.com/office/drawing/2014/main" val="1761449268"/>
                    </a:ext>
                  </a:extLst>
                </a:gridCol>
                <a:gridCol w="2169763">
                  <a:extLst>
                    <a:ext uri="{9D8B030D-6E8A-4147-A177-3AD203B41FA5}">
                      <a16:colId xmlns:a16="http://schemas.microsoft.com/office/drawing/2014/main" val="731161520"/>
                    </a:ext>
                  </a:extLst>
                </a:gridCol>
              </a:tblGrid>
              <a:tr h="1946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Composant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Outil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80691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Base de données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PostgreSQL 16 (Docker)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776750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ETL / Ingestion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Python 3.12 (pandas, psycopg2)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70706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Transformations SQL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dbt-postgres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1.10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81471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Orchestration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Kestra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(UI web,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cron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, logs)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43475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Distances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Google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Maps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API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haversine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667263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pytest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(51)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dbt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tests (37)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322636"/>
                  </a:ext>
                </a:extLst>
              </a:tr>
              <a:tr h="1874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Slack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Webhooks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HTTP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86731"/>
                  </a:ext>
                </a:extLst>
              </a:tr>
              <a:tr h="3072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Visualisation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Power BI (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DirectQuery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940952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08C9C24A-E066-CE47-E105-BD99C7A04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19" y="1486901"/>
            <a:ext cx="80200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D21C-F472-9CD9-14C4-4208AEE5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89232FC-9AFA-7170-6D92-D65B57517282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64DD24-D371-4130-3319-9E025FE1B77B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INFRASTRUCTURE DES DONNÉES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DB117B-4F42-04F6-1847-6050FF51A157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157A0E-25A6-C078-D1E4-316FECF61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813" y="2234293"/>
            <a:ext cx="9370373" cy="33537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A6F65C5-F997-27E1-EFCF-ACE30A4C5979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Architecture de données Médaillon :</a:t>
            </a:r>
          </a:p>
        </p:txBody>
      </p:sp>
    </p:spTree>
    <p:extLst>
      <p:ext uri="{BB962C8B-B14F-4D97-AF65-F5344CB8AC3E}">
        <p14:creationId xmlns:p14="http://schemas.microsoft.com/office/powerpoint/2010/main" val="209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0FD3-A356-046F-C105-B09B48A3A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03DF3F9-E4D6-3103-F5FE-484057A3CFDF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AD7B60-254A-19FF-F30C-72A55E15C5BB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PRIVACY BY DESIGN - RGPD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EB120-BDE0-132C-EC09-24311B87AC77}"/>
              </a:ext>
            </a:extLst>
          </p:cNvPr>
          <p:cNvSpPr/>
          <p:nvPr/>
        </p:nvSpPr>
        <p:spPr>
          <a:xfrm>
            <a:off x="142009" y="869195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406014-FE90-4D11-50D6-3F9CF21225DF}"/>
              </a:ext>
            </a:extLst>
          </p:cNvPr>
          <p:cNvSpPr txBox="1"/>
          <p:nvPr/>
        </p:nvSpPr>
        <p:spPr>
          <a:xfrm>
            <a:off x="367145" y="1025236"/>
            <a:ext cx="11520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Principe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 stocker que le strict nécessaire, et séparer les données personnelles dès l'ingestion pour que seuls les profils autorisés y accèdent.</a:t>
            </a:r>
          </a:p>
        </p:txBody>
      </p: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6703D691-7BE8-3464-A061-9E5DC4F2B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907630"/>
              </p:ext>
            </p:extLst>
          </p:nvPr>
        </p:nvGraphicFramePr>
        <p:xfrm>
          <a:off x="2871589" y="5026428"/>
          <a:ext cx="644882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Rôle PostgreSQL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Accès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Usage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 err="1"/>
                        <a:t>rh_prive</a:t>
                      </a:r>
                      <a:endParaRPr lang="fr-FR" noProof="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role_pipeline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raw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+ gold (R/W)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Pipeline ETL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role_analytics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 (lecture seule)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Power BI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FF0000"/>
                          </a:solidFill>
                        </a:rPr>
                        <a:t>Non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role_rh_admin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hérite pipeline +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rh_prive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Slack nominatif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b="1" noProof="0" dirty="0">
                          <a:solidFill>
                            <a:srgbClr val="00B050"/>
                          </a:solidFill>
                        </a:rPr>
                        <a:t>Oui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F247917B-2726-737B-005F-0CAE440FE08E}"/>
              </a:ext>
            </a:extLst>
          </p:cNvPr>
          <p:cNvSpPr txBox="1"/>
          <p:nvPr/>
        </p:nvSpPr>
        <p:spPr>
          <a:xfrm>
            <a:off x="367145" y="4431674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Principe du moindre privilège 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2782960-9BC5-9229-EC02-BAB0F9CFC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37" y="2305050"/>
            <a:ext cx="80105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792D-371C-5F97-9524-5FA9FFFF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36B8DAE-4F61-BBC2-DBD6-B4E3E561E785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5C406BD-82DB-18AA-6337-C4BC89C37FCF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PIPELINE ELT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A4041-93E2-F154-9CE2-BE30D4E5B3CE}"/>
              </a:ext>
            </a:extLst>
          </p:cNvPr>
          <p:cNvSpPr/>
          <p:nvPr/>
        </p:nvSpPr>
        <p:spPr>
          <a:xfrm>
            <a:off x="142009" y="869196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0A0223-56EB-1F8B-BC76-DE3DC1904E18}"/>
              </a:ext>
            </a:extLst>
          </p:cNvPr>
          <p:cNvSpPr txBox="1"/>
          <p:nvPr/>
        </p:nvSpPr>
        <p:spPr>
          <a:xfrm>
            <a:off x="367145" y="1025236"/>
            <a:ext cx="1152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6 étapes Python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E37EDA-CD95-D60B-CC40-C073212A327C}"/>
              </a:ext>
            </a:extLst>
          </p:cNvPr>
          <p:cNvSpPr/>
          <p:nvPr/>
        </p:nvSpPr>
        <p:spPr>
          <a:xfrm>
            <a:off x="678873" y="1698006"/>
            <a:ext cx="2180564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init_db.py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FB370-1580-4501-CA2C-88D81328496D}"/>
              </a:ext>
            </a:extLst>
          </p:cNvPr>
          <p:cNvSpPr/>
          <p:nvPr/>
        </p:nvSpPr>
        <p:spPr>
          <a:xfrm>
            <a:off x="678873" y="2436752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load_rh.py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10425-6AFF-5853-F46B-CD57092D09E2}"/>
              </a:ext>
            </a:extLst>
          </p:cNvPr>
          <p:cNvSpPr/>
          <p:nvPr/>
        </p:nvSpPr>
        <p:spPr>
          <a:xfrm>
            <a:off x="678873" y="3175498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load_sport.py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54AE36-6810-117E-3075-FCD1A4AB8FEF}"/>
              </a:ext>
            </a:extLst>
          </p:cNvPr>
          <p:cNvSpPr/>
          <p:nvPr/>
        </p:nvSpPr>
        <p:spPr>
          <a:xfrm>
            <a:off x="678873" y="3914244"/>
            <a:ext cx="2180564" cy="46166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generate_strava.py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7C162-618B-FA77-9D77-36DD30252BD8}"/>
              </a:ext>
            </a:extLst>
          </p:cNvPr>
          <p:cNvSpPr/>
          <p:nvPr/>
        </p:nvSpPr>
        <p:spPr>
          <a:xfrm>
            <a:off x="678873" y="4652990"/>
            <a:ext cx="2180564" cy="461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staging.py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D596D-DB2F-B856-94EC-C97858636864}"/>
              </a:ext>
            </a:extLst>
          </p:cNvPr>
          <p:cNvSpPr/>
          <p:nvPr/>
        </p:nvSpPr>
        <p:spPr>
          <a:xfrm>
            <a:off x="678873" y="5391736"/>
            <a:ext cx="2180564" cy="4616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 dirty="0"/>
              <a:t>gold.py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C9E06A6-A022-12BE-CB01-8732D9612F6F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769155" y="2159671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586BD91-1B49-308E-539D-2BD477DE42D9}"/>
              </a:ext>
            </a:extLst>
          </p:cNvPr>
          <p:cNvCxnSpPr/>
          <p:nvPr/>
        </p:nvCxnSpPr>
        <p:spPr>
          <a:xfrm>
            <a:off x="1769155" y="2898417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DAF8AD3-3F8E-DC98-879A-87BD33E17758}"/>
              </a:ext>
            </a:extLst>
          </p:cNvPr>
          <p:cNvCxnSpPr/>
          <p:nvPr/>
        </p:nvCxnSpPr>
        <p:spPr>
          <a:xfrm>
            <a:off x="1769155" y="3637163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6BE0245-6737-98A1-1D54-32E5340E78E4}"/>
              </a:ext>
            </a:extLst>
          </p:cNvPr>
          <p:cNvCxnSpPr/>
          <p:nvPr/>
        </p:nvCxnSpPr>
        <p:spPr>
          <a:xfrm>
            <a:off x="1769155" y="4375909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E324401-91A4-0EBA-6955-B0C504CA0BEA}"/>
              </a:ext>
            </a:extLst>
          </p:cNvPr>
          <p:cNvCxnSpPr/>
          <p:nvPr/>
        </p:nvCxnSpPr>
        <p:spPr>
          <a:xfrm>
            <a:off x="1769155" y="5114655"/>
            <a:ext cx="0" cy="2770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521917C5-F0EA-6C8F-51AD-A1412ABC1B6B}"/>
              </a:ext>
            </a:extLst>
          </p:cNvPr>
          <p:cNvSpPr txBox="1"/>
          <p:nvPr/>
        </p:nvSpPr>
        <p:spPr>
          <a:xfrm>
            <a:off x="2998922" y="1744172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Crée les schémas, tables et rôles PostgreSQL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69D454B-596D-79C9-C065-4876D4B1E4B3}"/>
              </a:ext>
            </a:extLst>
          </p:cNvPr>
          <p:cNvSpPr txBox="1"/>
          <p:nvPr/>
        </p:nvSpPr>
        <p:spPr>
          <a:xfrm>
            <a:off x="2998922" y="2482918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Ingère le XLSX RH, anonymise et sépare les identités RGPD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C937D3-679B-34B3-8B1E-15C1BAC79823}"/>
              </a:ext>
            </a:extLst>
          </p:cNvPr>
          <p:cNvSpPr txBox="1"/>
          <p:nvPr/>
        </p:nvSpPr>
        <p:spPr>
          <a:xfrm>
            <a:off x="2998922" y="3221664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Ingère le XLSX Sportif, nettoyé et typos corrigés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03D611-B5F4-33DD-7291-5C5333774226}"/>
              </a:ext>
            </a:extLst>
          </p:cNvPr>
          <p:cNvSpPr txBox="1"/>
          <p:nvPr/>
        </p:nvSpPr>
        <p:spPr>
          <a:xfrm>
            <a:off x="2998922" y="3960410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Simule 2 256 activités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(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seed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=42)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3207B16-EF1A-9536-892A-5967597BD334}"/>
              </a:ext>
            </a:extLst>
          </p:cNvPr>
          <p:cNvSpPr txBox="1"/>
          <p:nvPr/>
        </p:nvSpPr>
        <p:spPr>
          <a:xfrm>
            <a:off x="2998922" y="4699156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Nettoie et valide les données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raw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→ </a:t>
            </a:r>
            <a:r>
              <a:rPr lang="fr-FR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staging</a:t>
            </a:r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D6E367B-58CC-470D-0750-B2264F85FC59}"/>
              </a:ext>
            </a:extLst>
          </p:cNvPr>
          <p:cNvSpPr txBox="1"/>
          <p:nvPr/>
        </p:nvSpPr>
        <p:spPr>
          <a:xfrm>
            <a:off x="2998922" y="5437902"/>
            <a:ext cx="607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 distances, éligibilités et impact financier</a:t>
            </a:r>
          </a:p>
        </p:txBody>
      </p:sp>
    </p:spTree>
    <p:extLst>
      <p:ext uri="{BB962C8B-B14F-4D97-AF65-F5344CB8AC3E}">
        <p14:creationId xmlns:p14="http://schemas.microsoft.com/office/powerpoint/2010/main" val="350111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AC95-1470-C439-B1A8-D8B0D228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0693805-29AC-B8CE-12AB-7DB37572D817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997FC9-2C03-CFFB-4F08-67E43AC1482E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TRANSFORMATION DBT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4ADB177-A2F0-1B90-46A5-FCC8235C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129" y="1251956"/>
            <a:ext cx="5053739" cy="5053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DF7700-52FD-001A-65B2-2F01D247EDF5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F1366F-0DBE-29B0-E9F8-19B3AE4CD41C}"/>
              </a:ext>
            </a:extLst>
          </p:cNvPr>
          <p:cNvSpPr txBox="1"/>
          <p:nvPr/>
        </p:nvSpPr>
        <p:spPr>
          <a:xfrm>
            <a:off x="367145" y="1025236"/>
            <a:ext cx="1152005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Qu’es ce que DBT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(Data 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Build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Tool)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est un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framework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open-source qui permet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d'écrire des transformations de données en SQL 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pur,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organisées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modèles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avec 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dépendances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(DAG)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Chaque modèle est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accompagné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tests automatiques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(unicité, non-</a:t>
            </a:r>
            <a:r>
              <a:rPr lang="fr-FR" sz="1200" i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null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valeurs acceptées)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d'une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documentation auto-générée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DBT exécute les transformations directement dans la base de données </a:t>
            </a:r>
            <a:r>
              <a:rPr lang="fr-FR" sz="1200" i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(approche ELT)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sans déplacer les données.</a:t>
            </a:r>
          </a:p>
          <a:p>
            <a:endParaRPr lang="fr-FR" noProof="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Dans notre cas : 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820738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4 modèles SQL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staging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gold) </a:t>
            </a:r>
            <a:endParaRPr lang="fr-FR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0738" indent="-285750">
              <a:buFontTx/>
              <a:buChar char="-"/>
            </a:pPr>
            <a:endParaRPr lang="fr-FR" sz="2400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400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37 tests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endParaRPr lang="fr-FR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not_null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sur toutes les clés et colonnes critiques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unique sur les clés primaires (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id_salarie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accepted_values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sur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type_sport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(15 sports)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Documentation auto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(Mise à jour auto à chaque exécution du flow)</a:t>
            </a:r>
          </a:p>
          <a:p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fr-FR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</a:p>
          <a:p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1A09E55-7383-0249-5A99-E27A7A1AD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09393"/>
              </p:ext>
            </p:extLst>
          </p:nvPr>
        </p:nvGraphicFramePr>
        <p:xfrm>
          <a:off x="2023820" y="3648034"/>
          <a:ext cx="81443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Modèle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Schéma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Description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fr-FR" noProof="0" dirty="0"/>
                        <a:t>Filtres appliqués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stg_activites_strava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Nettoyage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raw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→ 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staging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distance&gt;0, durée&gt;0, date ≤395j, sport valide, actif=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true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eligibilite_prime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Prime 5 % salaire brut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employes</a:t>
                      </a: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× distances × seuils, actif=</a:t>
                      </a: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true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eligibilite_bien_etre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5 jours si ≥15 activités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COUNT activités par salarié actif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impact_financier</a:t>
                      </a:r>
                      <a:endParaRPr lang="fr-FR" noProof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gold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Agrégation par département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lang="fr-FR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FULL OUTER JOIN primes × bien-être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733ACC76-B0C7-01B3-4E6A-00B9ED387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4045" y="81072"/>
            <a:ext cx="495946" cy="49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0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97DC-54B5-BF89-F627-A0AF0CB3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17D0E6-6A35-F734-B89F-74312DDB8316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ORCHESTRATION KESTRA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9E65270-6F29-587B-84D1-B934B1183AE0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8</a:t>
            </a:r>
          </a:p>
        </p:txBody>
      </p:sp>
      <p:pic>
        <p:nvPicPr>
          <p:cNvPr id="21" name="Picture 2" descr="Kestra, Open Source Declarative Data Orchestration">
            <a:extLst>
              <a:ext uri="{FF2B5EF4-FFF2-40B4-BE49-F238E27FC236}">
                <a16:creationId xmlns:a16="http://schemas.microsoft.com/office/drawing/2014/main" id="{AF41B43D-A062-9074-FE06-846056F53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220" y="1428297"/>
            <a:ext cx="4719560" cy="470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5BD83A-2E61-6AE4-8EAD-BC417008EB29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363ED42-C527-9CF9-C9C5-0EA97EE6BBCB}"/>
              </a:ext>
            </a:extLst>
          </p:cNvPr>
          <p:cNvSpPr txBox="1"/>
          <p:nvPr/>
        </p:nvSpPr>
        <p:spPr>
          <a:xfrm>
            <a:off x="367146" y="1025236"/>
            <a:ext cx="4902278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Qu’es ce que </a:t>
            </a:r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Kestra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C’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est un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orchestrateur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open-source qui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planifie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enchaîne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surveille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l'exécution de tâches via une interface web, avec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gestion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des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erreurs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logs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déclenchement par </a:t>
            </a:r>
            <a:r>
              <a:rPr lang="fr-FR" b="1" noProof="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cron</a:t>
            </a:r>
            <a:r>
              <a:rPr lang="fr-FR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2B47270-91B7-2079-8B1B-2F387C0AC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444" y="1489791"/>
            <a:ext cx="6652645" cy="457807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8F4762B-15AF-9254-76D7-AF6F6F7E3BA4}"/>
              </a:ext>
            </a:extLst>
          </p:cNvPr>
          <p:cNvSpPr txBox="1"/>
          <p:nvPr/>
        </p:nvSpPr>
        <p:spPr>
          <a:xfrm>
            <a:off x="367145" y="2678524"/>
            <a:ext cx="8257661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</a:t>
            </a:r>
            <a:r>
              <a:rPr lang="fr-FR" sz="2400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ns notre cas :</a:t>
            </a:r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539750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flow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Kestra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s'exécute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chaque jour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à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06h00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:</a:t>
            </a:r>
          </a:p>
          <a:p>
            <a:pPr marL="825500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Détection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: Vérification des xlsx et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watermark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5500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Ingestion conditionnelle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: Si changement détecté :</a:t>
            </a:r>
          </a:p>
          <a:p>
            <a:pPr marL="1282700" lvl="1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Met à jour les employés et désactive ceux qui ont quitté l'entreprise</a:t>
            </a:r>
          </a:p>
          <a:p>
            <a:pPr marL="1282700" lvl="1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Met à jour les sports et supprime ceux des salariés absents</a:t>
            </a:r>
          </a:p>
          <a:p>
            <a:pPr marL="1282700" lvl="1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Calcule les distances via Google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Maps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les stocke en cache</a:t>
            </a:r>
          </a:p>
          <a:p>
            <a:pPr marL="825500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Transformations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(4 model puis tests et doc)</a:t>
            </a:r>
          </a:p>
          <a:p>
            <a:pPr marL="825500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Notifications Slack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 message personnalisé par nouvelle activité 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825500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Finalisation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(Mise à jour du 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watermark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INSERT dans 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meta.pipeline_runs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 + compte-rendu Slack)</a:t>
            </a:r>
            <a:endParaRPr lang="fr-FR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25500" indent="-285750">
              <a:buFontTx/>
              <a:buChar char="-"/>
            </a:pP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Error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handler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(En cas d'échec à n'importe quelle étape : log en base (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status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failed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 + notification Slack)</a:t>
            </a:r>
            <a:endParaRPr lang="fr-FR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9" name="Picture 2" descr="Kestra, Open Source Declarative Data Orchestration">
            <a:extLst>
              <a:ext uri="{FF2B5EF4-FFF2-40B4-BE49-F238E27FC236}">
                <a16:creationId xmlns:a16="http://schemas.microsoft.com/office/drawing/2014/main" id="{B5430D9E-2A0D-DDCA-C8C1-5A3A50059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6859" y="18700"/>
            <a:ext cx="623132" cy="62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6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CEDC-1E1F-607C-7ADD-CE889354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B898DCB-BE4B-EF5B-3E90-74D1D9C4D3EC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9</a:t>
            </a:r>
            <a:endParaRPr lang="fr-FR" sz="3200" b="1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5A5E07-5C27-F6B2-71A4-97A9671F0FD3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TESTS DE QUALITÉ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86AD8-148D-2591-8B29-373524AA7CCA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4E90D9-5E87-33BB-580F-65A734C7D5BB}"/>
              </a:ext>
            </a:extLst>
          </p:cNvPr>
          <p:cNvSpPr txBox="1"/>
          <p:nvPr/>
        </p:nvSpPr>
        <p:spPr>
          <a:xfrm>
            <a:off x="367145" y="1025236"/>
            <a:ext cx="6948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pytest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- 51 tests :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858FF22-22B3-057B-AF1F-9E3B7F99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063740"/>
              </p:ext>
            </p:extLst>
          </p:nvPr>
        </p:nvGraphicFramePr>
        <p:xfrm>
          <a:off x="678873" y="1569197"/>
          <a:ext cx="59358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7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Tests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FFFFFF">
                              <a:alpha val="80000"/>
                            </a:srgbClr>
                          </a:solidFill>
                        </a:rPr>
                        <a:t>Couverture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test_distances.py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Haversine,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seuils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éligibilité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adresse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invalide</a:t>
                      </a:r>
                      <a:endParaRPr dirty="0">
                        <a:solidFill>
                          <a:schemeClr val="accent2">
                            <a:lumMod val="50000"/>
                            <a:alpha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test_simulation.py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Distances,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durées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dates, IDs, sports, volumes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test_staging.py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Doublons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</a:t>
                      </a:r>
                      <a:r>
                        <a:rPr lang="fr-FR"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salaires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dates,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complétude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, pratiques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test_gold.py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Primes 5 %, bien-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être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≥15, impact financier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test_rh_prive.py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Identités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RGPD, FK, Privacy by Design, droits</a:t>
                      </a:r>
                    </a:p>
                  </a:txBody>
                  <a:tcPr anchor="ctr">
                    <a:solidFill>
                      <a:srgbClr val="EBF5F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77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conftest.py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Connexion</a:t>
                      </a:r>
                      <a:r>
                        <a:rPr dirty="0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 DB session-scoped + fixture </a:t>
                      </a:r>
                      <a:r>
                        <a:rPr dirty="0" err="1">
                          <a:solidFill>
                            <a:schemeClr val="accent2">
                              <a:lumMod val="50000"/>
                              <a:alpha val="80000"/>
                            </a:schemeClr>
                          </a:solidFill>
                        </a:rPr>
                        <a:t>identites</a:t>
                      </a:r>
                      <a:endParaRPr dirty="0">
                        <a:solidFill>
                          <a:schemeClr val="accent2">
                            <a:lumMod val="50000"/>
                            <a:alpha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E6A0A27-B224-EAB2-50F2-A6BB7FF25B55}"/>
              </a:ext>
            </a:extLst>
          </p:cNvPr>
          <p:cNvSpPr txBox="1"/>
          <p:nvPr/>
        </p:nvSpPr>
        <p:spPr>
          <a:xfrm>
            <a:off x="6856444" y="1019835"/>
            <a:ext cx="4968411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DBT - 37 tests :</a:t>
            </a:r>
          </a:p>
          <a:p>
            <a:endParaRPr lang="fr-FR" sz="500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642938" indent="-285750">
              <a:buFontTx/>
              <a:buChar char="-"/>
            </a:pP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not_null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</a:p>
          <a:p>
            <a:pPr marL="1100138" lvl="1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Toutes les colonnes critiques</a:t>
            </a:r>
          </a:p>
          <a:p>
            <a:pPr marL="642938" indent="-285750">
              <a:buFontTx/>
              <a:buChar char="-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unique</a:t>
            </a:r>
          </a:p>
          <a:p>
            <a:pPr marL="1100138" lvl="1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Clés primaires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id_salarie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642938" indent="-285750">
              <a:buFontTx/>
              <a:buChar char="-"/>
            </a:pP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accepted_values</a:t>
            </a:r>
            <a:endParaRPr lang="fr-FR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1100138" lvl="1" indent="-285750">
              <a:buFontTx/>
              <a:buChar char="-"/>
            </a:pP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type_sport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(15 valeurs)</a:t>
            </a:r>
            <a:endParaRPr lang="fr-FR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463E7C-8F3A-0FBE-1AF6-7631F94D3DD6}"/>
              </a:ext>
            </a:extLst>
          </p:cNvPr>
          <p:cNvSpPr/>
          <p:nvPr/>
        </p:nvSpPr>
        <p:spPr>
          <a:xfrm>
            <a:off x="480447" y="4693713"/>
            <a:ext cx="320040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12FD3-DFB0-19E9-71CC-7563D88289D2}"/>
              </a:ext>
            </a:extLst>
          </p:cNvPr>
          <p:cNvSpPr/>
          <p:nvPr/>
        </p:nvSpPr>
        <p:spPr>
          <a:xfrm>
            <a:off x="480447" y="4693713"/>
            <a:ext cx="3200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E1B4308-33AD-99CB-729E-029650DA6510}"/>
              </a:ext>
            </a:extLst>
          </p:cNvPr>
          <p:cNvSpPr txBox="1"/>
          <p:nvPr/>
        </p:nvSpPr>
        <p:spPr>
          <a:xfrm>
            <a:off x="617607" y="4830873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rPr dirty="0"/>
              <a:t>51 / 51 PASS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32A9BBAC-4FC6-FADC-0E97-28D8131592E2}"/>
              </a:ext>
            </a:extLst>
          </p:cNvPr>
          <p:cNvSpPr txBox="1"/>
          <p:nvPr/>
        </p:nvSpPr>
        <p:spPr>
          <a:xfrm>
            <a:off x="617607" y="5288073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pytest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14314-01A9-70A5-1A3C-AE48663D520A}"/>
              </a:ext>
            </a:extLst>
          </p:cNvPr>
          <p:cNvSpPr/>
          <p:nvPr/>
        </p:nvSpPr>
        <p:spPr>
          <a:xfrm>
            <a:off x="4138047" y="4693713"/>
            <a:ext cx="320040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AD70AD-0781-B2E1-D34F-13FBB31C4E69}"/>
              </a:ext>
            </a:extLst>
          </p:cNvPr>
          <p:cNvSpPr/>
          <p:nvPr/>
        </p:nvSpPr>
        <p:spPr>
          <a:xfrm>
            <a:off x="4138047" y="4693713"/>
            <a:ext cx="3200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2F93C59-9516-C245-9230-2F65FAB09783}"/>
              </a:ext>
            </a:extLst>
          </p:cNvPr>
          <p:cNvSpPr txBox="1"/>
          <p:nvPr/>
        </p:nvSpPr>
        <p:spPr>
          <a:xfrm>
            <a:off x="4275207" y="4830873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37 / 37 PASS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706F996E-F8A5-77B2-CC21-D99F4D2FA183}"/>
              </a:ext>
            </a:extLst>
          </p:cNvPr>
          <p:cNvSpPr txBox="1"/>
          <p:nvPr/>
        </p:nvSpPr>
        <p:spPr>
          <a:xfrm>
            <a:off x="4275207" y="5288073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dbt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0CDFBD-6519-3E80-8309-062863BF92F3}"/>
              </a:ext>
            </a:extLst>
          </p:cNvPr>
          <p:cNvSpPr/>
          <p:nvPr/>
        </p:nvSpPr>
        <p:spPr>
          <a:xfrm>
            <a:off x="7795647" y="4693713"/>
            <a:ext cx="3931920" cy="10972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3264B-2468-FE7F-A844-64A913B79B3E}"/>
              </a:ext>
            </a:extLst>
          </p:cNvPr>
          <p:cNvSpPr/>
          <p:nvPr/>
        </p:nvSpPr>
        <p:spPr>
          <a:xfrm>
            <a:off x="7795647" y="4693713"/>
            <a:ext cx="393192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59B5B66A-377E-215F-DC08-4C5022A71DE2}"/>
              </a:ext>
            </a:extLst>
          </p:cNvPr>
          <p:cNvSpPr txBox="1"/>
          <p:nvPr/>
        </p:nvSpPr>
        <p:spPr>
          <a:xfrm>
            <a:off x="7932807" y="4830873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88 / 88 PASS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0FEDA955-9388-B39C-5A06-C9AFFECB6AB0}"/>
              </a:ext>
            </a:extLst>
          </p:cNvPr>
          <p:cNvSpPr txBox="1"/>
          <p:nvPr/>
        </p:nvSpPr>
        <p:spPr>
          <a:xfrm>
            <a:off x="7932807" y="5288073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5929E"/>
                </a:solidFill>
                <a:latin typeface="Calibri"/>
              </a:defRPr>
            </a:pPr>
            <a:r>
              <a:t>Tests totaux</a:t>
            </a:r>
          </a:p>
        </p:txBody>
      </p:sp>
    </p:spTree>
    <p:extLst>
      <p:ext uri="{BB962C8B-B14F-4D97-AF65-F5344CB8AC3E}">
        <p14:creationId xmlns:p14="http://schemas.microsoft.com/office/powerpoint/2010/main" val="309633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B355-8FD1-6CDB-EE49-63FC9966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4731C-B211-EBC5-9AD7-DA6843314C14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51A9AA-29C4-C7D1-E9A0-E805DA8654B6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DASHBOARD : POWERBI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03C3C-5782-6242-3754-16111C0C66E2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613F8E-AFC6-7D08-B42C-2579880BF583}"/>
              </a:ext>
            </a:extLst>
          </p:cNvPr>
          <p:cNvSpPr txBox="1"/>
          <p:nvPr/>
        </p:nvSpPr>
        <p:spPr>
          <a:xfrm>
            <a:off x="367145" y="1025236"/>
            <a:ext cx="1152005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PowerBI</a:t>
            </a:r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57188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Power BI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 connecte directement à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PostgreSQL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en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DirectQuery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(port 5433, 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role_analytics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ce qui garantit des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toujours à jour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sans import manuel ni fichier intermédiaire.</a:t>
            </a:r>
          </a:p>
          <a:p>
            <a:pPr marL="357188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est organisé en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deux pages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séparant les indicateurs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"publics"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des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données RH sensibles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5CC18-C10F-2F04-9D1C-CE994D55A72E}"/>
              </a:ext>
            </a:extLst>
          </p:cNvPr>
          <p:cNvSpPr/>
          <p:nvPr/>
        </p:nvSpPr>
        <p:spPr>
          <a:xfrm>
            <a:off x="1667664" y="2483606"/>
            <a:ext cx="4428335" cy="2440982"/>
          </a:xfrm>
          <a:prstGeom prst="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E387A8-84CA-EE10-0F0D-20A1BD271985}"/>
              </a:ext>
            </a:extLst>
          </p:cNvPr>
          <p:cNvSpPr/>
          <p:nvPr/>
        </p:nvSpPr>
        <p:spPr>
          <a:xfrm>
            <a:off x="1667664" y="2483606"/>
            <a:ext cx="4428333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2585FF8-66E4-FB8E-4D0C-C7CE1C0D1206}"/>
              </a:ext>
            </a:extLst>
          </p:cNvPr>
          <p:cNvSpPr txBox="1"/>
          <p:nvPr/>
        </p:nvSpPr>
        <p:spPr>
          <a:xfrm>
            <a:off x="1667664" y="2529326"/>
            <a:ext cx="442833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P1 - </a:t>
            </a:r>
            <a:r>
              <a:rPr dirty="0"/>
              <a:t>KPIs </a:t>
            </a:r>
            <a:r>
              <a:rPr lang="fr-FR" dirty="0"/>
              <a:t>"</a:t>
            </a:r>
            <a:r>
              <a:rPr dirty="0"/>
              <a:t>publics</a:t>
            </a:r>
            <a:r>
              <a:rPr lang="fr-FR" dirty="0"/>
              <a:t>"</a:t>
            </a:r>
            <a:r>
              <a:rPr dirty="0"/>
              <a:t> </a:t>
            </a:r>
            <a:r>
              <a:rPr sz="1400" i="1" dirty="0"/>
              <a:t>(</a:t>
            </a:r>
            <a:r>
              <a:rPr lang="fr-FR" sz="1400" i="1" dirty="0"/>
              <a:t>Vue d'ensemble des activités</a:t>
            </a:r>
            <a:r>
              <a:rPr sz="1400" i="1" dirty="0"/>
              <a:t>)</a:t>
            </a:r>
            <a:endParaRPr i="1" dirty="0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B7319C3-C473-6674-8EE4-CCA13363A22C}"/>
              </a:ext>
            </a:extLst>
          </p:cNvPr>
          <p:cNvSpPr txBox="1"/>
          <p:nvPr/>
        </p:nvSpPr>
        <p:spPr>
          <a:xfrm>
            <a:off x="1941985" y="3123686"/>
            <a:ext cx="3614158" cy="16769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Camembert </a:t>
            </a:r>
            <a:r>
              <a:rPr dirty="0" err="1"/>
              <a:t>sportifs</a:t>
            </a:r>
            <a:r>
              <a:rPr dirty="0"/>
              <a:t> / non-</a:t>
            </a:r>
            <a:r>
              <a:rPr dirty="0" err="1"/>
              <a:t>sportifs</a:t>
            </a:r>
            <a:r>
              <a:rPr dirty="0"/>
              <a:t> (59 % / 41 %)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Top 10 sports </a:t>
            </a:r>
            <a:r>
              <a:rPr dirty="0" err="1"/>
              <a:t>déclarés</a:t>
            </a:r>
            <a:r>
              <a:rPr dirty="0"/>
              <a:t> (</a:t>
            </a:r>
            <a:r>
              <a:rPr dirty="0" err="1"/>
              <a:t>histogramme</a:t>
            </a:r>
            <a:r>
              <a:rPr dirty="0"/>
              <a:t> horizontal)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Top 5 </a:t>
            </a:r>
            <a:r>
              <a:rPr dirty="0" err="1"/>
              <a:t>sportifs</a:t>
            </a:r>
            <a:r>
              <a:rPr dirty="0"/>
              <a:t> (</a:t>
            </a:r>
            <a:r>
              <a:rPr dirty="0" err="1"/>
              <a:t>classement</a:t>
            </a:r>
            <a:r>
              <a:rPr dirty="0"/>
              <a:t> par </a:t>
            </a:r>
            <a:r>
              <a:rPr dirty="0" err="1"/>
              <a:t>nb</a:t>
            </a:r>
            <a:r>
              <a:rPr dirty="0"/>
              <a:t> </a:t>
            </a:r>
            <a:r>
              <a:rPr dirty="0" err="1"/>
              <a:t>activités</a:t>
            </a:r>
            <a:r>
              <a:rPr dirty="0"/>
              <a:t>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Carte </a:t>
            </a:r>
            <a:r>
              <a:rPr dirty="0" err="1"/>
              <a:t>géographique</a:t>
            </a:r>
            <a:r>
              <a:rPr dirty="0"/>
              <a:t> des </a:t>
            </a:r>
            <a:r>
              <a:rPr dirty="0" err="1"/>
              <a:t>salariés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Taux</a:t>
            </a:r>
            <a:r>
              <a:rPr dirty="0"/>
              <a:t> de participation (3 </a:t>
            </a:r>
            <a:r>
              <a:rPr dirty="0" err="1"/>
              <a:t>derniers</a:t>
            </a:r>
            <a:r>
              <a:rPr dirty="0"/>
              <a:t> </a:t>
            </a:r>
            <a:r>
              <a:rPr dirty="0" err="1"/>
              <a:t>mois</a:t>
            </a:r>
            <a:r>
              <a:rPr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63152-3FFA-2A15-DE61-1A892BBE33ED}"/>
              </a:ext>
            </a:extLst>
          </p:cNvPr>
          <p:cNvSpPr/>
          <p:nvPr/>
        </p:nvSpPr>
        <p:spPr>
          <a:xfrm>
            <a:off x="6293868" y="2483605"/>
            <a:ext cx="4428333" cy="2440983"/>
          </a:xfrm>
          <a:prstGeom prst="rect">
            <a:avLst/>
          </a:prstGeom>
          <a:solidFill>
            <a:srgbClr val="F2F3F4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668A8-5FF3-DFD8-1175-64737102490F}"/>
              </a:ext>
            </a:extLst>
          </p:cNvPr>
          <p:cNvSpPr/>
          <p:nvPr/>
        </p:nvSpPr>
        <p:spPr>
          <a:xfrm>
            <a:off x="6293868" y="2483606"/>
            <a:ext cx="442833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549602D-6575-F551-EB0B-77DF2A133244}"/>
              </a:ext>
            </a:extLst>
          </p:cNvPr>
          <p:cNvSpPr txBox="1"/>
          <p:nvPr/>
        </p:nvSpPr>
        <p:spPr>
          <a:xfrm>
            <a:off x="6293865" y="2529326"/>
            <a:ext cx="44283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fr-FR" dirty="0"/>
              <a:t>P</a:t>
            </a:r>
            <a:r>
              <a:rPr dirty="0"/>
              <a:t>2 </a:t>
            </a:r>
            <a:r>
              <a:rPr lang="fr-FR" dirty="0"/>
              <a:t>-</a:t>
            </a:r>
            <a:r>
              <a:rPr dirty="0"/>
              <a:t> KPIs RH</a:t>
            </a:r>
            <a:r>
              <a:rPr lang="fr-FR" dirty="0"/>
              <a:t> </a:t>
            </a:r>
            <a:r>
              <a:rPr lang="fr-FR" sz="1400" i="1" dirty="0"/>
              <a:t>(Impact financier et éligibilités)</a:t>
            </a:r>
            <a:endParaRPr i="1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3118F169-0945-6E34-92E0-40B54D6EAC26}"/>
              </a:ext>
            </a:extLst>
          </p:cNvPr>
          <p:cNvSpPr txBox="1"/>
          <p:nvPr/>
        </p:nvSpPr>
        <p:spPr>
          <a:xfrm>
            <a:off x="6568188" y="3123686"/>
            <a:ext cx="3668443" cy="16769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Histogramme</a:t>
            </a:r>
            <a:r>
              <a:rPr dirty="0"/>
              <a:t> type de </a:t>
            </a:r>
            <a:r>
              <a:rPr dirty="0" err="1"/>
              <a:t>mobilité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Table distances + temps de </a:t>
            </a:r>
            <a:r>
              <a:rPr dirty="0" err="1"/>
              <a:t>trajet</a:t>
            </a:r>
            <a:r>
              <a:rPr dirty="0"/>
              <a:t> </a:t>
            </a:r>
            <a:r>
              <a:rPr dirty="0" err="1"/>
              <a:t>estimé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Total </a:t>
            </a:r>
            <a:r>
              <a:rPr dirty="0" err="1"/>
              <a:t>jours</a:t>
            </a:r>
            <a:r>
              <a:rPr dirty="0"/>
              <a:t> bien-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gagnés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Nb </a:t>
            </a:r>
            <a:r>
              <a:rPr dirty="0" err="1"/>
              <a:t>salariés</a:t>
            </a:r>
            <a:r>
              <a:rPr dirty="0"/>
              <a:t> </a:t>
            </a:r>
            <a:r>
              <a:rPr dirty="0" err="1"/>
              <a:t>éligibles</a:t>
            </a:r>
            <a:r>
              <a:rPr dirty="0"/>
              <a:t> bien-</a:t>
            </a:r>
            <a:r>
              <a:rPr dirty="0" err="1"/>
              <a:t>être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Prime </a:t>
            </a:r>
            <a:r>
              <a:rPr dirty="0" err="1"/>
              <a:t>moyenne</a:t>
            </a:r>
            <a:r>
              <a:rPr dirty="0"/>
              <a:t> par </a:t>
            </a:r>
            <a:r>
              <a:rPr dirty="0" err="1"/>
              <a:t>salarié</a:t>
            </a:r>
            <a:r>
              <a:rPr dirty="0"/>
              <a:t> </a:t>
            </a:r>
            <a:r>
              <a:rPr dirty="0" err="1"/>
              <a:t>éligible</a:t>
            </a:r>
            <a:endParaRPr dirty="0"/>
          </a:p>
          <a:p>
            <a:pPr algn="l">
              <a:spcAft>
                <a:spcPts val="60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• Total primes sport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949045B-5936-096E-D49F-7D623751D8DA}"/>
              </a:ext>
            </a:extLst>
          </p:cNvPr>
          <p:cNvSpPr txBox="1"/>
          <p:nvPr/>
        </p:nvSpPr>
        <p:spPr>
          <a:xfrm>
            <a:off x="335969" y="5013351"/>
            <a:ext cx="11714022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Point technique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57188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page "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publique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 utilise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role_analytics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(schéma gold en lecture seule, données anonymes)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 </a:t>
            </a:r>
          </a:p>
          <a:p>
            <a:pPr marL="357188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page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RH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qui affiche les noms des salariés, utilise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role_rh_admin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57188"/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Conformément au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principe RGPD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moindre privilège,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seuls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les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profils RH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habilités accèdent aux données nominatives.</a:t>
            </a:r>
          </a:p>
        </p:txBody>
      </p:sp>
    </p:spTree>
    <p:extLst>
      <p:ext uri="{BB962C8B-B14F-4D97-AF65-F5344CB8AC3E}">
        <p14:creationId xmlns:p14="http://schemas.microsoft.com/office/powerpoint/2010/main" val="164436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55E6-D620-E37F-2586-7A77E63B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90FCE37-83BA-0A29-26C0-002379E94976}"/>
              </a:ext>
            </a:extLst>
          </p:cNvPr>
          <p:cNvSpPr txBox="1"/>
          <p:nvPr/>
        </p:nvSpPr>
        <p:spPr>
          <a:xfrm>
            <a:off x="0" y="0"/>
            <a:ext cx="678873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0" tIns="0" rIns="72000" bIns="0" rtlCol="0" anchor="ctr" anchorCtr="0">
            <a:noAutofit/>
          </a:bodyPr>
          <a:lstStyle/>
          <a:p>
            <a:pPr algn="r"/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11</a:t>
            </a:r>
            <a:endParaRPr lang="fr-FR" sz="3200" b="1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7B112C-A118-5E67-1892-8DFE35DF80B4}"/>
              </a:ext>
            </a:extLst>
          </p:cNvPr>
          <p:cNvSpPr txBox="1"/>
          <p:nvPr/>
        </p:nvSpPr>
        <p:spPr>
          <a:xfrm>
            <a:off x="678873" y="0"/>
            <a:ext cx="11513127" cy="658091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txBody>
          <a:bodyPr wrap="square" lIns="72000" tIns="0" rIns="0" bIns="0" rtlCol="0" anchor="ctr" anchorCtr="0">
            <a:noAutofit/>
          </a:bodyPr>
          <a:lstStyle/>
          <a:p>
            <a:r>
              <a:rPr lang="fr-FR" sz="3200" b="1" noProof="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D13B26-2136-A2C3-0A6F-A9F3AAAAE76D}"/>
              </a:ext>
            </a:extLst>
          </p:cNvPr>
          <p:cNvSpPr/>
          <p:nvPr/>
        </p:nvSpPr>
        <p:spPr>
          <a:xfrm>
            <a:off x="142009" y="838199"/>
            <a:ext cx="11907982" cy="588125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fr-FR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29CDAA-20EE-889B-2307-6C0BCDD61EE0}"/>
              </a:ext>
            </a:extLst>
          </p:cNvPr>
          <p:cNvSpPr txBox="1"/>
          <p:nvPr/>
        </p:nvSpPr>
        <p:spPr>
          <a:xfrm>
            <a:off x="367145" y="1025236"/>
            <a:ext cx="1152005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Ce POC démontre qu'il est possible de construire un pipeline de données complet, de l'ingestion à la restitution, en respectant les contraintes RGPD dès la conception.</a:t>
            </a: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Ce qui a été livré :</a:t>
            </a:r>
          </a:p>
          <a:p>
            <a:endParaRPr lang="fr-FR" sz="500" dirty="0"/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pipeline automatisé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bout en bout :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ingestion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transformation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orchestration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notification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,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visualisation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Une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architecture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Medallion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avec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séparation stricte des données personnelles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Privacy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by Design)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Une couverture de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tests exhaustive 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(88 tests : 51 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pytest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+ 37 </a:t>
            </a:r>
            <a:r>
              <a:rPr lang="fr-FR" sz="12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dbt</a:t>
            </a:r>
            <a:r>
              <a:rPr lang="fr-FR" sz="12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garantissant la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fiabilité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des résultats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Un </a:t>
            </a:r>
            <a:r>
              <a:rPr lang="fr-FR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Power BI en temps réel pour les décideurs</a:t>
            </a:r>
          </a:p>
          <a:p>
            <a:pPr marL="357188"/>
            <a:endParaRPr lang="fr-FR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fr-FR" sz="2400" u="sng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Ce que le POC a permis de valider :</a:t>
            </a:r>
          </a:p>
          <a:p>
            <a:endParaRPr lang="fr-FR" sz="5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faisabilité technique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du calcul des primes sportives et des journées bien-être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L'impact financier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chiffré :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172 482,50 EUR de primes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pour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68 salariés éligibles</a:t>
            </a:r>
          </a:p>
          <a:p>
            <a:pPr marL="642938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 capacité à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orchestrer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l'ensemble avec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Kestra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 manière idempotente et traçable</a:t>
            </a:r>
          </a:p>
          <a:p>
            <a:endParaRPr lang="fr-FR" sz="2400" u="sng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fr-FR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En un mot : le P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 est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opérationnel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et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prêt à évoluer 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vers une connexion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Strava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réelle et un </a:t>
            </a:r>
            <a:r>
              <a:rPr lang="fr-FR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déploiement cloud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D27D2BB-F158-F4D2-5DCC-0DF0ECBFD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726" y="3516573"/>
            <a:ext cx="2304081" cy="225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6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891F55-26AE-23AD-24A3-1ED4143F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A6C60BB-C332-2F96-3164-A690B793F524}"/>
              </a:ext>
            </a:extLst>
          </p:cNvPr>
          <p:cNvSpPr txBox="1"/>
          <p:nvPr/>
        </p:nvSpPr>
        <p:spPr>
          <a:xfrm>
            <a:off x="4184895" y="1918736"/>
            <a:ext cx="58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noProof="0" dirty="0">
                <a:solidFill>
                  <a:schemeClr val="accent2">
                    <a:lumMod val="50000"/>
                  </a:schemeClr>
                </a:solidFill>
              </a:rPr>
              <a:t>The END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C888F9-B9F5-A7F8-EC15-ADC5E43F07BA}"/>
              </a:ext>
            </a:extLst>
          </p:cNvPr>
          <p:cNvSpPr txBox="1"/>
          <p:nvPr/>
        </p:nvSpPr>
        <p:spPr>
          <a:xfrm>
            <a:off x="5317504" y="2842066"/>
            <a:ext cx="362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noProof="0" dirty="0">
                <a:solidFill>
                  <a:schemeClr val="accent2">
                    <a:lumMod val="75000"/>
                  </a:schemeClr>
                </a:solidFill>
              </a:rPr>
              <a:t>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2136110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2348</Words>
  <Application>Microsoft Office PowerPoint</Application>
  <PresentationFormat>Grand écran</PresentationFormat>
  <Paragraphs>326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29</cp:revision>
  <dcterms:created xsi:type="dcterms:W3CDTF">2026-03-18T09:05:21Z</dcterms:created>
  <dcterms:modified xsi:type="dcterms:W3CDTF">2026-03-31T09:28:55Z</dcterms:modified>
</cp:coreProperties>
</file>