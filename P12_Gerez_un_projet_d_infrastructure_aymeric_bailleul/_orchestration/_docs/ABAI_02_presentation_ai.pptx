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35808"/>
            <a:ext cx="12191695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Sport Data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0">
                <a:solidFill>
                  <a:srgbClr val="2E86C1"/>
                </a:solidFill>
                <a:latin typeface="Calibri"/>
              </a:defRPr>
            </a:pPr>
            <a:r>
              <a:t>POC Avantages Sportifs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85929E"/>
                </a:solidFill>
                <a:latin typeface="Calibri"/>
              </a:defRPr>
            </a:pPr>
            <a:r>
              <a:t>Pipeline de données de bout en 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Aymeric Bailleul — Data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85929E"/>
                </a:solidFill>
                <a:latin typeface="Calibri"/>
              </a:defRPr>
            </a:pPr>
            <a:r>
              <a:t>Formation Data Engineer — OpenClassrooms —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2/19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50292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8132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Contexte et objectifs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057400"/>
            <a:ext cx="50292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7568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7568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Données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651760"/>
            <a:ext cx="50292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7004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67004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Règles métier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246120"/>
            <a:ext cx="50292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6440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26440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Architecture technique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840480"/>
            <a:ext cx="50292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5876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85876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Infrastructure de données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434840"/>
            <a:ext cx="50292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45312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Privacy by Design (RGPD)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029200"/>
            <a:ext cx="50292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4748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04748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Pipeline ETL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463040"/>
            <a:ext cx="502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48132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148132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Transformations dbt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057400"/>
            <a:ext cx="502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07568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07568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Orchestration Kestra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651760"/>
            <a:ext cx="502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67004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267004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Tests de qualité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246120"/>
            <a:ext cx="502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26440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326440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Notifications Slack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840480"/>
            <a:ext cx="502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85876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385876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Dashboard Power BI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4434840"/>
            <a:ext cx="502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45312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445312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Résultats clés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5029200"/>
            <a:ext cx="502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047488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504748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Démonstration live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Contexte et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Comprendre la mission de Juliette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3/19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9377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2E86C1"/>
                </a:solidFill>
                <a:latin typeface="Calibri"/>
              </a:defRPr>
            </a:pPr>
            <a:r>
              <a:t>L'entreprise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Sport Data Solution — startup de monitoring sportif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Co-fondateurs : Alexandre (cycliste) et Juliette (marathonienne)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E86C1"/>
                </a:solidFill>
                <a:latin typeface="Calibri"/>
              </a:defRPr>
            </a:pPr>
            <a:r>
              <a:t>La mission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Récompenser les salariés sportifs avec des avantages concrets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2E86C1"/>
                </a:solidFill>
                <a:latin typeface="Calibri"/>
              </a:defRPr>
            </a:pPr>
            <a:r>
              <a:t>Objectifs du POC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✓  Tester la faisabilité technique de la solution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✓  Déterminer les données à collecter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✓  Calculer l'impact financier pour l'entreprise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5303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30352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2519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5 % du salaire brut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091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Prime sportive</a:t>
            </a:r>
            <a:br/>
            <a:r>
              <a:t>Trajet domicile–bureau sportif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1148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114800"/>
            <a:ext cx="54864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25196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5 jours / 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70916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Journées bien-être</a:t>
            </a:r>
            <a:br/>
            <a:r>
              <a:t>≥ 15 activités physiques / 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Données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3 sources de données pour le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4/19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7548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Données RH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108960" cy="3931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2E86C1"/>
                </a:solidFill>
                <a:latin typeface="Calibri"/>
              </a:defRPr>
            </a:pPr>
            <a:r>
              <a:t>Données+RH.xlsx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161 salariés — 11 colonnes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ID salarié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E74C3C"/>
                </a:solidFill>
                <a:latin typeface="Calibri"/>
              </a:defRPr>
            </a:pPr>
            <a:r>
              <a:t>• Nom, Prénom, DDN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BU (département)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Date d'embauche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Salaire brut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Type de contrat, CP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Adresse domicile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Moyen de déplacement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100" b="1">
                <a:solidFill>
                  <a:srgbClr val="E74C3C"/>
                </a:solidFill>
                <a:latin typeface="Calibri"/>
              </a:defRPr>
            </a:pPr>
            <a:r>
              <a:t>⚠ Données personnelles → RGPD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47548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173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Données sportives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80"/>
            <a:ext cx="3108960" cy="3931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t>Données+Sportive.xlsx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161 lignes — 2 colonnes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ID salarié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Pratique d'un sport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Nettoyage appliqué :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66 NaN (41 %) → « Non déclaré »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Typo « Runing » → « Running »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15 sports distincts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47548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173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Strava (simulé)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108960" cy="3931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E67E22"/>
                </a:solidFill>
                <a:latin typeface="Calibri"/>
              </a:defRPr>
            </a:pPr>
            <a:r>
              <a:t>generate_strava.py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2 256 activités — 12 mois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95 salariés sportifs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15 types de sports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5-40 activités / salarié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Seed reproductible (42)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Colonnes :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id_salarie, date_debut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type_sport, distance_m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duree_s, commentaire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Règles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Conditions d'éligibilité aux avantages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5/19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47548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493776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2000" b="1">
                <a:solidFill>
                  <a:srgbClr val="2E86C1"/>
                </a:solidFill>
                <a:latin typeface="Calibri"/>
              </a:defRPr>
            </a:pPr>
            <a:r>
              <a:t>💰  Prime sportive — 5 % du salaire brut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Condition : le salarié vient au bureau via un mode de déplacement sportif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Source : déclaratif RH (colonne « Moyen de déplacement »)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Validation des distances (Google Maps API) 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383280"/>
          <a:ext cx="49377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 de déplacement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Distance max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Marche / Running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≤ 15 km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Vélo / Trottinette / Autres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≤ 25 km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4754880"/>
            <a:ext cx="49377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Adresse entreprise : 1362 Av. des Platanes, 34970 Lattes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Fallback haversine si l'API Google Maps échoue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486400" cy="47548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4864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493776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🏃  5 journées bien-être / an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Condition : au minimum 15 activités physiques dans l'année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Source : activités Strava (simulées pour le POC)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Logique de calcul :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Compter les activités Strava par salarié actif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Si nb_activites ≥ 15 → éligible → 5 jours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Sinon → 0 jour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Les paramètres (seuil, nb jours) sont évolutifs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selon les résultats du POC (cf. note de cadrage)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Vue d'ensemble de la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6/19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Composant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Outil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Base de données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PostgreSQL 16 (Docker)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ETL / Ingestion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Python 3.12 (pandas, psycopg2)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Transformations SQL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dbt-postgres 1.10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Orchestration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Kestra (UI web, cron, logs)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Distances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Google Maps API + haversine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pytest (51) + dbt tests (37)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Notifications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Slack Webhooks HTTP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Visualisation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Power BI (DirectQuery)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1371600"/>
            <a:ext cx="5303520" cy="47548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75488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2E86C1"/>
                </a:solidFill>
                <a:latin typeface="Calibri"/>
              </a:defRPr>
            </a:pPr>
            <a:r>
              <a:t>5 services Docker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postgres (port 5433)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  Base sport_data + base interne kestra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kestra (port 9000)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  Orchestrateur — flows, logs, historique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kestra-setup (éphémère)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  Import auto du flow + nettoyage tutoriaux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dbt-docs (port 4080)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  Documentation dbt statique (nginx)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dbt-docs-perms (init)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  Permissions volume partagé (chmod 777)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Infrastructure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Architecture Medallion — 5 schémas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7/19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14884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148840" cy="2743200"/>
          </a:xfrm>
          <a:prstGeom prst="rect">
            <a:avLst/>
          </a:prstGeom>
          <a:solidFill>
            <a:srgbClr val="F2F3F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9659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activites_strava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(2 256 lignes simulées)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463040"/>
            <a:ext cx="214884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50876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920240"/>
            <a:ext cx="2148840" cy="2743200"/>
          </a:xfrm>
          <a:prstGeom prst="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011680"/>
            <a:ext cx="19659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employes (8 col. anonymisées)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pratiques_declarees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activites_strava (dbt)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cache_distances (API)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463040"/>
            <a:ext cx="21488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50876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920240"/>
            <a:ext cx="2148840" cy="2743200"/>
          </a:xfrm>
          <a:prstGeom prst="rect">
            <a:avLst/>
          </a:prstGeom>
          <a:solidFill>
            <a:srgbClr val="F2F3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011680"/>
            <a:ext cx="19659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eligibilite_prime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eligibilite_bien_etre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impact_financier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463040"/>
            <a:ext cx="214884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50876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rh_prive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1920240"/>
            <a:ext cx="2148840" cy="2743200"/>
          </a:xfrm>
          <a:prstGeom prst="rect">
            <a:avLst/>
          </a:prstGeom>
          <a:solidFill>
            <a:srgbClr val="F2F3F4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011680"/>
            <a:ext cx="19659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identites (Nom, Prénom, DDN)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vue_primes_nominatives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463040"/>
            <a:ext cx="2148840" cy="457200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50876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1920240"/>
            <a:ext cx="2148840" cy="2743200"/>
          </a:xfrm>
          <a:prstGeom prst="rect">
            <a:avLst/>
          </a:prstGeom>
          <a:solidFill>
            <a:srgbClr val="F2F3F4"/>
          </a:solidFill>
          <a:ln w="12700">
            <a:solidFill>
              <a:srgbClr val="859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011680"/>
            <a:ext cx="19659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pipeline_state (hash/watermark)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pipeline_runs (historique)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532888" y="256032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4818888" y="256032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104888" y="256032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9390888" y="256032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10 tables + 1 vue — Architecture Medallion adaptée au RGPD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• XLSX = couche raw logique (sur disque, jamais copiés en base) — seules les données Strava passent par raw en base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• staging = 1er niveau DB : anonymisé, nettoyé, incrémental (UPSERT + soft-delete)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• gold = métriques métier calculées par dbt (éligibilités, impact financier)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Privacy by Design (RGPD)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Minimisation des données — Art. 5.1.c &amp; Art. 25 RGPD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8/19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74320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Fichier XLSX</a:t>
            </a:r>
            <a:br/>
            <a:r>
              <a:t>(11 colonnes dont</a:t>
            </a:r>
            <a:br/>
            <a:r>
              <a:t>Nom, Prénom, DDN)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196596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0" y="1554480"/>
            <a:ext cx="2286000" cy="1097280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Python</a:t>
            </a:r>
            <a:br/>
            <a:r>
              <a:t>(séparation</a:t>
            </a:r>
            <a:br/>
            <a:r>
              <a:t>en mémoire)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00800" y="169164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484632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staging.employes — 8 colonnes anonymisées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00800" y="237744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2148840"/>
            <a:ext cx="484632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rh_prive.identites — Nom, Prénom, DDN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32918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0040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Rôle PostgreSQL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Accès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Usage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rh_prive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role_pipeline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raw + staging + gold (R/W)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Pipeline ETL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❌ Non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role_analytics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gold (lecture seule)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Power 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❌ 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role_rh_admin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hérite pipeline + rh_prive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Slack nominatif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✅ Oui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Principe du moindre privilège : seul role_rh_admin accède aux données nominatives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• Power BI ne voit que gold.* → aucune donnée personnelle dans les dashboards publics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• Les notifications Slack utilisent rh_prive.identites via role_rh_admin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• Soft-delete (actif=FALSE) : suppression RGPD des identités des employés retirés du fichier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Pipeline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6 étapes Python — main.py --reset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9/19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init_db.py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1645920" cy="1188720"/>
          </a:xfrm>
          <a:prstGeom prst="rect">
            <a:avLst/>
          </a:prstGeom>
          <a:solidFill>
            <a:srgbClr val="F2F3F4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4630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Schémas + Tables</a:t>
            </a:r>
            <a:br/>
            <a:r>
              <a:t>+ 3 Rôles PostgreSQL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57400" y="320040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34640" y="164592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E86C1"/>
                </a:solidFill>
                <a:latin typeface="Calibri"/>
              </a:defRPr>
            </a:pPr>
            <a:r>
              <a:t>load_rh.py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743200"/>
            <a:ext cx="1645920" cy="1188720"/>
          </a:xfrm>
          <a:prstGeom prst="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834640"/>
            <a:ext cx="14630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XLSX → staging.employes</a:t>
            </a:r>
            <a:br/>
            <a:r>
              <a:t>+ rh_prive.identites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77640" y="320040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54880" y="164592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E86C1"/>
                </a:solidFill>
                <a:latin typeface="Calibri"/>
              </a:defRPr>
            </a:pPr>
            <a:r>
              <a:t>load_sport.py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743200"/>
            <a:ext cx="1645920" cy="1188720"/>
          </a:xfrm>
          <a:prstGeom prst="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834640"/>
            <a:ext cx="14630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XLSX → staging</a:t>
            </a:r>
            <a:br/>
            <a:r>
              <a:t>.pratiques_declarees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97880" y="320040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5120" y="164592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E67E22"/>
                </a:solidFill>
                <a:latin typeface="Calibri"/>
              </a:defRPr>
            </a:pPr>
            <a:r>
              <a:t>generate_strava.py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743200"/>
            <a:ext cx="1645920" cy="1188720"/>
          </a:xfrm>
          <a:prstGeom prst="rect">
            <a:avLst/>
          </a:prstGeom>
          <a:solidFill>
            <a:srgbClr val="F2F3F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834640"/>
            <a:ext cx="14630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Simulation</a:t>
            </a:r>
            <a:br/>
            <a:r>
              <a:t>→ raw.activites_strava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18120" y="320040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95360" y="164592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staging.py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743200"/>
            <a:ext cx="1645920" cy="1188720"/>
          </a:xfrm>
          <a:prstGeom prst="rect">
            <a:avLst/>
          </a:prstGeom>
          <a:solidFill>
            <a:srgbClr val="F2F3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834640"/>
            <a:ext cx="14630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Nettoyage</a:t>
            </a:r>
            <a:br/>
            <a:r>
              <a:t>raw → staging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38360" y="320040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15600" y="164592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gold.py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2743200"/>
            <a:ext cx="1645920" cy="1188720"/>
          </a:xfrm>
          <a:prstGeom prst="rect">
            <a:avLst/>
          </a:prstGeom>
          <a:solidFill>
            <a:srgbClr val="F2F3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834640"/>
            <a:ext cx="14630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Distances + Éligibilités</a:t>
            </a:r>
            <a:br/>
            <a:r>
              <a:t>+ Impact financier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1">
                <a:solidFill>
                  <a:srgbClr val="2E86C1"/>
                </a:solidFill>
                <a:latin typeface="Calibri"/>
              </a:defRPr>
            </a:pPr>
            <a:r>
              <a:t>Points clés du pipeline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UPSERT + soft-delete (actif = FALSE) : idempotence, gestion des départs sans perte d'historique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Hash SHA-256 des fichiers sources : détection intelligente des changements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Watermark Strava (inserted_at) : traitement incrémental des nouvelles activités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Cache distances en base (staging.cache_distances) : évite les appels API redondants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Transformations dbt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4 modèles SQL — staging + gold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10/19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Modèle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Schéma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Filtres appliqués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stg_activites_strava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staging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Nettoyage raw → staging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distance&gt;0, durée&gt;0, date ≤395j, sport valide, actif=true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eligibilite_prime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Prime 5 % salaire brut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employes × distances × seuils, actif=true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eligibilite_bien_etre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 jours si ≥15 activités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COUNT activités par salarié actif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impact_financier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Agrégation par département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FULL OUTER JOIN primes × bien-être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40480"/>
            <a:ext cx="5486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2E86C1"/>
                </a:solidFill>
                <a:latin typeface="Calibri"/>
              </a:defRPr>
            </a:pPr>
            <a:r>
              <a:t>37 tests dbt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not_null sur toutes les clés et colonnes critiques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unique sur les clés primaires (id_salarie)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accepted_values sur type_sport (15 sports)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Couverture des 4 modèles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5029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Documentation auto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dbt docs generate → nginx (port 4080)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Catalog + lineage graph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Descriptions YAML sur chaque colonne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Mise à jour auto à chaque exécution du 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Orchestration Kestra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Flow quotidien — détection, ingestion, transformation, notification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11/19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20040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⏰ Cron quotidien 06h00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20240" y="2057400"/>
            <a:ext cx="274320" cy="274320"/>
          </a:xfrm>
          <a:prstGeom prst="down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320040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check_changes.py (hash + watermark)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146304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reload_rh.py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108960"/>
            <a:ext cx="155448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reload_sport.py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5929E"/>
                </a:solidFill>
                <a:latin typeface="Calibri"/>
              </a:defRPr>
            </a:pPr>
            <a:r>
              <a:t>↑ Conditionnels (si fichier modifié)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Si should_run = true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463040"/>
            <a:ext cx="32004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recalculate_distances.py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577840" y="2011680"/>
            <a:ext cx="274320" cy="274320"/>
          </a:xfrm>
          <a:prstGeom prst="down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2286000"/>
            <a:ext cx="32004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dbt run (4 modèles)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577840" y="2834640"/>
            <a:ext cx="274320" cy="274320"/>
          </a:xfrm>
          <a:prstGeom prst="down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3108960"/>
            <a:ext cx="32004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dbt test (37 tests)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577840" y="3657600"/>
            <a:ext cx="274320" cy="274320"/>
          </a:xfrm>
          <a:prstGeom prst="down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3931920"/>
            <a:ext cx="32004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dbt docs generate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463040"/>
            <a:ext cx="393192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notify_slack_activities (1 msg/activité)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601200" y="2011680"/>
            <a:ext cx="274320" cy="274320"/>
          </a:xfrm>
          <a:prstGeom prst="down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2286000"/>
            <a:ext cx="3931920" cy="502920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update_strava_watermark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601200" y="2834640"/>
            <a:ext cx="274320" cy="274320"/>
          </a:xfrm>
          <a:prstGeom prst="down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108960"/>
            <a:ext cx="3931920" cy="502920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meta.pipeline_runs (INSERT)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601200" y="3657600"/>
            <a:ext cx="274320" cy="274320"/>
          </a:xfrm>
          <a:prstGeom prst="down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3931920"/>
            <a:ext cx="393192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Slack #sport-avantages (résumé)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F2F3F4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06984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⚠  Error handlers (en cas d'échec)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meta.pipeline_runs → INSERT status='failed'     • Slack #sport-avantages → notification d'échec avec ID exécution + tâche en erreur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85929E"/>
                </a:solidFill>
                <a:latin typeface="Calibri"/>
              </a:defRPr>
            </a:pPr>
            <a:r>
              <a:t>• Secrets Kestra (base64) : POSTGRES_PASSWORD, GOOGLE_MAPS_API_KEY, SLACK_WEBHOOK, SLACK_WEBHOOK_INFO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Tests de qualité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51 tests pytest + 37 tests dbt = 88 tests au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12/19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pytest — 51 tests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82880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Tests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Couverture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test_distances.py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Haversine, seuils, éligibilité, adresse invalide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test_simulation.py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Distances, durées, dates, IDs, sports, volumes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test_staging.py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Doublons, salaires, dates, complétude, pratiques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test_gold.py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Primes 5 %, bien-être ≥15, impact financier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test_rh_prive.py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Identités RGPD, FK, Privacy by Design, droits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conftest.py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 fix.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Connexion DB session-scoped + fixture identites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0" y="1371600"/>
            <a:ext cx="39319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dbt — 37 tests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27AE60"/>
                </a:solidFill>
                <a:latin typeface="Calibri"/>
              </a:defRPr>
            </a:pPr>
            <a:r>
              <a:t>not_null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Toutes les colonnes critiques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27AE60"/>
                </a:solidFill>
                <a:latin typeface="Calibri"/>
              </a:defRPr>
            </a:pPr>
            <a:r>
              <a:t>unique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Clés primaires (id_salarie)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27AE60"/>
                </a:solidFill>
                <a:latin typeface="Calibri"/>
              </a:defRPr>
            </a:pPr>
            <a:r>
              <a:t>accepted_values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type_sport (15 valeurs)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Couverture : 4 modèles dbt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Exécutés à chaque run du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32004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1663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51 / 51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235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Tests pytest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502920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5029200"/>
            <a:ext cx="32004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51663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37 / 37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6235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Tests dbt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02920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5029200"/>
            <a:ext cx="393192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51663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88 / 88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623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Tests totaux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Notifications Slack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Deux canaux — activités personnalisées + compte-rendu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13/19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3017520"/>
          </a:xfrm>
          <a:prstGeom prst="rect">
            <a:avLst/>
          </a:prstGeom>
          <a:solidFill>
            <a:srgbClr val="F2F3F4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493776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8E44AD"/>
                </a:solidFill>
                <a:latin typeface="Calibri"/>
              </a:defRPr>
            </a:pPr>
            <a:r>
              <a:t>Canal 1 — Messages activités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SLACK_WEBHOOK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1 message personnalisé par nouvelle activité Strava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15 sports × 2-3 templates = ~35 messages distincts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200" b="1">
                <a:solidFill>
                  <a:srgbClr val="2E86C1"/>
                </a:solidFill>
                <a:latin typeface="Calibri"/>
              </a:defRPr>
            </a:pPr>
            <a:r>
              <a:t>« Bravo Juliette ! Tu viens de courir 10.8 km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E86C1"/>
                </a:solidFill>
                <a:latin typeface="Calibri"/>
              </a:defRPr>
            </a:pPr>
            <a:r>
              <a:t>  en 46 min ! Quelle énergie ! 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3017520"/>
          </a:xfrm>
          <a:prstGeom prst="rect">
            <a:avLst/>
          </a:prstGeom>
          <a:solidFill>
            <a:srgbClr val="F2F3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4864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93776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Canal 2 — Infos pipeline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t>SLACK_WEBHOOK_INFO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Compte-rendu d'exécution (succès / échec)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Résumé chiffré : nb activités, RH/Sport mis à jour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200" b="1">
                <a:solidFill>
                  <a:srgbClr val="27AE60"/>
                </a:solidFill>
                <a:latin typeface="Calibri"/>
              </a:defRPr>
            </a:pPr>
            <a:r>
              <a:t>✅ Pipeline Sport Data — exécution réussie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❌ Pipeline Sport Data — échec (+ tâche en erreur)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1">
                <a:solidFill>
                  <a:srgbClr val="2E86C1"/>
                </a:solidFill>
                <a:latin typeface="Calibri"/>
              </a:defRPr>
            </a:pPr>
            <a:r>
              <a:t>Implémentation technique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notify_slack_activities.py : JOIN rh_prive.identites pour nom/prénom réels (connexion superuser)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Messages aléatoires (random.choice) pour la variété — envoi séquentiel par urllib.request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Exécuté AVANT update_strava_watermark (pour détecter les nouvelles activités)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Dashboard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Connexion DirectQuery — role_analytics (lecture seule gold + staging)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14/19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4754880"/>
          </a:xfrm>
          <a:prstGeom prst="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Page 1 — KPIs publics (interne)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937760" cy="3931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Camembert sportifs / non-sportifs (59 % / 41 %)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Top 10 sports déclarés (histogramme horizontal)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Top 5 sportifs (classement par nb activités)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Carte géographique des salariés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Taux de participation (3 derniers mois)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100" b="0">
                <a:solidFill>
                  <a:srgbClr val="85929E"/>
                </a:solidFill>
                <a:latin typeface="Calibri"/>
              </a:defRPr>
            </a:pPr>
            <a:r>
              <a:t>Source : staging.employes + staging.pratiques_declarees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85929E"/>
                </a:solidFill>
                <a:latin typeface="Calibri"/>
              </a:defRPr>
            </a:pPr>
            <a:r>
              <a:t>         + staging.activites_strava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486400" cy="4754880"/>
          </a:xfrm>
          <a:prstGeom prst="rect">
            <a:avLst/>
          </a:prstGeom>
          <a:solidFill>
            <a:srgbClr val="F2F3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Page 2 — KPIs RH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937760" cy="3931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Histogramme type de mobilité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Table distances + temps de trajet estimé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Total jours bien-être gagnés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Nb salariés éligibles bien-être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Prime moyenne par salarié éligible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• Total primes sport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100" b="0">
                <a:solidFill>
                  <a:srgbClr val="85929E"/>
                </a:solidFill>
                <a:latin typeface="Calibri"/>
              </a:defRPr>
            </a:pPr>
            <a:r>
              <a:t>Source : gold.eligibilite_prime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85929E"/>
                </a:solidFill>
                <a:latin typeface="Calibri"/>
              </a:defRPr>
            </a:pPr>
            <a:r>
              <a:t>         + gold.eligibilite_bien_etre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85929E"/>
                </a:solidFill>
                <a:latin typeface="Calibri"/>
              </a:defRPr>
            </a:pPr>
            <a:r>
              <a:t>         + staging.cache_distances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Résultats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Chiffres du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15/19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161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Salariés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4630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6002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2 256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574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Activités Strava simulées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26517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002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574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Éligibles prime sportive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46304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463040"/>
            <a:ext cx="24688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6002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172 482 €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0574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Total primes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004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200400"/>
            <a:ext cx="26517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337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E67E22"/>
                </a:solidFill>
                <a:latin typeface="Calibri"/>
              </a:defRPr>
            </a:pPr>
            <a:r>
              <a:t>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79476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Éligibles bien-être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2004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3200400"/>
            <a:ext cx="26517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337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E67E22"/>
                </a:solidFill>
                <a:latin typeface="Calibri"/>
              </a:defRPr>
            </a:pPr>
            <a:r>
              <a:t>335 jours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79476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Total jours bien-être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2004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59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200400"/>
            <a:ext cx="2651760" cy="54864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337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85929E"/>
                </a:solidFill>
                <a:latin typeface="Calibri"/>
              </a:defRPr>
            </a:pPr>
            <a:r>
              <a:t>159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79476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Adresses Google Maps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20040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59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3200400"/>
            <a:ext cx="2468880" cy="54864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33375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85929E"/>
                </a:solidFill>
                <a:latin typeface="Calibri"/>
              </a:defRPr>
            </a:pPr>
            <a:r>
              <a:t>5 BU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7947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Départements couverts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937760"/>
            <a:ext cx="3611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937760"/>
            <a:ext cx="36118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074920"/>
            <a:ext cx="3337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51 / 51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53212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Tests pytest 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4937760"/>
            <a:ext cx="3611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4937760"/>
            <a:ext cx="36118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5074920"/>
            <a:ext cx="3337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37 / 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553212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Tests dbt PASS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4937760"/>
            <a:ext cx="3474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4937760"/>
            <a:ext cx="347472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50749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88 / 88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55321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Total tests PASS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Démonstration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Scénario : injection d'activités → exécution flow → 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16/19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Vérifier l'état initial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164592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4630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Requête SQL :</a:t>
            </a:r>
            <a:br/>
            <a:r>
              <a:t>nb activités, watermark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57400" y="310896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34640" y="164592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Simuler 5 activités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743200"/>
            <a:ext cx="164592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834640"/>
            <a:ext cx="14630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python simulate_</a:t>
            </a:r>
            <a:br/>
            <a:r>
              <a:t>new_activities.py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77640" y="310896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54880" y="164592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E86C1"/>
                </a:solidFill>
                <a:latin typeface="Calibri"/>
              </a:defRPr>
            </a:pPr>
            <a:r>
              <a:t>Exécuter le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743200"/>
            <a:ext cx="164592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834640"/>
            <a:ext cx="14630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Kestra UI :</a:t>
            </a:r>
            <a:br/>
            <a:r>
              <a:t>bouton Execute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97880" y="310896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5120" y="164592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E86C1"/>
                </a:solidFill>
                <a:latin typeface="Calibri"/>
              </a:defRPr>
            </a:pPr>
            <a:r>
              <a:t>Observer les logs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743200"/>
            <a:ext cx="164592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834640"/>
            <a:ext cx="14630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Kestra UI :</a:t>
            </a:r>
            <a:br/>
            <a:r>
              <a:t>logs temps réel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18120" y="310896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95360" y="1645920"/>
            <a:ext cx="548640" cy="5486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8E44AD"/>
                </a:solidFill>
                <a:latin typeface="Calibri"/>
              </a:defRPr>
            </a:pPr>
            <a:r>
              <a:t>Vérifier Slack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743200"/>
            <a:ext cx="164592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834640"/>
            <a:ext cx="14630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Messages nominatifs</a:t>
            </a:r>
            <a:br/>
            <a:r>
              <a:t>+ résumé pipeline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38360" y="3108960"/>
            <a:ext cx="320040" cy="228600"/>
          </a:xfrm>
          <a:prstGeom prst="rightArrow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15600" y="164592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Rafraîchir Power BI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2743200"/>
            <a:ext cx="164592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834640"/>
            <a:ext cx="14630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DirectQuery :</a:t>
            </a:r>
            <a:br/>
            <a:r>
              <a:t>données à jour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1">
                <a:solidFill>
                  <a:srgbClr val="2E86C1"/>
                </a:solidFill>
                <a:latin typeface="Calibri"/>
              </a:defRPr>
            </a:pPr>
            <a:r>
              <a:t>Commandes de la démonstration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100" b="0">
                <a:solidFill>
                  <a:srgbClr val="85929E"/>
                </a:solidFill>
                <a:latin typeface="Consolas"/>
              </a:defRPr>
            </a:pPr>
            <a:r>
              <a:t># 1. État initial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onsolas"/>
              </a:defRPr>
            </a:pPr>
            <a:r>
              <a:t>docker exec sport_data_postgres psql -U postgres -d sport_data -c "SELECT ..."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85929E"/>
                </a:solidFill>
                <a:latin typeface="Consolas"/>
              </a:defRPr>
            </a:pPr>
            <a:r>
              <a:t># 2. Simulation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onsolas"/>
              </a:defRPr>
            </a:pPr>
            <a:r>
              <a:t>python scripts/simulate_new_activities.py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85929E"/>
                </a:solidFill>
                <a:latin typeface="Consolas"/>
              </a:defRPr>
            </a:pPr>
            <a:r>
              <a:t># 3. Flow Kestra → http://localhost:9000 → Execute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Choix techniques justifiés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17/19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467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Choix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Justification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PostgreSQL via Docker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Simule un environnement de production réaliste, reproductible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 rôles PostgreSQL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Principe du moindre privilège, conformité RGPD (rh_prive isolé)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Google Maps API + haversine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Distances routières réelles, fallback robuste si clé absente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Slack Webhooks réels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Exigence note de cadrage : publications automatiques dans le channel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pytest (51) + dbt (37)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Double couverture : Python (logique métier) + SQL (transformations)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dbt (staging + gold)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Transformations versionnées, testées, documentées, lineage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Kestra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Orchestration visuelle, logs, historique d'exécutions, cron, monitoring UI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Power BI DirectQuery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Données toujours à jour, pas d'import manuel → KPIs temps réel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UPSERT + soft-delete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Idempotence, gestion des départs sans perte d'historique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SHA-256 + watermark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Détection intelligente des changements, pas de re-traitement inutile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5929E"/>
                </a:solidFill>
                <a:latin typeface="Calibri"/>
              </a:defRPr>
            </a:pPr>
            <a:r>
              <a:t>Évolutions envisagées après le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5929E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5929E"/>
                </a:solidFill>
                <a:latin typeface="Calibri"/>
              </a:defRPr>
            </a:pPr>
            <a:r>
              <a:t>Aymeric Bailleul — 18/19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1280160"/>
          </a:xfrm>
          <a:prstGeom prst="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" cy="12801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Connexion Strava réelle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Remplacer la simulation par l'API OAuth2 Strava pour les données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486400" cy="1280160"/>
          </a:xfrm>
          <a:prstGeom prst="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73152" cy="12801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Scaling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Passage à un cluster PostgreSQL ou migration cloud (AWS RDS, GCP)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486400" cy="1280160"/>
          </a:xfrm>
          <a:prstGeom prst="rect">
            <a:avLst/>
          </a:prstGeom>
          <a:solidFill>
            <a:srgbClr val="F2F3F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73152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546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Alerting avancé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Seuils d'alerte automatiques sur les anomalies de déclaration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17520"/>
            <a:ext cx="5486400" cy="1280160"/>
          </a:xfrm>
          <a:prstGeom prst="rect">
            <a:avLst/>
          </a:prstGeom>
          <a:solidFill>
            <a:srgbClr val="F2F3F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017520"/>
            <a:ext cx="73152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1546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Paramétrage dynamique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6616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Taux de prime et seuils modifiables sans redéploiement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5486400" cy="1280160"/>
          </a:xfrm>
          <a:prstGeom prst="rect">
            <a:avLst/>
          </a:prstGeom>
          <a:solidFill>
            <a:srgbClr val="F2F3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73152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Intégration CI/CD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Tests automatisés à chaque push GitHub (GitHub Actions)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572000"/>
            <a:ext cx="5486400" cy="1280160"/>
          </a:xfrm>
          <a:prstGeom prst="rect">
            <a:avLst/>
          </a:prstGeom>
          <a:solidFill>
            <a:srgbClr val="F2F3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572000"/>
            <a:ext cx="73152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70916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Extension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2064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Vue manager par département, évolution temporelle des KPIs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35808"/>
            <a:ext cx="12191695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Merci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2E86C1"/>
                </a:solidFill>
                <a:latin typeface="Calibri"/>
              </a:defRPr>
            </a:pPr>
            <a:r>
              <a:t>Sport Data Solution — POC Avantages Sportifs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Aymeric Bailleul — Data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85929E"/>
                </a:solidFill>
                <a:latin typeface="Calibri"/>
              </a:defRPr>
            </a:pPr>
            <a:r>
              <a:t>aymericbailleul@gmail.com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